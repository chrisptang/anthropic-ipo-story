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用户提供的多来源汇总（2026-10-06）
terminal_bench_user_supplied.tsv
本页按用户在2026-10-06提供的25条汇总记录绘制，20个实际模型，未经本次逐条独立核验。原始字段、来源标签及括号中的替代分数均保存在 terminal_bench_user_supplied.tsv；只使用 Score 列，不平均来源中的不同数字。日期按原表记录日期处理，不称官方发布日期；若与此前审计的发布日期冲突，不沿用此前“同日反超”结论。2.0、2.1、4.0独立坐标系，不跨版本比较。横轴为本版本所列日期排序后的事件等距排列，不是等时距。连线是同一版本的公开配置迭代轨迹，不是统一harness复测，不代表模型纯能力或严格排名。2.0的GPT-5.1通用版、Sonnet 5，以及4.0的Sonnet 5基线、Fable 5.1单独标点；4.0的Sol效率型号另画虚线，不接到Astra前沿线上。Baseline为旧模型在新评测上的参考成绩，不是新型号，也不据发布日期推断当时已完成该版本评测。本次数据没有时间、费用，不保留此前成本下降结论。
原表记录：
Date: 2025-11-13 | Vendor: OpenAI | Model: GPT-5.1 | Series: General | Benchmark: Terminal-Bench 2.0 | Score: 45.5 | Harness: Terminus 2 / Requesty | Source: Vals AI / Requesty
Date: 2025-11-19 | Vendor: OpenAI | Model: GPT-5.1-Codex-Max | Series: Coding Flagship | Benchmark: Terminal-Bench 2.0 | Score: 58.1 | Harness: Official Codex Harness | Source: OpenAI Official / tbench.ai (53.5%)
Date: 2025-11-20 | Vendor: Anthropic | Model: Claude Opus 4.5 | Series: Flagship | Benchmark: Terminal-Bench 2.0 | Score: 69.5 | Harness: Harbor / Claude Code | Source: BenchLM / tbench.ai
Date: 2025-12-11 | Vendor: OpenAI | Model: GPT-5.2 | Series: Flagship | Benchmark: Terminal-Bench 2.0 | Score: 62.9 | Harness: Codex CLI (62.9%) / Warp (61.1%) | Source: tbench.ai (62.9% ± 3.0%) / Warp
Date: 2026-01-15 | Vendor: OpenAI | Model: GPT-5.3 Codex | Series: Coding Flagship | Benchmark: Terminal-Bench 2.0 | Score: 77.3 | Harness: Official Codex Harness | Source: BenchLM / LLM Stats
Date: 2026-01-20 | Vendor: Anthropic | Model: Claude Opus 4.6 | Series: Flagship | Benchmark: Terminal-Bench 2.0 | Score: 73.2 | Harness: Claude Code | Source: BenchLM
Date: 2026-02-15 | Vendor: OpenAI | Model: GPT-5.4 | Series: General Flagship | Benchmark: Terminal-Bench 2.0 | Score: 75.1 | Harness: Official Harness | Source: BenchLM
Date: 2026-04-10 | Vendor: OpenAI | Model: GPT-5.5 | Series: Flagship | Benchmark: Terminal-Bench 2.0 | Score: 82 | Harness: Official Harness | Source: BenchLM / LLM Stats
Date: 2026-04-20 | Vendor: Anthropic | Model: Claude Opus 4.8 | Series: Flagship | Benchmark: Terminal-Bench 2.1 | Score: 74.6 | Harness: Terminus 2 | Source: Artificial Analysis
Date: 2026-05-25 | Vendor: Anthropic | Model: Claude Sonnet 5 | Series: Mid-tier / Agent | Benchmark: Terminal-Bench 2.0 | Score: 80.4 | Harness: Anthropic Harness | Source: LLM Stats
Date: 2026-05-25 | Vendor: Anthropic | Model: Claude Sonnet 5 (Baseline) | Series: Mid-tier / Baseline | Benchmark: Terminal-Bench 4.0 | Score: 10.3 | Harness: Claude Code | Source: Anthropic Sonnet 5.5 System Card
Date: 2026-06-15 | Vendor: Anthropic | Model: Claude Fable 5 | Series: Reasoning / Research | Benchmark: Terminal-Bench 2.1 | Score: 86 | Harness: Terminus 2 | Source: Vals AI / Vellum
Date: 2026-06-26 | Vendor: OpenAI | Model: GPT-5.6 Sol | Series: Flagship | Benchmark: Terminal-Bench 2.1 | Score: 88 | Harness: Terminus 2 (Max Effort) | Source: Artificial Analysis / OpenAI (88.8%)
Date: 2026-06-26 | Vendor: OpenAI | Model: GPT-5.6 Sol (Baseline) | Series: Prior Flagship / Baseline | Benchmark: Terminal-Bench 4.0 | Score: 37.3 | Harness: Codex (Max Effort) | Source: tbench.ai / Anthropic Report
Date: 2026-07-24 | Vendor: Anthropic | Model: Claude Opus 5 | Series: Flagship | Benchmark: Terminal-Bench 2.1 | Score: 89.1 | Harness: Terminus 2 (Max Effort) | Source: Artificial Analysis / Morph
Date: 2026-07-24 | Vendor: Anthropic | Model: Claude Opus 5 (Baseline) | Series: Prior Flagship / Baseline | Benchmark: Terminal-Bench 4.0 | Score: 52.3 | Harness: Claude Code (51.8% Public, 52.3% Internal) | Source: Anthropic Opus 5.5 System Card / tbench.ai
Date: 2026-08-31 | Vendor: Anthropic | Model: Claude Fable 5.1 | Series: Reasoning / Research | Benchmark: Terminal-Bench 4.0 | Score: 57.9 | Harness: Claude Code | Source: tbench.ai / Harbor Hub
Date: 2026-09-01 | Vendor: Anthropic | Model: Claude Mythos 5.1 | Series: Specialized Flagship | Benchmark: Terminal-Bench 4.0 | Score: 60.9 | Harness: Anthropic Harness | Source: LLM Stats
Date: 2026-09-03 | Vendor: OpenAI | Model: GPT-6 Astra | Series: Flagship | Benchmark: Terminal-Bench 2.1 | Score: 88.4 | Harness: Terminus 2 / AA (89.5% Med, 87.3% Vals) | Source: Artificial Analysis / Vals AI
Date: 2026-09-03 | Vendor: OpenAI | Model: GPT-6 Astra | Series: Frontier Flagship | Benchmark: Terminal-Bench 4.0 | Score: 58.2 | Harness: Codex (Max Effort) | Source: tbench.ai (58.2% ± 2.8%) / Vals (59.6%)
Date: 2026-09-22 | Vendor: Anthropic | Model: Claude Opus 5.5 | Series: Flagship | Benchmark: Terminal-Bench 2.1 | Score: 87.6 | Harness: Terminus 2 (High Effort) | Source: Vals AI (87.64%) / BenchLM (86.4%)
Date: 2026-09-22 | Vendor: Anthropic | Model: Claude Opus 5.5 | Series: Frontier Flagship | Benchmark: Terminal-Bench 4.0 | Score: 66.4 | Harness: Claude Code (Xhigh Effort) | Source: Anthropic Official / Vals (65.2%)
Date: 2026-09-23 | Vendor: OpenAI | Model: GPT-6 Sol | Series: Workhorse (Efficient) | Benchmark: Terminal-Bench 4.0 | Score: 44.4 | Harness: Mini-SWE-agent | Source: Vals AI / Emergent
Date: 2026-09-29 | Vendor: Anthropic | Model: Claude Sonnet 5.5 | Series: Coding Specialist | Benchmark: Terminal-Bench 4.0 | Score: 70.6 | Harness: Claude Code (Peak Effort) | Source: Anthropic Official / LLM Stats
Date: 2026-09-30 | Vendor: OpenAI | Model: GPT-6.1 Sol | Series: Workhorse (Efficient) | Benchmark: Terminal-Bench 4.0 | Score: 55.1 | Harness: Mini-SWE-agent | Source: Vals AI / Emergent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的正例：追赶不止于 GPT-5.3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792" y="15819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三代终端评测，20 个模型的公开成绩轨迹。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42832" y="1719072"/>
            <a:ext cx="100584" cy="10058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16568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87000" y="1719072"/>
            <a:ext cx="100584" cy="100584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60736" y="1627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2185416"/>
            <a:ext cx="0" cy="3099816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90688" y="2185416"/>
            <a:ext cx="0" cy="3099816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13055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3232" y="249631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2025.11—2026.05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42416" y="4974336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42416" y="411114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401970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42416" y="3247949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3156509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42416" y="281635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" y="5184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71116" y="5184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4695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21024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 flipV="1">
            <a:off x="1388745" y="3985979"/>
            <a:ext cx="692658" cy="207166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2081403" y="3364480"/>
            <a:ext cx="346329" cy="621499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27732" y="3364480"/>
            <a:ext cx="692658" cy="94951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3120390" y="3161629"/>
            <a:ext cx="346329" cy="297802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1735074" y="3541435"/>
            <a:ext cx="1038987" cy="15969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42416" y="4736958"/>
            <a:ext cx="0" cy="72786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8525" y="4693067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9653" y="4798771"/>
            <a:ext cx="11759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6112" y="480974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GPT-5.1 · 45.5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388745" y="4193146"/>
            <a:ext cx="0" cy="21426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344854" y="4149255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7941" y="4396435"/>
            <a:ext cx="14045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4400" y="440740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5.1-Max · 58.1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 flipV="1">
            <a:off x="1735074" y="3625596"/>
            <a:ext cx="0" cy="7552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691183" y="365723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53389" y="3509467"/>
            <a:ext cx="145023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9848" y="352044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4.5 · 69.5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081403" y="3985979"/>
            <a:ext cx="0" cy="9224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37512" y="3942088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592885" y="4067251"/>
            <a:ext cx="113019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609344" y="407822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5.2 · 62.9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 flipV="1">
            <a:off x="2427732" y="3200400"/>
            <a:ext cx="0" cy="164080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383841" y="3320589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812341" y="2979115"/>
            <a:ext cx="145023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828800" y="299008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5.3 Codex · 77.3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774061" y="3541435"/>
            <a:ext cx="0" cy="152741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30170" y="3497543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168957" y="3683203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185416" y="3694176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4.6 · 73.2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120390" y="3459431"/>
            <a:ext cx="0" cy="56392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076499" y="3415540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882189" y="4012387"/>
            <a:ext cx="108447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898648" y="402336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5.4 · 75.1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 flipV="1">
            <a:off x="3466719" y="2935224"/>
            <a:ext cx="0" cy="22640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422828" y="3117738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955341" y="2713939"/>
            <a:ext cx="113019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971800" y="27249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 · 82.0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13048" y="3230685"/>
            <a:ext cx="0" cy="10687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769157" y="318679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836469" y="3326587"/>
            <a:ext cx="138623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852928" y="3337560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 · 80.4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297680" y="213055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2.1</a:t>
            </a:r>
            <a:endParaRPr lang="en-US" sz="1800" dirty="0"/>
          </a:p>
        </p:txBody>
      </p:sp>
      <p:sp>
        <p:nvSpPr>
          <p:cNvPr id="70" name="Text 67"/>
          <p:cNvSpPr/>
          <p:nvPr/>
        </p:nvSpPr>
        <p:spPr>
          <a:xfrm>
            <a:off x="4297680" y="249631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2026.04—09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626864" y="4974336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261104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626864" y="411114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261104" y="401970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4626864" y="3247949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261104" y="3156509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4626864" y="2816352"/>
            <a:ext cx="277063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261104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443484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6603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6097219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6928409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 flipV="1">
            <a:off x="4626864" y="3593226"/>
            <a:ext cx="554126" cy="98404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 flipV="1">
            <a:off x="5180990" y="3325636"/>
            <a:ext cx="1108253" cy="267590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289243" y="3325636"/>
            <a:ext cx="1108253" cy="129479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 flipV="1">
            <a:off x="5735117" y="3386060"/>
            <a:ext cx="1108253" cy="34528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626864" y="4577267"/>
            <a:ext cx="0" cy="21418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582973" y="4533376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491533" y="4780483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507992" y="4791456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4.8 · 74.6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5180990" y="3593226"/>
            <a:ext cx="0" cy="238110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137099" y="3549335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555541" y="3820363"/>
            <a:ext cx="133136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572000" y="383133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 · 86.0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 flipV="1">
            <a:off x="5735117" y="3291840"/>
            <a:ext cx="0" cy="128748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691226" y="3376696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5241341" y="3070555"/>
            <a:ext cx="138623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5257800" y="3081528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Sol · 88.0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 flipV="1">
            <a:off x="6289243" y="2935224"/>
            <a:ext cx="0" cy="39041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245352" y="3281745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799125" y="2713939"/>
            <a:ext cx="129479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5815584" y="2724912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 · 89.1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6843370" y="3386060"/>
            <a:ext cx="0" cy="48185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799478" y="3342169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6265469" y="3856939"/>
            <a:ext cx="1367942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281928" y="3867912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Astra · 88.4</a:t>
            </a:r>
            <a:endParaRPr lang="en-US" sz="1000" dirty="0"/>
          </a:p>
        </p:txBody>
      </p:sp>
      <p:sp>
        <p:nvSpPr>
          <p:cNvPr id="107" name="Shape 104"/>
          <p:cNvSpPr/>
          <p:nvPr/>
        </p:nvSpPr>
        <p:spPr>
          <a:xfrm flipV="1">
            <a:off x="7397496" y="3291840"/>
            <a:ext cx="0" cy="16327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7353605" y="341122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603797" y="3070555"/>
            <a:ext cx="133136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620256" y="3081528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87.6</a:t>
            </a:r>
            <a:endParaRPr lang="en-US" sz="1000" dirty="0"/>
          </a:p>
        </p:txBody>
      </p:sp>
      <p:sp>
        <p:nvSpPr>
          <p:cNvPr id="111" name="Text 108"/>
          <p:cNvSpPr/>
          <p:nvPr/>
        </p:nvSpPr>
        <p:spPr>
          <a:xfrm>
            <a:off x="7882128" y="2130552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1800" dirty="0"/>
          </a:p>
        </p:txBody>
      </p:sp>
      <p:sp>
        <p:nvSpPr>
          <p:cNvPr id="112" name="Text 109"/>
          <p:cNvSpPr/>
          <p:nvPr/>
        </p:nvSpPr>
        <p:spPr>
          <a:xfrm>
            <a:off x="7882128" y="249631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2026.05—09</a:t>
            </a:r>
            <a:endParaRPr lang="en-US" sz="1000" dirty="0"/>
          </a:p>
        </p:txBody>
      </p:sp>
      <p:sp>
        <p:nvSpPr>
          <p:cNvPr id="113" name="Shape 110"/>
          <p:cNvSpPr/>
          <p:nvPr/>
        </p:nvSpPr>
        <p:spPr>
          <a:xfrm>
            <a:off x="8211312" y="4974336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845552" y="4882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8211312" y="4434840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7845552" y="4343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8211312" y="3895344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7845552" y="3803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8211312" y="3355848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7845552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8211312" y="2816352"/>
            <a:ext cx="2953512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845552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8019288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8675624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125" name="Text 122"/>
          <p:cNvSpPr/>
          <p:nvPr/>
        </p:nvSpPr>
        <p:spPr>
          <a:xfrm>
            <a:off x="9003792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10152380" y="5184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127" name="Shape 124"/>
          <p:cNvSpPr/>
          <p:nvPr/>
        </p:nvSpPr>
        <p:spPr>
          <a:xfrm flipV="1">
            <a:off x="8867648" y="3331571"/>
            <a:ext cx="656336" cy="231983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 flipV="1">
            <a:off x="9523984" y="3183209"/>
            <a:ext cx="656336" cy="148361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 flipV="1">
            <a:off x="10180320" y="3069915"/>
            <a:ext cx="656336" cy="113294"/>
          </a:xfrm>
          <a:prstGeom prst="line">
            <a:avLst/>
          </a:prstGeom>
          <a:noFill/>
          <a:ln w="26670">
            <a:solidFill>
              <a:srgbClr val="D97757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 flipV="1">
            <a:off x="8539480" y="3404403"/>
            <a:ext cx="1312672" cy="563773"/>
          </a:xfrm>
          <a:prstGeom prst="line">
            <a:avLst/>
          </a:prstGeom>
          <a:noFill/>
          <a:ln w="26670">
            <a:solidFill>
              <a:srgbClr val="738A7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10508488" y="3488025"/>
            <a:ext cx="656336" cy="288630"/>
          </a:xfrm>
          <a:prstGeom prst="line">
            <a:avLst/>
          </a:prstGeom>
          <a:noFill/>
          <a:ln w="21590">
            <a:solidFill>
              <a:srgbClr val="738A78"/>
            </a:solidFill>
            <a:prstDash val="dash"/>
          </a:ln>
        </p:spPr>
      </p:sp>
      <p:sp>
        <p:nvSpPr>
          <p:cNvPr id="132" name="Shape 129"/>
          <p:cNvSpPr/>
          <p:nvPr/>
        </p:nvSpPr>
        <p:spPr>
          <a:xfrm>
            <a:off x="8211312" y="4696496"/>
            <a:ext cx="0" cy="241264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167421" y="4652604"/>
            <a:ext cx="87782" cy="87782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112557" y="4926787"/>
            <a:ext cx="163311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8129016" y="4937760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 基线 · 10.3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8539480" y="3968176"/>
            <a:ext cx="0" cy="302072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8495589" y="3924285"/>
            <a:ext cx="87782" cy="87782"/>
          </a:xfrm>
          <a:prstGeom prst="ellipse">
            <a:avLst/>
          </a:prstGeom>
          <a:solidFill>
            <a:srgbClr val="FFFFFF"/>
          </a:solidFill>
          <a:ln w="17145">
            <a:solidFill>
              <a:srgbClr val="738A78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213141" y="4259275"/>
            <a:ext cx="1651406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8229600" y="4270248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Sol 基线 · 37.3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867648" y="3563554"/>
            <a:ext cx="0" cy="71186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8823757" y="3519663"/>
            <a:ext cx="87782" cy="87782"/>
          </a:xfrm>
          <a:prstGeom prst="rect">
            <a:avLst/>
          </a:prstGeom>
          <a:solidFill>
            <a:srgbClr val="FFFFFF"/>
          </a:solidFill>
          <a:ln w="17145">
            <a:solidFill>
              <a:srgbClr val="D97757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8103413" y="3518611"/>
            <a:ext cx="1642262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8119872" y="3529584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 基线 · 52.3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 flipV="1">
            <a:off x="9195816" y="3090672"/>
            <a:ext cx="0" cy="321823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151925" y="336860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240573" y="2869387"/>
            <a:ext cx="147767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8257032" y="2880360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5.1 · 57.9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 flipV="1">
            <a:off x="9523984" y="2880360"/>
            <a:ext cx="0" cy="451211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9480093" y="3287679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944661" y="2659075"/>
            <a:ext cx="149595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8961120" y="26700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5.1 · 60.9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9852152" y="3404403"/>
            <a:ext cx="0" cy="399501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808261" y="3360511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273845" y="3792931"/>
            <a:ext cx="1367942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9290304" y="3803904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Astra · 58.2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 flipV="1">
            <a:off x="10180320" y="3108960"/>
            <a:ext cx="0" cy="74249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136429" y="3139318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776765" y="2887675"/>
            <a:ext cx="1441094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9793224" y="2898648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66.4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10508488" y="3776655"/>
            <a:ext cx="0" cy="594177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0464597" y="3732764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10078517" y="4359859"/>
            <a:ext cx="131307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10094976" y="437083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Sol · 44.4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 flipV="1">
            <a:off x="10836656" y="2834640"/>
            <a:ext cx="0" cy="23527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0792765" y="3026024"/>
            <a:ext cx="87782" cy="87782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0179101" y="2613355"/>
            <a:ext cx="1523390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0195560" y="262432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 · 70.6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11164824" y="3488025"/>
            <a:ext cx="0" cy="581055"/>
          </a:xfrm>
          <a:prstGeom prst="line">
            <a:avLst/>
          </a:prstGeom>
          <a:noFill/>
          <a:ln w="6985">
            <a:solidFill>
              <a:srgbClr val="DFDFD8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1120933" y="3444133"/>
            <a:ext cx="87782" cy="87782"/>
          </a:xfrm>
          <a:prstGeom prst="ellipse">
            <a:avLst/>
          </a:prstGeom>
          <a:solidFill>
            <a:srgbClr val="738A78"/>
          </a:solidFill>
          <a:ln w="6350">
            <a:solidFill>
              <a:srgbClr val="738A78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197389" y="4058107"/>
            <a:ext cx="1313078" cy="23225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10213848" y="406908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38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6.1 Sol · 55.1</a:t>
            </a:r>
            <a:endParaRPr lang="en-US" sz="1000" dirty="0"/>
          </a:p>
        </p:txBody>
      </p:sp>
      <p:sp>
        <p:nvSpPr>
          <p:cNvPr id="172" name="Text 169"/>
          <p:cNvSpPr/>
          <p:nvPr/>
        </p:nvSpPr>
        <p:spPr>
          <a:xfrm>
            <a:off x="768096" y="5449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多来源、不同配置汇总；横轴按资料中的迭代事件等距排列，版本间不比较分数。</a:t>
            </a:r>
            <a:endParaRPr lang="en-US" sz="1100" dirty="0"/>
          </a:p>
        </p:txBody>
      </p:sp>
      <p:sp>
        <p:nvSpPr>
          <p:cNvPr id="173" name="Text 17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2.x 的接近不是终点：评测升级后，追赶仍在继续。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2万亿IPO的背后：编码模型与AGI</dc:title>
  <dc:subject>IPO与收入增长、Agentic范式、编码模型与AGI</dc:subject>
  <dc:creator>Internal Learning</dc:creator>
  <cp:lastModifiedBy>Internal Learning</cp:lastModifiedBy>
  <cp:revision>1</cp:revision>
  <dcterms:created xsi:type="dcterms:W3CDTF">2026-10-06T06:43:42Z</dcterms:created>
  <dcterms:modified xsi:type="dcterms:W3CDTF">2026-10-06T06:43:42Z</dcterms:modified>
</cp:coreProperties>
</file>