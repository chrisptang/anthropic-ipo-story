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9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亿美元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Anthropic</c:v>
                </c:pt>
                <c:pt idx="1">
                  <c:v>中国互联网 Top 10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20000</c:v>
                </c:pt>
                <c:pt idx="1">
                  <c:v>13220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0"/>
          <c:min val="0"/>
        </c:scaling>
        <c:delete val="0"/>
        <c:axPos val="b"/>
        <c:majorGridlines>
          <c:spPr>
            <a:ln w="12700" cap="flat">
              <a:solidFill>
                <a:srgbClr val="DF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投后估值 / 目标 USD B</c:v>
                </c:pt>
              </c:strCache>
            </c:strRef>
          </c:tx>
          <c:spPr>
            <a:solidFill>
              <a:srgbClr val="D97757"/>
            </a:solidFill>
            <a:ln w="2540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2025.03
E 轮</c:v>
                </c:pt>
                <c:pt idx="1">
                  <c:v>2025.09
F 轮</c:v>
                </c:pt>
                <c:pt idx="2">
                  <c:v>2026.02
G 轮</c:v>
                </c:pt>
                <c:pt idx="3">
                  <c:v>2026.05
H 轮</c:v>
                </c:pt>
                <c:pt idx="4">
                  <c:v>IPO 目标
尚未定价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61.5</c:v>
                </c:pt>
                <c:pt idx="1">
                  <c:v>183</c:v>
                </c:pt>
                <c:pt idx="2">
                  <c:v>380</c:v>
                </c:pt>
                <c:pt idx="3">
                  <c:v>965</c:v>
                </c:pt>
                <c:pt idx="4">
                  <c:v>2000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Run-rate USD B</c:v>
                </c:pt>
              </c:strCache>
            </c:strRef>
          </c:tx>
          <c:spPr>
            <a:solidFill>
              <a:srgbClr val="D97757"/>
            </a:solidFill>
            <a:ln w="2540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2025 年初</c:v>
                </c:pt>
                <c:pt idx="1">
                  <c:v>2025.08</c:v>
                </c:pt>
                <c:pt idx="2">
                  <c:v>2026.02</c:v>
                </c:pt>
                <c:pt idx="3">
                  <c:v>2026.05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5</c:v>
                </c:pt>
                <c:pt idx="2">
                  <c:v>14</c:v>
                </c:pt>
                <c:pt idx="3">
                  <c:v>47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Verified %</c:v>
                </c:pt>
              </c:strCache>
            </c:strRef>
          </c:tx>
          <c:spPr>
            <a:solidFill>
              <a:srgbClr val="D97757"/>
            </a:solidFill>
            <a:ln w="25400" cap="flat">
              <a:solidFill>
                <a:srgbClr val="D977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57"/>
              </a:solidFill>
              <a:ln w="9525" cap="flat">
                <a:solidFill>
                  <a:srgbClr val="D97757"/>
                </a:solidFill>
                <a:prstDash val="solid"/>
                <a:round/>
              </a:ln>
              <a:effectLst/>
            </c:spPr>
          </c:marker>
          <c:cat>
            <c:strRef>
              <c:f>Sheet1!$A$2:$A$17</c:f>
              <c:strCache>
                <c:ptCount val="16"/>
                <c:pt idx="0">
                  <c:v>Sonnet 3.5</c:v>
                </c:pt>
                <c:pt idx="1">
                  <c:v>Sonnet 3.5 v2</c:v>
                </c:pt>
                <c:pt idx="2">
                  <c:v>Sonnet 3.7</c:v>
                </c:pt>
                <c:pt idx="3">
                  <c:v>Opus 4</c:v>
                </c:pt>
                <c:pt idx="4">
                  <c:v>Sonnet 4</c:v>
                </c:pt>
                <c:pt idx="5">
                  <c:v>Opus 4.1</c:v>
                </c:pt>
                <c:pt idx="6">
                  <c:v>Sonnet 4.5</c:v>
                </c:pt>
                <c:pt idx="7">
                  <c:v>Opus 4.5</c:v>
                </c:pt>
                <c:pt idx="8">
                  <c:v>Opus 4.6</c:v>
                </c:pt>
                <c:pt idx="9">
                  <c:v>Sonnet 4.6</c:v>
                </c:pt>
                <c:pt idx="10">
                  <c:v>Mythos Preview</c:v>
                </c:pt>
                <c:pt idx="11">
                  <c:v>Opus 4.7</c:v>
                </c:pt>
                <c:pt idx="12">
                  <c:v>Opus 4.8</c:v>
                </c:pt>
                <c:pt idx="13">
                  <c:v>Mythos / Fable 5</c:v>
                </c:pt>
                <c:pt idx="14">
                  <c:v>Sonnet 5</c:v>
                </c:pt>
                <c:pt idx="15">
                  <c:v>Opus 5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33.4</c:v>
                </c:pt>
                <c:pt idx="1">
                  <c:v>49</c:v>
                </c:pt>
                <c:pt idx="2">
                  <c:v>62.3</c:v>
                </c:pt>
                <c:pt idx="3">
                  <c:v>72.5</c:v>
                </c:pt>
                <c:pt idx="4">
                  <c:v>72.7</c:v>
                </c:pt>
                <c:pt idx="5">
                  <c:v>74.5</c:v>
                </c:pt>
                <c:pt idx="6">
                  <c:v>77.2</c:v>
                </c:pt>
                <c:pt idx="7">
                  <c:v>80.9</c:v>
                </c:pt>
                <c:pt idx="8">
                  <c:v>80.8</c:v>
                </c:pt>
                <c:pt idx="9">
                  <c:v>79.6</c:v>
                </c:pt>
                <c:pt idx="10">
                  <c:v>93.9</c:v>
                </c:pt>
                <c:pt idx="11">
                  <c:v>87.6</c:v>
                </c:pt>
                <c:pt idx="12">
                  <c:v>88.6</c:v>
                </c:pt>
                <c:pt idx="13">
                  <c:v>95.5</c:v>
                </c:pt>
                <c:pt idx="14">
                  <c:v>85.2</c:v>
                </c:pt>
                <c:pt idx="15">
                  <c:v>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 %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Mythos / Fable 5.1</c:v>
                </c:pt>
                <c:pt idx="1">
                  <c:v>Opus 5.5</c:v>
                </c:pt>
                <c:pt idx="2">
                  <c:v>Sonnet 5.5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81.2</c:v>
                </c:pt>
                <c:pt idx="1">
                  <c:v>89.9</c:v>
                </c:pt>
                <c:pt idx="2">
                  <c:v>81.3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DF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 原版 · 2025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Opus 4</c:v>
                </c:pt>
                <c:pt idx="1">
                  <c:v>Sonnet 4</c:v>
                </c:pt>
                <c:pt idx="2">
                  <c:v>Opus 4.1</c:v>
                </c:pt>
                <c:pt idx="3">
                  <c:v>Sonnet 4.5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43.2</c:v>
                </c:pt>
                <c:pt idx="1">
                  <c:v>35.5</c:v>
                </c:pt>
                <c:pt idx="2">
                  <c:v>43.3</c:v>
                </c:pt>
                <c:pt idx="3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DF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 2.0 · 2025–26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Opus 4.5</c:v>
                </c:pt>
                <c:pt idx="1">
                  <c:v>Opus 4.6</c:v>
                </c:pt>
                <c:pt idx="2">
                  <c:v>Sonnet 4.6</c:v>
                </c:pt>
                <c:pt idx="3">
                  <c:v>Mythos Preview</c:v>
                </c:pt>
                <c:pt idx="4">
                  <c:v>Opus 4.7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59.3</c:v>
                </c:pt>
                <c:pt idx="1">
                  <c:v>65.4</c:v>
                </c:pt>
                <c:pt idx="2">
                  <c:v>59.1</c:v>
                </c:pt>
                <c:pt idx="3">
                  <c:v>82</c:v>
                </c:pt>
                <c:pt idx="4">
                  <c:v>69.4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DF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 2.1 · 2026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Opus 4.8</c:v>
                </c:pt>
                <c:pt idx="1">
                  <c:v>Fable 5</c:v>
                </c:pt>
                <c:pt idx="2">
                  <c:v>Mythos 5</c:v>
                </c:pt>
                <c:pt idx="3">
                  <c:v>Sonnet 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74.6</c:v>
                </c:pt>
                <c:pt idx="1">
                  <c:v>84.3</c:v>
                </c:pt>
                <c:pt idx="2">
                  <c:v>88</c:v>
                </c:pt>
                <c:pt idx="3">
                  <c:v>80.4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DF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TB4 %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Sonnet 5</c:v>
                </c:pt>
                <c:pt idx="1">
                  <c:v>Fable 5</c:v>
                </c:pt>
                <c:pt idx="2">
                  <c:v>Opus 5</c:v>
                </c:pt>
                <c:pt idx="3">
                  <c:v>Fable 5.1</c:v>
                </c:pt>
                <c:pt idx="4">
                  <c:v>Mythos 5.1</c:v>
                </c:pt>
                <c:pt idx="5">
                  <c:v>Opus 5.5</c:v>
                </c:pt>
                <c:pt idx="6">
                  <c:v>Sonnet 5.5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10.3</c:v>
                </c:pt>
                <c:pt idx="1">
                  <c:v>42</c:v>
                </c:pt>
                <c:pt idx="2">
                  <c:v>52.3</c:v>
                </c:pt>
                <c:pt idx="3">
                  <c:v>55.8</c:v>
                </c:pt>
                <c:pt idx="4">
                  <c:v>60.9</c:v>
                </c:pt>
                <c:pt idx="5">
                  <c:v>66.4</c:v>
                </c:pt>
                <c:pt idx="6">
                  <c:v>70.6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DF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TB4 %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Opus 5.5 · max</c:v>
                </c:pt>
                <c:pt idx="1">
                  <c:v>GPT-6 Astra · max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59.6</c:v>
                </c:pt>
                <c:pt idx="1">
                  <c:v>59.1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DF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TB4 %</c:v>
                </c:pt>
              </c:strCache>
            </c:strRef>
          </c:tx>
          <c:spPr>
            <a:solidFill>
              <a:srgbClr val="D977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Opus 5.5 · xhigh</c:v>
                </c:pt>
                <c:pt idx="1">
                  <c:v>GPT-6 Astra · high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66.4</c:v>
                </c:pt>
                <c:pt idx="1">
                  <c:v>57.9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12700" cap="flat">
              <a:solidFill>
                <a:srgbClr val="DFDF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https://www.anthropic.com/news/confidential-draft-s1-sec
https://live.euronext.com/en/financial-news/anthropics-ipo-prospectus-shows-sweeping-ai-vision-surging-costs
IPO已提交；超过两万亿美元为Reuters预期上市估值目标，非完成定价或当前上市市值。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章节过渡页
引出第一章，不新增数据。
演讲补充：先把价格摆在历史里：这个数字到底有多大，又是怎么在五年里长出来的。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https://www.anthropic.com/news/confidential-draft-s1-sec
https://live.euronext.com/en/financial-news/anthropics-ipo-prospectus-shows-sweeping-ai-vision-surging-costs
官方6月公告未确定发行股数、价格。Reuters9月预计美国中期选举后上市，不设定已确定敲钟日。
演讲补充：S-1 草案已提交，发行股数与价格尚未确定。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docs/03_anthropic_valuation_and_arr_deep_dive.md §1.2
https://live.euronext.com/en/financial-news/anthropics-ipo-prospectus-shows-sweeping-ai-vision-surging-costs
沿用仓库参考估算，不另行核验实时报价或Top 10排名。原表未提供逐家公司报价出处及具体交易日；不含未上市公司，不能解释为整个中国互联网行业市值。Anthropic为IPO目标估值，不是已完成的挂牌市值。
原表十家公司逐项求和：5300 + 2350 + 1500 + 1100 + 850 + 650 + 500 + 380 + 320 + 270 = 13220 亿美元。20000 / 13220 = 1.512859，展示为 1.51 倍；20000 - 13220 = 6780 亿美元，高出 51.3%。成立2021，沿用全稿2026年叙事，展示五年多；不声称已经完成两万亿IPO定价。
演讲补充：矩形面积严格按参考市值成比例分配；整框20000亿，十家公司13220亿，右侧余量6780亿。腾讯独立一列，其余分三行；白色分隔线只作公司边界。详细单家公司金额保留于JSON，不再在页面上逐项列数。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https://live.euronext.com/en/financial-news/anthropics-ipo-prospectus-shows-sweeping-ai-vision-surging-costs
https://www.alibabagroup.com/en-US/document-1490842489823690752
https://www.cnbc.com/2014/09/18/alibaba-prices-shares-at-68-a-share-dj.html
https://www.cnbc.com/2020/01/12/saudi-aramco-raises-ipo-to-record-29point4-billion-through-greenshoe-option.html
https://www.cnbc.com/2019/12/05/saudi-aramco-prices-shares-at-the-top-of-the-range-for-record-ipo-report-says.html
https://ir.spacex.com/updates/releases-details/2026/Space-Exploration-Technologies-Corp--Announces-Closing-of-Initial-Public-Offering-Including-Full-Exercise-of-Underwriters-Option-to-Purchase-Additional-Shares-2026-RgoR-Y1Vwh/default.aspx
2026-10-05叙事纠正：合并原第3/4页，删除SpaceX纪录支线。历史公司只用于建立Anthropic估值尺度。公司估值按发行价：阿里167.62B（不是首日231.4B）；Aramco1.7T；SpaceX1.77T来自Reuters。发行总额含超额配售：阿里25.03B含公司及售股股东；Aramco29.4B；SpaceX官方85.7B，其股数乘135美元与公告金额不一致，按公告明确gross proceeds，冲突保留audit。Anthropic募资未定、&gt;2T为报道目标。不是完整所有IPO名单，不宣称Anthropic募资额破纪录。
演讲补充：取几笔有代表性的大型 IPO 作参照，不是完整名单。
演讲补充：已上市公司按 IPO 发行价计算估值；Anthropic 为报道中的上市估值目标。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https://www.cnbc.com/2019/12/05/saudi-aramco-prices-shares-at-the-top-of-the-range-for-record-ipo-report-says.html
https://live.euronext.com/en/financial-news/anthropics-ipo-prospectus-shows-sweeping-ai-vision-surging-costs
https://www.anthropic.com/news/prompt-caching
性质对照为分析框架，不是财务可比口径：Aramco为已完成定价的上市估值1.7T，Anthropic为报道中的IPO目标&gt;2T，两者不在同一状态。左栏描述石油资产的通行特征，未引用Aramco财报单位成本。右栏“边际成本随缓存与推理优化下降”指官方prompt caching等机制方向，不给出具体单位成本数字，也不声称已盈利。不推断两类资产谁更值得投资。
演讲补充：用一家已经完成定价的万亿级公司当尺子，看这笔钱买的是什么。
演讲补充：性质对照，不是同口径财务比较；右侧尚未定价，两者不在同一状态。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https://live.euronext.com/en/financial-news/anthropics-ipo-prospectus-shows-sweeping-ai-vision-surging-costs
https://en.wikipedia.org/wiki/Microsoft
https://en.wikipedia.org/wiki/Apple_Inc.
https://en.wikipedia.org/wiki/Nvidia
https://en.wikipedia.org/wiki/Alphabet_Inc.
口径不同必须明说：微软1975成立、2021年市值首破2T；苹果1976、2020；英伟达1993、2024；Alphabet(Google)1998、2024。以上为二级市场市值首次突破，公开资料取整年数。Anthropic 2021成立、2026报道IPO目标&gt;2T，是发行估值目标而非已达成的市值，也未定价，因此单独标注“目标”。不同年份的两万亿购买力不同，未做通胀调整。不声称Anthropic已经是两万亿公司，也不预测它一定达成。
演讲补充：横条的长度，是从公司成立到跨过这个量级所用的年数。
演讲补充：不同年份的两万亿购买力不同。
演讲补充：已上市公司为二级市场市值首次突破 $2T；Anthropic 为 IPO 发行估值目标，尚未定价。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https://www.anthropic.com/news/anthropic-raises-series-e-at-usd61-5b-post-money-valuation
https://www.anthropic.com/news/anthropic-raises-series-f-at-usd183b-post-money-valuation
https://www.anthropic.com/news/anthropic-raises-30-billion-series-g-funding-380-billion-post-money-valuation
https://www.anthropic.com/news/series-h
https://live.euronext.com/en/financial-news/anthropics-ipo-prospectus-shows-sweeping-ai-vision-surging-costs
早期融资CSV日期轮次金额有错，保留2021成立而不画无原始证据的早期估值；折线各点等距展示事件，不代表等时距。IPO目标不用作为已成交融资点。
演讲补充：纵轴为投后估值，单位十亿美元；横轴为融资事件，不按时间等比例。
演讲补充：实线与实心点为已完成定价的融资轮次；虚线与空心点为报道中的 IPO 目标，尚未定价。2021–2024 各轮公开口径不一致，未入图。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https://www.anthropic.com/news/anthropic-raises-series-f-at-usd183b-post-money-valuation
https://www.anthropic.com/news/anthropic-raises-30-billion-series-g-funding-380-billion-post-money-valuation
https://www.anthropic.com/news/series-h
https://www.anthropic.com/news/claude-3-7-sonnet
https://www.anthropic.com/news/claude-4
run-rate revenue不是全年确认营收、不是保证续约ARR，采用官方名称。公司整体收入并非全部来自ClaudeCode；时间共现不证明Code单独导致全部增长。年初约1B、8月&gt;5B、2月14B、5月&gt;47B，下限点。
演讲补充：纵轴为公司整体年化收入，单位十亿美元。
演讲补充：竖线为 Claude Code 两个发布时点，在首段内按月份比例定位；其余横轴为事件点，不按时间等比例。时间上的先后不等于全部收入增长都来自这一个产品。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https://www.anthropic.com/news/anthropic-raises-series-f-at-usd183b-post-money-valuation
https://www.anthropic.com/news/anthropic-raises-30-billion-series-g-funding-380-billion-post-money-valuation
2025.08 Code &gt;0.5B；2026.02 &gt;2.5B。业务订阅从2026年初增4倍，企业占Code收入过半。不是整个公司企业收入比例。
演讲补充：上一页是公司整体口径；这一页只看 Claude Code 这一个产品。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https://www.anthropic.com/news/series-h
https://live.euronext.com/en/financial-news/anthropics-ipo-prospectus-shows-sweeping-ai-vision-surging-costs
Reuters全文没有100B ARR；仓库9月100B没有独立来源，不作为实际收入。以下100–111B是所需收入倒算。965/47=20.53；2000/47=42.55；2000/20=100；2000/18=111.11。
演讲补充：估值 ÷ 年化收入 = 收入倍数；这里不是 PE，ARR 也不是利润。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https://live.euronext.com/en/financial-news/anthropics-ipo-prospectus-shows-sweeping-ai-vision-surging-costs
2025净亏损近42B含约34B融资估值会计费用，不等于现金烧钱；经营亏损&gt;8B。未来cloud/compute/infrastructure义务518B不是单年Capex。
演讲补充：2025 年确认收入约 $4.6B；仍有超过 $8B 的经营亏损。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章节过渡页
引出第二章，不新增数据。
演讲补充：价格之后讲能力：编码成绩、Agent 闭环、生态标准，以及同行的反例与正例。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https://live.euronext.com/en/financial-news/anthropics-ipo-prospectus-shows-sweeping-ai-vision-surging-costs
https://platform.claude.com/docs/en/about-claude/models/overview
https://support.claude.com/en/articles/9002504-can-claude-produce-images
https://support.claude.com/en/articles/11101966-using-voice-mode
https://platform.openai.com/docs/models
https://developers.openai.com/api/docs/guides/video-generation
https://deepmind.google/models/veo/
https://deepmind.google/models/gemini-audio/
截至2026-10-05官方公开产品目录对照，不证明内部未研发。Claude模型目录以文本/图像输入、文本输出为主；可用HTML/SVG画图，也有voice mode，不能说无图像理解/语音功能。语音没有独立公开生成模型产品线是目录边界，而非证明无内部语音模型。Google图像Gemini Image/Imagen页面、视频Veo、语音Gemini Audio；OpenAI图像GPT-Image、语音TTS/Realtime、视频Sora历史发布但2026-09-24停止API，明示已停服。&gt;$2T为IPO目标，不称首家已超越2T，未取得全体AI公司可比估值排名。Google非纯AI公司这一提示不放deck。不从产品线推断竞品研发动机。
演讲补充：对照三家的公开模型目录：谁上线了独立的生成模型产品线。
演讲补充：比较独立生成模型产品线；Claude 有语音对话，也能用代码画图。Sora 已于 2026.09 停服。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
  "checked_at": "2026-10-05",
  "provenance": "Anthropic release pages and system cards; repo CSV used as discovery only, conflicting scores replaced",
  "early": {
    "model": "Claude 2",
    "date": "2023-07-11",
    "benchmark": "HumanEval",
    "score": 71.2,
    "previous_model": "Claude 1.3",
    "previous_score": 56,
    "source": "https://www.anthropic.com/news/claude-2",
    "note": "No model named Sonnet 2 in official releases; Claude 2 predates Sonnet naming. Claude 3 Opus release does not disclose a comparable SWE Verified score."
  },
  "swe_verified": [
    {
      "name": "Sonnet 3.5",
      "date": "2024.06",
      "score": 33.4,
      "source": "https://www.anthropic.com/news/3-5-models-and-computer-use"
    },
    {
      "name": "Sonnet 3.5 v2",
      "date": "2024.10",
      "score": 49,
      "source": "https://www.anthropic.com/news/3-5-models-and-computer-use"
    },
    {
      "name": "Sonnet 3.7",
      "date": "2025.02",
      "score": 62.3,
      "source": "https://www.anthropic.com/news/claude-3-7-sonnet",
      "note": "Full 500 pass@1; custom scaffold 70.3 is on 489 eligible tasks, not plotted."
    },
    {
      "name": "Opus 4",
      "date": "2025.05",
      "score": 72.5,
      "source": "https://www.anthropic.com/news/claude-4"
    },
    {
      "name": "Sonnet 4",
      "date": "2025.05",
      "score": 72.7,
      "source": "https://www.anthropic.com/news/claude-4"
    },
    {
      "name": "Opus 4.1",
      "date": "2025.08",
      "score": 74.5,
      "source": "https://www.anthropic.com/news/claude-opus-4-1"
    },
    {
      "name": "Sonnet 4.5",
      "date": "2025.09",
      "score": 77.2,
      "source": "https://www.anthropic.com/news/claude-sonnet-4-5"
    },
    {
      "name": "Opus 4.5",
      "date": "2025.11",
      "score": 80.9,
      "source": "https://www.anthropic.com/claude-opus-4-5-system-card",
      "page": 20
    },
    {
      "name": "Opus 4.6",
      "date": "2026.02",
      "score": 80.8,
      "source": "https://www.anthropic.com/claude-opus-4-6-system-card",
      "page": 19
    },
    {
      "name": "Sonnet 4.6",
      "date": "2026.02",
      "score": 79.6,
      "source": "https://www.anthropic.com/claude-sonnet-4-6-system-card",
      "page": 16
    },
    {
      "name": "Mythos Preview",
      "date": "2026.04",
      "score": 93.9,
      "source": "https://www.anthropic.com/claude-mythos-preview-system-card",
      "page": 189
    },
    {
      "name": "Opus 4.7",
      "date": "2026.04",
      "score": 87.6,
      "source": "https://www.anthropic.com/news/claude-opus-4-7"
    },
    {
      "name": "Opus 4.8",
      "date": "2026.05",
      "score": 88.6,
      "source": "https://www.anthropic.com/claude-opus-4-8-system-card",
      "page": 195
    },
    {
      "name": "Mythos / Fable 5",
      "date": "2026.06",
      "score": 95.5,
      "paired_score": 95,
      "source": "https://www.anthropic.com/claude-fable-5-mythos-5-system-card",
      "page": 253
    },
    {
      "name": "Sonnet 5",
      "date": "2026.06",
      "score": 85.2,
      "source": "https://www.anthropic.com/claude-sonnet-5-system-card",
      "page": 116
    },
    {
      "name": "Opus 5",
      "date": "2026.07",
      "score": 96,
      "source": "https://www.anthropic.com/claude-opus-5-system-card",
      "page": 153
    }
  ],
  "new_swe_pro": [
    {
      "name": "Mythos / Fable 5.1",
      "score": 81.2,
      "source": "https://www.anthropic.com/claude-fable-5-1-mythos-5-1-system-card",
      "page": 167
    },
    {
      "name": "Opus 5.5",
      "score": 89.9,
      "source": "https://www.anthropic.com/claude-opus-5-5-system-card",
      "page": 175
    },
    {
      "name": "Sonnet 5.5",
      "score": 81.3,
      "source": "https://www.anthropic.com/claude-sonnet-5-5-system-card",
      "page": 109
    }
  ],
  "terminal_panels": [
    {
      "version": "原版 · 2025",
      "harness": "发布时配置；Opus 4 使用 Claude Code",
      "rows": [
        [
          "Opus 4",
          43.2
        ],
        [
          "Sonnet 4",
          35.5
        ],
        [
          "Opus 4.1",
          43.3
        ],
        [
          "Sonnet 4.5",
          50
        ]
      ],
      "sources": [
        "https://www.anthropic.com/news/claude-4",
        "https://www.anthropic.com/news/claude-opus-4-1",
        "https://www.anthropic.com/news/claude-sonnet-4-5"
      ]
    },
    {
      "version": "2.0 · 2025–26",
      "harness": "Terminus-2；各代发布配置",
      "rows": [
        [
          "Opus 4.5",
          59.3
        ],
        [
          "Opus 4.6",
          65.4
        ],
        [
          "Sonnet 4.6",
          59.1
        ],
        [
          "Mythos Preview",
          82
        ],
        [
          "Opus 4.7",
          69.4
        ]
      ],
      "sources": [
        "https://www.anthropic.com/claude-opus-4-5-system-card",
        "https://www.anthropic.com/claude-opus-4-6-system-card",
        "https://www.anthropic.com/claude-sonnet-4-6-system-card",
        "https://www.anthropic.com/claude-mythos-preview-system-card",
        "https://www.anthropic.com/news/claude-opus-4-7"
      ]
    },
    {
      "version": "2.1 · 2026",
      "harness": "4.8: Terminus-2；后续含不同 harness",
      "rows": [
        [
          "Opus 4.8",
          74.6
        ],
        [
          "Fable 5",
          84.3
        ],
        [
          "Mythos 5",
          88
        ],
        [
          "Sonnet 5",
          80.4
        ]
      ],
      "sources": [
        "https://www.anthropic.com/claude-opus-4-8-system-card",
        "https://www.anthropic.com/claude-fable-5-mythos-5-system-card",
        "https://www.anthropic.com/claude-sonnet-5-system-card"
      ],
      "note": "Fable/Mythos5 card reruns Opus4.8 at82.7, not substituted for release74.6. Sonnet5 uses mini-swe-agent."
    },
    {
      "version": "4.0 · 2026",
      "harness": "Claude Code --bare；5.5 含 fallback",
      "rows": [
        [
          "Sonnet 5",
          10.3
        ],
        [
          "Fable 5",
          42
        ],
        [
          "Opus 5",
          52.3
        ],
        [
          "Fable 5.1",
          55.8
        ],
        [
          "Mythos 5.1",
          60.9
        ],
        [
          "Opus 5.5",
          66.4
        ],
        [
          "Sonnet 5.5",
          70.6
        ]
      ],
      "sources": [
        "https://www.anthropic.com/claude-sonnet-5-5",
        "https://www.anthropic.com/claude-fable-5-1-mythos-5-1-system-card",
        "https://www.anthropic.com/claude-opus-5-5-system-card",
        "https://www.anthropic.com/claude-sonnet-5-5-system-card"
      ],
      "note": "Opus5.5 xhigh (max64.8), other shown 5.1/5.5 models max; Mythos and Fable are same core with different safeguards/access. 5/10/15 repeats vary. Sonnet5 10.3 from latest release body, no finer setting disclosed there."
    }
  ]
}
100格图每格1个百分点，部分格按比例填充；表示平均修复率，不代表这些具体题目都被同一运行解出。33.4→62.3→96为官方里程碑而非同配置受控实验；harness/thinking/trials不同，数字差62.6pp为描述性差异。3.7 full50062.3，定制48970.3单独备注。HumanEval在下一页独立历史起点。95.5/95为Mythos/Fable5 Verified；96为Opus5。不能把Pro89.9作为Verified后继点。
演讲补充：SWE-bench Verified · 同一套 500 题；历代官方结果。
演讲补充：每格 = 1 个百分点；不是逐题运行记录。历史配置不同，数字是公开能力足迹。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
  "checked_at": "2026-10-05",
  "provenance": "Anthropic release pages and system cards; repo CSV used as discovery only, conflicting scores replaced",
  "early": {
    "model": "Claude 2",
    "date": "2023-07-11",
    "benchmark": "HumanEval",
    "score": 71.2,
    "previous_model": "Claude 1.3",
    "previous_score": 56,
    "source": "https://www.anthropic.com/news/claude-2",
    "note": "No model named Sonnet 2 in official releases; Claude 2 predates Sonnet naming. Claude 3 Opus release does not disclose a comparable SWE Verified score."
  },
  "swe_verified": [
    {
      "name": "Sonnet 3.5",
      "date": "2024.06",
      "score": 33.4,
      "source": "https://www.anthropic.com/news/3-5-models-and-computer-use"
    },
    {
      "name": "Sonnet 3.5 v2",
      "date": "2024.10",
      "score": 49,
      "source": "https://www.anthropic.com/news/3-5-models-and-computer-use"
    },
    {
      "name": "Sonnet 3.7",
      "date": "2025.02",
      "score": 62.3,
      "source": "https://www.anthropic.com/news/claude-3-7-sonnet",
      "note": "Full 500 pass@1; custom scaffold 70.3 is on 489 eligible tasks, not plotted."
    },
    {
      "name": "Opus 4",
      "date": "2025.05",
      "score": 72.5,
      "source": "https://www.anthropic.com/news/claude-4"
    },
    {
      "name": "Sonnet 4",
      "date": "2025.05",
      "score": 72.7,
      "source": "https://www.anthropic.com/news/claude-4"
    },
    {
      "name": "Opus 4.1",
      "date": "2025.08",
      "score": 74.5,
      "source": "https://www.anthropic.com/news/claude-opus-4-1"
    },
    {
      "name": "Sonnet 4.5",
      "date": "2025.09",
      "score": 77.2,
      "source": "https://www.anthropic.com/news/claude-sonnet-4-5"
    },
    {
      "name": "Opus 4.5",
      "date": "2025.11",
      "score": 80.9,
      "source": "https://www.anthropic.com/claude-opus-4-5-system-card",
      "page": 20
    },
    {
      "name": "Opus 4.6",
      "date": "2026.02",
      "score": 80.8,
      "source": "https://www.anthropic.com/claude-opus-4-6-system-card",
      "page": 19
    },
    {
      "name": "Sonnet 4.6",
      "date": "2026.02",
      "score": 79.6,
      "source": "https://www.anthropic.com/claude-sonnet-4-6-system-card",
      "page": 16
    },
    {
      "name": "Mythos Preview",
      "date": "2026.04",
      "score": 93.9,
      "source": "https://www.anthropic.com/claude-mythos-preview-system-card",
      "page": 189
    },
    {
      "name": "Opus 4.7",
      "date": "2026.04",
      "score": 87.6,
      "source": "https://www.anthropic.com/news/claude-opus-4-7"
    },
    {
      "name": "Opus 4.8",
      "date": "2026.05",
      "score": 88.6,
      "source": "https://www.anthropic.com/claude-opus-4-8-system-card",
      "page": 195
    },
    {
      "name": "Mythos / Fable 5",
      "date": "2026.06",
      "score": 95.5,
      "paired_score": 95,
      "source": "https://www.anthropic.com/claude-fable-5-mythos-5-system-card",
      "page": 253
    },
    {
      "name": "Sonnet 5",
      "date": "2026.06",
      "score": 85.2,
      "source": "https://www.anthropic.com/claude-sonnet-5-system-card",
      "page": 116
    },
    {
      "name": "Opus 5",
      "date": "2026.07",
      "score": 96,
      "source": "https://www.anthropic.com/claude-opus-5-system-card",
      "page": 153
    }
  ],
  "new_swe_pro": [
    {
      "name": "Mythos / Fable 5.1",
      "score": 81.2,
      "source": "https://www.anthropic.com/claude-fable-5-1-mythos-5-1-system-card",
      "page": 167
    },
    {
      "name": "Opus 5.5",
      "score": 89.9,
      "source": "https://www.anthropic.com/claude-opus-5-5-system-card",
      "page": 175
    },
    {
      "name": "Sonnet 5.5",
      "score": 81.3,
      "source": "https://www.anthropic.com/claude-sonnet-5-5-system-card",
      "page": 109
    }
  ],
  "terminal_panels": [
    {
      "version": "原版 · 2025",
      "harness": "发布时配置；Opus 4 使用 Claude Code",
      "rows": [
        [
          "Opus 4",
          43.2
        ],
        [
          "Sonnet 4",
          35.5
        ],
        [
          "Opus 4.1",
          43.3
        ],
        [
          "Sonnet 4.5",
          50
        ]
      ],
      "sources": [
        "https://www.anthropic.com/news/claude-4",
        "https://www.anthropic.com/news/claude-opus-4-1",
        "https://www.anthropic.com/news/claude-sonnet-4-5"
      ]
    },
    {
      "version": "2.0 · 2025–26",
      "harness": "Terminus-2；各代发布配置",
      "rows": [
        [
          "Opus 4.5",
          59.3
        ],
        [
          "Opus 4.6",
          65.4
        ],
        [
          "Sonnet 4.6",
          59.1
        ],
        [
          "Mythos Preview",
          82
        ],
        [
          "Opus 4.7",
          69.4
        ]
      ],
      "sources": [
        "https://www.anthropic.com/claude-opus-4-5-system-card",
        "https://www.anthropic.com/claude-opus-4-6-system-card",
        "https://www.anthropic.com/claude-sonnet-4-6-system-card",
        "https://www.anthropic.com/claude-mythos-preview-system-card",
        "https://www.anthropic.com/news/claude-opus-4-7"
      ]
    },
    {
      "version": "2.1 · 2026",
      "harness": "4.8: Terminus-2；后续含不同 harness",
      "rows": [
        [
          "Opus 4.8",
          74.6
        ],
        [
          "Fable 5",
          84.3
        ],
        [
          "Mythos 5",
          88
        ],
        [
          "Sonnet 5",
          80.4
        ]
      ],
      "sources": [
        "https://www.anthropic.com/claude-opus-4-8-system-card",
        "https://www.anthropic.com/claude-fable-5-mythos-5-system-card",
        "https://www.anthropic.com/claude-sonnet-5-system-card"
      ],
      "note": "Fable/Mythos5 card reruns Opus4.8 at82.7, not substituted for release74.6. Sonnet5 uses mini-swe-agent."
    },
    {
      "version": "4.0 · 2026",
      "harness": "Claude Code --bare；5.5 含 fallback",
      "rows": [
        [
          "Sonnet 5",
          10.3
        ],
        [
          "Fable 5",
          42
        ],
        [
          "Opus 5",
          52.3
        ],
        [
          "Fable 5.1",
          55.8
        ],
        [
          "Mythos 5.1",
          60.9
        ],
        [
          "Opus 5.5",
          66.4
        ],
        [
          "Sonnet 5.5",
          70.6
        ]
      ],
      "sources": [
        "https://www.anthropic.com/claude-sonnet-5-5",
        "https://www.anthropic.com/claude-fable-5-1-mythos-5-1-system-card",
        "https://www.anthropic.com/claude-opus-5-5-system-card",
        "https://www.anthropic.com/claude-sonnet-5-5-system-card"
      ],
      "note": "Opus5.5 xhigh (max64.8), other shown 5.1/5.5 models max; Mythos and Fable are same core with different safeguards/access. 5/10/15 repeats vary. Sonnet5 10.3 from latest release body, no finer setting disclosed there."
    }
  ]
}
历代全部16节点保留，按发布日期顺序且横轴等距，不表示等时距。同月多个家族分叉而非单一模型训练曲线。模型架构/配置改变，线为历史记录导览不证明单调提升。配对Fable95单独文字而非第二条历史整线。Pro和HumanEval不接Verified。原始3.7定制scaffold70.3/489不入主图。
演讲补充：Verified 的完整足迹；最新 5.1 / 5.5 转向更难的 SWE-bench Pro，单独展示。
演讲补充：节点等距，配置有差异。
演讲补充：SWE-bench Pro 不与 Verified 连线。
演讲补充：更早的起点：Claude 2 · HumanEval 71.2%（2023）；3.7 定制 scaffold：70.3%（489 题）。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
  {
    "version": "原版 · 2025",
    "harness": "发布时配置；Opus 4 使用 Claude Code",
    "rows": [
      [
        "Opus 4",
        43.2
      ],
      [
        "Sonnet 4",
        35.5
      ],
      [
        "Opus 4.1",
        43.3
      ],
      [
        "Sonnet 4.5",
        50
      ]
    ],
    "sources": [
      "https://www.anthropic.com/news/claude-4",
      "https://www.anthropic.com/news/claude-opus-4-1",
      "https://www.anthropic.com/news/claude-sonnet-4-5"
    ]
  },
  {
    "version": "2.0 · 2025–26",
    "harness": "Terminus-2；各代发布配置",
    "rows": [
      [
        "Opus 4.5",
        59.3
      ],
      [
        "Opus 4.6",
        65.4
      ],
      [
        "Sonnet 4.6",
        59.1
      ],
      [
        "Mythos Preview",
        82
      ],
      [
        "Opus 4.7",
        69.4
      ]
    ],
    "sources": [
      "https://www.anthropic.com/claude-opus-4-5-system-card",
      "https://www.anthropic.com/claude-opus-4-6-system-card",
      "https://www.anthropic.com/claude-sonnet-4-6-system-card",
      "https://www.anthropic.com/claude-mythos-preview-system-card",
      "https://www.anthropic.com/news/claude-opus-4-7"
    ]
  },
  {
    "version": "2.1 · 2026",
    "harness": "4.8: Terminus-2；后续含不同 harness",
    "rows": [
      [
        "Opus 4.8",
        74.6
      ],
      [
        "Fable 5",
        84.3
      ],
      [
        "Mythos 5",
        88
      ],
      [
        "Sonnet 5",
        80.4
      ]
    ],
    "sources": [
      "https://www.anthropic.com/claude-opus-4-8-system-card",
      "https://www.anthropic.com/claude-fable-5-mythos-5-system-card",
      "https://www.anthropic.com/claude-sonnet-5-system-card"
    ],
    "note": "Fable/Mythos5 card reruns Opus4.8 at82.7, not substituted for release74.6. Sonnet5 uses mini-swe-agent."
  },
  {
    "version": "4.0 · 2026",
    "harness": "Claude Code --bare；5.5 含 fallback",
    "rows": [
      [
        "Sonnet 5",
        10.3
      ],
      [
        "Fable 5",
        42
      ],
      [
        "Opus 5",
        52.3
      ],
      [
        "Fable 5.1",
        55.8
      ],
      [
        "Mythos 5.1",
        60.9
      ],
      [
        "Opus 5.5",
        66.4
      ],
      [
        "Sonnet 5.5",
        70.6
      ]
    ],
    "sources": [
      "https://www.anthropic.com/claude-sonnet-5-5",
      "https://www.anthropic.com/claude-fable-5-1-mythos-5-1-system-card",
      "https://www.anthropic.com/claude-opus-5-5-system-card",
      "https://www.anthropic.com/claude-sonnet-5-5-system-card"
    ],
    "note": "Opus5.5 xhigh (max64.8), other shown 5.1/5.5 models max; Mythos and Fable are same core with different safeguards/access. 5/10/15 repeats vary. Sonnet5 10.3 from latest release body, no finer setting disclosed there."
  }
]
原版发布结果最高50，不称全部旧版满分。2.0公开点最高82，2.1最高88，是所示历史节点不是最新全榜最优。同版harness/thinking不同，点不连线避免暗示同配置增长。每格1pp辅助展示。版本内排列按原JSON发布节点，同代多家族非单一曲线。3个native bar data plus editable display。
演讲补充：Terminal-Bench · 原版、2.0、2.1 各自展示；不跨版本连接分数。
演讲补充：原版：Claude Code / Terminus-1；2.0：Terminus-2；2.1：含不同 harness。各代 thinking 配置不同。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
  "version": "4.0 · 2026",
  "harness": "Claude Code --bare；5.5 含 fallback",
  "rows": [
    [
      "Sonnet 5",
      10.3
    ],
    [
      "Fable 5",
      42
    ],
    [
      "Opus 5",
      52.3
    ],
    [
      "Fable 5.1",
      55.8
    ],
    [
      "Mythos 5.1",
      60.9
    ],
    [
      "Opus 5.5",
      66.4
    ],
    [
      "Sonnet 5.5",
      70.6
    ]
  ],
  "sources": [
    "https://www.anthropic.com/claude-sonnet-5-5",
    "https://www.anthropic.com/claude-fable-5-1-mythos-5-1-system-card",
    "https://www.anthropic.com/claude-opus-5-5-system-card",
    "https://www.anthropic.com/claude-sonnet-5-5-system-card"
  ],
  "note": "Opus5.5 xhigh (max64.8), other shown 5.1/5.5 models max; Mythos and Fable are same core with different safeguards/access. 5/10/15 repeats vary. Sonnet5 10.3 from latest release body, no finer setting disclosed there."
}
https://www.tbench.ai/news/terminal-bench-4-0
4.0官方连续benchmark变更：校准资源/修19题/删8题，其中2饱和2拒答2公开答案2质量或平台。饱和定义最新各家族各档均5/5完成，而非Claude单独推动全部版本。4.0不是全新题库：future5.0新题；因此不用逼出新题唯一因果。0–100同版bar；Opus5.5 xhigh+fallback其余近期max；Sonnet5 10.3细设置未披露，不把+60.3pp视同配置训练提升。旧版与新版不相减。原始rows与全部harness细节在historyJSON。
演讲补充：Terminal-Bench 4.0 · 同一版本内比较，分数为各模型的公开发布结果。
演讲补充：同时校准资源、修题；新题持续征集。
演讲补充：4.0：Claude Code --bare；Opus 5.5 xhigh，其余近期节点 max；5.5 含 fallback。各代配置有差异。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{
  "retrieved_at": "2026-10-04",
  "scope": "Slide 05 only",
  "source_priority": "Artificial Analysis independent evaluations; official releases for missing entries only",
  "terminal_bench": {
    "version": "4.0",
    "url": "https://artificialanalysis.ai/evaluations/terminalbench-4-0?models=claude-opus-5-5%2Cgpt-6-astra%2Cgemini-3-1-pro-preview",
    "harness": "mini-swe-agent",
    "tasks": 66,
    "repeats_per_task": 3,
    "metric": "pass@1 averaged over three repeats per task",
    "scores_percent": [
      59.6,
      59.1,
      4
    ]
  },
  "intelligence_index": {
    "version": "4.3.2",
    "metric": "Artificial Analysis Intelligence Index, not a percentage or coding success rate",
    "scores": [
      58,
      53,
      30
    ]
  },
  "models": [
    {
      "display_name": "Opus 5.5",
      "evaluated_variant": "Claude Opus 5.5 (max with fallback)",
      "url": "https://artificialanalysis.ai/models/claude-opus-5-5"
    },
    {
      "display_name": "GPT-6 Astra",
      "evaluated_variant": "GPT-6 Astra (max)",
      "url": "https://artificialanalysis.ai/models/gpt-6-astra"
    },
    {
      "display_name": "Gemini 3.1 Pro",
      "evaluated_variant": "Gemini 3.1 Pro Preview",
      "url": "https://artificialanalysis.ai/models/gemini-3-1-pro-preview"
    }
  ],
  "swe_bench_pro": {
    "status": "No complete same-version three-model comparison verified in inspected public sources",
    "action": "Replace right panel with explicitly labelled AA Intelligence Index rather than retain unverified repository scores"
  },
  "official_cross_check": {
    "url": "https://www.anthropic.com/news/claude-opus-5-5",
    "terminal_bench_percent": {
      "opus_5_5_xhigh": 66.4,
      "gpt_6_astra_high_as_reported_by_openai": 57.9
    },
    "used_in_chart": false,
    "reason": "Different harness/effort/setup from AA; official table does not list SWE-bench Pro. OpenAI direct announcement access returned HTTP 403 / challenge."
  },
  "interpretation": "0.5 percentage point observed Terminal-Bench difference; not evidence of a statistically significant model lead. Results are configuration-specific. Other deck pages remain repository-sourced and are not reverified by this update."
}
两套口径必须分开看，绝对不可混用或相减。左：Artificial Analysis 独立复测，mini-swe-agent，66题每题3次平均pass@1，Opus 5.5为max with fallback（fallback可能调用其他模型），Astra为max，59.6/59.1观测差0.5pp不构成统计显著领先。右：官方发布表，Opus 5.5 xhigh使用Claude Code harness 66.4，Astra 57.9为OpenAI自报并由Anthropic发布页转述，OpenAI公告直接访问返回403，未取得原文复核。effort、harness、重复次数、是否含fallback都不同，8.5pp不是模型能力差。两套都不是受控训练实验。不据此预测排名变化。
演讲补充：两列都是 Terminal-Bench 4.0 上同一组模型的公开结果。
演讲补充：两列是不同的评测口径：harness、effort、重复次数与是否含 fallback 都不同，不可混用也不可相减。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https://www.anthropic.com/news/claude-3-7-sonnet
https://www.anthropic.com/engineering/effective-harnesses-for-long-running-agents
吸收Gemini第13页三栏对照，重写为同一任务中的分工变化；三种交互方式可共存，不是每个产品的严格代际分类。代码、命令与交付均为教学示意，非本次真实运行。Copilot不绝对限定为只能单行补全，Agent也不承诺必定通过测试。人负责业务取舍、审查合并与生产授权。
演讲补充：同一个任务：修复支付重试的错误。差别在于，谁来把下一步接起来。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https://www.anthropic.com/engineering/effective-harnesses-for-long-running-agents
https://www.anthropic.com/engineering/code-execution-with-mcp
结构示意，不是实测数据，也不给工时与费用对比：没有取得同一缺陷下人工耗时与Agent费用的可核验同口径数据，因此本页不出现任何金额或分钟数，避免编造ROI。左栏描述常见的串行排查过程，右栏任务名与进度为示意。并行度实际受授权范围、环境隔离、速率限制与人能审查多少约束；并非所有任务适合并行，也不保证重试一定成功。每条线的产出仍需人审查后合并。
演讲补充：接着上一页那个修复任务，把它放进一个下午来看。
演讲补充：一次只能推进一件；中途被打断，上下文要重新载入。
演讲补充：每条线各自跑、各自失败、各自重试；交回来的每一条，仍然要我们审查后合并。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https://github.com/deepseek-ai/DeepSeek-R1
https://www.tbench.ai/news/terminal-bench-4-0
机制图不是Claude私有训练配方；公开RL研究支持反思自检。评测数据不是训练数据，不把TB基准放进训练语料。运行中纠错不等于在线更新权重。
演讲补充：机制示意：编码任务为什么特别适合用反馈来改进自己。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https://www.anthropic.com/engineering/code-execution-with-mcp
吸收Gemini第14页人肉胶水比喻并与原第14页对账样本合并，不新增概念页。是常见办公流程示意，不是公司现状调查。订单980到账950差30、1200/1200差0、600/0差600为教学数据，非真实账务。不直接改账或发送通知；异常需结合业务规则复核。
演讲补充：这段衔接不产生任何新信息，但必须有人做。
演讲补充：教学样本 · 输出附原始行号与核对依据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https://www.anthropic.com/news/model-context-protocol
https://www.anthropic.com/engineering/equipping-agents-for-the-real-world-with-agent-skills
MCP2024.11.25；Skills2025.10.16，2025.12.18开放标准。Skills包含指令脚本资源，渐进加载。
演讲补充：MCP 不是被 Skills 替代；两者解决的是不同问题。
演讲补充：一次任务上下都要走。
演讲补充：MCP 2024.11 发布；Skills 2025.10 发布，2025.12 成为开放标准。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https://www.anthropic.com/news/donating-the-model-context-protocol-and-establishing-of-the-agentic-ai-foundation
2025.12.09官方生态快照，自报非独立市场份额；10000+ active public servers，97M+月SDK下载，不是使用人数。
演讲补充：MCP 从一家公司的开放协议，走向跨厂商 Agent 基础设施。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https://www.anthropic.com/engineering/code-execution-with-mcp
150000到2000 Tokens，98.6667%舍入98.7%，仅工具相关上下文，不是全任务费用。
演讲补充：数字来自 Anthropic 官方工程博客的实测示例。
演讲补充：同一工程示例。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https://artificialanalysis.ai/models/gemini-3-1-pro-preview
https://artificialanalysis.ai/evaluations/terminalbench-4-0
https://artificialanalysis.ai/models/claude-opus-5-5
https://artificialanalysis.ai/models/gpt-6-astra
图表量纲保留在轴标签上，比较口径详见演讲备注：左轴AA综合智能指数v4.3.2（0–60指数分，不是百分比）、右轴Terminal-Bench 4.0平均pass@1（0–80%），各自独立归一化，连线只表示同一模型在两套评测中的相对位置，不是分数变化，不可相减。Opus 5.5为max with fallback、Astra为max、Gemini为3.1 Pro Preview；59.6与59.1在右轴几乎重合，为可读性把标注上下分开，位置已用引线指回真实点。只说明本次型号在本次配置下终端评测弱，不据此断言Google整体衰落，不编造组织、训练或产品关停原因。
演讲补充：同一家第三方机构的两套评测：一套测综合智能，一套测终端执行。
演讲补充：左右是两套不同量纲的评测，各自独立归一化；连线表示同一模型在两套评测中的相对位置，不是分数变化，也不可相减。Opus 与 Astra 在右轴几乎重合（差 0.5 个百分点），为便于阅读分开标注。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用户提供的多来源汇总（2026-10-06）
terminal_bench_user_supplied.tsv
本页按用户在2026-10-06提供的25条汇总记录绘制，20个实际模型，未经本次逐条独立核验。原始字段、来源标签及括号中的替代分数均保存在 terminal_bench_user_supplied.tsv；只使用 Score 列，不平均来源中的不同数字。日期按原表记录日期处理，不称官方发布日期；若与此前审计的发布日期冲突，不沿用此前“同日反超”结论。2.0、2.1、4.0独立坐标系，不跨版本比较。横轴为本版本所列日期排序后的事件等距排列，不是等时距。连线是同一版本的公开配置迭代轨迹，不是统一harness复测，不代表模型纯能力或严格排名。2.0的GPT-5.1通用版、Sonnet 5，以及4.0的Sonnet 5基线、Fable 5.1单独标点；4.0的Sol效率型号另画虚线，不接到Astra前沿线上。Baseline为旧模型在新评测上的参考成绩，不是新型号，也不据发布日期推断当时已完成该版本评测。本次数据没有时间、费用，不保留此前成本下降结论。
原表记录：
Date: 2025-11-13 | Vendor: OpenAI | Model: GPT-5.1 | Series: General | Benchmark: Terminal-Bench 2.0 | Score: 45.5 | Harness: Terminus 2 / Requesty | Source: Vals AI / Requesty
Date: 2025-11-19 | Vendor: OpenAI | Model: GPT-5.1-Codex-Max | Series: Coding Flagship | Benchmark: Terminal-Bench 2.0 | Score: 58.1 | Harness: Official Codex Harness | Source: OpenAI Official / tbench.ai (53.5%)
Date: 2025-11-20 | Vendor: Anthropic | Model: Claude Opus 4.5 | Series: Flagship | Benchmark: Terminal-Bench 2.0 | Score: 69.5 | Harness: Harbor / Claude Code | Source: BenchLM / tbench.ai
Date: 2025-12-11 | Vendor: OpenAI | Model: GPT-5.2 | Series: Flagship | Benchmark: Terminal-Bench 2.0 | Score: 62.9 | Harness: Codex CLI (62.9%) / Warp (61.1%) | Source: tbench.ai (62.9% ± 3.0%) / Warp
Date: 2026-01-15 | Vendor: OpenAI | Model: GPT-5.3 Codex | Series: Coding Flagship | Benchmark: Terminal-Bench 2.0 | Score: 77.3 | Harness: Official Codex Harness | Source: BenchLM / LLM Stats
Date: 2026-01-20 | Vendor: Anthropic | Model: Claude Opus 4.6 | Series: Flagship | Benchmark: Terminal-Bench 2.0 | Score: 73.2 | Harness: Claude Code | Source: BenchLM
Date: 2026-02-15 | Vendor: OpenAI | Model: GPT-5.4 | Series: General Flagship | Benchmark: Terminal-Bench 2.0 | Score: 75.1 | Harness: Official Harness | Source: BenchLM
Date: 2026-04-10 | Vendor: OpenAI | Model: GPT-5.5 | Series: Flagship | Benchmark: Terminal-Bench 2.0 | Score: 82 | Harness: Official Harness | Source: BenchLM / LLM Stats
Date: 2026-04-20 | Vendor: Anthropic | Model: Claude Opus 4.8 | Series: Flagship | Benchmark: Terminal-Bench 2.1 | Score: 74.6 | Harness: Terminus 2 | Source: Artificial Analysis
Date: 2026-05-25 | Vendor: Anthropic | Model: Claude Sonnet 5 | Series: Mid-tier / Agent | Benchmark: Terminal-Bench 2.0 | Score: 80.4 | Harness: Anthropic Harness | Source: LLM Stats
Date: 2026-05-25 | Vendor: Anthropic | Model: Claude Sonnet 5 (Baseline) | Series: Mid-tier / Baseline | Benchmark: Terminal-Bench 4.0 | Score: 10.3 | Harness: Claude Code | Source: Anthropic Sonnet 5.5 System Card
Date: 2026-06-15 | Vendor: Anthropic | Model: Claude Fable 5 | Series: Reasoning / Research | Benchmark: Terminal-Bench 2.1 | Score: 86 | Harness: Terminus 2 | Source: Vals AI / Vellum
Date: 2026-06-26 | Vendor: OpenAI | Model: GPT-5.6 Sol | Series: Flagship | Benchmark: Terminal-Bench 2.1 | Score: 88 | Harness: Terminus 2 (Max Effort) | Source: Artificial Analysis / OpenAI (88.8%)
Date: 2026-06-26 | Vendor: OpenAI | Model: GPT-5.6 Sol (Baseline) | Series: Prior Flagship / Baseline | Benchmark: Terminal-Bench 4.0 | Score: 37.3 | Harness: Codex (Max Effort) | Source: tbench.ai / Anthropic Report
Date: 2026-07-24 | Vendor: Anthropic | Model: Claude Opus 5 | Series: Flagship | Benchmark: Terminal-Bench 2.1 | Score: 89.1 | Harness: Terminus 2 (Max Effort) | Source: Artificial Analysis / Morph
Date: 2026-07-24 | Vendor: Anthropic | Model: Claude Opus 5 (Baseline) | Series: Prior Flagship / Baseline | Benchmark: Terminal-Bench 4.0 | Score: 52.3 | Harness: Claude Code (51.8% Public, 52.3% Internal) | Source: Anthropic Opus 5.5 System Card / tbench.ai
Date: 2026-08-31 | Vendor: Anthropic | Model: Claude Fable 5.1 | Series: Reasoning / Research | Benchmark: Terminal-Bench 4.0 | Score: 57.9 | Harness: Claude Code | Source: tbench.ai / Harbor Hub
Date: 2026-09-01 | Vendor: Anthropic | Model: Claude Mythos 5.1 | Series: Specialized Flagship | Benchmark: Terminal-Bench 4.0 | Score: 60.9 | Harness: Anthropic Harness | Source: LLM Stats
Date: 2026-09-03 | Vendor: OpenAI | Model: GPT-6 Astra | Series: Flagship | Benchmark: Terminal-Bench 2.1 | Score: 88.4 | Harness: Terminus 2 / AA (89.5% Med, 87.3% Vals) | Source: Artificial Analysis / Vals AI
Date: 2026-09-03 | Vendor: OpenAI | Model: GPT-6 Astra | Series: Frontier Flagship | Benchmark: Terminal-Bench 4.0 | Score: 58.2 | Harness: Codex (Max Effort) | Source: tbench.ai (58.2% ± 2.8%) / Vals (59.6%)
Date: 2026-09-22 | Vendor: Anthropic | Model: Claude Opus 5.5 | Series: Flagship | Benchmark: Terminal-Bench 2.1 | Score: 87.6 | Harness: Terminus 2 (High Effort) | Source: Vals AI (87.64%) / BenchLM (86.4%)
Date: 2026-09-22 | Vendor: Anthropic | Model: Claude Opus 5.5 | Series: Frontier Flagship | Benchmark: Terminal-Bench 4.0 | Score: 66.4 | Harness: Claude Code (Xhigh Effort) | Source: Anthropic Official / Vals (65.2%)
Date: 2026-09-23 | Vendor: OpenAI | Model: GPT-6 Sol | Series: Workhorse (Efficient) | Benchmark: Terminal-Bench 4.0 | Score: 44.4 | Harness: Mini-SWE-agent | Source: Vals AI / Emergent
Date: 2026-09-29 | Vendor: Anthropic | Model: Claude Sonnet 5.5 | Series: Coding Specialist | Benchmark: Terminal-Bench 4.0 | Score: 70.6 | Harness: Claude Code (Peak Effort) | Source: Anthropic Official / LLM Stats
Date: 2026-09-30 | Vendor: OpenAI | Model: GPT-6.1 Sol | Series: Workhorse (Efficient) | Benchmark: Terminal-Bench 4.0 | Score: 55.1 | Harness: Mini-SWE-agent | Source: Vals AI / Emergent
演讲补充：三代终端评测，20 个模型的公开成绩轨迹。
演讲补充：多来源、不同配置汇总；横轴按资料中的迭代事件等距排列，版本间不比较分数。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章节过渡页
引出第三章，不新增数据。
演讲补充：先把 AGI 说清楚，再回答：为什么是编码能力，以及还差多少。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https://www.anthropic.com/institute/measuring-pace-of-ai-development
https://www.anthropic.com/engineering/effective-harnesses-for-long-running-agents
明确为本演讲的工作定义，不是业界统一判定标准，也没有公认的通过线。三条不是人类级通用智能的充分条件，满足三条也不等于AGI达成。本页只给定义与“怎么判断有没有”的问题，不给当前进度评分，避免与3.3门槛表重复。三条标准取自用户大纲原文表述，不借用任何厂商的能力分级。
演讲补充：每条标准配一个可以当场判断的问题。
演讲补充：这是本场采用的工作定义，不是业界统一判定标准；三条都满足也不等于已经是 AGI。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https://www.anthropic.com/engineering/effective-harnesses-for-long-running-agents
https://www.anthropic.com/institute/measuring-pace-of-ai-development
吸收Gemini第24页自治滑杆，与原AGI工作定义合并。四档是演讲交互框架，不是R&amp;D AL等级、不代表线性技术成熟度或通用AGI认证。持续运行是需要调度/监控/权限/恢复的部署方式，不是所有Claude产品自动具备。工具使用、持续学习、自我迭代保留为工作框架，非必要充分判定。对账为教学示意。
演讲补充：还是那件对账的事，四种不同的交付方式。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https://www.anthropic.com/engineering/code-execution-with-mcp
https://www.anthropic.com/engineering/equipping-agents-for-the-real-world-with-agent-skills
吸收Gemini第25页数字义肢/石斧比喻，保留目标→代码→结果的机制。比喻不援引人类进化史，不把编码等同可制造任何工具。文件/API调用必须获得授权；脚本需测试，结果需核对。对账工具为教学机制示意，不声称执行成功。文件匹配只能处理编码规则，不自动决定业务含义。
演讲补充：这不是两条路线，而是同一个任务里交替出现的两种动作。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机制示意；非Claude机器人实测或产品能力承诺
物理动作必须有被授权硬件、传感器反馈、保护系统；不能把API访问等同物理通用智能。
演讲补充：机制示意：代码在这条链路上承担哪一段。
演讲补充：不是 Claude 机器人实测，也不是产品能力承诺。软件里失败只花一次重试；物理世界里失败可能不可逆。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https://www.anthropic.com/institute/measuring-pace-of-ai-development
厂商原型指标自报：26% AL4 AI主导、人监督；&gt;90% AL3+协作包含AL4，不相加；不是发现占比或26%模型改进，未报告AL5完全自主。
演讲补充：Anthropic R&amp;D Automation Index · 2026 年 8 月快照。
演讲补充：AL1–AL5 是自动化层级：AL3 为 AI 协作，AL4 为 AI 主导、人类监督，AL5 为完全自主。厂商自报指标，AL3+ 与 AL4 为包含关系，不可相加。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https://www.anthropic.com/institute/measuring-pace-of-ai-development
RSI为可能的代际反馈机制；不等于完全自主递归改进已实现或智能爆炸已证实。创意、验证、算力与安全为约束。
演讲补充：这一步是机制推断，不是已经观测到的完整闭环。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分析框架
https://www.anthropic.com/engineering/effective-harnesses-for-long-running-agents
https://www.anthropic.com/institute/measuring-pace-of-ai-development
文件记忆和skills改善运行系统不等于权重持续学习。AI主导研发仍人监督；物理世界长期可靠性未由代码基准证明。
演讲补充：不猜日期，只列可以观察、可以验证的判断点。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https://live.euronext.com/en/financial-news/anthropics-ipo-prospectus-shows-sweeping-ai-vision-surging-costs
https://www.anthropic.com/news/anthropic-raises-series-f-at-usd183b-post-money-valuation
https://www.anthropic.com/news/anthropic-raises-30-billion-series-g-funding-380-billion-post-money-valuation
https://www.anthropic.com/news/series-h
https://www.anthropic.com/institute/measuring-pace-of-ai-development
结尾为商业与技术方向性判断，非目标估值合理性的确定结论或投资建议。
演讲补充：两万亿同时为这三层付钱，尽管它们的确定性完全不同。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组织方向性分析；对账教学样本；授权、隐私与生产操作责任保留在人类组织
吸收Gemini第31页执行廉价/判断稀缺的反问，与原角色结尾合并，不使用淘汰旧技能、伪工作、舰队统帅等贬抑或训导措辞。执行成本下降为方向性条件，不声称全部执行已无限廉价。具体30/600为第14页教学样本呼应；不将差额认定为漏款，不自动发起催收或改账。保留员工/研发/公司三方各一项具体落点，不构成员工必须如何工作的命令。
演讲补充：同一件对账工作，重新分一次工。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
结束页：无数据。吉祥物为按参考像素图逐格重绘的原生方块图形，非 Claude Code 官方素材文件。
演讲补充：接下来是讨论时间。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chart" Target="..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chart" Target="..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内部分享 / 2026.10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13232" y="1207008"/>
            <a:ext cx="77724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Anthropic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2万亿 IPO 的背后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3044952"/>
            <a:ext cx="7315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编码模型与 AGI</a:t>
            </a:r>
            <a:endParaRPr lang="en-US" sz="3100" dirty="0"/>
          </a:p>
        </p:txBody>
      </p:sp>
      <p:pic>
        <p:nvPicPr>
          <p:cNvPr id="7" name="Image 0" descr="/Users/tangpeng/Documents/github/anthropic-and-its-2t-ipo/pptx/anthropic_ipo_story_v5_claude/assets/intelligence.sv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5048" y="1371600"/>
            <a:ext cx="3017520" cy="30175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" y="4480560"/>
            <a:ext cx="3364992" cy="105156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41832" y="4645152"/>
            <a:ext cx="6766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1673352" y="4745736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为什么值两万亿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526280" y="4480560"/>
            <a:ext cx="3364992" cy="105156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36592" y="4645152"/>
            <a:ext cx="6766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5468112" y="4745736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从编码到数字工作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321040" y="4480560"/>
            <a:ext cx="3364992" cy="1051560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531352" y="4645152"/>
            <a:ext cx="6766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9262872" y="4745736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从数字工作到 AGI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129844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PART 01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68096" y="17830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史上最大 IPO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786384" y="3621024"/>
            <a:ext cx="10643616" cy="0"/>
          </a:xfrm>
          <a:prstGeom prst="line">
            <a:avLst/>
          </a:prstGeom>
          <a:noFill/>
          <a:ln w="15240">
            <a:solidFill>
              <a:srgbClr val="DFDF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3931920"/>
            <a:ext cx="3218688" cy="1298448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4133088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1.1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4526280"/>
            <a:ext cx="2779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放进历史坐标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52544" y="3931920"/>
            <a:ext cx="3218688" cy="1298448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4133088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1.2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4526280"/>
            <a:ext cx="2779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最快的两万亿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936992" y="3931920"/>
            <a:ext cx="3218688" cy="1298448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4133088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1.3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56448" y="4526280"/>
            <a:ext cx="2779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何以两万亿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/ 史上最大 IPO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一家成立五年的公司，正在冲击两万亿 IPO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" y="2423160"/>
            <a:ext cx="4572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D977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&gt;$2T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66674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预期上市估值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0" y="2478024"/>
            <a:ext cx="5980176" cy="722376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05856" y="26243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351776" y="2642616"/>
            <a:ext cx="38679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Anthropic 成立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0" y="3392424"/>
            <a:ext cx="5980176" cy="722376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05856" y="35387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2026.06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7351776" y="3557016"/>
            <a:ext cx="38679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秘密提交 S-1 草案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0" y="4306824"/>
            <a:ext cx="5980176" cy="722376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05856" y="44531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2026.09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51776" y="4471416"/>
            <a:ext cx="38679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报道披露两万亿估值目标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真正值得追问的是：资本为什么给它如此高的价格？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/ 史上最大 IPO / 1.1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 万亿美元，比中国互联网 Top 10 总和还高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712464" y="2532888"/>
          <a:ext cx="7735824" cy="26609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3712464" y="2532888"/>
            <a:ext cx="7735824" cy="2660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66744" y="2468880"/>
            <a:ext cx="7836408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2432304"/>
            <a:ext cx="1874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600" b="1" dirty="0">
                <a:solidFill>
                  <a:srgbClr val="D977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1.51</a:t>
            </a:r>
            <a:endParaRPr lang="en-US" sz="7600" dirty="0"/>
          </a:p>
        </p:txBody>
      </p:sp>
      <p:sp>
        <p:nvSpPr>
          <p:cNvPr id="9" name="Text 6"/>
          <p:cNvSpPr/>
          <p:nvPr/>
        </p:nvSpPr>
        <p:spPr>
          <a:xfrm>
            <a:off x="2679192" y="29169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倍</a:t>
            </a:r>
            <a:endParaRPr lang="en-US" sz="2900" dirty="0"/>
          </a:p>
        </p:txBody>
      </p:sp>
      <p:sp>
        <p:nvSpPr>
          <p:cNvPr id="10" name="Text 7"/>
          <p:cNvSpPr/>
          <p:nvPr/>
        </p:nvSpPr>
        <p:spPr>
          <a:xfrm>
            <a:off x="786384" y="3703320"/>
            <a:ext cx="2761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一家，超过十家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86384" y="4572000"/>
            <a:ext cx="27614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2021 → 2026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86384" y="4965192"/>
            <a:ext cx="2761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成立仅五年多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3712464" y="1947672"/>
            <a:ext cx="36576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Anthropic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85632" y="1947672"/>
            <a:ext cx="29626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 万亿美元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3712464" y="2532888"/>
            <a:ext cx="2049993" cy="2660904"/>
          </a:xfrm>
          <a:prstGeom prst="rect">
            <a:avLst/>
          </a:prstGeom>
          <a:solidFill>
            <a:srgbClr val="BCCBBF"/>
          </a:solidFill>
          <a:ln w="12700">
            <a:solidFill>
              <a:srgbClr val="BCCBB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712464" y="2532888"/>
            <a:ext cx="2049993" cy="2660904"/>
          </a:xfrm>
          <a:prstGeom prst="rect">
            <a:avLst/>
          </a:prstGeom>
          <a:solidFill>
            <a:srgbClr val="BCCBBF">
              <a:alpha val="0"/>
            </a:srgbClr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58184" y="3662172"/>
            <a:ext cx="195855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腾讯</a:t>
            </a:r>
            <a:endParaRPr lang="en-US" sz="2900" dirty="0"/>
          </a:p>
        </p:txBody>
      </p:sp>
      <p:sp>
        <p:nvSpPr>
          <p:cNvPr id="18" name="Shape 15"/>
          <p:cNvSpPr/>
          <p:nvPr/>
        </p:nvSpPr>
        <p:spPr>
          <a:xfrm>
            <a:off x="5762457" y="2532888"/>
            <a:ext cx="1869859" cy="1293495"/>
          </a:xfrm>
          <a:prstGeom prst="rect">
            <a:avLst/>
          </a:prstGeom>
          <a:solidFill>
            <a:srgbClr val="CFD9CC"/>
          </a:solidFill>
          <a:ln w="12700">
            <a:solidFill>
              <a:srgbClr val="CFD9CC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62457" y="2532888"/>
            <a:ext cx="1869859" cy="1293495"/>
          </a:xfrm>
          <a:prstGeom prst="rect">
            <a:avLst/>
          </a:prstGeom>
          <a:solidFill>
            <a:srgbClr val="CFD9CC">
              <a:alpha val="0"/>
            </a:srgbClr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808177" y="2978468"/>
            <a:ext cx="17784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阿里巴巴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7632317" y="2532888"/>
            <a:ext cx="1193527" cy="1293495"/>
          </a:xfrm>
          <a:prstGeom prst="rect">
            <a:avLst/>
          </a:prstGeom>
          <a:solidFill>
            <a:srgbClr val="DDE4D9"/>
          </a:solidFill>
          <a:ln w="12700">
            <a:solidFill>
              <a:srgbClr val="DDE4D9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32317" y="2532888"/>
            <a:ext cx="1193527" cy="1293495"/>
          </a:xfrm>
          <a:prstGeom prst="rect">
            <a:avLst/>
          </a:prstGeom>
          <a:solidFill>
            <a:srgbClr val="DDE4D9">
              <a:alpha val="0"/>
            </a:srgbClr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678037" y="2978468"/>
            <a:ext cx="11020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拼多多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762457" y="3826383"/>
            <a:ext cx="1296048" cy="873529"/>
          </a:xfrm>
          <a:prstGeom prst="rect">
            <a:avLst/>
          </a:prstGeom>
          <a:solidFill>
            <a:srgbClr val="D4DCCF"/>
          </a:solidFill>
          <a:ln w="12700">
            <a:solidFill>
              <a:srgbClr val="D4DCC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762457" y="3826383"/>
            <a:ext cx="1296048" cy="873529"/>
          </a:xfrm>
          <a:prstGeom prst="rect">
            <a:avLst/>
          </a:prstGeom>
          <a:solidFill>
            <a:srgbClr val="D4DCCF">
              <a:alpha val="0"/>
            </a:srgbClr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808177" y="4061980"/>
            <a:ext cx="1204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美团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7058505" y="3826383"/>
            <a:ext cx="1001492" cy="873529"/>
          </a:xfrm>
          <a:prstGeom prst="rect">
            <a:avLst/>
          </a:prstGeom>
          <a:solidFill>
            <a:srgbClr val="C1CEC4"/>
          </a:solidFill>
          <a:ln w="12700">
            <a:solidFill>
              <a:srgbClr val="C1CEC4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058505" y="3826383"/>
            <a:ext cx="1001492" cy="873529"/>
          </a:xfrm>
          <a:prstGeom prst="rect">
            <a:avLst/>
          </a:prstGeom>
          <a:solidFill>
            <a:srgbClr val="C1CEC4">
              <a:alpha val="0"/>
            </a:srgbClr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104225" y="4061980"/>
            <a:ext cx="9100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小米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8059997" y="3826383"/>
            <a:ext cx="765847" cy="873529"/>
          </a:xfrm>
          <a:prstGeom prst="rect">
            <a:avLst/>
          </a:prstGeom>
          <a:solidFill>
            <a:srgbClr val="E6EADF"/>
          </a:solidFill>
          <a:ln w="12700">
            <a:solidFill>
              <a:srgbClr val="E6EAD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059997" y="3826383"/>
            <a:ext cx="765847" cy="873529"/>
          </a:xfrm>
          <a:prstGeom prst="rect">
            <a:avLst/>
          </a:prstGeom>
          <a:solidFill>
            <a:srgbClr val="E6EADF">
              <a:alpha val="0"/>
            </a:srgbClr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105717" y="4061980"/>
            <a:ext cx="67440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网易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5762457" y="4699912"/>
            <a:ext cx="1041968" cy="493880"/>
          </a:xfrm>
          <a:prstGeom prst="rect">
            <a:avLst/>
          </a:prstGeom>
          <a:solidFill>
            <a:srgbClr val="E3E7DF"/>
          </a:solidFill>
          <a:ln w="12700">
            <a:solidFill>
              <a:srgbClr val="E3E7D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762457" y="4699912"/>
            <a:ext cx="1041968" cy="493880"/>
          </a:xfrm>
          <a:prstGeom prst="rect">
            <a:avLst/>
          </a:prstGeom>
          <a:solidFill>
            <a:srgbClr val="E3E7DF">
              <a:alpha val="0"/>
            </a:srgbClr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808177" y="4823408"/>
            <a:ext cx="950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京东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804425" y="4699912"/>
            <a:ext cx="791896" cy="493880"/>
          </a:xfrm>
          <a:prstGeom prst="rect">
            <a:avLst/>
          </a:prstGeom>
          <a:solidFill>
            <a:srgbClr val="CED7CF"/>
          </a:solidFill>
          <a:ln w="12700">
            <a:solidFill>
              <a:srgbClr val="CED7CF">
                <a:alpha val="0"/>
              </a:srgbClr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6804425" y="4699912"/>
            <a:ext cx="791896" cy="493880"/>
          </a:xfrm>
          <a:prstGeom prst="rect">
            <a:avLst/>
          </a:prstGeom>
          <a:solidFill>
            <a:srgbClr val="CED7CF">
              <a:alpha val="0"/>
            </a:srgbClr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850145" y="4823408"/>
            <a:ext cx="700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携程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7596321" y="4699912"/>
            <a:ext cx="666860" cy="493880"/>
          </a:xfrm>
          <a:prstGeom prst="rect">
            <a:avLst/>
          </a:prstGeom>
          <a:solidFill>
            <a:srgbClr val="E9ECE5"/>
          </a:solidFill>
          <a:ln w="12700">
            <a:solidFill>
              <a:srgbClr val="E9ECE5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96321" y="4699912"/>
            <a:ext cx="666860" cy="493880"/>
          </a:xfrm>
          <a:prstGeom prst="rect">
            <a:avLst/>
          </a:prstGeom>
          <a:solidFill>
            <a:srgbClr val="E9ECE5">
              <a:alpha val="0"/>
            </a:srgbClr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642041" y="4823408"/>
            <a:ext cx="5754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百度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8263181" y="4699912"/>
            <a:ext cx="562663" cy="493880"/>
          </a:xfrm>
          <a:prstGeom prst="rect">
            <a:avLst/>
          </a:prstGeom>
          <a:solidFill>
            <a:srgbClr val="D9E0D7"/>
          </a:solidFill>
          <a:ln w="12700">
            <a:solidFill>
              <a:srgbClr val="D9E0D7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263181" y="4699912"/>
            <a:ext cx="562663" cy="493880"/>
          </a:xfrm>
          <a:prstGeom prst="rect">
            <a:avLst/>
          </a:prstGeom>
          <a:solidFill>
            <a:srgbClr val="D9E0D7">
              <a:alpha val="0"/>
            </a:srgbClr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308901" y="4823408"/>
            <a:ext cx="471223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快手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8825844" y="2532888"/>
            <a:ext cx="2622444" cy="266090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027012" y="2962656"/>
            <a:ext cx="22201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还多出</a:t>
            </a:r>
            <a:endParaRPr lang="en-US" sz="1800" dirty="0"/>
          </a:p>
        </p:txBody>
      </p:sp>
      <p:sp>
        <p:nvSpPr>
          <p:cNvPr id="47" name="Text 44"/>
          <p:cNvSpPr/>
          <p:nvPr/>
        </p:nvSpPr>
        <p:spPr>
          <a:xfrm>
            <a:off x="9027012" y="3465576"/>
            <a:ext cx="22201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6,780</a:t>
            </a:r>
            <a:endParaRPr lang="en-US" sz="4500" dirty="0"/>
          </a:p>
        </p:txBody>
      </p:sp>
      <p:sp>
        <p:nvSpPr>
          <p:cNvPr id="48" name="Text 45"/>
          <p:cNvSpPr/>
          <p:nvPr/>
        </p:nvSpPr>
        <p:spPr>
          <a:xfrm>
            <a:off x="9027012" y="4224528"/>
            <a:ext cx="22201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亿美元</a:t>
            </a:r>
            <a:endParaRPr lang="en-US" sz="2100" dirty="0"/>
          </a:p>
        </p:txBody>
      </p:sp>
      <p:sp>
        <p:nvSpPr>
          <p:cNvPr id="49" name="Text 46"/>
          <p:cNvSpPr/>
          <p:nvPr/>
        </p:nvSpPr>
        <p:spPr>
          <a:xfrm>
            <a:off x="3712464" y="5394960"/>
            <a:ext cx="24688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中国互联网 Top 10</a:t>
            </a:r>
            <a:endParaRPr lang="en-US" sz="1700" dirty="0"/>
          </a:p>
        </p:txBody>
      </p:sp>
      <p:sp>
        <p:nvSpPr>
          <p:cNvPr id="50" name="Text 47"/>
          <p:cNvSpPr/>
          <p:nvPr/>
        </p:nvSpPr>
        <p:spPr>
          <a:xfrm>
            <a:off x="6272784" y="5394960"/>
            <a:ext cx="25530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1.322 万亿美元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把腾讯、阿里、拼多多等十家装进去，离两万亿还差一大块。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/ 史上最大 IPO / 1.1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从阿里巴巴到 Anthropic：超级 IPO 的尺度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914400" y="2340864"/>
            <a:ext cx="2834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公司 / IPO 年份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14800" y="2340864"/>
            <a:ext cx="3383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IPO 公司估值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0" y="2340864"/>
            <a:ext cx="33832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募资额（含超额配售）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935224"/>
            <a:ext cx="10698480" cy="48463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935224"/>
            <a:ext cx="2834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阿里巴巴 · 2014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114800" y="2935224"/>
            <a:ext cx="33832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约 1,676 亿美元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863840" y="2935224"/>
            <a:ext cx="33832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250.3 亿美元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3520440"/>
            <a:ext cx="10698480" cy="4846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520440"/>
            <a:ext cx="2834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沙特阿美 · 2019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114800" y="3520440"/>
            <a:ext cx="33832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约 1.70 万亿美元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863840" y="3520440"/>
            <a:ext cx="33832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294 亿美元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1520" y="4105656"/>
            <a:ext cx="10698480" cy="48463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105656"/>
            <a:ext cx="2834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SpaceX · 2026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0" y="4105656"/>
            <a:ext cx="33832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约 1.77 万亿美元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863840" y="4105656"/>
            <a:ext cx="33832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857 亿美元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1520" y="4690872"/>
            <a:ext cx="10698480" cy="484632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690872"/>
            <a:ext cx="28346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Anthropic · IPO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4114800" y="4690872"/>
            <a:ext cx="33832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目标超过 2 万亿美元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863840" y="4690872"/>
            <a:ext cx="33832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发行规模待定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为什么一家成立仅五年的 AI 公司，能以两万亿目标进入这个行列？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/ 史上最大 IPO / 1.1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同样的两万亿，被定价的不是同一种东西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4937760" cy="3072384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9264" y="2450592"/>
            <a:ext cx="4462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沙特阿美 · 2019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9264" y="2816352"/>
            <a:ext cx="4462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约 $1.7T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969264" y="3419856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已完成定价的上市估值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9264" y="3730752"/>
            <a:ext cx="4462272" cy="0"/>
          </a:xfrm>
          <a:prstGeom prst="line">
            <a:avLst/>
          </a:prstGeom>
          <a:noFill/>
          <a:ln w="12700">
            <a:solidFill>
              <a:srgbClr val="DFDF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3822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定价基础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14016" y="382219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已探明储量与开采权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9264" y="418795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增长来自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14016" y="418795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实体能源的消费量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9264" y="455371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每多卖一单位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14016" y="45537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要多勘探、多开采、多运输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69264" y="49194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本质上卖的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14016" y="49194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地下的存量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28816" y="2286000"/>
            <a:ext cx="4937760" cy="3072384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2450592"/>
            <a:ext cx="4462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Anthropic · 2026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766560" y="2816352"/>
            <a:ext cx="4462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&gt;$2T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6766560" y="3419856"/>
            <a:ext cx="4462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报道中的 IPO 估值目标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3730752"/>
            <a:ext cx="4462272" cy="0"/>
          </a:xfrm>
          <a:prstGeom prst="line">
            <a:avLst/>
          </a:prstGeom>
          <a:noFill/>
          <a:ln w="12700">
            <a:solidFill>
              <a:srgbClr val="DFDF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3822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定价基础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11312" y="382219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模型能完成多少工作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418795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增长来自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11312" y="418795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可被计算机接走的工作范围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766560" y="455371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每多卖一单位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11312" y="45537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复制一份执行能力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66560" y="49194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本质上卖的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11312" y="49194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可复制的执行能力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788152" y="2871216"/>
            <a:ext cx="621792" cy="475488"/>
          </a:xfrm>
          <a:prstGeom prst="roundRect">
            <a:avLst/>
          </a:prstGeom>
          <a:solidFill>
            <a:srgbClr val="FAEEE8"/>
          </a:solidFill>
          <a:ln w="12700">
            <a:solidFill>
              <a:srgbClr val="FAEEE8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88152" y="2871216"/>
            <a:ext cx="621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两万亿的标的，从“地下的存量”换成了“可复制的执行能力”。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/ 史上最大 IPO / 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走到两万亿，别人用了几十年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68096" y="245059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Microsoft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8096" y="272491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1975 → 2021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63824" y="2487168"/>
            <a:ext cx="5212080" cy="274320"/>
          </a:xfrm>
          <a:prstGeom prst="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3824" y="2487168"/>
            <a:ext cx="5212080" cy="274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0" y="2459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46 年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68096" y="305409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Apple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68096" y="332841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1976 → 2020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63824" y="3090672"/>
            <a:ext cx="5212080" cy="274320"/>
          </a:xfrm>
          <a:prstGeom prst="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63824" y="3090672"/>
            <a:ext cx="4985468" cy="274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7308" y="306324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44 年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8096" y="3657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NVIDIA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68096" y="393192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1993 → 2024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163824" y="3694176"/>
            <a:ext cx="5212080" cy="274320"/>
          </a:xfrm>
          <a:prstGeom prst="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3824" y="3694176"/>
            <a:ext cx="3512489" cy="274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04329" y="36667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31 年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68096" y="42611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Alphabet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68096" y="453542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1998 → 2024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4297680"/>
            <a:ext cx="5212080" cy="274320"/>
          </a:xfrm>
          <a:prstGeom prst="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63824" y="4297680"/>
            <a:ext cx="2945958" cy="274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37798" y="427024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26 年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68096" y="486460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Anthropic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68096" y="5138928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2021 → 2026 目标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163824" y="4901184"/>
            <a:ext cx="5212080" cy="274320"/>
          </a:xfrm>
          <a:prstGeom prst="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163824" y="4901184"/>
            <a:ext cx="566530" cy="274320"/>
          </a:xfrm>
          <a:prstGeom prst="rect">
            <a:avLst/>
          </a:prstGeom>
          <a:solidFill>
            <a:srgbClr val="A74C32"/>
          </a:solidFill>
          <a:ln w="12700">
            <a:solidFill>
              <a:srgbClr val="A74C32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58370" y="487375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 年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9692640" y="2450592"/>
            <a:ext cx="1783080" cy="2834640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57232" y="2980944"/>
            <a:ext cx="1453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 / 46</a:t>
            </a:r>
            <a:endParaRPr lang="en-US" sz="2500" dirty="0"/>
          </a:p>
        </p:txBody>
      </p:sp>
      <p:sp>
        <p:nvSpPr>
          <p:cNvPr id="32" name="Text 30"/>
          <p:cNvSpPr/>
          <p:nvPr/>
        </p:nvSpPr>
        <p:spPr>
          <a:xfrm>
            <a:off x="9857232" y="3566160"/>
            <a:ext cx="14538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同样的量级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用了约九分之一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的时间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不是增长快了一点，而是换了一条完全不同的曲线。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/ 史上最大 IPO / 1.2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从成立到两万亿目标：仅仅五年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08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2304288"/>
          <a:ext cx="10698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31520" y="2304288"/>
            <a:ext cx="106984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1947672"/>
            <a:ext cx="64008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投后估值 · 十亿美元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371600" y="4864608"/>
            <a:ext cx="8321040" cy="0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7457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371600" y="4291030"/>
            <a:ext cx="8321040" cy="0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417215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371600" y="3717452"/>
            <a:ext cx="8321040" cy="0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5985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1000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371600" y="3143873"/>
            <a:ext cx="8321040" cy="0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3025001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1500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371600" y="2570295"/>
            <a:ext cx="8321040" cy="0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31520" y="2451423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 flipV="1">
            <a:off x="1371600" y="4654678"/>
            <a:ext cx="2080260" cy="139379"/>
          </a:xfrm>
          <a:prstGeom prst="line">
            <a:avLst/>
          </a:prstGeom>
          <a:noFill/>
          <a:ln w="33020">
            <a:solidFill>
              <a:srgbClr val="D977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3451860" y="4428689"/>
            <a:ext cx="2080260" cy="225990"/>
          </a:xfrm>
          <a:prstGeom prst="line">
            <a:avLst/>
          </a:prstGeom>
          <a:noFill/>
          <a:ln w="33020">
            <a:solidFill>
              <a:srgbClr val="D9775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5532120" y="3757602"/>
            <a:ext cx="2080260" cy="671086"/>
          </a:xfrm>
          <a:prstGeom prst="line">
            <a:avLst/>
          </a:prstGeom>
          <a:noFill/>
          <a:ln w="33020">
            <a:solidFill>
              <a:srgbClr val="D977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7612380" y="2570295"/>
            <a:ext cx="2080260" cy="1187307"/>
          </a:xfrm>
          <a:prstGeom prst="line">
            <a:avLst/>
          </a:prstGeom>
          <a:noFill/>
          <a:ln w="33020">
            <a:solidFill>
              <a:srgbClr val="A74C32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1321308" y="4743766"/>
            <a:ext cx="100584" cy="1005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439172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61.5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603504" y="4992624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2025.03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 轮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401568" y="4604386"/>
            <a:ext cx="100584" cy="1005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903220" y="425234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183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2683764" y="4992624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2025.09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轮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81828" y="4378397"/>
            <a:ext cx="100584" cy="1005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983480" y="4026353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380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764024" y="4992624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2026.02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 轮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562088" y="3707310"/>
            <a:ext cx="100584" cy="1005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3740" y="335526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965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6844284" y="4992624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2026.05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 轮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9614916" y="2492571"/>
            <a:ext cx="155448" cy="155448"/>
          </a:xfrm>
          <a:prstGeom prst="ellipse">
            <a:avLst/>
          </a:prstGeom>
          <a:solidFill>
            <a:srgbClr val="FFFFFF"/>
          </a:solidFill>
          <a:ln w="30480">
            <a:solidFill>
              <a:srgbClr val="A74C32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686800" y="2094807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&gt;$2,000B</a:t>
            </a:r>
            <a:endParaRPr lang="en-US" sz="1900" dirty="0"/>
          </a:p>
        </p:txBody>
      </p:sp>
      <p:sp>
        <p:nvSpPr>
          <p:cNvPr id="36" name="Text 33"/>
          <p:cNvSpPr/>
          <p:nvPr/>
        </p:nvSpPr>
        <p:spPr>
          <a:xfrm>
            <a:off x="8924544" y="4992624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IPO 目标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尚未定价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1810512" y="2852928"/>
            <a:ext cx="3529584" cy="82296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993392" y="2962656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 轮 $965B 之后，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1993392" y="3236976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目标还要再翻一倍以上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不是缓慢积累的巨头，而是收入与能力同时加速的公司。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/ 史上最大 IPO / 1.3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Claude Code 发布之后，公司年化收入陡增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09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85800" y="2350008"/>
          <a:ext cx="749808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2350008"/>
            <a:ext cx="74980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1947672"/>
            <a:ext cx="64008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公司年化收入 · 十亿美元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1252728" y="4846320"/>
            <a:ext cx="6492240" cy="0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472744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252728" y="4331970"/>
            <a:ext cx="6492240" cy="0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421309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12.5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252728" y="3817620"/>
            <a:ext cx="6492240" cy="0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369874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25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252728" y="3303270"/>
            <a:ext cx="6492240" cy="0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318439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37.5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252728" y="2788920"/>
            <a:ext cx="6492240" cy="0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267004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1554480" y="2788920"/>
            <a:ext cx="0" cy="2057400"/>
          </a:xfrm>
          <a:prstGeom prst="line">
            <a:avLst/>
          </a:prstGeom>
          <a:noFill/>
          <a:ln w="16510">
            <a:solidFill>
              <a:srgbClr val="D97757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768096" y="2359152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2025.02 研究预览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487168" y="2788920"/>
            <a:ext cx="0" cy="2057400"/>
          </a:xfrm>
          <a:prstGeom prst="line">
            <a:avLst/>
          </a:prstGeom>
          <a:noFill/>
          <a:ln w="16510">
            <a:solidFill>
              <a:srgbClr val="D97757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1700784" y="2596896"/>
            <a:ext cx="15727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2025.05 全面开放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202436" y="4754880"/>
            <a:ext cx="100584" cy="1005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04088" y="43845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521208" y="49926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 年初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 flipV="1">
            <a:off x="1252728" y="4640580"/>
            <a:ext cx="2164080" cy="164592"/>
          </a:xfrm>
          <a:prstGeom prst="line">
            <a:avLst/>
          </a:prstGeom>
          <a:noFill/>
          <a:ln w="33020">
            <a:solidFill>
              <a:srgbClr val="D9775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66516" y="4590288"/>
            <a:ext cx="100584" cy="1005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868168" y="42199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&gt;5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2685288" y="49926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2025.08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 flipV="1">
            <a:off x="3416808" y="4270248"/>
            <a:ext cx="2164080" cy="370332"/>
          </a:xfrm>
          <a:prstGeom prst="line">
            <a:avLst/>
          </a:prstGeom>
          <a:noFill/>
          <a:ln w="33020">
            <a:solidFill>
              <a:srgbClr val="D9775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530596" y="4219956"/>
            <a:ext cx="100584" cy="1005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032248" y="384962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4849368" y="49926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2026.02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 flipV="1">
            <a:off x="5580888" y="2912364"/>
            <a:ext cx="2164080" cy="1357884"/>
          </a:xfrm>
          <a:prstGeom prst="line">
            <a:avLst/>
          </a:prstGeom>
          <a:noFill/>
          <a:ln w="33020">
            <a:solidFill>
              <a:srgbClr val="D9775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694676" y="2862072"/>
            <a:ext cx="100584" cy="1005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196328" y="24917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&gt;47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7013448" y="49926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2026.05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586216" y="2487168"/>
            <a:ext cx="2907792" cy="2706624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805672" y="2779776"/>
            <a:ext cx="24688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约 $1B</a:t>
            </a:r>
            <a:endParaRPr lang="en-US" sz="3100" dirty="0"/>
          </a:p>
        </p:txBody>
      </p:sp>
      <p:sp>
        <p:nvSpPr>
          <p:cNvPr id="39" name="Text 36"/>
          <p:cNvSpPr/>
          <p:nvPr/>
        </p:nvSpPr>
        <p:spPr>
          <a:xfrm>
            <a:off x="8805672" y="3630168"/>
            <a:ext cx="24688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 &gt;$47B</a:t>
            </a:r>
            <a:endParaRPr lang="en-US" sz="3300" dirty="0"/>
          </a:p>
        </p:txBody>
      </p:sp>
      <p:sp>
        <p:nvSpPr>
          <p:cNvPr id="40" name="Text 37"/>
          <p:cNvSpPr/>
          <p:nvPr/>
        </p:nvSpPr>
        <p:spPr>
          <a:xfrm>
            <a:off x="8805672" y="4599432"/>
            <a:ext cx="2468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 2025 年初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到 2026 年 5 月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公司开始出售的不只是答案，而是能持续完成工作的执行能力。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/ 史上最大 IPO / 1.3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Claude Code 本身，也跑出了十亿美元级生意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395728"/>
            <a:ext cx="3355848" cy="2304288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624328"/>
            <a:ext cx="29352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&gt;$0.5B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41832" y="3584448"/>
            <a:ext cx="293522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 年 8 月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41832" y="4160520"/>
            <a:ext cx="2935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Claude Code 年化收入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2395728"/>
            <a:ext cx="3355848" cy="2304288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36592" y="2624328"/>
            <a:ext cx="29352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&gt;$2.5B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736592" y="3584448"/>
            <a:ext cx="293522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年 2 月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36592" y="4160520"/>
            <a:ext cx="2935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Claude Code 年化收入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321040" y="2395728"/>
            <a:ext cx="3355848" cy="2304288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31352" y="2624328"/>
            <a:ext cx="29352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&gt;50%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531352" y="3584448"/>
            <a:ext cx="293522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企业使用占比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531352" y="4160520"/>
            <a:ext cx="2935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Claude Code 收入构成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6384" y="5102352"/>
            <a:ext cx="10698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同期：Claude Code 企业订阅较年初增长 4 倍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程序员不是小众试用者，而是让智能劳动最先形成付费闭环的人。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/ 史上最大 IPO / 1.3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18–20 倍收入，怎样才能支撑两万亿？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2368296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估值口径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26280" y="2368296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年化收入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458200" y="2368296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对应收入倍数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935224"/>
            <a:ext cx="10698480" cy="603504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35224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 轮：$965B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26280" y="2935224"/>
            <a:ext cx="3703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&gt;$47B（2026.05）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458200" y="2935224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低于约 20.5×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3611880"/>
            <a:ext cx="1069848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61188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IPO 目标：$2,000B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526280" y="3611880"/>
            <a:ext cx="3703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$47B 作参照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58200" y="3611880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约 42.6×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288536"/>
            <a:ext cx="10698480" cy="603504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288536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IPO 目标：$2,000B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26280" y="4288536"/>
            <a:ext cx="3703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$100–111B（倒算）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58200" y="4288536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18–20×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5029200"/>
            <a:ext cx="10698480" cy="493776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5093208"/>
            <a:ext cx="1022299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$2,000B ÷ 20 = $100B       $2,000B ÷ 18 ≈ $111B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两万亿的商业逻辑，押注的是收入继续放大，而不是今天已经赚到了利润。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/ 史上最大 IPO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高增长之外，市场还在押注什么？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13232" y="2743200"/>
            <a:ext cx="3377184" cy="214884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944368"/>
            <a:ext cx="29565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23544" y="347472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今天的证据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23544" y="4142232"/>
            <a:ext cx="2956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真实付费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公司与 Code 收入增长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7848" y="3813048"/>
            <a:ext cx="256032" cy="0"/>
          </a:xfrm>
          <a:prstGeom prst="line">
            <a:avLst/>
          </a:prstGeom>
          <a:noFill/>
          <a:ln w="2286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19600" y="2743200"/>
            <a:ext cx="3377184" cy="214884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9912" y="2944368"/>
            <a:ext cx="29565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29912" y="347472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正在扩张的市场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29912" y="4142232"/>
            <a:ext cx="2956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从开发者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走向全体知识工作者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824216" y="3813048"/>
            <a:ext cx="256032" cy="0"/>
          </a:xfrm>
          <a:prstGeom prst="line">
            <a:avLst/>
          </a:prstGeom>
          <a:noFill/>
          <a:ln w="2286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125968" y="2743200"/>
            <a:ext cx="3377184" cy="2148840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6280" y="2944368"/>
            <a:ext cx="29565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36280" y="347472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更远的溢价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336280" y="4142232"/>
            <a:ext cx="2956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参与 AI 研发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智能成为增长发动机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5340096"/>
            <a:ext cx="10744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代价也很真实：未来云、算力与基础设施义务 $518B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要解释估值，下一步必须解释：Claude 为什么能完成越来越多工作？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129844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PART 02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68096" y="17830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不仅仅是程序员的梦中情模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786384" y="3621024"/>
            <a:ext cx="10643616" cy="0"/>
          </a:xfrm>
          <a:prstGeom prst="line">
            <a:avLst/>
          </a:prstGeom>
          <a:noFill/>
          <a:ln w="15240">
            <a:solidFill>
              <a:srgbClr val="DFDF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3931920"/>
            <a:ext cx="3218688" cy="1298448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4133088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2.1 / 2.2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4526280"/>
            <a:ext cx="2779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成绩与新范式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52544" y="3931920"/>
            <a:ext cx="3218688" cy="1298448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4133088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4526280"/>
            <a:ext cx="2779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MCP 与 Skills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936992" y="3931920"/>
            <a:ext cx="3218688" cy="1298448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4133088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56448" y="4526280"/>
            <a:ext cx="2779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反例与正例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转折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没有铺满生成赛道，却在冲击两万亿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1000" dirty="0"/>
          </a:p>
        </p:txBody>
      </p:sp>
      <p:pic>
        <p:nvPicPr>
          <p:cNvPr id="5" name="Image 0" descr="/Users/tangpeng/Documents/github/anthropic-and-its-2t-ipo/pptx/anthropic_ipo_story_v5_claude/assets/im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74136" y="226771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852928" y="2788920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图像生成</a:t>
            </a:r>
            <a:endParaRPr lang="en-US" sz="1500" dirty="0"/>
          </a:p>
        </p:txBody>
      </p:sp>
      <p:pic>
        <p:nvPicPr>
          <p:cNvPr id="7" name="Image 1" descr="/Users/tangpeng/Documents/github/anthropic-and-its-2t-ipo/pptx/anthropic_ipo_story_v5_claude/assets/vid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2267712"/>
            <a:ext cx="457200" cy="4572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45736" y="2788920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视频生成</a:t>
            </a:r>
            <a:endParaRPr lang="en-US" sz="1500" dirty="0"/>
          </a:p>
        </p:txBody>
      </p:sp>
      <p:pic>
        <p:nvPicPr>
          <p:cNvPr id="9" name="Image 2" descr="/Users/tangpeng/Documents/github/anthropic-and-its-2t-ipo/pptx/anthropic_ipo_story_v5_claude/assets/voi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752" y="226771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638544" y="2788920"/>
            <a:ext cx="1545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语音生成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40664" y="3337560"/>
            <a:ext cx="7717536" cy="512064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932688" y="342900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Google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2852928" y="3438144"/>
            <a:ext cx="1609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Gemini Image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745736" y="3438144"/>
            <a:ext cx="1609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Veo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638544" y="3438144"/>
            <a:ext cx="1609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Gemini Audio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40664" y="3968496"/>
            <a:ext cx="7717536" cy="512064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932688" y="40599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OpenAI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2852928" y="4069080"/>
            <a:ext cx="1609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GPT-Image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745736" y="4069080"/>
            <a:ext cx="1609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Sora · 已停服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638544" y="4069080"/>
            <a:ext cx="1609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TTS / Realtime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740664" y="4599432"/>
            <a:ext cx="7717536" cy="512064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932688" y="469087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Anthropic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2852928" y="4700016"/>
            <a:ext cx="1609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未公开独立模型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4745736" y="4700016"/>
            <a:ext cx="1609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未公开独立模型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638544" y="4700016"/>
            <a:ext cx="1609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未公开独立模型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8823960" y="2322576"/>
            <a:ext cx="2642616" cy="3026664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9052560" y="2606040"/>
            <a:ext cx="2185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Anthropic</a:t>
            </a:r>
            <a:endParaRPr lang="en-US" sz="2200" dirty="0"/>
          </a:p>
        </p:txBody>
      </p:sp>
      <p:sp>
        <p:nvSpPr>
          <p:cNvPr id="28" name="Text 23"/>
          <p:cNvSpPr/>
          <p:nvPr/>
        </p:nvSpPr>
        <p:spPr>
          <a:xfrm>
            <a:off x="9052560" y="3346704"/>
            <a:ext cx="21854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&gt;2 万亿</a:t>
            </a:r>
            <a:endParaRPr lang="en-US" sz="3400" dirty="0"/>
          </a:p>
        </p:txBody>
      </p:sp>
      <p:sp>
        <p:nvSpPr>
          <p:cNvPr id="29" name="Text 24"/>
          <p:cNvSpPr/>
          <p:nvPr/>
        </p:nvSpPr>
        <p:spPr>
          <a:xfrm>
            <a:off x="9052560" y="4005072"/>
            <a:ext cx="2185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美元 · IPO 目标</a:t>
            </a:r>
            <a:endParaRPr lang="en-US" sz="1700" dirty="0"/>
          </a:p>
        </p:txBody>
      </p:sp>
      <p:sp>
        <p:nvSpPr>
          <p:cNvPr id="30" name="Text 25"/>
          <p:cNvSpPr/>
          <p:nvPr/>
        </p:nvSpPr>
        <p:spPr>
          <a:xfrm>
            <a:off x="9052560" y="4599432"/>
            <a:ext cx="21854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把焦点放在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编码与 Agent</a:t>
            </a:r>
            <a:endParaRPr lang="en-US" sz="1800" dirty="0"/>
          </a:p>
        </p:txBody>
      </p:sp>
      <p:sp>
        <p:nvSpPr>
          <p:cNvPr id="31" name="Text 26"/>
          <p:cNvSpPr/>
          <p:nvPr/>
        </p:nvSpPr>
        <p:spPr>
          <a:xfrm>
            <a:off x="758952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它没有靠“什么都能生成”走到这里。那它最擅长的，到底是什么？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从三分之一，到几乎做满：真实仓库修复的跨越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13816" y="2221992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33.4%</a:t>
            </a:r>
            <a:endParaRPr lang="en-US" sz="4300" dirty="0"/>
          </a:p>
        </p:txBody>
      </p:sp>
      <p:sp>
        <p:nvSpPr>
          <p:cNvPr id="6" name="Text 4"/>
          <p:cNvSpPr/>
          <p:nvPr/>
        </p:nvSpPr>
        <p:spPr>
          <a:xfrm>
            <a:off x="813816" y="2926080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Sonnet 3.5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813816" y="3291840"/>
            <a:ext cx="2304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2024.06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3816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13816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24128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4440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4440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44752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44752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55064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55064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65376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5376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75688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75688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96312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96312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06624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06624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3816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24128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24128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234440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34440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44752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444752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55064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55064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65376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65376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75688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75688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86000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86000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496312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496312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706624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706624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3816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3816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24128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24128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234440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234440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444752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444752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655064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655064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865376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865376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075688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075688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286000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86000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496312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96312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706624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06624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13816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13816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24128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24128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234440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234440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444752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444752" y="4325112"/>
            <a:ext cx="66459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655064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865376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075688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286000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496312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706624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13816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24128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234440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444752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655064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865376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075688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286000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496312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706624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13816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24128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234440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444752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655064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865376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075688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286000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496312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706624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13816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024128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234440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444752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655064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865376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75688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286000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496312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706624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13816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1024128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1234440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444752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655064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865376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075688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286000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496312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706624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13816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1024128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234440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444752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655064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865376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075688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86000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96312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06624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13816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1024128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234440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1444752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1655064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1865376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075688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286000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496312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706624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3557016" y="2221992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62.3%</a:t>
            </a:r>
            <a:endParaRPr lang="en-US" sz="4300" dirty="0"/>
          </a:p>
        </p:txBody>
      </p:sp>
      <p:sp>
        <p:nvSpPr>
          <p:cNvPr id="143" name="Text 141"/>
          <p:cNvSpPr/>
          <p:nvPr/>
        </p:nvSpPr>
        <p:spPr>
          <a:xfrm>
            <a:off x="3557016" y="2926080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Sonnet 3.7</a:t>
            </a:r>
            <a:endParaRPr lang="en-US" sz="2100" dirty="0"/>
          </a:p>
        </p:txBody>
      </p:sp>
      <p:sp>
        <p:nvSpPr>
          <p:cNvPr id="144" name="Text 142"/>
          <p:cNvSpPr/>
          <p:nvPr/>
        </p:nvSpPr>
        <p:spPr>
          <a:xfrm>
            <a:off x="3557016" y="3291840"/>
            <a:ext cx="2304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2025.02</a:t>
            </a:r>
            <a:endParaRPr lang="en-US" sz="1200" dirty="0"/>
          </a:p>
        </p:txBody>
      </p:sp>
      <p:sp>
        <p:nvSpPr>
          <p:cNvPr id="145" name="Shape 143"/>
          <p:cNvSpPr/>
          <p:nvPr/>
        </p:nvSpPr>
        <p:spPr>
          <a:xfrm>
            <a:off x="3557016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3557016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3767328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3767328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3977640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3977640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187952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4187952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4398264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398264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608576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608576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818888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818888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029200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029200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239512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239512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449824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449824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3557016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3557016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3767328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3767328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3977640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3977640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187952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4187952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4398264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4398264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4608576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4608576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4818888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818888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5029200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5029200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5239512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5239512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5449824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449824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3557016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3557016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67328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3767328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977640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3977640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4187952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4187952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4398264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4398264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608576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4608576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818888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818888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5029200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5029200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5239512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5239512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5449824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5449824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3557016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3557016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3767328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3767328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3977640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3977640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4187952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4187952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4398264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4398264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4608576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4608576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4818888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4818888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5029200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029200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5239512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5239512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5449824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5449824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557016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3557016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3767328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3767328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3977640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3977640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4187952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4187952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4398264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4398264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4608576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4608576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4818888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4818888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5029200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5029200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5239512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239512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5449824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5449824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3557016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3557016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3767328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3767328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3977640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3977640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4187952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4187952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4398264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4398264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4608576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4608576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4818888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4818888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5029200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5029200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5239512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5239512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5449824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5449824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3557016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3557016" y="495604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3767328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3767328" y="495604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3977640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3977640" y="4956048"/>
            <a:ext cx="49844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4187952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4398264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4608576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4818888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5029200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5239512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5449824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557016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767328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3977640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4187952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4398264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4608576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4818888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5029200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5239512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5449824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3557016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3767328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977640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4187952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4398264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4608576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4818888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5029200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5239512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5449824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3557016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3767328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3977640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4187952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4398264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4608576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4818888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5029200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5239512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5449824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6300216" y="2221992"/>
            <a:ext cx="2304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96.0%</a:t>
            </a:r>
            <a:endParaRPr lang="en-US" sz="4300" dirty="0"/>
          </a:p>
        </p:txBody>
      </p:sp>
      <p:sp>
        <p:nvSpPr>
          <p:cNvPr id="309" name="Text 307"/>
          <p:cNvSpPr/>
          <p:nvPr/>
        </p:nvSpPr>
        <p:spPr>
          <a:xfrm>
            <a:off x="6300216" y="2926080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5</a:t>
            </a:r>
            <a:endParaRPr lang="en-US" sz="2100" dirty="0"/>
          </a:p>
        </p:txBody>
      </p:sp>
      <p:sp>
        <p:nvSpPr>
          <p:cNvPr id="310" name="Text 308"/>
          <p:cNvSpPr/>
          <p:nvPr/>
        </p:nvSpPr>
        <p:spPr>
          <a:xfrm>
            <a:off x="6300216" y="3291840"/>
            <a:ext cx="2304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2026.07</a:t>
            </a:r>
            <a:endParaRPr lang="en-US" sz="1200" dirty="0"/>
          </a:p>
        </p:txBody>
      </p:sp>
      <p:sp>
        <p:nvSpPr>
          <p:cNvPr id="311" name="Shape 309"/>
          <p:cNvSpPr/>
          <p:nvPr/>
        </p:nvSpPr>
        <p:spPr>
          <a:xfrm>
            <a:off x="6300216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6300216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6510528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6510528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6720840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6720840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6931152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6931152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7141464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7141464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7351776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7351776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7562088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7562088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7772400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7772400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7982712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7982712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8193024" y="369417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8193024" y="369417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6300216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6300216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6510528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6510528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6720840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6720840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6931152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6931152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7141464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7141464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7351776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7351776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7562088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7562088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7772400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7772400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7982712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7982712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8193024" y="390448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8193024" y="390448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6300216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6300216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6510528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6510528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6720840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6720840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6931152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6931152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7141464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7141464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7351776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7351776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7562088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7562088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7772400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7772400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7982712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7982712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8193024" y="411480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8193024" y="411480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6300216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6300216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6510528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6510528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6720840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6720840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6931152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6931152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7141464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7141464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7351776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7351776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7562088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7562088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7772400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7772400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7982712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7982712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8193024" y="432511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8193024" y="432511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6300216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6300216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6510528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6510528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6720840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6720840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6931152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6931152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7141464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7141464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7351776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7351776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7562088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7562088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7772400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7772400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7982712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7982712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8193024" y="453542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8193024" y="453542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6300216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6300216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6510528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6510528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6720840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6720840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6931152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6931152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7141464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7141464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7351776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7351776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7562088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7562088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7772400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26" name="Shape 424"/>
          <p:cNvSpPr/>
          <p:nvPr/>
        </p:nvSpPr>
        <p:spPr>
          <a:xfrm>
            <a:off x="7772400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7" name="Shape 425"/>
          <p:cNvSpPr/>
          <p:nvPr/>
        </p:nvSpPr>
        <p:spPr>
          <a:xfrm>
            <a:off x="7982712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28" name="Shape 426"/>
          <p:cNvSpPr/>
          <p:nvPr/>
        </p:nvSpPr>
        <p:spPr>
          <a:xfrm>
            <a:off x="7982712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9" name="Shape 427"/>
          <p:cNvSpPr/>
          <p:nvPr/>
        </p:nvSpPr>
        <p:spPr>
          <a:xfrm>
            <a:off x="8193024" y="4745736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30" name="Shape 428"/>
          <p:cNvSpPr/>
          <p:nvPr/>
        </p:nvSpPr>
        <p:spPr>
          <a:xfrm>
            <a:off x="8193024" y="4745736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31" name="Shape 429"/>
          <p:cNvSpPr/>
          <p:nvPr/>
        </p:nvSpPr>
        <p:spPr>
          <a:xfrm>
            <a:off x="6300216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32" name="Shape 430"/>
          <p:cNvSpPr/>
          <p:nvPr/>
        </p:nvSpPr>
        <p:spPr>
          <a:xfrm>
            <a:off x="6300216" y="495604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33" name="Shape 431"/>
          <p:cNvSpPr/>
          <p:nvPr/>
        </p:nvSpPr>
        <p:spPr>
          <a:xfrm>
            <a:off x="6510528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34" name="Shape 432"/>
          <p:cNvSpPr/>
          <p:nvPr/>
        </p:nvSpPr>
        <p:spPr>
          <a:xfrm>
            <a:off x="6510528" y="495604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35" name="Shape 433"/>
          <p:cNvSpPr/>
          <p:nvPr/>
        </p:nvSpPr>
        <p:spPr>
          <a:xfrm>
            <a:off x="6720840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36" name="Shape 434"/>
          <p:cNvSpPr/>
          <p:nvPr/>
        </p:nvSpPr>
        <p:spPr>
          <a:xfrm>
            <a:off x="6720840" y="495604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37" name="Shape 435"/>
          <p:cNvSpPr/>
          <p:nvPr/>
        </p:nvSpPr>
        <p:spPr>
          <a:xfrm>
            <a:off x="6931152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38" name="Shape 436"/>
          <p:cNvSpPr/>
          <p:nvPr/>
        </p:nvSpPr>
        <p:spPr>
          <a:xfrm>
            <a:off x="6931152" y="495604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39" name="Shape 437"/>
          <p:cNvSpPr/>
          <p:nvPr/>
        </p:nvSpPr>
        <p:spPr>
          <a:xfrm>
            <a:off x="7141464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40" name="Shape 438"/>
          <p:cNvSpPr/>
          <p:nvPr/>
        </p:nvSpPr>
        <p:spPr>
          <a:xfrm>
            <a:off x="7141464" y="495604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41" name="Shape 439"/>
          <p:cNvSpPr/>
          <p:nvPr/>
        </p:nvSpPr>
        <p:spPr>
          <a:xfrm>
            <a:off x="7351776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42" name="Shape 440"/>
          <p:cNvSpPr/>
          <p:nvPr/>
        </p:nvSpPr>
        <p:spPr>
          <a:xfrm>
            <a:off x="7351776" y="495604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43" name="Shape 441"/>
          <p:cNvSpPr/>
          <p:nvPr/>
        </p:nvSpPr>
        <p:spPr>
          <a:xfrm>
            <a:off x="7562088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44" name="Shape 442"/>
          <p:cNvSpPr/>
          <p:nvPr/>
        </p:nvSpPr>
        <p:spPr>
          <a:xfrm>
            <a:off x="7562088" y="495604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45" name="Shape 443"/>
          <p:cNvSpPr/>
          <p:nvPr/>
        </p:nvSpPr>
        <p:spPr>
          <a:xfrm>
            <a:off x="7772400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46" name="Shape 444"/>
          <p:cNvSpPr/>
          <p:nvPr/>
        </p:nvSpPr>
        <p:spPr>
          <a:xfrm>
            <a:off x="7772400" y="495604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47" name="Shape 445"/>
          <p:cNvSpPr/>
          <p:nvPr/>
        </p:nvSpPr>
        <p:spPr>
          <a:xfrm>
            <a:off x="7982712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48" name="Shape 446"/>
          <p:cNvSpPr/>
          <p:nvPr/>
        </p:nvSpPr>
        <p:spPr>
          <a:xfrm>
            <a:off x="7982712" y="495604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49" name="Shape 447"/>
          <p:cNvSpPr/>
          <p:nvPr/>
        </p:nvSpPr>
        <p:spPr>
          <a:xfrm>
            <a:off x="8193024" y="4956048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50" name="Shape 448"/>
          <p:cNvSpPr/>
          <p:nvPr/>
        </p:nvSpPr>
        <p:spPr>
          <a:xfrm>
            <a:off x="8193024" y="4956048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51" name="Shape 449"/>
          <p:cNvSpPr/>
          <p:nvPr/>
        </p:nvSpPr>
        <p:spPr>
          <a:xfrm>
            <a:off x="6300216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52" name="Shape 450"/>
          <p:cNvSpPr/>
          <p:nvPr/>
        </p:nvSpPr>
        <p:spPr>
          <a:xfrm>
            <a:off x="6300216" y="516636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53" name="Shape 451"/>
          <p:cNvSpPr/>
          <p:nvPr/>
        </p:nvSpPr>
        <p:spPr>
          <a:xfrm>
            <a:off x="6510528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54" name="Shape 452"/>
          <p:cNvSpPr/>
          <p:nvPr/>
        </p:nvSpPr>
        <p:spPr>
          <a:xfrm>
            <a:off x="6510528" y="516636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55" name="Shape 453"/>
          <p:cNvSpPr/>
          <p:nvPr/>
        </p:nvSpPr>
        <p:spPr>
          <a:xfrm>
            <a:off x="6720840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56" name="Shape 454"/>
          <p:cNvSpPr/>
          <p:nvPr/>
        </p:nvSpPr>
        <p:spPr>
          <a:xfrm>
            <a:off x="6720840" y="516636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57" name="Shape 455"/>
          <p:cNvSpPr/>
          <p:nvPr/>
        </p:nvSpPr>
        <p:spPr>
          <a:xfrm>
            <a:off x="6931152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58" name="Shape 456"/>
          <p:cNvSpPr/>
          <p:nvPr/>
        </p:nvSpPr>
        <p:spPr>
          <a:xfrm>
            <a:off x="6931152" y="516636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59" name="Shape 457"/>
          <p:cNvSpPr/>
          <p:nvPr/>
        </p:nvSpPr>
        <p:spPr>
          <a:xfrm>
            <a:off x="7141464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60" name="Shape 458"/>
          <p:cNvSpPr/>
          <p:nvPr/>
        </p:nvSpPr>
        <p:spPr>
          <a:xfrm>
            <a:off x="7141464" y="516636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1" name="Shape 459"/>
          <p:cNvSpPr/>
          <p:nvPr/>
        </p:nvSpPr>
        <p:spPr>
          <a:xfrm>
            <a:off x="7351776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62" name="Shape 460"/>
          <p:cNvSpPr/>
          <p:nvPr/>
        </p:nvSpPr>
        <p:spPr>
          <a:xfrm>
            <a:off x="7351776" y="516636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3" name="Shape 461"/>
          <p:cNvSpPr/>
          <p:nvPr/>
        </p:nvSpPr>
        <p:spPr>
          <a:xfrm>
            <a:off x="7562088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64" name="Shape 462"/>
          <p:cNvSpPr/>
          <p:nvPr/>
        </p:nvSpPr>
        <p:spPr>
          <a:xfrm>
            <a:off x="7562088" y="516636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5" name="Shape 463"/>
          <p:cNvSpPr/>
          <p:nvPr/>
        </p:nvSpPr>
        <p:spPr>
          <a:xfrm>
            <a:off x="7772400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66" name="Shape 464"/>
          <p:cNvSpPr/>
          <p:nvPr/>
        </p:nvSpPr>
        <p:spPr>
          <a:xfrm>
            <a:off x="7772400" y="516636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7" name="Shape 465"/>
          <p:cNvSpPr/>
          <p:nvPr/>
        </p:nvSpPr>
        <p:spPr>
          <a:xfrm>
            <a:off x="7982712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68" name="Shape 466"/>
          <p:cNvSpPr/>
          <p:nvPr/>
        </p:nvSpPr>
        <p:spPr>
          <a:xfrm>
            <a:off x="7982712" y="516636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9" name="Shape 467"/>
          <p:cNvSpPr/>
          <p:nvPr/>
        </p:nvSpPr>
        <p:spPr>
          <a:xfrm>
            <a:off x="8193024" y="5166360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70" name="Shape 468"/>
          <p:cNvSpPr/>
          <p:nvPr/>
        </p:nvSpPr>
        <p:spPr>
          <a:xfrm>
            <a:off x="8193024" y="5166360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71" name="Shape 469"/>
          <p:cNvSpPr/>
          <p:nvPr/>
        </p:nvSpPr>
        <p:spPr>
          <a:xfrm>
            <a:off x="6300216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72" name="Shape 470"/>
          <p:cNvSpPr/>
          <p:nvPr/>
        </p:nvSpPr>
        <p:spPr>
          <a:xfrm>
            <a:off x="6300216" y="537667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73" name="Shape 471"/>
          <p:cNvSpPr/>
          <p:nvPr/>
        </p:nvSpPr>
        <p:spPr>
          <a:xfrm>
            <a:off x="6510528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74" name="Shape 472"/>
          <p:cNvSpPr/>
          <p:nvPr/>
        </p:nvSpPr>
        <p:spPr>
          <a:xfrm>
            <a:off x="6510528" y="537667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75" name="Shape 473"/>
          <p:cNvSpPr/>
          <p:nvPr/>
        </p:nvSpPr>
        <p:spPr>
          <a:xfrm>
            <a:off x="6720840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76" name="Shape 474"/>
          <p:cNvSpPr/>
          <p:nvPr/>
        </p:nvSpPr>
        <p:spPr>
          <a:xfrm>
            <a:off x="6720840" y="537667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77" name="Shape 475"/>
          <p:cNvSpPr/>
          <p:nvPr/>
        </p:nvSpPr>
        <p:spPr>
          <a:xfrm>
            <a:off x="6931152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78" name="Shape 476"/>
          <p:cNvSpPr/>
          <p:nvPr/>
        </p:nvSpPr>
        <p:spPr>
          <a:xfrm>
            <a:off x="6931152" y="537667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79" name="Shape 477"/>
          <p:cNvSpPr/>
          <p:nvPr/>
        </p:nvSpPr>
        <p:spPr>
          <a:xfrm>
            <a:off x="7141464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80" name="Shape 478"/>
          <p:cNvSpPr/>
          <p:nvPr/>
        </p:nvSpPr>
        <p:spPr>
          <a:xfrm>
            <a:off x="7141464" y="537667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81" name="Shape 479"/>
          <p:cNvSpPr/>
          <p:nvPr/>
        </p:nvSpPr>
        <p:spPr>
          <a:xfrm>
            <a:off x="7351776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82" name="Shape 480"/>
          <p:cNvSpPr/>
          <p:nvPr/>
        </p:nvSpPr>
        <p:spPr>
          <a:xfrm>
            <a:off x="7351776" y="537667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83" name="Shape 481"/>
          <p:cNvSpPr/>
          <p:nvPr/>
        </p:nvSpPr>
        <p:spPr>
          <a:xfrm>
            <a:off x="7562088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84" name="Shape 482"/>
          <p:cNvSpPr/>
          <p:nvPr/>
        </p:nvSpPr>
        <p:spPr>
          <a:xfrm>
            <a:off x="7562088" y="537667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85" name="Shape 483"/>
          <p:cNvSpPr/>
          <p:nvPr/>
        </p:nvSpPr>
        <p:spPr>
          <a:xfrm>
            <a:off x="7772400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86" name="Shape 484"/>
          <p:cNvSpPr/>
          <p:nvPr/>
        </p:nvSpPr>
        <p:spPr>
          <a:xfrm>
            <a:off x="7772400" y="537667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87" name="Shape 485"/>
          <p:cNvSpPr/>
          <p:nvPr/>
        </p:nvSpPr>
        <p:spPr>
          <a:xfrm>
            <a:off x="7982712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88" name="Shape 486"/>
          <p:cNvSpPr/>
          <p:nvPr/>
        </p:nvSpPr>
        <p:spPr>
          <a:xfrm>
            <a:off x="7982712" y="537667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89" name="Shape 487"/>
          <p:cNvSpPr/>
          <p:nvPr/>
        </p:nvSpPr>
        <p:spPr>
          <a:xfrm>
            <a:off x="8193024" y="5376672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90" name="Shape 488"/>
          <p:cNvSpPr/>
          <p:nvPr/>
        </p:nvSpPr>
        <p:spPr>
          <a:xfrm>
            <a:off x="8193024" y="5376672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91" name="Shape 489"/>
          <p:cNvSpPr/>
          <p:nvPr/>
        </p:nvSpPr>
        <p:spPr>
          <a:xfrm>
            <a:off x="6300216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92" name="Shape 490"/>
          <p:cNvSpPr/>
          <p:nvPr/>
        </p:nvSpPr>
        <p:spPr>
          <a:xfrm>
            <a:off x="6300216" y="558698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93" name="Shape 491"/>
          <p:cNvSpPr/>
          <p:nvPr/>
        </p:nvSpPr>
        <p:spPr>
          <a:xfrm>
            <a:off x="6510528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94" name="Shape 492"/>
          <p:cNvSpPr/>
          <p:nvPr/>
        </p:nvSpPr>
        <p:spPr>
          <a:xfrm>
            <a:off x="6510528" y="558698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95" name="Shape 493"/>
          <p:cNvSpPr/>
          <p:nvPr/>
        </p:nvSpPr>
        <p:spPr>
          <a:xfrm>
            <a:off x="6720840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96" name="Shape 494"/>
          <p:cNvSpPr/>
          <p:nvPr/>
        </p:nvSpPr>
        <p:spPr>
          <a:xfrm>
            <a:off x="6720840" y="558698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97" name="Shape 495"/>
          <p:cNvSpPr/>
          <p:nvPr/>
        </p:nvSpPr>
        <p:spPr>
          <a:xfrm>
            <a:off x="6931152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98" name="Shape 496"/>
          <p:cNvSpPr/>
          <p:nvPr/>
        </p:nvSpPr>
        <p:spPr>
          <a:xfrm>
            <a:off x="6931152" y="558698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99" name="Shape 497"/>
          <p:cNvSpPr/>
          <p:nvPr/>
        </p:nvSpPr>
        <p:spPr>
          <a:xfrm>
            <a:off x="7141464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00" name="Shape 498"/>
          <p:cNvSpPr/>
          <p:nvPr/>
        </p:nvSpPr>
        <p:spPr>
          <a:xfrm>
            <a:off x="7141464" y="558698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01" name="Shape 499"/>
          <p:cNvSpPr/>
          <p:nvPr/>
        </p:nvSpPr>
        <p:spPr>
          <a:xfrm>
            <a:off x="7351776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02" name="Shape 500"/>
          <p:cNvSpPr/>
          <p:nvPr/>
        </p:nvSpPr>
        <p:spPr>
          <a:xfrm>
            <a:off x="7351776" y="5586984"/>
            <a:ext cx="166146" cy="16614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03" name="Shape 501"/>
          <p:cNvSpPr/>
          <p:nvPr/>
        </p:nvSpPr>
        <p:spPr>
          <a:xfrm>
            <a:off x="7562088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04" name="Shape 502"/>
          <p:cNvSpPr/>
          <p:nvPr/>
        </p:nvSpPr>
        <p:spPr>
          <a:xfrm>
            <a:off x="7772400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05" name="Shape 503"/>
          <p:cNvSpPr/>
          <p:nvPr/>
        </p:nvSpPr>
        <p:spPr>
          <a:xfrm>
            <a:off x="7982712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06" name="Shape 504"/>
          <p:cNvSpPr/>
          <p:nvPr/>
        </p:nvSpPr>
        <p:spPr>
          <a:xfrm>
            <a:off x="8193024" y="5586984"/>
            <a:ext cx="166146" cy="16614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07" name="Shape 505"/>
          <p:cNvSpPr/>
          <p:nvPr/>
        </p:nvSpPr>
        <p:spPr>
          <a:xfrm>
            <a:off x="9171432" y="2322576"/>
            <a:ext cx="2286000" cy="3447288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508" name="Text 506"/>
          <p:cNvSpPr/>
          <p:nvPr/>
        </p:nvSpPr>
        <p:spPr>
          <a:xfrm>
            <a:off x="9381744" y="2615184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只剩</a:t>
            </a:r>
            <a:endParaRPr lang="en-US" sz="2000" dirty="0"/>
          </a:p>
        </p:txBody>
      </p:sp>
      <p:sp>
        <p:nvSpPr>
          <p:cNvPr id="509" name="Text 507"/>
          <p:cNvSpPr/>
          <p:nvPr/>
        </p:nvSpPr>
        <p:spPr>
          <a:xfrm>
            <a:off x="9381744" y="3072384"/>
            <a:ext cx="18470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4%</a:t>
            </a:r>
            <a:endParaRPr lang="en-US" sz="5200" dirty="0"/>
          </a:p>
        </p:txBody>
      </p:sp>
      <p:sp>
        <p:nvSpPr>
          <p:cNvPr id="510" name="Text 508"/>
          <p:cNvSpPr/>
          <p:nvPr/>
        </p:nvSpPr>
        <p:spPr>
          <a:xfrm>
            <a:off x="9381744" y="3831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未解空间</a:t>
            </a:r>
            <a:endParaRPr lang="en-US" sz="2100" dirty="0"/>
          </a:p>
        </p:txBody>
      </p:sp>
      <p:sp>
        <p:nvSpPr>
          <p:cNvPr id="511" name="Text 509"/>
          <p:cNvSpPr/>
          <p:nvPr/>
        </p:nvSpPr>
        <p:spPr>
          <a:xfrm>
            <a:off x="9381744" y="4507992"/>
            <a:ext cx="18470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Mythos / Fable 5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也已达到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95.5% / 95.0%</a:t>
            </a:r>
            <a:endParaRPr lang="en-US" sz="1500" dirty="0"/>
          </a:p>
        </p:txBody>
      </p:sp>
      <p:sp>
        <p:nvSpPr>
          <p:cNvPr id="512" name="Text 510"/>
          <p:cNvSpPr/>
          <p:nvPr/>
        </p:nvSpPr>
        <p:spPr>
          <a:xfrm>
            <a:off x="813816" y="1947672"/>
            <a:ext cx="7315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SWE-bench Verified · 500 题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不是一次偶然领先，是一代代把工程问题往前推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886968" y="2450592"/>
          <a:ext cx="7754112" cy="22768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86968" y="2450592"/>
            <a:ext cx="7754112" cy="22768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1560" y="4471416"/>
            <a:ext cx="7360920" cy="0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0352" y="4352544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051560" y="3602736"/>
            <a:ext cx="7360920" cy="0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" y="3483864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51560" y="2734056"/>
            <a:ext cx="7360920" cy="0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2615184"/>
            <a:ext cx="274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018642" y="3858219"/>
            <a:ext cx="65837" cy="65837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3816" y="3561954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13816" y="4645152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 3.5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 flipV="1">
            <a:off x="1051560" y="3620110"/>
            <a:ext cx="490728" cy="271028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09370" y="3587191"/>
            <a:ext cx="65837" cy="65837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304544" y="3775558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49.0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304544" y="4892040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 3.5 v2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 flipV="1">
            <a:off x="1542288" y="3389041"/>
            <a:ext cx="490728" cy="231069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0098" y="3356122"/>
            <a:ext cx="65837" cy="65837"/>
          </a:xfrm>
          <a:prstGeom prst="ellipse">
            <a:avLst/>
          </a:prstGeom>
          <a:solidFill>
            <a:srgbClr val="A74C32"/>
          </a:solidFill>
          <a:ln w="12700">
            <a:solidFill>
              <a:srgbClr val="A74C32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95272" y="3059857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62.3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795272" y="4645152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 3.7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 flipV="1">
            <a:off x="2033016" y="3211830"/>
            <a:ext cx="490728" cy="177211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490826" y="3178912"/>
            <a:ext cx="65837" cy="65837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286000" y="3367278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72.5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2286000" y="4892040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 4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 flipV="1">
            <a:off x="2523744" y="3208355"/>
            <a:ext cx="490728" cy="3475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981554" y="3175437"/>
            <a:ext cx="65837" cy="65837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2776728" y="2879171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72.7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2776728" y="4645152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 4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 flipV="1">
            <a:off x="3014472" y="3177083"/>
            <a:ext cx="490728" cy="31272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472282" y="3144164"/>
            <a:ext cx="65837" cy="65837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267456" y="3332531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74.5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3267456" y="4892040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 4.1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 flipV="1">
            <a:off x="3505200" y="3130174"/>
            <a:ext cx="490728" cy="46909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963010" y="3097256"/>
            <a:ext cx="65837" cy="65837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758184" y="2800990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77.2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3758184" y="4645152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 4.5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 flipV="1">
            <a:off x="3995928" y="3065892"/>
            <a:ext cx="490728" cy="64282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453738" y="3032973"/>
            <a:ext cx="65837" cy="65837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248912" y="3221340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80.9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248912" y="4892040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 4.5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4486656" y="3065892"/>
            <a:ext cx="490728" cy="1737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944466" y="3034711"/>
            <a:ext cx="65837" cy="65837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739640" y="2738445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80.8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4739640" y="4645152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 4.6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4977384" y="3067629"/>
            <a:ext cx="490728" cy="20848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435194" y="3055559"/>
            <a:ext cx="65837" cy="65837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230368" y="3243925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79.6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5230368" y="4892040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 4.6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 flipV="1">
            <a:off x="5468112" y="2840035"/>
            <a:ext cx="490728" cy="248442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925922" y="2807117"/>
            <a:ext cx="65837" cy="65837"/>
          </a:xfrm>
          <a:prstGeom prst="ellipse">
            <a:avLst/>
          </a:prstGeom>
          <a:solidFill>
            <a:srgbClr val="A74C32"/>
          </a:solidFill>
          <a:ln w="12700">
            <a:solidFill>
              <a:srgbClr val="A74C32">
                <a:alpha val="0"/>
              </a:srgbClr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721096" y="2510851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93.9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5721096" y="4645152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Mythos P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5958840" y="2840035"/>
            <a:ext cx="490728" cy="109454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416650" y="2916570"/>
            <a:ext cx="65837" cy="65837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211824" y="3104937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87.6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6211824" y="4892040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 4.7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 flipV="1">
            <a:off x="6449568" y="2932115"/>
            <a:ext cx="490728" cy="17374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907378" y="2899197"/>
            <a:ext cx="65837" cy="65837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702552" y="2602931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88.6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6702552" y="4645152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 4.8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 flipV="1">
            <a:off x="6940296" y="2812237"/>
            <a:ext cx="490728" cy="119878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7398106" y="2779319"/>
            <a:ext cx="65837" cy="65837"/>
          </a:xfrm>
          <a:prstGeom prst="ellipse">
            <a:avLst/>
          </a:prstGeom>
          <a:solidFill>
            <a:srgbClr val="A74C32"/>
          </a:solidFill>
          <a:ln w="12700">
            <a:solidFill>
              <a:srgbClr val="A74C32">
                <a:alpha val="0"/>
              </a:srgbClr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7193280" y="2967685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95.5</a:t>
            </a:r>
            <a:endParaRPr lang="en-US" sz="900" dirty="0"/>
          </a:p>
        </p:txBody>
      </p:sp>
      <p:sp>
        <p:nvSpPr>
          <p:cNvPr id="67" name="Text 64"/>
          <p:cNvSpPr/>
          <p:nvPr/>
        </p:nvSpPr>
        <p:spPr>
          <a:xfrm>
            <a:off x="7193280" y="4892040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M/F 5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7431024" y="2812237"/>
            <a:ext cx="490728" cy="178948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7888834" y="2958267"/>
            <a:ext cx="65837" cy="65837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7684008" y="2662001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85.2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7684008" y="4645152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 5</a:t>
            </a:r>
            <a:endParaRPr lang="en-US" sz="850" dirty="0"/>
          </a:p>
        </p:txBody>
      </p:sp>
      <p:sp>
        <p:nvSpPr>
          <p:cNvPr id="72" name="Shape 69"/>
          <p:cNvSpPr/>
          <p:nvPr/>
        </p:nvSpPr>
        <p:spPr>
          <a:xfrm flipV="1">
            <a:off x="7921752" y="2803550"/>
            <a:ext cx="490728" cy="187635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379562" y="2770632"/>
            <a:ext cx="65837" cy="65837"/>
          </a:xfrm>
          <a:prstGeom prst="ellipse">
            <a:avLst/>
          </a:prstGeom>
          <a:solidFill>
            <a:srgbClr val="A74C32"/>
          </a:solidFill>
          <a:ln w="12700">
            <a:solidFill>
              <a:srgbClr val="A74C32">
                <a:alpha val="0"/>
              </a:srgbClr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8174736" y="2958998"/>
            <a:ext cx="484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96.0</a:t>
            </a:r>
            <a:endParaRPr lang="en-US" sz="900" dirty="0"/>
          </a:p>
        </p:txBody>
      </p:sp>
      <p:sp>
        <p:nvSpPr>
          <p:cNvPr id="75" name="Text 72"/>
          <p:cNvSpPr/>
          <p:nvPr/>
        </p:nvSpPr>
        <p:spPr>
          <a:xfrm>
            <a:off x="8174736" y="4892040"/>
            <a:ext cx="484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 5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1042416" y="544068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2024.06</a:t>
            </a:r>
            <a:endParaRPr lang="en-US" sz="1100" dirty="0"/>
          </a:p>
        </p:txBody>
      </p:sp>
      <p:sp>
        <p:nvSpPr>
          <p:cNvPr id="77" name="Text 74"/>
          <p:cNvSpPr/>
          <p:nvPr/>
        </p:nvSpPr>
        <p:spPr>
          <a:xfrm>
            <a:off x="7168896" y="54406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2026.07</a:t>
            </a:r>
            <a:endParaRPr lang="en-US" sz="1100" dirty="0"/>
          </a:p>
        </p:txBody>
      </p:sp>
      <p:sp>
        <p:nvSpPr>
          <p:cNvPr id="78" name="Text 75"/>
          <p:cNvSpPr/>
          <p:nvPr/>
        </p:nvSpPr>
        <p:spPr>
          <a:xfrm>
            <a:off x="1051560" y="5751576"/>
            <a:ext cx="737006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 = Sonnet · O = Opus · M/F = Mythos / Fable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1051560" y="2267712"/>
            <a:ext cx="7315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SWE-bench Verified · %</a:t>
            </a:r>
            <a:endParaRPr lang="en-US" sz="1100" dirty="0"/>
          </a:p>
        </p:txBody>
      </p:sp>
      <p:sp>
        <p:nvSpPr>
          <p:cNvPr id="80" name="Shape 77"/>
          <p:cNvSpPr/>
          <p:nvPr/>
        </p:nvSpPr>
        <p:spPr>
          <a:xfrm>
            <a:off x="8823960" y="2322576"/>
            <a:ext cx="2642616" cy="3547872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9025128" y="2560320"/>
            <a:ext cx="22402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另一套题：SWE-bench Pro</a:t>
            </a:r>
            <a:endParaRPr lang="en-US" sz="1100" dirty="0"/>
          </a:p>
        </p:txBody>
      </p:sp>
      <p:graphicFrame>
        <p:nvGraphicFramePr>
          <p:cNvPr id="82" name="Chart 1" descr=""/>
          <p:cNvGraphicFramePr/>
          <p:nvPr/>
        </p:nvGraphicFramePr>
        <p:xfrm>
          <a:off x="9034272" y="2962656"/>
          <a:ext cx="2194560" cy="23500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3" name="Shape 79"/>
          <p:cNvSpPr/>
          <p:nvPr/>
        </p:nvSpPr>
        <p:spPr>
          <a:xfrm>
            <a:off x="9034272" y="2962656"/>
            <a:ext cx="2194560" cy="23500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Shape 80"/>
          <p:cNvSpPr/>
          <p:nvPr/>
        </p:nvSpPr>
        <p:spPr>
          <a:xfrm>
            <a:off x="8970264" y="2907792"/>
            <a:ext cx="2395728" cy="2688336"/>
          </a:xfrm>
          <a:prstGeom prst="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85" name="Text 81"/>
          <p:cNvSpPr/>
          <p:nvPr/>
        </p:nvSpPr>
        <p:spPr>
          <a:xfrm>
            <a:off x="9061704" y="3127248"/>
            <a:ext cx="2157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Mythos / Fable 5.1</a:t>
            </a:r>
            <a:endParaRPr lang="en-US" sz="1100" dirty="0"/>
          </a:p>
        </p:txBody>
      </p:sp>
      <p:sp>
        <p:nvSpPr>
          <p:cNvPr id="86" name="Text 82"/>
          <p:cNvSpPr/>
          <p:nvPr/>
        </p:nvSpPr>
        <p:spPr>
          <a:xfrm>
            <a:off x="9061704" y="343814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81.2%</a:t>
            </a:r>
            <a:endParaRPr lang="en-US" sz="2700" dirty="0"/>
          </a:p>
        </p:txBody>
      </p:sp>
      <p:sp>
        <p:nvSpPr>
          <p:cNvPr id="87" name="Text 83"/>
          <p:cNvSpPr/>
          <p:nvPr/>
        </p:nvSpPr>
        <p:spPr>
          <a:xfrm>
            <a:off x="9061704" y="3931920"/>
            <a:ext cx="2157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5.5</a:t>
            </a:r>
            <a:endParaRPr lang="en-US" sz="1500" dirty="0"/>
          </a:p>
        </p:txBody>
      </p:sp>
      <p:sp>
        <p:nvSpPr>
          <p:cNvPr id="88" name="Text 84"/>
          <p:cNvSpPr/>
          <p:nvPr/>
        </p:nvSpPr>
        <p:spPr>
          <a:xfrm>
            <a:off x="9061704" y="4242816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89.9%</a:t>
            </a:r>
            <a:endParaRPr lang="en-US" sz="2700" dirty="0"/>
          </a:p>
        </p:txBody>
      </p:sp>
      <p:sp>
        <p:nvSpPr>
          <p:cNvPr id="89" name="Text 85"/>
          <p:cNvSpPr/>
          <p:nvPr/>
        </p:nvSpPr>
        <p:spPr>
          <a:xfrm>
            <a:off x="9061704" y="4736592"/>
            <a:ext cx="2157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Sonnet 5.5</a:t>
            </a:r>
            <a:endParaRPr lang="en-US" sz="1500" dirty="0"/>
          </a:p>
        </p:txBody>
      </p:sp>
      <p:sp>
        <p:nvSpPr>
          <p:cNvPr id="90" name="Text 86"/>
          <p:cNvSpPr/>
          <p:nvPr/>
        </p:nvSpPr>
        <p:spPr>
          <a:xfrm>
            <a:off x="9061704" y="50474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81.3%</a:t>
            </a:r>
            <a:endParaRPr lang="en-US" sz="2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终端里的进展：在 2.1 上，已做到接近九成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68096" y="2295144"/>
            <a:ext cx="3337560" cy="354787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9264" y="2514600"/>
            <a:ext cx="2935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Terminal-Bench 原版 · 2025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69264" y="2916936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50%</a:t>
            </a:r>
            <a:endParaRPr lang="en-US" sz="4300" dirty="0"/>
          </a:p>
        </p:txBody>
      </p:sp>
      <p:sp>
        <p:nvSpPr>
          <p:cNvPr id="8" name="Shape 6"/>
          <p:cNvSpPr/>
          <p:nvPr/>
        </p:nvSpPr>
        <p:spPr>
          <a:xfrm>
            <a:off x="2596896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96896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699309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9309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01722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01722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04134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04134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06547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06547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08960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08960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11373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11373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3786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3786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16198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16198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18611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18611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96896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96896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9309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9309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01722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801722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04134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04134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06547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06547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08960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11373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11373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13786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13786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16198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16198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18611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18611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96896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596896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699309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699309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801722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801722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04134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904134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006547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006547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108960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108960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11373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211373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313786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13786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16198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416198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518611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518611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596896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96896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699309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699309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801722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801722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904134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904134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006547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06547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108960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108960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211373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211373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313786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313786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16198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416198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518611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518611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596896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596896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699309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699309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801722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801722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904134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904134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006547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006547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08960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3108960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3211373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211373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313786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313786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416198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416198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3518611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3518611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96896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699309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801722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904134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3006547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3108960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211373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313786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416198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3518611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596896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699309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801722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904134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006547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108960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211373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313786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3416198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3518611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2596896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99309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801722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904134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06547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3108960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3211373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3313786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3416198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3518611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596896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699309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2801722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904134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3006547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3108960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3211373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3313786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3416198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3518611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596896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699309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801722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904134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3006547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108960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211373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313786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3416198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3518611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69264" y="35844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所示历代最高点</a:t>
            </a:r>
            <a:endParaRPr lang="en-US" sz="1100" dirty="0"/>
          </a:p>
        </p:txBody>
      </p:sp>
      <p:graphicFrame>
        <p:nvGraphicFramePr>
          <p:cNvPr id="159" name="Chart 0" descr=""/>
          <p:cNvGraphicFramePr/>
          <p:nvPr/>
        </p:nvGraphicFramePr>
        <p:xfrm>
          <a:off x="932688" y="3941064"/>
          <a:ext cx="3008376" cy="1591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0" name="Shape 157"/>
          <p:cNvSpPr/>
          <p:nvPr/>
        </p:nvSpPr>
        <p:spPr>
          <a:xfrm>
            <a:off x="932688" y="3941064"/>
            <a:ext cx="300837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1" name="Shape 158"/>
          <p:cNvSpPr/>
          <p:nvPr/>
        </p:nvSpPr>
        <p:spPr>
          <a:xfrm>
            <a:off x="923544" y="3913632"/>
            <a:ext cx="3026664" cy="1719072"/>
          </a:xfrm>
          <a:prstGeom prst="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62" name="Text 159"/>
          <p:cNvSpPr/>
          <p:nvPr/>
        </p:nvSpPr>
        <p:spPr>
          <a:xfrm>
            <a:off x="969264" y="3877056"/>
            <a:ext cx="21396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4</a:t>
            </a:r>
            <a:endParaRPr lang="en-US" sz="1200" dirty="0"/>
          </a:p>
        </p:txBody>
      </p:sp>
      <p:sp>
        <p:nvSpPr>
          <p:cNvPr id="163" name="Text 160"/>
          <p:cNvSpPr/>
          <p:nvPr/>
        </p:nvSpPr>
        <p:spPr>
          <a:xfrm>
            <a:off x="3291840" y="3877056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43.2%</a:t>
            </a:r>
            <a:endParaRPr lang="en-US" sz="1200" dirty="0"/>
          </a:p>
        </p:txBody>
      </p:sp>
      <p:sp>
        <p:nvSpPr>
          <p:cNvPr id="164" name="Shape 161"/>
          <p:cNvSpPr/>
          <p:nvPr/>
        </p:nvSpPr>
        <p:spPr>
          <a:xfrm>
            <a:off x="969264" y="4114800"/>
            <a:ext cx="2926080" cy="77724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969264" y="4114800"/>
            <a:ext cx="1264067" cy="7772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66" name="Text 163"/>
          <p:cNvSpPr/>
          <p:nvPr/>
        </p:nvSpPr>
        <p:spPr>
          <a:xfrm>
            <a:off x="969264" y="4236415"/>
            <a:ext cx="21396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Sonnet 4</a:t>
            </a:r>
            <a:endParaRPr lang="en-US" sz="1200" dirty="0"/>
          </a:p>
        </p:txBody>
      </p:sp>
      <p:sp>
        <p:nvSpPr>
          <p:cNvPr id="167" name="Text 164"/>
          <p:cNvSpPr/>
          <p:nvPr/>
        </p:nvSpPr>
        <p:spPr>
          <a:xfrm>
            <a:off x="3291840" y="4236415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35.5%</a:t>
            </a:r>
            <a:endParaRPr lang="en-US" sz="1200" dirty="0"/>
          </a:p>
        </p:txBody>
      </p:sp>
      <p:sp>
        <p:nvSpPr>
          <p:cNvPr id="168" name="Shape 165"/>
          <p:cNvSpPr/>
          <p:nvPr/>
        </p:nvSpPr>
        <p:spPr>
          <a:xfrm>
            <a:off x="969264" y="4474159"/>
            <a:ext cx="2926080" cy="77724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69" name="Shape 166"/>
          <p:cNvSpPr/>
          <p:nvPr/>
        </p:nvSpPr>
        <p:spPr>
          <a:xfrm>
            <a:off x="969264" y="4474159"/>
            <a:ext cx="1038758" cy="7772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70" name="Text 167"/>
          <p:cNvSpPr/>
          <p:nvPr/>
        </p:nvSpPr>
        <p:spPr>
          <a:xfrm>
            <a:off x="969264" y="4595774"/>
            <a:ext cx="21396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4.1</a:t>
            </a:r>
            <a:endParaRPr lang="en-US" sz="1200" dirty="0"/>
          </a:p>
        </p:txBody>
      </p:sp>
      <p:sp>
        <p:nvSpPr>
          <p:cNvPr id="171" name="Text 168"/>
          <p:cNvSpPr/>
          <p:nvPr/>
        </p:nvSpPr>
        <p:spPr>
          <a:xfrm>
            <a:off x="3291840" y="4595774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43.3%</a:t>
            </a:r>
            <a:endParaRPr lang="en-US" sz="1200" dirty="0"/>
          </a:p>
        </p:txBody>
      </p:sp>
      <p:sp>
        <p:nvSpPr>
          <p:cNvPr id="172" name="Shape 169"/>
          <p:cNvSpPr/>
          <p:nvPr/>
        </p:nvSpPr>
        <p:spPr>
          <a:xfrm>
            <a:off x="969264" y="4833518"/>
            <a:ext cx="2926080" cy="77724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73" name="Shape 170"/>
          <p:cNvSpPr/>
          <p:nvPr/>
        </p:nvSpPr>
        <p:spPr>
          <a:xfrm>
            <a:off x="969264" y="4833518"/>
            <a:ext cx="1266993" cy="7772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74" name="Text 171"/>
          <p:cNvSpPr/>
          <p:nvPr/>
        </p:nvSpPr>
        <p:spPr>
          <a:xfrm>
            <a:off x="969264" y="4955134"/>
            <a:ext cx="21396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Sonnet 4.5</a:t>
            </a:r>
            <a:endParaRPr lang="en-US" sz="1200" dirty="0"/>
          </a:p>
        </p:txBody>
      </p:sp>
      <p:sp>
        <p:nvSpPr>
          <p:cNvPr id="175" name="Text 172"/>
          <p:cNvSpPr/>
          <p:nvPr/>
        </p:nvSpPr>
        <p:spPr>
          <a:xfrm>
            <a:off x="3291840" y="4955134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50.0%</a:t>
            </a:r>
            <a:endParaRPr lang="en-US" sz="1200" dirty="0"/>
          </a:p>
        </p:txBody>
      </p:sp>
      <p:sp>
        <p:nvSpPr>
          <p:cNvPr id="176" name="Shape 173"/>
          <p:cNvSpPr/>
          <p:nvPr/>
        </p:nvSpPr>
        <p:spPr>
          <a:xfrm>
            <a:off x="969264" y="5192878"/>
            <a:ext cx="2926080" cy="77724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77" name="Shape 174"/>
          <p:cNvSpPr/>
          <p:nvPr/>
        </p:nvSpPr>
        <p:spPr>
          <a:xfrm>
            <a:off x="969264" y="5192878"/>
            <a:ext cx="1463040" cy="7772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78" name="Shape 175"/>
          <p:cNvSpPr/>
          <p:nvPr/>
        </p:nvSpPr>
        <p:spPr>
          <a:xfrm>
            <a:off x="4562856" y="2295144"/>
            <a:ext cx="3337560" cy="354787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79" name="Text 176"/>
          <p:cNvSpPr/>
          <p:nvPr/>
        </p:nvSpPr>
        <p:spPr>
          <a:xfrm>
            <a:off x="4764024" y="2514600"/>
            <a:ext cx="2935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Terminal-Bench 2.0 · 2025–26</a:t>
            </a:r>
            <a:endParaRPr lang="en-US" sz="1700" dirty="0"/>
          </a:p>
        </p:txBody>
      </p:sp>
      <p:sp>
        <p:nvSpPr>
          <p:cNvPr id="180" name="Text 177"/>
          <p:cNvSpPr/>
          <p:nvPr/>
        </p:nvSpPr>
        <p:spPr>
          <a:xfrm>
            <a:off x="4764024" y="2916936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82%</a:t>
            </a:r>
            <a:endParaRPr lang="en-US" sz="4300" dirty="0"/>
          </a:p>
        </p:txBody>
      </p:sp>
      <p:sp>
        <p:nvSpPr>
          <p:cNvPr id="181" name="Shape 178"/>
          <p:cNvSpPr/>
          <p:nvPr/>
        </p:nvSpPr>
        <p:spPr>
          <a:xfrm>
            <a:off x="6391656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82" name="Shape 179"/>
          <p:cNvSpPr/>
          <p:nvPr/>
        </p:nvSpPr>
        <p:spPr>
          <a:xfrm>
            <a:off x="6391656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83" name="Shape 180"/>
          <p:cNvSpPr/>
          <p:nvPr/>
        </p:nvSpPr>
        <p:spPr>
          <a:xfrm>
            <a:off x="6494069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84" name="Shape 181"/>
          <p:cNvSpPr/>
          <p:nvPr/>
        </p:nvSpPr>
        <p:spPr>
          <a:xfrm>
            <a:off x="6494069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85" name="Shape 182"/>
          <p:cNvSpPr/>
          <p:nvPr/>
        </p:nvSpPr>
        <p:spPr>
          <a:xfrm>
            <a:off x="6596482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86" name="Shape 183"/>
          <p:cNvSpPr/>
          <p:nvPr/>
        </p:nvSpPr>
        <p:spPr>
          <a:xfrm>
            <a:off x="6596482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87" name="Shape 184"/>
          <p:cNvSpPr/>
          <p:nvPr/>
        </p:nvSpPr>
        <p:spPr>
          <a:xfrm>
            <a:off x="6698894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88" name="Shape 185"/>
          <p:cNvSpPr/>
          <p:nvPr/>
        </p:nvSpPr>
        <p:spPr>
          <a:xfrm>
            <a:off x="6698894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89" name="Shape 186"/>
          <p:cNvSpPr/>
          <p:nvPr/>
        </p:nvSpPr>
        <p:spPr>
          <a:xfrm>
            <a:off x="6801307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90" name="Shape 187"/>
          <p:cNvSpPr/>
          <p:nvPr/>
        </p:nvSpPr>
        <p:spPr>
          <a:xfrm>
            <a:off x="6801307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91" name="Shape 188"/>
          <p:cNvSpPr/>
          <p:nvPr/>
        </p:nvSpPr>
        <p:spPr>
          <a:xfrm>
            <a:off x="6903720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92" name="Shape 189"/>
          <p:cNvSpPr/>
          <p:nvPr/>
        </p:nvSpPr>
        <p:spPr>
          <a:xfrm>
            <a:off x="6903720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93" name="Shape 190"/>
          <p:cNvSpPr/>
          <p:nvPr/>
        </p:nvSpPr>
        <p:spPr>
          <a:xfrm>
            <a:off x="7006133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94" name="Shape 191"/>
          <p:cNvSpPr/>
          <p:nvPr/>
        </p:nvSpPr>
        <p:spPr>
          <a:xfrm>
            <a:off x="7006133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95" name="Shape 192"/>
          <p:cNvSpPr/>
          <p:nvPr/>
        </p:nvSpPr>
        <p:spPr>
          <a:xfrm>
            <a:off x="7108546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96" name="Shape 193"/>
          <p:cNvSpPr/>
          <p:nvPr/>
        </p:nvSpPr>
        <p:spPr>
          <a:xfrm>
            <a:off x="7108546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97" name="Shape 194"/>
          <p:cNvSpPr/>
          <p:nvPr/>
        </p:nvSpPr>
        <p:spPr>
          <a:xfrm>
            <a:off x="7210958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198" name="Shape 195"/>
          <p:cNvSpPr/>
          <p:nvPr/>
        </p:nvSpPr>
        <p:spPr>
          <a:xfrm>
            <a:off x="7210958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99" name="Shape 196"/>
          <p:cNvSpPr/>
          <p:nvPr/>
        </p:nvSpPr>
        <p:spPr>
          <a:xfrm>
            <a:off x="7313371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00" name="Shape 197"/>
          <p:cNvSpPr/>
          <p:nvPr/>
        </p:nvSpPr>
        <p:spPr>
          <a:xfrm>
            <a:off x="7313371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1" name="Shape 198"/>
          <p:cNvSpPr/>
          <p:nvPr/>
        </p:nvSpPr>
        <p:spPr>
          <a:xfrm>
            <a:off x="6391656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02" name="Shape 199"/>
          <p:cNvSpPr/>
          <p:nvPr/>
        </p:nvSpPr>
        <p:spPr>
          <a:xfrm>
            <a:off x="6391656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3" name="Shape 200"/>
          <p:cNvSpPr/>
          <p:nvPr/>
        </p:nvSpPr>
        <p:spPr>
          <a:xfrm>
            <a:off x="6494069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04" name="Shape 201"/>
          <p:cNvSpPr/>
          <p:nvPr/>
        </p:nvSpPr>
        <p:spPr>
          <a:xfrm>
            <a:off x="6494069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5" name="Shape 202"/>
          <p:cNvSpPr/>
          <p:nvPr/>
        </p:nvSpPr>
        <p:spPr>
          <a:xfrm>
            <a:off x="6596482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06" name="Shape 203"/>
          <p:cNvSpPr/>
          <p:nvPr/>
        </p:nvSpPr>
        <p:spPr>
          <a:xfrm>
            <a:off x="6596482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7" name="Shape 204"/>
          <p:cNvSpPr/>
          <p:nvPr/>
        </p:nvSpPr>
        <p:spPr>
          <a:xfrm>
            <a:off x="6698894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08" name="Shape 205"/>
          <p:cNvSpPr/>
          <p:nvPr/>
        </p:nvSpPr>
        <p:spPr>
          <a:xfrm>
            <a:off x="6698894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9" name="Shape 206"/>
          <p:cNvSpPr/>
          <p:nvPr/>
        </p:nvSpPr>
        <p:spPr>
          <a:xfrm>
            <a:off x="6801307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10" name="Shape 207"/>
          <p:cNvSpPr/>
          <p:nvPr/>
        </p:nvSpPr>
        <p:spPr>
          <a:xfrm>
            <a:off x="6801307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11" name="Shape 208"/>
          <p:cNvSpPr/>
          <p:nvPr/>
        </p:nvSpPr>
        <p:spPr>
          <a:xfrm>
            <a:off x="6903720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12" name="Shape 209"/>
          <p:cNvSpPr/>
          <p:nvPr/>
        </p:nvSpPr>
        <p:spPr>
          <a:xfrm>
            <a:off x="6903720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13" name="Shape 210"/>
          <p:cNvSpPr/>
          <p:nvPr/>
        </p:nvSpPr>
        <p:spPr>
          <a:xfrm>
            <a:off x="7006133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14" name="Shape 211"/>
          <p:cNvSpPr/>
          <p:nvPr/>
        </p:nvSpPr>
        <p:spPr>
          <a:xfrm>
            <a:off x="7006133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15" name="Shape 212"/>
          <p:cNvSpPr/>
          <p:nvPr/>
        </p:nvSpPr>
        <p:spPr>
          <a:xfrm>
            <a:off x="7108546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16" name="Shape 213"/>
          <p:cNvSpPr/>
          <p:nvPr/>
        </p:nvSpPr>
        <p:spPr>
          <a:xfrm>
            <a:off x="7108546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17" name="Shape 214"/>
          <p:cNvSpPr/>
          <p:nvPr/>
        </p:nvSpPr>
        <p:spPr>
          <a:xfrm>
            <a:off x="7210958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18" name="Shape 215"/>
          <p:cNvSpPr/>
          <p:nvPr/>
        </p:nvSpPr>
        <p:spPr>
          <a:xfrm>
            <a:off x="7210958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19" name="Shape 216"/>
          <p:cNvSpPr/>
          <p:nvPr/>
        </p:nvSpPr>
        <p:spPr>
          <a:xfrm>
            <a:off x="7313371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20" name="Shape 217"/>
          <p:cNvSpPr/>
          <p:nvPr/>
        </p:nvSpPr>
        <p:spPr>
          <a:xfrm>
            <a:off x="7313371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21" name="Shape 218"/>
          <p:cNvSpPr/>
          <p:nvPr/>
        </p:nvSpPr>
        <p:spPr>
          <a:xfrm>
            <a:off x="6391656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22" name="Shape 219"/>
          <p:cNvSpPr/>
          <p:nvPr/>
        </p:nvSpPr>
        <p:spPr>
          <a:xfrm>
            <a:off x="6391656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23" name="Shape 220"/>
          <p:cNvSpPr/>
          <p:nvPr/>
        </p:nvSpPr>
        <p:spPr>
          <a:xfrm>
            <a:off x="6494069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24" name="Shape 221"/>
          <p:cNvSpPr/>
          <p:nvPr/>
        </p:nvSpPr>
        <p:spPr>
          <a:xfrm>
            <a:off x="6494069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25" name="Shape 222"/>
          <p:cNvSpPr/>
          <p:nvPr/>
        </p:nvSpPr>
        <p:spPr>
          <a:xfrm>
            <a:off x="6596482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26" name="Shape 223"/>
          <p:cNvSpPr/>
          <p:nvPr/>
        </p:nvSpPr>
        <p:spPr>
          <a:xfrm>
            <a:off x="6596482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27" name="Shape 224"/>
          <p:cNvSpPr/>
          <p:nvPr/>
        </p:nvSpPr>
        <p:spPr>
          <a:xfrm>
            <a:off x="6698894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28" name="Shape 225"/>
          <p:cNvSpPr/>
          <p:nvPr/>
        </p:nvSpPr>
        <p:spPr>
          <a:xfrm>
            <a:off x="6698894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29" name="Shape 226"/>
          <p:cNvSpPr/>
          <p:nvPr/>
        </p:nvSpPr>
        <p:spPr>
          <a:xfrm>
            <a:off x="6801307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30" name="Shape 227"/>
          <p:cNvSpPr/>
          <p:nvPr/>
        </p:nvSpPr>
        <p:spPr>
          <a:xfrm>
            <a:off x="6801307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1" name="Shape 228"/>
          <p:cNvSpPr/>
          <p:nvPr/>
        </p:nvSpPr>
        <p:spPr>
          <a:xfrm>
            <a:off x="6903720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32" name="Shape 229"/>
          <p:cNvSpPr/>
          <p:nvPr/>
        </p:nvSpPr>
        <p:spPr>
          <a:xfrm>
            <a:off x="6903720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3" name="Shape 230"/>
          <p:cNvSpPr/>
          <p:nvPr/>
        </p:nvSpPr>
        <p:spPr>
          <a:xfrm>
            <a:off x="7006133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34" name="Shape 231"/>
          <p:cNvSpPr/>
          <p:nvPr/>
        </p:nvSpPr>
        <p:spPr>
          <a:xfrm>
            <a:off x="7006133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5" name="Shape 232"/>
          <p:cNvSpPr/>
          <p:nvPr/>
        </p:nvSpPr>
        <p:spPr>
          <a:xfrm>
            <a:off x="7108546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36" name="Shape 233"/>
          <p:cNvSpPr/>
          <p:nvPr/>
        </p:nvSpPr>
        <p:spPr>
          <a:xfrm>
            <a:off x="7108546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7" name="Shape 234"/>
          <p:cNvSpPr/>
          <p:nvPr/>
        </p:nvSpPr>
        <p:spPr>
          <a:xfrm>
            <a:off x="7210958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38" name="Shape 235"/>
          <p:cNvSpPr/>
          <p:nvPr/>
        </p:nvSpPr>
        <p:spPr>
          <a:xfrm>
            <a:off x="7210958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9" name="Shape 236"/>
          <p:cNvSpPr/>
          <p:nvPr/>
        </p:nvSpPr>
        <p:spPr>
          <a:xfrm>
            <a:off x="7313371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40" name="Shape 237"/>
          <p:cNvSpPr/>
          <p:nvPr/>
        </p:nvSpPr>
        <p:spPr>
          <a:xfrm>
            <a:off x="7313371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1" name="Shape 238"/>
          <p:cNvSpPr/>
          <p:nvPr/>
        </p:nvSpPr>
        <p:spPr>
          <a:xfrm>
            <a:off x="6391656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42" name="Shape 239"/>
          <p:cNvSpPr/>
          <p:nvPr/>
        </p:nvSpPr>
        <p:spPr>
          <a:xfrm>
            <a:off x="6391656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3" name="Shape 240"/>
          <p:cNvSpPr/>
          <p:nvPr/>
        </p:nvSpPr>
        <p:spPr>
          <a:xfrm>
            <a:off x="6494069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44" name="Shape 241"/>
          <p:cNvSpPr/>
          <p:nvPr/>
        </p:nvSpPr>
        <p:spPr>
          <a:xfrm>
            <a:off x="6494069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5" name="Shape 242"/>
          <p:cNvSpPr/>
          <p:nvPr/>
        </p:nvSpPr>
        <p:spPr>
          <a:xfrm>
            <a:off x="6596482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46" name="Shape 243"/>
          <p:cNvSpPr/>
          <p:nvPr/>
        </p:nvSpPr>
        <p:spPr>
          <a:xfrm>
            <a:off x="6596482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7" name="Shape 244"/>
          <p:cNvSpPr/>
          <p:nvPr/>
        </p:nvSpPr>
        <p:spPr>
          <a:xfrm>
            <a:off x="6698894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48" name="Shape 245"/>
          <p:cNvSpPr/>
          <p:nvPr/>
        </p:nvSpPr>
        <p:spPr>
          <a:xfrm>
            <a:off x="6698894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9" name="Shape 246"/>
          <p:cNvSpPr/>
          <p:nvPr/>
        </p:nvSpPr>
        <p:spPr>
          <a:xfrm>
            <a:off x="6801307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50" name="Shape 247"/>
          <p:cNvSpPr/>
          <p:nvPr/>
        </p:nvSpPr>
        <p:spPr>
          <a:xfrm>
            <a:off x="6801307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51" name="Shape 248"/>
          <p:cNvSpPr/>
          <p:nvPr/>
        </p:nvSpPr>
        <p:spPr>
          <a:xfrm>
            <a:off x="6903720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52" name="Shape 249"/>
          <p:cNvSpPr/>
          <p:nvPr/>
        </p:nvSpPr>
        <p:spPr>
          <a:xfrm>
            <a:off x="6903720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53" name="Shape 250"/>
          <p:cNvSpPr/>
          <p:nvPr/>
        </p:nvSpPr>
        <p:spPr>
          <a:xfrm>
            <a:off x="7006133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54" name="Shape 251"/>
          <p:cNvSpPr/>
          <p:nvPr/>
        </p:nvSpPr>
        <p:spPr>
          <a:xfrm>
            <a:off x="7006133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55" name="Shape 252"/>
          <p:cNvSpPr/>
          <p:nvPr/>
        </p:nvSpPr>
        <p:spPr>
          <a:xfrm>
            <a:off x="7108546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56" name="Shape 253"/>
          <p:cNvSpPr/>
          <p:nvPr/>
        </p:nvSpPr>
        <p:spPr>
          <a:xfrm>
            <a:off x="7108546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57" name="Shape 254"/>
          <p:cNvSpPr/>
          <p:nvPr/>
        </p:nvSpPr>
        <p:spPr>
          <a:xfrm>
            <a:off x="7210958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58" name="Shape 255"/>
          <p:cNvSpPr/>
          <p:nvPr/>
        </p:nvSpPr>
        <p:spPr>
          <a:xfrm>
            <a:off x="7210958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59" name="Shape 256"/>
          <p:cNvSpPr/>
          <p:nvPr/>
        </p:nvSpPr>
        <p:spPr>
          <a:xfrm>
            <a:off x="7313371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60" name="Shape 257"/>
          <p:cNvSpPr/>
          <p:nvPr/>
        </p:nvSpPr>
        <p:spPr>
          <a:xfrm>
            <a:off x="7313371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1" name="Shape 258"/>
          <p:cNvSpPr/>
          <p:nvPr/>
        </p:nvSpPr>
        <p:spPr>
          <a:xfrm>
            <a:off x="6391656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62" name="Shape 259"/>
          <p:cNvSpPr/>
          <p:nvPr/>
        </p:nvSpPr>
        <p:spPr>
          <a:xfrm>
            <a:off x="6391656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3" name="Shape 260"/>
          <p:cNvSpPr/>
          <p:nvPr/>
        </p:nvSpPr>
        <p:spPr>
          <a:xfrm>
            <a:off x="6494069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64" name="Shape 261"/>
          <p:cNvSpPr/>
          <p:nvPr/>
        </p:nvSpPr>
        <p:spPr>
          <a:xfrm>
            <a:off x="6494069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5" name="Shape 262"/>
          <p:cNvSpPr/>
          <p:nvPr/>
        </p:nvSpPr>
        <p:spPr>
          <a:xfrm>
            <a:off x="6596482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66" name="Shape 263"/>
          <p:cNvSpPr/>
          <p:nvPr/>
        </p:nvSpPr>
        <p:spPr>
          <a:xfrm>
            <a:off x="6596482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7" name="Shape 264"/>
          <p:cNvSpPr/>
          <p:nvPr/>
        </p:nvSpPr>
        <p:spPr>
          <a:xfrm>
            <a:off x="6698894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68" name="Shape 265"/>
          <p:cNvSpPr/>
          <p:nvPr/>
        </p:nvSpPr>
        <p:spPr>
          <a:xfrm>
            <a:off x="6698894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9" name="Shape 266"/>
          <p:cNvSpPr/>
          <p:nvPr/>
        </p:nvSpPr>
        <p:spPr>
          <a:xfrm>
            <a:off x="6801307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0" name="Shape 267"/>
          <p:cNvSpPr/>
          <p:nvPr/>
        </p:nvSpPr>
        <p:spPr>
          <a:xfrm>
            <a:off x="6801307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71" name="Shape 268"/>
          <p:cNvSpPr/>
          <p:nvPr/>
        </p:nvSpPr>
        <p:spPr>
          <a:xfrm>
            <a:off x="6903720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2" name="Shape 269"/>
          <p:cNvSpPr/>
          <p:nvPr/>
        </p:nvSpPr>
        <p:spPr>
          <a:xfrm>
            <a:off x="6903720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73" name="Shape 270"/>
          <p:cNvSpPr/>
          <p:nvPr/>
        </p:nvSpPr>
        <p:spPr>
          <a:xfrm>
            <a:off x="7006133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4" name="Shape 271"/>
          <p:cNvSpPr/>
          <p:nvPr/>
        </p:nvSpPr>
        <p:spPr>
          <a:xfrm>
            <a:off x="7006133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75" name="Shape 272"/>
          <p:cNvSpPr/>
          <p:nvPr/>
        </p:nvSpPr>
        <p:spPr>
          <a:xfrm>
            <a:off x="7108546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6" name="Shape 273"/>
          <p:cNvSpPr/>
          <p:nvPr/>
        </p:nvSpPr>
        <p:spPr>
          <a:xfrm>
            <a:off x="7108546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77" name="Shape 274"/>
          <p:cNvSpPr/>
          <p:nvPr/>
        </p:nvSpPr>
        <p:spPr>
          <a:xfrm>
            <a:off x="7210958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78" name="Shape 275"/>
          <p:cNvSpPr/>
          <p:nvPr/>
        </p:nvSpPr>
        <p:spPr>
          <a:xfrm>
            <a:off x="7210958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79" name="Shape 276"/>
          <p:cNvSpPr/>
          <p:nvPr/>
        </p:nvSpPr>
        <p:spPr>
          <a:xfrm>
            <a:off x="7313371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0" name="Shape 277"/>
          <p:cNvSpPr/>
          <p:nvPr/>
        </p:nvSpPr>
        <p:spPr>
          <a:xfrm>
            <a:off x="7313371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81" name="Shape 278"/>
          <p:cNvSpPr/>
          <p:nvPr/>
        </p:nvSpPr>
        <p:spPr>
          <a:xfrm>
            <a:off x="6391656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2" name="Shape 279"/>
          <p:cNvSpPr/>
          <p:nvPr/>
        </p:nvSpPr>
        <p:spPr>
          <a:xfrm>
            <a:off x="6391656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83" name="Shape 280"/>
          <p:cNvSpPr/>
          <p:nvPr/>
        </p:nvSpPr>
        <p:spPr>
          <a:xfrm>
            <a:off x="6494069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4" name="Shape 281"/>
          <p:cNvSpPr/>
          <p:nvPr/>
        </p:nvSpPr>
        <p:spPr>
          <a:xfrm>
            <a:off x="6494069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85" name="Shape 282"/>
          <p:cNvSpPr/>
          <p:nvPr/>
        </p:nvSpPr>
        <p:spPr>
          <a:xfrm>
            <a:off x="6596482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6" name="Shape 283"/>
          <p:cNvSpPr/>
          <p:nvPr/>
        </p:nvSpPr>
        <p:spPr>
          <a:xfrm>
            <a:off x="6596482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87" name="Shape 284"/>
          <p:cNvSpPr/>
          <p:nvPr/>
        </p:nvSpPr>
        <p:spPr>
          <a:xfrm>
            <a:off x="6698894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88" name="Shape 285"/>
          <p:cNvSpPr/>
          <p:nvPr/>
        </p:nvSpPr>
        <p:spPr>
          <a:xfrm>
            <a:off x="6698894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89" name="Shape 286"/>
          <p:cNvSpPr/>
          <p:nvPr/>
        </p:nvSpPr>
        <p:spPr>
          <a:xfrm>
            <a:off x="6801307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0" name="Shape 287"/>
          <p:cNvSpPr/>
          <p:nvPr/>
        </p:nvSpPr>
        <p:spPr>
          <a:xfrm>
            <a:off x="6801307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91" name="Shape 288"/>
          <p:cNvSpPr/>
          <p:nvPr/>
        </p:nvSpPr>
        <p:spPr>
          <a:xfrm>
            <a:off x="6903720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2" name="Shape 289"/>
          <p:cNvSpPr/>
          <p:nvPr/>
        </p:nvSpPr>
        <p:spPr>
          <a:xfrm>
            <a:off x="6903720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93" name="Shape 290"/>
          <p:cNvSpPr/>
          <p:nvPr/>
        </p:nvSpPr>
        <p:spPr>
          <a:xfrm>
            <a:off x="7006133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4" name="Shape 291"/>
          <p:cNvSpPr/>
          <p:nvPr/>
        </p:nvSpPr>
        <p:spPr>
          <a:xfrm>
            <a:off x="7006133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95" name="Shape 292"/>
          <p:cNvSpPr/>
          <p:nvPr/>
        </p:nvSpPr>
        <p:spPr>
          <a:xfrm>
            <a:off x="7108546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6" name="Shape 293"/>
          <p:cNvSpPr/>
          <p:nvPr/>
        </p:nvSpPr>
        <p:spPr>
          <a:xfrm>
            <a:off x="7108546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97" name="Shape 294"/>
          <p:cNvSpPr/>
          <p:nvPr/>
        </p:nvSpPr>
        <p:spPr>
          <a:xfrm>
            <a:off x="7210958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298" name="Shape 295"/>
          <p:cNvSpPr/>
          <p:nvPr/>
        </p:nvSpPr>
        <p:spPr>
          <a:xfrm>
            <a:off x="7210958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99" name="Shape 296"/>
          <p:cNvSpPr/>
          <p:nvPr/>
        </p:nvSpPr>
        <p:spPr>
          <a:xfrm>
            <a:off x="7313371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0" name="Shape 297"/>
          <p:cNvSpPr/>
          <p:nvPr/>
        </p:nvSpPr>
        <p:spPr>
          <a:xfrm>
            <a:off x="7313371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01" name="Shape 298"/>
          <p:cNvSpPr/>
          <p:nvPr/>
        </p:nvSpPr>
        <p:spPr>
          <a:xfrm>
            <a:off x="6391656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2" name="Shape 299"/>
          <p:cNvSpPr/>
          <p:nvPr/>
        </p:nvSpPr>
        <p:spPr>
          <a:xfrm>
            <a:off x="6391656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03" name="Shape 300"/>
          <p:cNvSpPr/>
          <p:nvPr/>
        </p:nvSpPr>
        <p:spPr>
          <a:xfrm>
            <a:off x="6494069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4" name="Shape 301"/>
          <p:cNvSpPr/>
          <p:nvPr/>
        </p:nvSpPr>
        <p:spPr>
          <a:xfrm>
            <a:off x="6494069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05" name="Shape 302"/>
          <p:cNvSpPr/>
          <p:nvPr/>
        </p:nvSpPr>
        <p:spPr>
          <a:xfrm>
            <a:off x="6596482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6" name="Shape 303"/>
          <p:cNvSpPr/>
          <p:nvPr/>
        </p:nvSpPr>
        <p:spPr>
          <a:xfrm>
            <a:off x="6596482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07" name="Shape 304"/>
          <p:cNvSpPr/>
          <p:nvPr/>
        </p:nvSpPr>
        <p:spPr>
          <a:xfrm>
            <a:off x="6698894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08" name="Shape 305"/>
          <p:cNvSpPr/>
          <p:nvPr/>
        </p:nvSpPr>
        <p:spPr>
          <a:xfrm>
            <a:off x="6698894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09" name="Shape 306"/>
          <p:cNvSpPr/>
          <p:nvPr/>
        </p:nvSpPr>
        <p:spPr>
          <a:xfrm>
            <a:off x="6801307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10" name="Shape 307"/>
          <p:cNvSpPr/>
          <p:nvPr/>
        </p:nvSpPr>
        <p:spPr>
          <a:xfrm>
            <a:off x="6801307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11" name="Shape 308"/>
          <p:cNvSpPr/>
          <p:nvPr/>
        </p:nvSpPr>
        <p:spPr>
          <a:xfrm>
            <a:off x="6903720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12" name="Shape 309"/>
          <p:cNvSpPr/>
          <p:nvPr/>
        </p:nvSpPr>
        <p:spPr>
          <a:xfrm>
            <a:off x="6903720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13" name="Shape 310"/>
          <p:cNvSpPr/>
          <p:nvPr/>
        </p:nvSpPr>
        <p:spPr>
          <a:xfrm>
            <a:off x="7006133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14" name="Shape 311"/>
          <p:cNvSpPr/>
          <p:nvPr/>
        </p:nvSpPr>
        <p:spPr>
          <a:xfrm>
            <a:off x="7006133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15" name="Shape 312"/>
          <p:cNvSpPr/>
          <p:nvPr/>
        </p:nvSpPr>
        <p:spPr>
          <a:xfrm>
            <a:off x="7108546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16" name="Shape 313"/>
          <p:cNvSpPr/>
          <p:nvPr/>
        </p:nvSpPr>
        <p:spPr>
          <a:xfrm>
            <a:off x="7108546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17" name="Shape 314"/>
          <p:cNvSpPr/>
          <p:nvPr/>
        </p:nvSpPr>
        <p:spPr>
          <a:xfrm>
            <a:off x="7210958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18" name="Shape 315"/>
          <p:cNvSpPr/>
          <p:nvPr/>
        </p:nvSpPr>
        <p:spPr>
          <a:xfrm>
            <a:off x="7210958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19" name="Shape 316"/>
          <p:cNvSpPr/>
          <p:nvPr/>
        </p:nvSpPr>
        <p:spPr>
          <a:xfrm>
            <a:off x="7313371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20" name="Shape 317"/>
          <p:cNvSpPr/>
          <p:nvPr/>
        </p:nvSpPr>
        <p:spPr>
          <a:xfrm>
            <a:off x="7313371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1" name="Shape 318"/>
          <p:cNvSpPr/>
          <p:nvPr/>
        </p:nvSpPr>
        <p:spPr>
          <a:xfrm>
            <a:off x="6391656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22" name="Shape 319"/>
          <p:cNvSpPr/>
          <p:nvPr/>
        </p:nvSpPr>
        <p:spPr>
          <a:xfrm>
            <a:off x="6391656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3" name="Shape 320"/>
          <p:cNvSpPr/>
          <p:nvPr/>
        </p:nvSpPr>
        <p:spPr>
          <a:xfrm>
            <a:off x="6494069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24" name="Shape 321"/>
          <p:cNvSpPr/>
          <p:nvPr/>
        </p:nvSpPr>
        <p:spPr>
          <a:xfrm>
            <a:off x="6494069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5" name="Shape 322"/>
          <p:cNvSpPr/>
          <p:nvPr/>
        </p:nvSpPr>
        <p:spPr>
          <a:xfrm>
            <a:off x="6596482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26" name="Shape 323"/>
          <p:cNvSpPr/>
          <p:nvPr/>
        </p:nvSpPr>
        <p:spPr>
          <a:xfrm>
            <a:off x="6596482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7" name="Shape 324"/>
          <p:cNvSpPr/>
          <p:nvPr/>
        </p:nvSpPr>
        <p:spPr>
          <a:xfrm>
            <a:off x="6698894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28" name="Shape 325"/>
          <p:cNvSpPr/>
          <p:nvPr/>
        </p:nvSpPr>
        <p:spPr>
          <a:xfrm>
            <a:off x="6698894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9" name="Shape 326"/>
          <p:cNvSpPr/>
          <p:nvPr/>
        </p:nvSpPr>
        <p:spPr>
          <a:xfrm>
            <a:off x="6801307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30" name="Shape 327"/>
          <p:cNvSpPr/>
          <p:nvPr/>
        </p:nvSpPr>
        <p:spPr>
          <a:xfrm>
            <a:off x="6801307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31" name="Shape 328"/>
          <p:cNvSpPr/>
          <p:nvPr/>
        </p:nvSpPr>
        <p:spPr>
          <a:xfrm>
            <a:off x="6903720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32" name="Shape 329"/>
          <p:cNvSpPr/>
          <p:nvPr/>
        </p:nvSpPr>
        <p:spPr>
          <a:xfrm>
            <a:off x="6903720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33" name="Shape 330"/>
          <p:cNvSpPr/>
          <p:nvPr/>
        </p:nvSpPr>
        <p:spPr>
          <a:xfrm>
            <a:off x="7006133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34" name="Shape 331"/>
          <p:cNvSpPr/>
          <p:nvPr/>
        </p:nvSpPr>
        <p:spPr>
          <a:xfrm>
            <a:off x="7006133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35" name="Shape 332"/>
          <p:cNvSpPr/>
          <p:nvPr/>
        </p:nvSpPr>
        <p:spPr>
          <a:xfrm>
            <a:off x="7108546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36" name="Shape 333"/>
          <p:cNvSpPr/>
          <p:nvPr/>
        </p:nvSpPr>
        <p:spPr>
          <a:xfrm>
            <a:off x="7108546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37" name="Shape 334"/>
          <p:cNvSpPr/>
          <p:nvPr/>
        </p:nvSpPr>
        <p:spPr>
          <a:xfrm>
            <a:off x="7210958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38" name="Shape 335"/>
          <p:cNvSpPr/>
          <p:nvPr/>
        </p:nvSpPr>
        <p:spPr>
          <a:xfrm>
            <a:off x="7210958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39" name="Shape 336"/>
          <p:cNvSpPr/>
          <p:nvPr/>
        </p:nvSpPr>
        <p:spPr>
          <a:xfrm>
            <a:off x="7313371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40" name="Shape 337"/>
          <p:cNvSpPr/>
          <p:nvPr/>
        </p:nvSpPr>
        <p:spPr>
          <a:xfrm>
            <a:off x="7313371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41" name="Shape 338"/>
          <p:cNvSpPr/>
          <p:nvPr/>
        </p:nvSpPr>
        <p:spPr>
          <a:xfrm>
            <a:off x="6391656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42" name="Shape 339"/>
          <p:cNvSpPr/>
          <p:nvPr/>
        </p:nvSpPr>
        <p:spPr>
          <a:xfrm>
            <a:off x="6391656" y="3727094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43" name="Shape 340"/>
          <p:cNvSpPr/>
          <p:nvPr/>
        </p:nvSpPr>
        <p:spPr>
          <a:xfrm>
            <a:off x="6494069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44" name="Shape 341"/>
          <p:cNvSpPr/>
          <p:nvPr/>
        </p:nvSpPr>
        <p:spPr>
          <a:xfrm>
            <a:off x="6494069" y="3727094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45" name="Shape 342"/>
          <p:cNvSpPr/>
          <p:nvPr/>
        </p:nvSpPr>
        <p:spPr>
          <a:xfrm>
            <a:off x="6596482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46" name="Shape 343"/>
          <p:cNvSpPr/>
          <p:nvPr/>
        </p:nvSpPr>
        <p:spPr>
          <a:xfrm>
            <a:off x="6698894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47" name="Shape 344"/>
          <p:cNvSpPr/>
          <p:nvPr/>
        </p:nvSpPr>
        <p:spPr>
          <a:xfrm>
            <a:off x="6801307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48" name="Shape 345"/>
          <p:cNvSpPr/>
          <p:nvPr/>
        </p:nvSpPr>
        <p:spPr>
          <a:xfrm>
            <a:off x="6903720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49" name="Shape 346"/>
          <p:cNvSpPr/>
          <p:nvPr/>
        </p:nvSpPr>
        <p:spPr>
          <a:xfrm>
            <a:off x="7006133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0" name="Shape 347"/>
          <p:cNvSpPr/>
          <p:nvPr/>
        </p:nvSpPr>
        <p:spPr>
          <a:xfrm>
            <a:off x="7108546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1" name="Shape 348"/>
          <p:cNvSpPr/>
          <p:nvPr/>
        </p:nvSpPr>
        <p:spPr>
          <a:xfrm>
            <a:off x="7210958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2" name="Shape 349"/>
          <p:cNvSpPr/>
          <p:nvPr/>
        </p:nvSpPr>
        <p:spPr>
          <a:xfrm>
            <a:off x="7313371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3" name="Shape 350"/>
          <p:cNvSpPr/>
          <p:nvPr/>
        </p:nvSpPr>
        <p:spPr>
          <a:xfrm>
            <a:off x="6391656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4" name="Shape 351"/>
          <p:cNvSpPr/>
          <p:nvPr/>
        </p:nvSpPr>
        <p:spPr>
          <a:xfrm>
            <a:off x="6494069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5" name="Shape 352"/>
          <p:cNvSpPr/>
          <p:nvPr/>
        </p:nvSpPr>
        <p:spPr>
          <a:xfrm>
            <a:off x="6596482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6" name="Shape 353"/>
          <p:cNvSpPr/>
          <p:nvPr/>
        </p:nvSpPr>
        <p:spPr>
          <a:xfrm>
            <a:off x="6698894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7" name="Shape 354"/>
          <p:cNvSpPr/>
          <p:nvPr/>
        </p:nvSpPr>
        <p:spPr>
          <a:xfrm>
            <a:off x="6801307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8" name="Shape 355"/>
          <p:cNvSpPr/>
          <p:nvPr/>
        </p:nvSpPr>
        <p:spPr>
          <a:xfrm>
            <a:off x="6903720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59" name="Shape 356"/>
          <p:cNvSpPr/>
          <p:nvPr/>
        </p:nvSpPr>
        <p:spPr>
          <a:xfrm>
            <a:off x="7006133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60" name="Shape 357"/>
          <p:cNvSpPr/>
          <p:nvPr/>
        </p:nvSpPr>
        <p:spPr>
          <a:xfrm>
            <a:off x="7108546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61" name="Shape 358"/>
          <p:cNvSpPr/>
          <p:nvPr/>
        </p:nvSpPr>
        <p:spPr>
          <a:xfrm>
            <a:off x="7210958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62" name="Shape 359"/>
          <p:cNvSpPr/>
          <p:nvPr/>
        </p:nvSpPr>
        <p:spPr>
          <a:xfrm>
            <a:off x="7313371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63" name="Text 360"/>
          <p:cNvSpPr/>
          <p:nvPr/>
        </p:nvSpPr>
        <p:spPr>
          <a:xfrm>
            <a:off x="4764024" y="35844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所示历代最高点</a:t>
            </a:r>
            <a:endParaRPr lang="en-US" sz="1100" dirty="0"/>
          </a:p>
        </p:txBody>
      </p:sp>
      <p:graphicFrame>
        <p:nvGraphicFramePr>
          <p:cNvPr id="364" name="Chart 1" descr=""/>
          <p:cNvGraphicFramePr/>
          <p:nvPr/>
        </p:nvGraphicFramePr>
        <p:xfrm>
          <a:off x="4727448" y="3941064"/>
          <a:ext cx="3008376" cy="1591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65" name="Shape 361"/>
          <p:cNvSpPr/>
          <p:nvPr/>
        </p:nvSpPr>
        <p:spPr>
          <a:xfrm>
            <a:off x="4727448" y="3941064"/>
            <a:ext cx="300837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6" name="Shape 362"/>
          <p:cNvSpPr/>
          <p:nvPr/>
        </p:nvSpPr>
        <p:spPr>
          <a:xfrm>
            <a:off x="4718304" y="3913632"/>
            <a:ext cx="3026664" cy="1719072"/>
          </a:xfrm>
          <a:prstGeom prst="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367" name="Text 363"/>
          <p:cNvSpPr/>
          <p:nvPr/>
        </p:nvSpPr>
        <p:spPr>
          <a:xfrm>
            <a:off x="4764024" y="3877056"/>
            <a:ext cx="21396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4.5</a:t>
            </a:r>
            <a:endParaRPr lang="en-US" sz="1200" dirty="0"/>
          </a:p>
        </p:txBody>
      </p:sp>
      <p:sp>
        <p:nvSpPr>
          <p:cNvPr id="368" name="Text 364"/>
          <p:cNvSpPr/>
          <p:nvPr/>
        </p:nvSpPr>
        <p:spPr>
          <a:xfrm>
            <a:off x="7086600" y="3877056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59.3%</a:t>
            </a:r>
            <a:endParaRPr lang="en-US" sz="1200" dirty="0"/>
          </a:p>
        </p:txBody>
      </p:sp>
      <p:sp>
        <p:nvSpPr>
          <p:cNvPr id="369" name="Shape 365"/>
          <p:cNvSpPr/>
          <p:nvPr/>
        </p:nvSpPr>
        <p:spPr>
          <a:xfrm>
            <a:off x="4764024" y="4114800"/>
            <a:ext cx="2926080" cy="77724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70" name="Shape 366"/>
          <p:cNvSpPr/>
          <p:nvPr/>
        </p:nvSpPr>
        <p:spPr>
          <a:xfrm>
            <a:off x="4764024" y="4114800"/>
            <a:ext cx="1735165" cy="7772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71" name="Text 367"/>
          <p:cNvSpPr/>
          <p:nvPr/>
        </p:nvSpPr>
        <p:spPr>
          <a:xfrm>
            <a:off x="4764024" y="4236415"/>
            <a:ext cx="21396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4.6</a:t>
            </a:r>
            <a:endParaRPr lang="en-US" sz="1200" dirty="0"/>
          </a:p>
        </p:txBody>
      </p:sp>
      <p:sp>
        <p:nvSpPr>
          <p:cNvPr id="372" name="Text 368"/>
          <p:cNvSpPr/>
          <p:nvPr/>
        </p:nvSpPr>
        <p:spPr>
          <a:xfrm>
            <a:off x="7086600" y="4236415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65.4%</a:t>
            </a:r>
            <a:endParaRPr lang="en-US" sz="1200" dirty="0"/>
          </a:p>
        </p:txBody>
      </p:sp>
      <p:sp>
        <p:nvSpPr>
          <p:cNvPr id="373" name="Shape 369"/>
          <p:cNvSpPr/>
          <p:nvPr/>
        </p:nvSpPr>
        <p:spPr>
          <a:xfrm>
            <a:off x="4764024" y="4474159"/>
            <a:ext cx="2926080" cy="77724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74" name="Shape 370"/>
          <p:cNvSpPr/>
          <p:nvPr/>
        </p:nvSpPr>
        <p:spPr>
          <a:xfrm>
            <a:off x="4764024" y="4474159"/>
            <a:ext cx="1913656" cy="7772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75" name="Text 371"/>
          <p:cNvSpPr/>
          <p:nvPr/>
        </p:nvSpPr>
        <p:spPr>
          <a:xfrm>
            <a:off x="4764024" y="4595774"/>
            <a:ext cx="21396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Sonnet 4.6</a:t>
            </a:r>
            <a:endParaRPr lang="en-US" sz="1200" dirty="0"/>
          </a:p>
        </p:txBody>
      </p:sp>
      <p:sp>
        <p:nvSpPr>
          <p:cNvPr id="376" name="Text 372"/>
          <p:cNvSpPr/>
          <p:nvPr/>
        </p:nvSpPr>
        <p:spPr>
          <a:xfrm>
            <a:off x="7086600" y="4595774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59.1%</a:t>
            </a:r>
            <a:endParaRPr lang="en-US" sz="1200" dirty="0"/>
          </a:p>
        </p:txBody>
      </p:sp>
      <p:sp>
        <p:nvSpPr>
          <p:cNvPr id="377" name="Shape 373"/>
          <p:cNvSpPr/>
          <p:nvPr/>
        </p:nvSpPr>
        <p:spPr>
          <a:xfrm>
            <a:off x="4764024" y="4833518"/>
            <a:ext cx="2926080" cy="77724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78" name="Shape 374"/>
          <p:cNvSpPr/>
          <p:nvPr/>
        </p:nvSpPr>
        <p:spPr>
          <a:xfrm>
            <a:off x="4764024" y="4833518"/>
            <a:ext cx="1729313" cy="7772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79" name="Text 375"/>
          <p:cNvSpPr/>
          <p:nvPr/>
        </p:nvSpPr>
        <p:spPr>
          <a:xfrm>
            <a:off x="4764024" y="4955134"/>
            <a:ext cx="21396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Mythos Preview</a:t>
            </a:r>
            <a:endParaRPr lang="en-US" sz="1200" dirty="0"/>
          </a:p>
        </p:txBody>
      </p:sp>
      <p:sp>
        <p:nvSpPr>
          <p:cNvPr id="380" name="Text 376"/>
          <p:cNvSpPr/>
          <p:nvPr/>
        </p:nvSpPr>
        <p:spPr>
          <a:xfrm>
            <a:off x="7086600" y="4955134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82.0%</a:t>
            </a:r>
            <a:endParaRPr lang="en-US" sz="1200" dirty="0"/>
          </a:p>
        </p:txBody>
      </p:sp>
      <p:sp>
        <p:nvSpPr>
          <p:cNvPr id="381" name="Shape 377"/>
          <p:cNvSpPr/>
          <p:nvPr/>
        </p:nvSpPr>
        <p:spPr>
          <a:xfrm>
            <a:off x="4764024" y="5192878"/>
            <a:ext cx="2926080" cy="77724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82" name="Shape 378"/>
          <p:cNvSpPr/>
          <p:nvPr/>
        </p:nvSpPr>
        <p:spPr>
          <a:xfrm>
            <a:off x="4764024" y="5192878"/>
            <a:ext cx="2399386" cy="7772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83" name="Text 379"/>
          <p:cNvSpPr/>
          <p:nvPr/>
        </p:nvSpPr>
        <p:spPr>
          <a:xfrm>
            <a:off x="4764024" y="5314493"/>
            <a:ext cx="21396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4.7</a:t>
            </a:r>
            <a:endParaRPr lang="en-US" sz="1200" dirty="0"/>
          </a:p>
        </p:txBody>
      </p:sp>
      <p:sp>
        <p:nvSpPr>
          <p:cNvPr id="384" name="Text 380"/>
          <p:cNvSpPr/>
          <p:nvPr/>
        </p:nvSpPr>
        <p:spPr>
          <a:xfrm>
            <a:off x="7086600" y="5314493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69.4%</a:t>
            </a:r>
            <a:endParaRPr lang="en-US" sz="1200" dirty="0"/>
          </a:p>
        </p:txBody>
      </p:sp>
      <p:sp>
        <p:nvSpPr>
          <p:cNvPr id="385" name="Shape 381"/>
          <p:cNvSpPr/>
          <p:nvPr/>
        </p:nvSpPr>
        <p:spPr>
          <a:xfrm>
            <a:off x="4764024" y="5552237"/>
            <a:ext cx="2926080" cy="77724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86" name="Shape 382"/>
          <p:cNvSpPr/>
          <p:nvPr/>
        </p:nvSpPr>
        <p:spPr>
          <a:xfrm>
            <a:off x="4764024" y="5552237"/>
            <a:ext cx="2030700" cy="7772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87" name="Shape 383"/>
          <p:cNvSpPr/>
          <p:nvPr/>
        </p:nvSpPr>
        <p:spPr>
          <a:xfrm>
            <a:off x="8357616" y="2295144"/>
            <a:ext cx="3337560" cy="3547872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388" name="Text 384"/>
          <p:cNvSpPr/>
          <p:nvPr/>
        </p:nvSpPr>
        <p:spPr>
          <a:xfrm>
            <a:off x="8558784" y="2514600"/>
            <a:ext cx="2935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Terminal-Bench 2.1 · 2026</a:t>
            </a:r>
            <a:endParaRPr lang="en-US" sz="1700" dirty="0"/>
          </a:p>
        </p:txBody>
      </p:sp>
      <p:sp>
        <p:nvSpPr>
          <p:cNvPr id="389" name="Text 385"/>
          <p:cNvSpPr/>
          <p:nvPr/>
        </p:nvSpPr>
        <p:spPr>
          <a:xfrm>
            <a:off x="8558784" y="2916936"/>
            <a:ext cx="1371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88%</a:t>
            </a:r>
            <a:endParaRPr lang="en-US" sz="4300" dirty="0"/>
          </a:p>
        </p:txBody>
      </p:sp>
      <p:sp>
        <p:nvSpPr>
          <p:cNvPr id="390" name="Shape 386"/>
          <p:cNvSpPr/>
          <p:nvPr/>
        </p:nvSpPr>
        <p:spPr>
          <a:xfrm>
            <a:off x="10186416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91" name="Shape 387"/>
          <p:cNvSpPr/>
          <p:nvPr/>
        </p:nvSpPr>
        <p:spPr>
          <a:xfrm>
            <a:off x="10186416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92" name="Shape 388"/>
          <p:cNvSpPr/>
          <p:nvPr/>
        </p:nvSpPr>
        <p:spPr>
          <a:xfrm>
            <a:off x="10288829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93" name="Shape 389"/>
          <p:cNvSpPr/>
          <p:nvPr/>
        </p:nvSpPr>
        <p:spPr>
          <a:xfrm>
            <a:off x="10288829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94" name="Shape 390"/>
          <p:cNvSpPr/>
          <p:nvPr/>
        </p:nvSpPr>
        <p:spPr>
          <a:xfrm>
            <a:off x="10391242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95" name="Shape 391"/>
          <p:cNvSpPr/>
          <p:nvPr/>
        </p:nvSpPr>
        <p:spPr>
          <a:xfrm>
            <a:off x="10391242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96" name="Shape 392"/>
          <p:cNvSpPr/>
          <p:nvPr/>
        </p:nvSpPr>
        <p:spPr>
          <a:xfrm>
            <a:off x="10493654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97" name="Shape 393"/>
          <p:cNvSpPr/>
          <p:nvPr/>
        </p:nvSpPr>
        <p:spPr>
          <a:xfrm>
            <a:off x="10493654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98" name="Shape 394"/>
          <p:cNvSpPr/>
          <p:nvPr/>
        </p:nvSpPr>
        <p:spPr>
          <a:xfrm>
            <a:off x="10596067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399" name="Shape 395"/>
          <p:cNvSpPr/>
          <p:nvPr/>
        </p:nvSpPr>
        <p:spPr>
          <a:xfrm>
            <a:off x="10596067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00" name="Shape 396"/>
          <p:cNvSpPr/>
          <p:nvPr/>
        </p:nvSpPr>
        <p:spPr>
          <a:xfrm>
            <a:off x="10698480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01" name="Shape 397"/>
          <p:cNvSpPr/>
          <p:nvPr/>
        </p:nvSpPr>
        <p:spPr>
          <a:xfrm>
            <a:off x="10698480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02" name="Shape 398"/>
          <p:cNvSpPr/>
          <p:nvPr/>
        </p:nvSpPr>
        <p:spPr>
          <a:xfrm>
            <a:off x="10800893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03" name="Shape 399"/>
          <p:cNvSpPr/>
          <p:nvPr/>
        </p:nvSpPr>
        <p:spPr>
          <a:xfrm>
            <a:off x="10800893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04" name="Shape 400"/>
          <p:cNvSpPr/>
          <p:nvPr/>
        </p:nvSpPr>
        <p:spPr>
          <a:xfrm>
            <a:off x="10903306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05" name="Shape 401"/>
          <p:cNvSpPr/>
          <p:nvPr/>
        </p:nvSpPr>
        <p:spPr>
          <a:xfrm>
            <a:off x="10903306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06" name="Shape 402"/>
          <p:cNvSpPr/>
          <p:nvPr/>
        </p:nvSpPr>
        <p:spPr>
          <a:xfrm>
            <a:off x="11005718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07" name="Shape 403"/>
          <p:cNvSpPr/>
          <p:nvPr/>
        </p:nvSpPr>
        <p:spPr>
          <a:xfrm>
            <a:off x="11005718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08" name="Shape 404"/>
          <p:cNvSpPr/>
          <p:nvPr/>
        </p:nvSpPr>
        <p:spPr>
          <a:xfrm>
            <a:off x="11108131" y="290779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09" name="Shape 405"/>
          <p:cNvSpPr/>
          <p:nvPr/>
        </p:nvSpPr>
        <p:spPr>
          <a:xfrm>
            <a:off x="11108131" y="290779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10" name="Shape 406"/>
          <p:cNvSpPr/>
          <p:nvPr/>
        </p:nvSpPr>
        <p:spPr>
          <a:xfrm>
            <a:off x="10186416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11" name="Shape 407"/>
          <p:cNvSpPr/>
          <p:nvPr/>
        </p:nvSpPr>
        <p:spPr>
          <a:xfrm>
            <a:off x="10186416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12" name="Shape 408"/>
          <p:cNvSpPr/>
          <p:nvPr/>
        </p:nvSpPr>
        <p:spPr>
          <a:xfrm>
            <a:off x="10288829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13" name="Shape 409"/>
          <p:cNvSpPr/>
          <p:nvPr/>
        </p:nvSpPr>
        <p:spPr>
          <a:xfrm>
            <a:off x="10288829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14" name="Shape 410"/>
          <p:cNvSpPr/>
          <p:nvPr/>
        </p:nvSpPr>
        <p:spPr>
          <a:xfrm>
            <a:off x="10391242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15" name="Shape 411"/>
          <p:cNvSpPr/>
          <p:nvPr/>
        </p:nvSpPr>
        <p:spPr>
          <a:xfrm>
            <a:off x="10391242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16" name="Shape 412"/>
          <p:cNvSpPr/>
          <p:nvPr/>
        </p:nvSpPr>
        <p:spPr>
          <a:xfrm>
            <a:off x="10493654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17" name="Shape 413"/>
          <p:cNvSpPr/>
          <p:nvPr/>
        </p:nvSpPr>
        <p:spPr>
          <a:xfrm>
            <a:off x="10493654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18" name="Shape 414"/>
          <p:cNvSpPr/>
          <p:nvPr/>
        </p:nvSpPr>
        <p:spPr>
          <a:xfrm>
            <a:off x="10596067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19" name="Shape 415"/>
          <p:cNvSpPr/>
          <p:nvPr/>
        </p:nvSpPr>
        <p:spPr>
          <a:xfrm>
            <a:off x="10596067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0" name="Shape 416"/>
          <p:cNvSpPr/>
          <p:nvPr/>
        </p:nvSpPr>
        <p:spPr>
          <a:xfrm>
            <a:off x="10698480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21" name="Shape 417"/>
          <p:cNvSpPr/>
          <p:nvPr/>
        </p:nvSpPr>
        <p:spPr>
          <a:xfrm>
            <a:off x="10698480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2" name="Shape 418"/>
          <p:cNvSpPr/>
          <p:nvPr/>
        </p:nvSpPr>
        <p:spPr>
          <a:xfrm>
            <a:off x="10800893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23" name="Shape 419"/>
          <p:cNvSpPr/>
          <p:nvPr/>
        </p:nvSpPr>
        <p:spPr>
          <a:xfrm>
            <a:off x="10800893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4" name="Shape 420"/>
          <p:cNvSpPr/>
          <p:nvPr/>
        </p:nvSpPr>
        <p:spPr>
          <a:xfrm>
            <a:off x="10903306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25" name="Shape 421"/>
          <p:cNvSpPr/>
          <p:nvPr/>
        </p:nvSpPr>
        <p:spPr>
          <a:xfrm>
            <a:off x="10903306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6" name="Shape 422"/>
          <p:cNvSpPr/>
          <p:nvPr/>
        </p:nvSpPr>
        <p:spPr>
          <a:xfrm>
            <a:off x="11005718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27" name="Shape 423"/>
          <p:cNvSpPr/>
          <p:nvPr/>
        </p:nvSpPr>
        <p:spPr>
          <a:xfrm>
            <a:off x="11005718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8" name="Shape 424"/>
          <p:cNvSpPr/>
          <p:nvPr/>
        </p:nvSpPr>
        <p:spPr>
          <a:xfrm>
            <a:off x="11108131" y="3010205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29" name="Shape 425"/>
          <p:cNvSpPr/>
          <p:nvPr/>
        </p:nvSpPr>
        <p:spPr>
          <a:xfrm>
            <a:off x="11108131" y="3010205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30" name="Shape 426"/>
          <p:cNvSpPr/>
          <p:nvPr/>
        </p:nvSpPr>
        <p:spPr>
          <a:xfrm>
            <a:off x="10186416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31" name="Shape 427"/>
          <p:cNvSpPr/>
          <p:nvPr/>
        </p:nvSpPr>
        <p:spPr>
          <a:xfrm>
            <a:off x="10186416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32" name="Shape 428"/>
          <p:cNvSpPr/>
          <p:nvPr/>
        </p:nvSpPr>
        <p:spPr>
          <a:xfrm>
            <a:off x="10288829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33" name="Shape 429"/>
          <p:cNvSpPr/>
          <p:nvPr/>
        </p:nvSpPr>
        <p:spPr>
          <a:xfrm>
            <a:off x="10288829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34" name="Shape 430"/>
          <p:cNvSpPr/>
          <p:nvPr/>
        </p:nvSpPr>
        <p:spPr>
          <a:xfrm>
            <a:off x="10391242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35" name="Shape 431"/>
          <p:cNvSpPr/>
          <p:nvPr/>
        </p:nvSpPr>
        <p:spPr>
          <a:xfrm>
            <a:off x="10391242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36" name="Shape 432"/>
          <p:cNvSpPr/>
          <p:nvPr/>
        </p:nvSpPr>
        <p:spPr>
          <a:xfrm>
            <a:off x="10493654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37" name="Shape 433"/>
          <p:cNvSpPr/>
          <p:nvPr/>
        </p:nvSpPr>
        <p:spPr>
          <a:xfrm>
            <a:off x="10493654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38" name="Shape 434"/>
          <p:cNvSpPr/>
          <p:nvPr/>
        </p:nvSpPr>
        <p:spPr>
          <a:xfrm>
            <a:off x="10596067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39" name="Shape 435"/>
          <p:cNvSpPr/>
          <p:nvPr/>
        </p:nvSpPr>
        <p:spPr>
          <a:xfrm>
            <a:off x="10596067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40" name="Shape 436"/>
          <p:cNvSpPr/>
          <p:nvPr/>
        </p:nvSpPr>
        <p:spPr>
          <a:xfrm>
            <a:off x="10698480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41" name="Shape 437"/>
          <p:cNvSpPr/>
          <p:nvPr/>
        </p:nvSpPr>
        <p:spPr>
          <a:xfrm>
            <a:off x="10698480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42" name="Shape 438"/>
          <p:cNvSpPr/>
          <p:nvPr/>
        </p:nvSpPr>
        <p:spPr>
          <a:xfrm>
            <a:off x="10800893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43" name="Shape 439"/>
          <p:cNvSpPr/>
          <p:nvPr/>
        </p:nvSpPr>
        <p:spPr>
          <a:xfrm>
            <a:off x="10800893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44" name="Shape 440"/>
          <p:cNvSpPr/>
          <p:nvPr/>
        </p:nvSpPr>
        <p:spPr>
          <a:xfrm>
            <a:off x="10903306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45" name="Shape 441"/>
          <p:cNvSpPr/>
          <p:nvPr/>
        </p:nvSpPr>
        <p:spPr>
          <a:xfrm>
            <a:off x="10903306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46" name="Shape 442"/>
          <p:cNvSpPr/>
          <p:nvPr/>
        </p:nvSpPr>
        <p:spPr>
          <a:xfrm>
            <a:off x="11005718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47" name="Shape 443"/>
          <p:cNvSpPr/>
          <p:nvPr/>
        </p:nvSpPr>
        <p:spPr>
          <a:xfrm>
            <a:off x="11005718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48" name="Shape 444"/>
          <p:cNvSpPr/>
          <p:nvPr/>
        </p:nvSpPr>
        <p:spPr>
          <a:xfrm>
            <a:off x="11108131" y="3112618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49" name="Shape 445"/>
          <p:cNvSpPr/>
          <p:nvPr/>
        </p:nvSpPr>
        <p:spPr>
          <a:xfrm>
            <a:off x="11108131" y="3112618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50" name="Shape 446"/>
          <p:cNvSpPr/>
          <p:nvPr/>
        </p:nvSpPr>
        <p:spPr>
          <a:xfrm>
            <a:off x="10186416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51" name="Shape 447"/>
          <p:cNvSpPr/>
          <p:nvPr/>
        </p:nvSpPr>
        <p:spPr>
          <a:xfrm>
            <a:off x="10186416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52" name="Shape 448"/>
          <p:cNvSpPr/>
          <p:nvPr/>
        </p:nvSpPr>
        <p:spPr>
          <a:xfrm>
            <a:off x="10288829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53" name="Shape 449"/>
          <p:cNvSpPr/>
          <p:nvPr/>
        </p:nvSpPr>
        <p:spPr>
          <a:xfrm>
            <a:off x="10288829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54" name="Shape 450"/>
          <p:cNvSpPr/>
          <p:nvPr/>
        </p:nvSpPr>
        <p:spPr>
          <a:xfrm>
            <a:off x="10391242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55" name="Shape 451"/>
          <p:cNvSpPr/>
          <p:nvPr/>
        </p:nvSpPr>
        <p:spPr>
          <a:xfrm>
            <a:off x="10391242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56" name="Shape 452"/>
          <p:cNvSpPr/>
          <p:nvPr/>
        </p:nvSpPr>
        <p:spPr>
          <a:xfrm>
            <a:off x="10493654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57" name="Shape 453"/>
          <p:cNvSpPr/>
          <p:nvPr/>
        </p:nvSpPr>
        <p:spPr>
          <a:xfrm>
            <a:off x="10493654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58" name="Shape 454"/>
          <p:cNvSpPr/>
          <p:nvPr/>
        </p:nvSpPr>
        <p:spPr>
          <a:xfrm>
            <a:off x="10596067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59" name="Shape 455"/>
          <p:cNvSpPr/>
          <p:nvPr/>
        </p:nvSpPr>
        <p:spPr>
          <a:xfrm>
            <a:off x="10596067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0" name="Shape 456"/>
          <p:cNvSpPr/>
          <p:nvPr/>
        </p:nvSpPr>
        <p:spPr>
          <a:xfrm>
            <a:off x="10698480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61" name="Shape 457"/>
          <p:cNvSpPr/>
          <p:nvPr/>
        </p:nvSpPr>
        <p:spPr>
          <a:xfrm>
            <a:off x="10698480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2" name="Shape 458"/>
          <p:cNvSpPr/>
          <p:nvPr/>
        </p:nvSpPr>
        <p:spPr>
          <a:xfrm>
            <a:off x="10800893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63" name="Shape 459"/>
          <p:cNvSpPr/>
          <p:nvPr/>
        </p:nvSpPr>
        <p:spPr>
          <a:xfrm>
            <a:off x="10800893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4" name="Shape 460"/>
          <p:cNvSpPr/>
          <p:nvPr/>
        </p:nvSpPr>
        <p:spPr>
          <a:xfrm>
            <a:off x="10903306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65" name="Shape 461"/>
          <p:cNvSpPr/>
          <p:nvPr/>
        </p:nvSpPr>
        <p:spPr>
          <a:xfrm>
            <a:off x="10903306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6" name="Shape 462"/>
          <p:cNvSpPr/>
          <p:nvPr/>
        </p:nvSpPr>
        <p:spPr>
          <a:xfrm>
            <a:off x="11005718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67" name="Shape 463"/>
          <p:cNvSpPr/>
          <p:nvPr/>
        </p:nvSpPr>
        <p:spPr>
          <a:xfrm>
            <a:off x="11005718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8" name="Shape 464"/>
          <p:cNvSpPr/>
          <p:nvPr/>
        </p:nvSpPr>
        <p:spPr>
          <a:xfrm>
            <a:off x="11108131" y="3215030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69" name="Shape 465"/>
          <p:cNvSpPr/>
          <p:nvPr/>
        </p:nvSpPr>
        <p:spPr>
          <a:xfrm>
            <a:off x="11108131" y="3215030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70" name="Shape 466"/>
          <p:cNvSpPr/>
          <p:nvPr/>
        </p:nvSpPr>
        <p:spPr>
          <a:xfrm>
            <a:off x="10186416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71" name="Shape 467"/>
          <p:cNvSpPr/>
          <p:nvPr/>
        </p:nvSpPr>
        <p:spPr>
          <a:xfrm>
            <a:off x="10186416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72" name="Shape 468"/>
          <p:cNvSpPr/>
          <p:nvPr/>
        </p:nvSpPr>
        <p:spPr>
          <a:xfrm>
            <a:off x="10288829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73" name="Shape 469"/>
          <p:cNvSpPr/>
          <p:nvPr/>
        </p:nvSpPr>
        <p:spPr>
          <a:xfrm>
            <a:off x="10288829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74" name="Shape 470"/>
          <p:cNvSpPr/>
          <p:nvPr/>
        </p:nvSpPr>
        <p:spPr>
          <a:xfrm>
            <a:off x="10391242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75" name="Shape 471"/>
          <p:cNvSpPr/>
          <p:nvPr/>
        </p:nvSpPr>
        <p:spPr>
          <a:xfrm>
            <a:off x="10391242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76" name="Shape 472"/>
          <p:cNvSpPr/>
          <p:nvPr/>
        </p:nvSpPr>
        <p:spPr>
          <a:xfrm>
            <a:off x="10493654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77" name="Shape 473"/>
          <p:cNvSpPr/>
          <p:nvPr/>
        </p:nvSpPr>
        <p:spPr>
          <a:xfrm>
            <a:off x="10493654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78" name="Shape 474"/>
          <p:cNvSpPr/>
          <p:nvPr/>
        </p:nvSpPr>
        <p:spPr>
          <a:xfrm>
            <a:off x="10596067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79" name="Shape 475"/>
          <p:cNvSpPr/>
          <p:nvPr/>
        </p:nvSpPr>
        <p:spPr>
          <a:xfrm>
            <a:off x="10596067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80" name="Shape 476"/>
          <p:cNvSpPr/>
          <p:nvPr/>
        </p:nvSpPr>
        <p:spPr>
          <a:xfrm>
            <a:off x="10698480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81" name="Shape 477"/>
          <p:cNvSpPr/>
          <p:nvPr/>
        </p:nvSpPr>
        <p:spPr>
          <a:xfrm>
            <a:off x="10698480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82" name="Shape 478"/>
          <p:cNvSpPr/>
          <p:nvPr/>
        </p:nvSpPr>
        <p:spPr>
          <a:xfrm>
            <a:off x="10800893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83" name="Shape 479"/>
          <p:cNvSpPr/>
          <p:nvPr/>
        </p:nvSpPr>
        <p:spPr>
          <a:xfrm>
            <a:off x="10800893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84" name="Shape 480"/>
          <p:cNvSpPr/>
          <p:nvPr/>
        </p:nvSpPr>
        <p:spPr>
          <a:xfrm>
            <a:off x="10903306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85" name="Shape 481"/>
          <p:cNvSpPr/>
          <p:nvPr/>
        </p:nvSpPr>
        <p:spPr>
          <a:xfrm>
            <a:off x="10903306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86" name="Shape 482"/>
          <p:cNvSpPr/>
          <p:nvPr/>
        </p:nvSpPr>
        <p:spPr>
          <a:xfrm>
            <a:off x="11005718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87" name="Shape 483"/>
          <p:cNvSpPr/>
          <p:nvPr/>
        </p:nvSpPr>
        <p:spPr>
          <a:xfrm>
            <a:off x="11005718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88" name="Shape 484"/>
          <p:cNvSpPr/>
          <p:nvPr/>
        </p:nvSpPr>
        <p:spPr>
          <a:xfrm>
            <a:off x="11108131" y="3317443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89" name="Shape 485"/>
          <p:cNvSpPr/>
          <p:nvPr/>
        </p:nvSpPr>
        <p:spPr>
          <a:xfrm>
            <a:off x="11108131" y="3317443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90" name="Shape 486"/>
          <p:cNvSpPr/>
          <p:nvPr/>
        </p:nvSpPr>
        <p:spPr>
          <a:xfrm>
            <a:off x="10186416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91" name="Shape 487"/>
          <p:cNvSpPr/>
          <p:nvPr/>
        </p:nvSpPr>
        <p:spPr>
          <a:xfrm>
            <a:off x="10186416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92" name="Shape 488"/>
          <p:cNvSpPr/>
          <p:nvPr/>
        </p:nvSpPr>
        <p:spPr>
          <a:xfrm>
            <a:off x="10288829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93" name="Shape 489"/>
          <p:cNvSpPr/>
          <p:nvPr/>
        </p:nvSpPr>
        <p:spPr>
          <a:xfrm>
            <a:off x="10288829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94" name="Shape 490"/>
          <p:cNvSpPr/>
          <p:nvPr/>
        </p:nvSpPr>
        <p:spPr>
          <a:xfrm>
            <a:off x="10391242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95" name="Shape 491"/>
          <p:cNvSpPr/>
          <p:nvPr/>
        </p:nvSpPr>
        <p:spPr>
          <a:xfrm>
            <a:off x="10391242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96" name="Shape 492"/>
          <p:cNvSpPr/>
          <p:nvPr/>
        </p:nvSpPr>
        <p:spPr>
          <a:xfrm>
            <a:off x="10493654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97" name="Shape 493"/>
          <p:cNvSpPr/>
          <p:nvPr/>
        </p:nvSpPr>
        <p:spPr>
          <a:xfrm>
            <a:off x="10493654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98" name="Shape 494"/>
          <p:cNvSpPr/>
          <p:nvPr/>
        </p:nvSpPr>
        <p:spPr>
          <a:xfrm>
            <a:off x="10596067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499" name="Shape 495"/>
          <p:cNvSpPr/>
          <p:nvPr/>
        </p:nvSpPr>
        <p:spPr>
          <a:xfrm>
            <a:off x="10596067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00" name="Shape 496"/>
          <p:cNvSpPr/>
          <p:nvPr/>
        </p:nvSpPr>
        <p:spPr>
          <a:xfrm>
            <a:off x="10698480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01" name="Shape 497"/>
          <p:cNvSpPr/>
          <p:nvPr/>
        </p:nvSpPr>
        <p:spPr>
          <a:xfrm>
            <a:off x="10698480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02" name="Shape 498"/>
          <p:cNvSpPr/>
          <p:nvPr/>
        </p:nvSpPr>
        <p:spPr>
          <a:xfrm>
            <a:off x="10800893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03" name="Shape 499"/>
          <p:cNvSpPr/>
          <p:nvPr/>
        </p:nvSpPr>
        <p:spPr>
          <a:xfrm>
            <a:off x="10800893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04" name="Shape 500"/>
          <p:cNvSpPr/>
          <p:nvPr/>
        </p:nvSpPr>
        <p:spPr>
          <a:xfrm>
            <a:off x="10903306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05" name="Shape 501"/>
          <p:cNvSpPr/>
          <p:nvPr/>
        </p:nvSpPr>
        <p:spPr>
          <a:xfrm>
            <a:off x="10903306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06" name="Shape 502"/>
          <p:cNvSpPr/>
          <p:nvPr/>
        </p:nvSpPr>
        <p:spPr>
          <a:xfrm>
            <a:off x="11005718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07" name="Shape 503"/>
          <p:cNvSpPr/>
          <p:nvPr/>
        </p:nvSpPr>
        <p:spPr>
          <a:xfrm>
            <a:off x="11005718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08" name="Shape 504"/>
          <p:cNvSpPr/>
          <p:nvPr/>
        </p:nvSpPr>
        <p:spPr>
          <a:xfrm>
            <a:off x="11108131" y="3419856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09" name="Shape 505"/>
          <p:cNvSpPr/>
          <p:nvPr/>
        </p:nvSpPr>
        <p:spPr>
          <a:xfrm>
            <a:off x="11108131" y="3419856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10" name="Shape 506"/>
          <p:cNvSpPr/>
          <p:nvPr/>
        </p:nvSpPr>
        <p:spPr>
          <a:xfrm>
            <a:off x="10186416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11" name="Shape 507"/>
          <p:cNvSpPr/>
          <p:nvPr/>
        </p:nvSpPr>
        <p:spPr>
          <a:xfrm>
            <a:off x="10186416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12" name="Shape 508"/>
          <p:cNvSpPr/>
          <p:nvPr/>
        </p:nvSpPr>
        <p:spPr>
          <a:xfrm>
            <a:off x="10288829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13" name="Shape 509"/>
          <p:cNvSpPr/>
          <p:nvPr/>
        </p:nvSpPr>
        <p:spPr>
          <a:xfrm>
            <a:off x="10288829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14" name="Shape 510"/>
          <p:cNvSpPr/>
          <p:nvPr/>
        </p:nvSpPr>
        <p:spPr>
          <a:xfrm>
            <a:off x="10391242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15" name="Shape 511"/>
          <p:cNvSpPr/>
          <p:nvPr/>
        </p:nvSpPr>
        <p:spPr>
          <a:xfrm>
            <a:off x="10391242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16" name="Shape 512"/>
          <p:cNvSpPr/>
          <p:nvPr/>
        </p:nvSpPr>
        <p:spPr>
          <a:xfrm>
            <a:off x="10493654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17" name="Shape 513"/>
          <p:cNvSpPr/>
          <p:nvPr/>
        </p:nvSpPr>
        <p:spPr>
          <a:xfrm>
            <a:off x="10493654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18" name="Shape 514"/>
          <p:cNvSpPr/>
          <p:nvPr/>
        </p:nvSpPr>
        <p:spPr>
          <a:xfrm>
            <a:off x="10596067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19" name="Shape 515"/>
          <p:cNvSpPr/>
          <p:nvPr/>
        </p:nvSpPr>
        <p:spPr>
          <a:xfrm>
            <a:off x="10596067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20" name="Shape 516"/>
          <p:cNvSpPr/>
          <p:nvPr/>
        </p:nvSpPr>
        <p:spPr>
          <a:xfrm>
            <a:off x="10698480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21" name="Shape 517"/>
          <p:cNvSpPr/>
          <p:nvPr/>
        </p:nvSpPr>
        <p:spPr>
          <a:xfrm>
            <a:off x="10698480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22" name="Shape 518"/>
          <p:cNvSpPr/>
          <p:nvPr/>
        </p:nvSpPr>
        <p:spPr>
          <a:xfrm>
            <a:off x="10800893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23" name="Shape 519"/>
          <p:cNvSpPr/>
          <p:nvPr/>
        </p:nvSpPr>
        <p:spPr>
          <a:xfrm>
            <a:off x="10800893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24" name="Shape 520"/>
          <p:cNvSpPr/>
          <p:nvPr/>
        </p:nvSpPr>
        <p:spPr>
          <a:xfrm>
            <a:off x="10903306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25" name="Shape 521"/>
          <p:cNvSpPr/>
          <p:nvPr/>
        </p:nvSpPr>
        <p:spPr>
          <a:xfrm>
            <a:off x="10903306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26" name="Shape 522"/>
          <p:cNvSpPr/>
          <p:nvPr/>
        </p:nvSpPr>
        <p:spPr>
          <a:xfrm>
            <a:off x="11005718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27" name="Shape 523"/>
          <p:cNvSpPr/>
          <p:nvPr/>
        </p:nvSpPr>
        <p:spPr>
          <a:xfrm>
            <a:off x="11005718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28" name="Shape 524"/>
          <p:cNvSpPr/>
          <p:nvPr/>
        </p:nvSpPr>
        <p:spPr>
          <a:xfrm>
            <a:off x="11108131" y="3522269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29" name="Shape 525"/>
          <p:cNvSpPr/>
          <p:nvPr/>
        </p:nvSpPr>
        <p:spPr>
          <a:xfrm>
            <a:off x="11108131" y="3522269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30" name="Shape 526"/>
          <p:cNvSpPr/>
          <p:nvPr/>
        </p:nvSpPr>
        <p:spPr>
          <a:xfrm>
            <a:off x="10186416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31" name="Shape 527"/>
          <p:cNvSpPr/>
          <p:nvPr/>
        </p:nvSpPr>
        <p:spPr>
          <a:xfrm>
            <a:off x="10186416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32" name="Shape 528"/>
          <p:cNvSpPr/>
          <p:nvPr/>
        </p:nvSpPr>
        <p:spPr>
          <a:xfrm>
            <a:off x="10288829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33" name="Shape 529"/>
          <p:cNvSpPr/>
          <p:nvPr/>
        </p:nvSpPr>
        <p:spPr>
          <a:xfrm>
            <a:off x="10288829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34" name="Shape 530"/>
          <p:cNvSpPr/>
          <p:nvPr/>
        </p:nvSpPr>
        <p:spPr>
          <a:xfrm>
            <a:off x="10391242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35" name="Shape 531"/>
          <p:cNvSpPr/>
          <p:nvPr/>
        </p:nvSpPr>
        <p:spPr>
          <a:xfrm>
            <a:off x="10391242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36" name="Shape 532"/>
          <p:cNvSpPr/>
          <p:nvPr/>
        </p:nvSpPr>
        <p:spPr>
          <a:xfrm>
            <a:off x="10493654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37" name="Shape 533"/>
          <p:cNvSpPr/>
          <p:nvPr/>
        </p:nvSpPr>
        <p:spPr>
          <a:xfrm>
            <a:off x="10493654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38" name="Shape 534"/>
          <p:cNvSpPr/>
          <p:nvPr/>
        </p:nvSpPr>
        <p:spPr>
          <a:xfrm>
            <a:off x="10596067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39" name="Shape 535"/>
          <p:cNvSpPr/>
          <p:nvPr/>
        </p:nvSpPr>
        <p:spPr>
          <a:xfrm>
            <a:off x="10596067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40" name="Shape 536"/>
          <p:cNvSpPr/>
          <p:nvPr/>
        </p:nvSpPr>
        <p:spPr>
          <a:xfrm>
            <a:off x="10698480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41" name="Shape 537"/>
          <p:cNvSpPr/>
          <p:nvPr/>
        </p:nvSpPr>
        <p:spPr>
          <a:xfrm>
            <a:off x="10698480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42" name="Shape 538"/>
          <p:cNvSpPr/>
          <p:nvPr/>
        </p:nvSpPr>
        <p:spPr>
          <a:xfrm>
            <a:off x="10800893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43" name="Shape 539"/>
          <p:cNvSpPr/>
          <p:nvPr/>
        </p:nvSpPr>
        <p:spPr>
          <a:xfrm>
            <a:off x="10800893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44" name="Shape 540"/>
          <p:cNvSpPr/>
          <p:nvPr/>
        </p:nvSpPr>
        <p:spPr>
          <a:xfrm>
            <a:off x="10903306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45" name="Shape 541"/>
          <p:cNvSpPr/>
          <p:nvPr/>
        </p:nvSpPr>
        <p:spPr>
          <a:xfrm>
            <a:off x="10903306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46" name="Shape 542"/>
          <p:cNvSpPr/>
          <p:nvPr/>
        </p:nvSpPr>
        <p:spPr>
          <a:xfrm>
            <a:off x="11005718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47" name="Shape 543"/>
          <p:cNvSpPr/>
          <p:nvPr/>
        </p:nvSpPr>
        <p:spPr>
          <a:xfrm>
            <a:off x="11005718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48" name="Shape 544"/>
          <p:cNvSpPr/>
          <p:nvPr/>
        </p:nvSpPr>
        <p:spPr>
          <a:xfrm>
            <a:off x="11108131" y="3624682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49" name="Shape 545"/>
          <p:cNvSpPr/>
          <p:nvPr/>
        </p:nvSpPr>
        <p:spPr>
          <a:xfrm>
            <a:off x="11108131" y="3624682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50" name="Shape 546"/>
          <p:cNvSpPr/>
          <p:nvPr/>
        </p:nvSpPr>
        <p:spPr>
          <a:xfrm>
            <a:off x="10186416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51" name="Shape 547"/>
          <p:cNvSpPr/>
          <p:nvPr/>
        </p:nvSpPr>
        <p:spPr>
          <a:xfrm>
            <a:off x="10186416" y="3727094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52" name="Shape 548"/>
          <p:cNvSpPr/>
          <p:nvPr/>
        </p:nvSpPr>
        <p:spPr>
          <a:xfrm>
            <a:off x="10288829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53" name="Shape 549"/>
          <p:cNvSpPr/>
          <p:nvPr/>
        </p:nvSpPr>
        <p:spPr>
          <a:xfrm>
            <a:off x="10288829" y="3727094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54" name="Shape 550"/>
          <p:cNvSpPr/>
          <p:nvPr/>
        </p:nvSpPr>
        <p:spPr>
          <a:xfrm>
            <a:off x="10391242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55" name="Shape 551"/>
          <p:cNvSpPr/>
          <p:nvPr/>
        </p:nvSpPr>
        <p:spPr>
          <a:xfrm>
            <a:off x="10391242" y="3727094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56" name="Shape 552"/>
          <p:cNvSpPr/>
          <p:nvPr/>
        </p:nvSpPr>
        <p:spPr>
          <a:xfrm>
            <a:off x="10493654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57" name="Shape 553"/>
          <p:cNvSpPr/>
          <p:nvPr/>
        </p:nvSpPr>
        <p:spPr>
          <a:xfrm>
            <a:off x="10493654" y="3727094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58" name="Shape 554"/>
          <p:cNvSpPr/>
          <p:nvPr/>
        </p:nvSpPr>
        <p:spPr>
          <a:xfrm>
            <a:off x="10596067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59" name="Shape 555"/>
          <p:cNvSpPr/>
          <p:nvPr/>
        </p:nvSpPr>
        <p:spPr>
          <a:xfrm>
            <a:off x="10596067" y="3727094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60" name="Shape 556"/>
          <p:cNvSpPr/>
          <p:nvPr/>
        </p:nvSpPr>
        <p:spPr>
          <a:xfrm>
            <a:off x="10698480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61" name="Shape 557"/>
          <p:cNvSpPr/>
          <p:nvPr/>
        </p:nvSpPr>
        <p:spPr>
          <a:xfrm>
            <a:off x="10698480" y="3727094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62" name="Shape 558"/>
          <p:cNvSpPr/>
          <p:nvPr/>
        </p:nvSpPr>
        <p:spPr>
          <a:xfrm>
            <a:off x="10800893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63" name="Shape 559"/>
          <p:cNvSpPr/>
          <p:nvPr/>
        </p:nvSpPr>
        <p:spPr>
          <a:xfrm>
            <a:off x="10800893" y="3727094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64" name="Shape 560"/>
          <p:cNvSpPr/>
          <p:nvPr/>
        </p:nvSpPr>
        <p:spPr>
          <a:xfrm>
            <a:off x="10903306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65" name="Shape 561"/>
          <p:cNvSpPr/>
          <p:nvPr/>
        </p:nvSpPr>
        <p:spPr>
          <a:xfrm>
            <a:off x="10903306" y="3727094"/>
            <a:ext cx="80906" cy="8090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66" name="Shape 562"/>
          <p:cNvSpPr/>
          <p:nvPr/>
        </p:nvSpPr>
        <p:spPr>
          <a:xfrm>
            <a:off x="11005718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67" name="Shape 563"/>
          <p:cNvSpPr/>
          <p:nvPr/>
        </p:nvSpPr>
        <p:spPr>
          <a:xfrm>
            <a:off x="11108131" y="3727094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68" name="Shape 564"/>
          <p:cNvSpPr/>
          <p:nvPr/>
        </p:nvSpPr>
        <p:spPr>
          <a:xfrm>
            <a:off x="10186416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69" name="Shape 565"/>
          <p:cNvSpPr/>
          <p:nvPr/>
        </p:nvSpPr>
        <p:spPr>
          <a:xfrm>
            <a:off x="10288829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70" name="Shape 566"/>
          <p:cNvSpPr/>
          <p:nvPr/>
        </p:nvSpPr>
        <p:spPr>
          <a:xfrm>
            <a:off x="10391242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71" name="Shape 567"/>
          <p:cNvSpPr/>
          <p:nvPr/>
        </p:nvSpPr>
        <p:spPr>
          <a:xfrm>
            <a:off x="10493654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72" name="Shape 568"/>
          <p:cNvSpPr/>
          <p:nvPr/>
        </p:nvSpPr>
        <p:spPr>
          <a:xfrm>
            <a:off x="10596067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73" name="Shape 569"/>
          <p:cNvSpPr/>
          <p:nvPr/>
        </p:nvSpPr>
        <p:spPr>
          <a:xfrm>
            <a:off x="10698480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74" name="Shape 570"/>
          <p:cNvSpPr/>
          <p:nvPr/>
        </p:nvSpPr>
        <p:spPr>
          <a:xfrm>
            <a:off x="10800893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75" name="Shape 571"/>
          <p:cNvSpPr/>
          <p:nvPr/>
        </p:nvSpPr>
        <p:spPr>
          <a:xfrm>
            <a:off x="10903306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76" name="Shape 572"/>
          <p:cNvSpPr/>
          <p:nvPr/>
        </p:nvSpPr>
        <p:spPr>
          <a:xfrm>
            <a:off x="11005718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77" name="Shape 573"/>
          <p:cNvSpPr/>
          <p:nvPr/>
        </p:nvSpPr>
        <p:spPr>
          <a:xfrm>
            <a:off x="11108131" y="3829507"/>
            <a:ext cx="80906" cy="80906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78" name="Text 574"/>
          <p:cNvSpPr/>
          <p:nvPr/>
        </p:nvSpPr>
        <p:spPr>
          <a:xfrm>
            <a:off x="8558784" y="3584448"/>
            <a:ext cx="2935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所示历代最高点</a:t>
            </a:r>
            <a:endParaRPr lang="en-US" sz="1100" dirty="0"/>
          </a:p>
        </p:txBody>
      </p:sp>
      <p:graphicFrame>
        <p:nvGraphicFramePr>
          <p:cNvPr id="579" name="Chart 2" descr=""/>
          <p:cNvGraphicFramePr/>
          <p:nvPr/>
        </p:nvGraphicFramePr>
        <p:xfrm>
          <a:off x="8522208" y="3941064"/>
          <a:ext cx="3008376" cy="1591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80" name="Shape 575"/>
          <p:cNvSpPr/>
          <p:nvPr/>
        </p:nvSpPr>
        <p:spPr>
          <a:xfrm>
            <a:off x="8522208" y="3941064"/>
            <a:ext cx="3008376" cy="159105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1" name="Shape 576"/>
          <p:cNvSpPr/>
          <p:nvPr/>
        </p:nvSpPr>
        <p:spPr>
          <a:xfrm>
            <a:off x="8513064" y="3913632"/>
            <a:ext cx="3026664" cy="1719072"/>
          </a:xfrm>
          <a:prstGeom prst="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582" name="Text 577"/>
          <p:cNvSpPr/>
          <p:nvPr/>
        </p:nvSpPr>
        <p:spPr>
          <a:xfrm>
            <a:off x="8558784" y="3877056"/>
            <a:ext cx="21396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4.8</a:t>
            </a:r>
            <a:endParaRPr lang="en-US" sz="1200" dirty="0"/>
          </a:p>
        </p:txBody>
      </p:sp>
      <p:sp>
        <p:nvSpPr>
          <p:cNvPr id="583" name="Text 578"/>
          <p:cNvSpPr/>
          <p:nvPr/>
        </p:nvSpPr>
        <p:spPr>
          <a:xfrm>
            <a:off x="10881360" y="3877056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74.6%</a:t>
            </a:r>
            <a:endParaRPr lang="en-US" sz="1200" dirty="0"/>
          </a:p>
        </p:txBody>
      </p:sp>
      <p:sp>
        <p:nvSpPr>
          <p:cNvPr id="584" name="Shape 579"/>
          <p:cNvSpPr/>
          <p:nvPr/>
        </p:nvSpPr>
        <p:spPr>
          <a:xfrm>
            <a:off x="8558784" y="4114800"/>
            <a:ext cx="2926080" cy="77724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85" name="Shape 580"/>
          <p:cNvSpPr/>
          <p:nvPr/>
        </p:nvSpPr>
        <p:spPr>
          <a:xfrm>
            <a:off x="8558784" y="4114800"/>
            <a:ext cx="2182856" cy="7772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86" name="Text 581"/>
          <p:cNvSpPr/>
          <p:nvPr/>
        </p:nvSpPr>
        <p:spPr>
          <a:xfrm>
            <a:off x="8558784" y="4236415"/>
            <a:ext cx="21396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Fable 5</a:t>
            </a:r>
            <a:endParaRPr lang="en-US" sz="1200" dirty="0"/>
          </a:p>
        </p:txBody>
      </p:sp>
      <p:sp>
        <p:nvSpPr>
          <p:cNvPr id="587" name="Text 582"/>
          <p:cNvSpPr/>
          <p:nvPr/>
        </p:nvSpPr>
        <p:spPr>
          <a:xfrm>
            <a:off x="10881360" y="4236415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84.3%</a:t>
            </a:r>
            <a:endParaRPr lang="en-US" sz="1200" dirty="0"/>
          </a:p>
        </p:txBody>
      </p:sp>
      <p:sp>
        <p:nvSpPr>
          <p:cNvPr id="588" name="Shape 583"/>
          <p:cNvSpPr/>
          <p:nvPr/>
        </p:nvSpPr>
        <p:spPr>
          <a:xfrm>
            <a:off x="8558784" y="4474159"/>
            <a:ext cx="2926080" cy="77724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89" name="Shape 584"/>
          <p:cNvSpPr/>
          <p:nvPr/>
        </p:nvSpPr>
        <p:spPr>
          <a:xfrm>
            <a:off x="8558784" y="4474159"/>
            <a:ext cx="2466685" cy="7772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90" name="Text 585"/>
          <p:cNvSpPr/>
          <p:nvPr/>
        </p:nvSpPr>
        <p:spPr>
          <a:xfrm>
            <a:off x="8558784" y="4595774"/>
            <a:ext cx="21396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Mythos 5</a:t>
            </a:r>
            <a:endParaRPr lang="en-US" sz="1200" dirty="0"/>
          </a:p>
        </p:txBody>
      </p:sp>
      <p:sp>
        <p:nvSpPr>
          <p:cNvPr id="591" name="Text 586"/>
          <p:cNvSpPr/>
          <p:nvPr/>
        </p:nvSpPr>
        <p:spPr>
          <a:xfrm>
            <a:off x="10881360" y="4595774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88.0%</a:t>
            </a:r>
            <a:endParaRPr lang="en-US" sz="1200" dirty="0"/>
          </a:p>
        </p:txBody>
      </p:sp>
      <p:sp>
        <p:nvSpPr>
          <p:cNvPr id="592" name="Shape 587"/>
          <p:cNvSpPr/>
          <p:nvPr/>
        </p:nvSpPr>
        <p:spPr>
          <a:xfrm>
            <a:off x="8558784" y="4833518"/>
            <a:ext cx="2926080" cy="77724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93" name="Shape 588"/>
          <p:cNvSpPr/>
          <p:nvPr/>
        </p:nvSpPr>
        <p:spPr>
          <a:xfrm>
            <a:off x="8558784" y="4833518"/>
            <a:ext cx="2574950" cy="7772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94" name="Text 589"/>
          <p:cNvSpPr/>
          <p:nvPr/>
        </p:nvSpPr>
        <p:spPr>
          <a:xfrm>
            <a:off x="8558784" y="4955134"/>
            <a:ext cx="21396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Sonnet 5</a:t>
            </a:r>
            <a:endParaRPr lang="en-US" sz="1200" dirty="0"/>
          </a:p>
        </p:txBody>
      </p:sp>
      <p:sp>
        <p:nvSpPr>
          <p:cNvPr id="595" name="Text 590"/>
          <p:cNvSpPr/>
          <p:nvPr/>
        </p:nvSpPr>
        <p:spPr>
          <a:xfrm>
            <a:off x="10881360" y="4955134"/>
            <a:ext cx="6126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80.4%</a:t>
            </a:r>
            <a:endParaRPr lang="en-US" sz="1200" dirty="0"/>
          </a:p>
        </p:txBody>
      </p:sp>
      <p:sp>
        <p:nvSpPr>
          <p:cNvPr id="596" name="Shape 591"/>
          <p:cNvSpPr/>
          <p:nvPr/>
        </p:nvSpPr>
        <p:spPr>
          <a:xfrm>
            <a:off x="8558784" y="5192878"/>
            <a:ext cx="2926080" cy="77724"/>
          </a:xfrm>
          <a:prstGeom prst="rect">
            <a:avLst/>
          </a:prstGeom>
          <a:solidFill>
            <a:srgbClr val="DFDFD8"/>
          </a:solidFill>
          <a:ln w="12700">
            <a:solidFill>
              <a:srgbClr val="DFDFD8">
                <a:alpha val="0"/>
              </a:srgbClr>
            </a:solidFill>
            <a:prstDash val="solid"/>
          </a:ln>
        </p:spPr>
      </p:sp>
      <p:sp>
        <p:nvSpPr>
          <p:cNvPr id="597" name="Shape 592"/>
          <p:cNvSpPr/>
          <p:nvPr/>
        </p:nvSpPr>
        <p:spPr>
          <a:xfrm>
            <a:off x="8558784" y="5192878"/>
            <a:ext cx="2352568" cy="7772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换一套更有区分度的题，再看模型往前走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68096" y="2286000"/>
            <a:ext cx="66476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Terminal-Bench 4.0 · %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77240" y="2734056"/>
          <a:ext cx="6894576" cy="27614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2734056"/>
            <a:ext cx="6894576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9808" y="2660904"/>
            <a:ext cx="6949440" cy="2980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779776" y="2926080"/>
            <a:ext cx="0" cy="2587752"/>
          </a:xfrm>
          <a:prstGeom prst="line">
            <a:avLst/>
          </a:prstGeom>
          <a:noFill/>
          <a:ln w="8255">
            <a:solidFill>
              <a:srgbClr val="DFDFD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15184" y="2697480"/>
            <a:ext cx="329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823460" y="2926080"/>
            <a:ext cx="0" cy="2587752"/>
          </a:xfrm>
          <a:prstGeom prst="line">
            <a:avLst/>
          </a:prstGeom>
          <a:noFill/>
          <a:ln w="8255">
            <a:solidFill>
              <a:srgbClr val="DFDFD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58868" y="2697480"/>
            <a:ext cx="329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867144" y="2926080"/>
            <a:ext cx="0" cy="2587752"/>
          </a:xfrm>
          <a:prstGeom prst="line">
            <a:avLst/>
          </a:prstGeom>
          <a:noFill/>
          <a:ln w="8255">
            <a:solidFill>
              <a:srgbClr val="DFDFD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02552" y="2697480"/>
            <a:ext cx="32918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100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822960" y="2971800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Sonnet 5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779776" y="3003804"/>
            <a:ext cx="420999" cy="20116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004304" y="2971800"/>
            <a:ext cx="6492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10.3%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2960" y="3323844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Fable 5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779776" y="3355848"/>
            <a:ext cx="1716695" cy="20116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04304" y="3323844"/>
            <a:ext cx="6492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42.0%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22960" y="3675888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5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2779776" y="3707892"/>
            <a:ext cx="2137693" cy="20116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004304" y="3675888"/>
            <a:ext cx="6492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52.3%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822960" y="4027932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Fable 5.1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2779776" y="4059936"/>
            <a:ext cx="2280751" cy="20116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004304" y="4027932"/>
            <a:ext cx="6492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55.8%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22960" y="4379976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Mythos 5.1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2779776" y="4411980"/>
            <a:ext cx="2489207" cy="20116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004304" y="4379976"/>
            <a:ext cx="6492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60.9%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822960" y="4732020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5.5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2779776" y="4764024"/>
            <a:ext cx="2714012" cy="201168"/>
          </a:xfrm>
          <a:prstGeom prst="rect">
            <a:avLst/>
          </a:prstGeom>
          <a:solidFill>
            <a:srgbClr val="A74C32"/>
          </a:solidFill>
          <a:ln w="12700">
            <a:solidFill>
              <a:srgbClr val="A74C32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04304" y="4732020"/>
            <a:ext cx="6492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66.4%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822960" y="5084064"/>
            <a:ext cx="1764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Sonnet 5.5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2779776" y="5116068"/>
            <a:ext cx="2885682" cy="201168"/>
          </a:xfrm>
          <a:prstGeom prst="rect">
            <a:avLst/>
          </a:prstGeom>
          <a:solidFill>
            <a:srgbClr val="A74C32"/>
          </a:solidFill>
          <a:ln w="12700">
            <a:solidFill>
              <a:srgbClr val="A74C32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004304" y="5084064"/>
            <a:ext cx="64922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70.6%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8074152" y="2322576"/>
            <a:ext cx="3383280" cy="3575304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284464" y="2551176"/>
            <a:ext cx="296265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题目也在“升级”</a:t>
            </a:r>
            <a:endParaRPr lang="en-US" sz="2300" dirty="0"/>
          </a:p>
        </p:txBody>
      </p:sp>
      <p:pic>
        <p:nvPicPr>
          <p:cNvPr id="38" name="Image 0" descr="/Users/tangpeng/Documents/github/anthropic-and-its-2t-ipo/pptx/anthropic_ipo_story_v5_claude/assets/benchmark-renew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127248"/>
            <a:ext cx="2953512" cy="1033272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8247888" y="4288536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已经饱和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9308592" y="4288536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移除 / 修正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369296" y="4288536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继续加难题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8293608" y="4718304"/>
            <a:ext cx="2944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4.0 移除 2 道饱和题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最新各家族、各档模型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都能连续 5 / 5 做对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同一对手，换一套 harness，差距就不一样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5157216" cy="310896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9264" y="2468880"/>
            <a:ext cx="4681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第三方统一复测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9264" y="2871216"/>
            <a:ext cx="46817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Artificial Analysis · mini-swe-agent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66 题 × 3 次 · 平均 pass@1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950976" y="3493008"/>
          <a:ext cx="4718304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950976" y="3493008"/>
            <a:ext cx="471830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14400" y="3438144"/>
            <a:ext cx="4791456" cy="1481328"/>
          </a:xfrm>
          <a:prstGeom prst="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9264" y="352958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5.5 · max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273552" y="3913632"/>
            <a:ext cx="21031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73552" y="3913632"/>
            <a:ext cx="1253460" cy="274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9264" y="389534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59.6%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969264" y="4242816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GPT-6 Astra · max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3273552" y="4626864"/>
            <a:ext cx="21031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273552" y="4626864"/>
            <a:ext cx="1242944" cy="274320"/>
          </a:xfrm>
          <a:prstGeom prst="rect">
            <a:avLst/>
          </a:prstGeom>
          <a:solidFill>
            <a:srgbClr val="F4D77B"/>
          </a:solidFill>
          <a:ln w="12700">
            <a:solidFill>
              <a:srgbClr val="F4D77B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9264" y="4608576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59.1%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69264" y="4864608"/>
            <a:ext cx="4681728" cy="0"/>
          </a:xfrm>
          <a:prstGeom prst="line">
            <a:avLst/>
          </a:prstGeom>
          <a:noFill/>
          <a:ln w="12700">
            <a:solidFill>
              <a:srgbClr val="DFDFD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69264" y="497433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差 0.5 个百分点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6309360" y="2286000"/>
            <a:ext cx="5157216" cy="3108960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47104" y="2468880"/>
            <a:ext cx="4681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各自发布配置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6547104" y="2871216"/>
            <a:ext cx="46817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官方发布表 · Claude Code harness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5.5 xhigh · Astra 为 OpenAI 自报</a:t>
            </a:r>
            <a:endParaRPr lang="en-US" sz="12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6528816" y="3493008"/>
          <a:ext cx="4718304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hape 21"/>
          <p:cNvSpPr/>
          <p:nvPr/>
        </p:nvSpPr>
        <p:spPr>
          <a:xfrm>
            <a:off x="6528816" y="3493008"/>
            <a:ext cx="4718304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492240" y="3438144"/>
            <a:ext cx="4791456" cy="1481328"/>
          </a:xfrm>
          <a:prstGeom prst="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547104" y="352958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5.5 · xhigh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8851392" y="3913632"/>
            <a:ext cx="21031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851392" y="3913632"/>
            <a:ext cx="1396472" cy="274320"/>
          </a:xfrm>
          <a:prstGeom prst="rect">
            <a:avLst/>
          </a:prstGeom>
          <a:solidFill>
            <a:srgbClr val="A74C32"/>
          </a:solidFill>
          <a:ln w="12700">
            <a:solidFill>
              <a:srgbClr val="A74C32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547104" y="389534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66.4%</a:t>
            </a:r>
            <a:endParaRPr lang="en-US" sz="2100" dirty="0"/>
          </a:p>
        </p:txBody>
      </p:sp>
      <p:sp>
        <p:nvSpPr>
          <p:cNvPr id="31" name="Text 27"/>
          <p:cNvSpPr/>
          <p:nvPr/>
        </p:nvSpPr>
        <p:spPr>
          <a:xfrm>
            <a:off x="6547104" y="4242816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GPT-6 Astra · high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8851392" y="4626864"/>
            <a:ext cx="21031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851392" y="4626864"/>
            <a:ext cx="1217706" cy="274320"/>
          </a:xfrm>
          <a:prstGeom prst="rect">
            <a:avLst/>
          </a:prstGeom>
          <a:solidFill>
            <a:srgbClr val="F4D77B"/>
          </a:solidFill>
          <a:ln w="12700">
            <a:solidFill>
              <a:srgbClr val="F4D77B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547104" y="4608576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57.9%</a:t>
            </a:r>
            <a:endParaRPr lang="en-US" sz="2100" dirty="0"/>
          </a:p>
        </p:txBody>
      </p:sp>
      <p:sp>
        <p:nvSpPr>
          <p:cNvPr id="35" name="Shape 31"/>
          <p:cNvSpPr/>
          <p:nvPr/>
        </p:nvSpPr>
        <p:spPr>
          <a:xfrm>
            <a:off x="6547104" y="4864608"/>
            <a:ext cx="4681728" cy="0"/>
          </a:xfrm>
          <a:prstGeom prst="line">
            <a:avLst/>
          </a:prstGeom>
          <a:noFill/>
          <a:ln w="12700">
            <a:solidFill>
              <a:srgbClr val="DFDFD8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547104" y="497433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差 8.5 个百分点</a:t>
            </a:r>
            <a:endParaRPr lang="en-US" sz="1900" dirty="0"/>
          </a:p>
        </p:txBody>
      </p:sp>
      <p:sp>
        <p:nvSpPr>
          <p:cNvPr id="37" name="Text 33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领先只有半个百分点，而且换个口径就变样——它必须靠持续经营守住。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Chatbot → Copilot → Agent：从问一句，到交一件事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331720"/>
            <a:ext cx="3346704" cy="171907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505456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Chatbot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41832" y="3017520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问：这个报错怎么改？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41832" y="3447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给出解释和代码片段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41832" y="3749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我们复制、运行，再问报错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17136" y="2331720"/>
            <a:ext cx="3346704" cy="171907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27448" y="2505456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Copilot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3017520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一起改这段代码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27448" y="3447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在编辑器里建议修改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27448" y="3749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我们决定方向，接着调试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02752" y="2331720"/>
            <a:ext cx="3346704" cy="1719072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13064" y="2505456"/>
            <a:ext cx="29260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Agent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513064" y="3017520"/>
            <a:ext cx="2926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把重试问题修好并补测试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513064" y="34472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读仓库、修改、运行、再修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13064" y="37490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我们审查补丁和测试结果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58952" y="4297680"/>
            <a:ext cx="8229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Claude Code 在任务里怎么往下走 · 教学示意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68096" y="4727448"/>
            <a:ext cx="1938528" cy="66751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4809744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77824" y="51023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rg "retry" src/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0" y="5047488"/>
            <a:ext cx="164592" cy="0"/>
          </a:xfrm>
          <a:prstGeom prst="line">
            <a:avLst/>
          </a:prstGeom>
          <a:noFill/>
          <a:ln w="1905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953512" y="4727448"/>
            <a:ext cx="1938528" cy="66751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63240" y="4809744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063240" y="51023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相关调用链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928616" y="5047488"/>
            <a:ext cx="164592" cy="0"/>
          </a:xfrm>
          <a:prstGeom prst="line">
            <a:avLst/>
          </a:prstGeom>
          <a:noFill/>
          <a:ln w="1905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138928" y="4727448"/>
            <a:ext cx="1938528" cy="66751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48656" y="4809744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改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248656" y="51023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补丁 + 测试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114032" y="5047488"/>
            <a:ext cx="164592" cy="0"/>
          </a:xfrm>
          <a:prstGeom prst="line">
            <a:avLst/>
          </a:prstGeom>
          <a:noFill/>
          <a:ln w="1905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324344" y="4727448"/>
            <a:ext cx="1938528" cy="66751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34072" y="4809744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跑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434072" y="51023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pytest …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299448" y="5047488"/>
            <a:ext cx="164592" cy="0"/>
          </a:xfrm>
          <a:prstGeom prst="line">
            <a:avLst/>
          </a:prstGeom>
          <a:noFill/>
          <a:ln w="1905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509760" y="4727448"/>
            <a:ext cx="1938528" cy="667512"/>
          </a:xfrm>
          <a:prstGeom prst="roundRect">
            <a:avLst/>
          </a:prstGeom>
          <a:solidFill>
            <a:srgbClr val="FAEEE8"/>
          </a:solidFill>
          <a:ln w="12700">
            <a:solidFill>
              <a:srgbClr val="FAEEE8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19488" y="4809744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再修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619488" y="51023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失败回显 → 重试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77240" y="5605272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交回来：Git Diff、测试结果、没解决的问题。是否合并，由我们决定。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真正变便宜的，是“再试一次”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4846320" cy="2798064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9264" y="2450592"/>
            <a:ext cx="43891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一个人，一条线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69848" y="2926080"/>
            <a:ext cx="0" cy="1645920"/>
          </a:xfrm>
          <a:prstGeom prst="line">
            <a:avLst/>
          </a:prstGeom>
          <a:noFill/>
          <a:ln w="17780">
            <a:solidFill>
              <a:srgbClr val="DFDF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24128" y="2907792"/>
            <a:ext cx="100584" cy="1005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35024" y="279806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复现问题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024128" y="3236976"/>
            <a:ext cx="100584" cy="1005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5024" y="31272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读相关调用链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24128" y="3566160"/>
            <a:ext cx="100584" cy="1005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35024" y="34564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改一处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4128" y="3895344"/>
            <a:ext cx="100584" cy="1005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35024" y="37856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跑测试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024128" y="4224528"/>
            <a:ext cx="100584" cy="1005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35024" y="4114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等结果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024128" y="4553712"/>
            <a:ext cx="100584" cy="100584"/>
          </a:xfrm>
          <a:prstGeom prst="ellipse">
            <a:avLst/>
          </a:prstGeom>
          <a:solidFill>
            <a:srgbClr val="A74C32"/>
          </a:solidFill>
          <a:ln w="12700">
            <a:solidFill>
              <a:srgbClr val="A74C32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35024" y="44439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再改一次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035040" y="2286000"/>
            <a:ext cx="5440680" cy="2798064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72784" y="2450592"/>
            <a:ext cx="49377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同一段时间，多条线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272784" y="2798064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修支付重试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412480" y="2871216"/>
            <a:ext cx="1993392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0" y="2871216"/>
            <a:ext cx="1993392" cy="128016"/>
          </a:xfrm>
          <a:prstGeom prst="rect">
            <a:avLst/>
          </a:prstGeom>
          <a:solidFill>
            <a:srgbClr val="A74C32"/>
          </a:solidFill>
          <a:ln w="12700">
            <a:solidFill>
              <a:srgbClr val="A74C32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515600" y="279806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已交回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72784" y="3127248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补这块的测试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412480" y="3200400"/>
            <a:ext cx="1993392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12480" y="3200400"/>
            <a:ext cx="1495044" cy="12801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515600" y="31272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进行中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72784" y="3456432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升级依赖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412480" y="3529584"/>
            <a:ext cx="1993392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12480" y="3529584"/>
            <a:ext cx="1993392" cy="128016"/>
          </a:xfrm>
          <a:prstGeom prst="rect">
            <a:avLst/>
          </a:prstGeom>
          <a:solidFill>
            <a:srgbClr val="A74C32"/>
          </a:solidFill>
          <a:ln w="12700">
            <a:solidFill>
              <a:srgbClr val="A74C32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15600" y="34564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已交回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72784" y="37856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清 lint 告警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8412480" y="3858768"/>
            <a:ext cx="1993392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412480" y="3858768"/>
            <a:ext cx="1096366" cy="12801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515600" y="378561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重试中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272784" y="4114800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补接口文档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8412480" y="4187952"/>
            <a:ext cx="1993392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412480" y="4187952"/>
            <a:ext cx="1794053" cy="12801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515600" y="41148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进行中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272784" y="4443984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查慢查询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8412480" y="4517136"/>
            <a:ext cx="1993392" cy="1280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12480" y="4517136"/>
            <a:ext cx="697687" cy="128016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515600" y="44439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重试中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31520" y="5193792"/>
            <a:ext cx="10744200" cy="438912"/>
          </a:xfrm>
          <a:prstGeom prst="roundRect">
            <a:avLst/>
          </a:prstGeom>
          <a:solidFill>
            <a:srgbClr val="FAEEE8"/>
          </a:solidFill>
          <a:ln w="12700">
            <a:solidFill>
              <a:srgbClr val="FAEEE8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69264" y="5193792"/>
            <a:ext cx="10268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变便宜的不是“一次做对”，而是“可以多试几次、同时试几件”。</a:t>
            </a:r>
            <a:endParaRPr lang="en-US" sz="2000" dirty="0"/>
          </a:p>
        </p:txBody>
      </p:sp>
      <p:sp>
        <p:nvSpPr>
          <p:cNvPr id="48" name="Text 46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并行度取决于授权、环境和我们能审查多少——这是组织问题，不只是模型问题。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 coding model 会越来越强？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13232" y="2743200"/>
            <a:ext cx="3377184" cy="214884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944368"/>
            <a:ext cx="29565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23544" y="347472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任务与环境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23544" y="4142232"/>
            <a:ext cx="2956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仓库、依赖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需求与约束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7848" y="3813048"/>
            <a:ext cx="256032" cy="0"/>
          </a:xfrm>
          <a:prstGeom prst="line">
            <a:avLst/>
          </a:prstGeom>
          <a:noFill/>
          <a:ln w="2286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19600" y="2743200"/>
            <a:ext cx="3377184" cy="214884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9912" y="2944368"/>
            <a:ext cx="29565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29912" y="347472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执行与反馈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29912" y="4142232"/>
            <a:ext cx="2956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 → 改 → 跑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测试指出失败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824216" y="3813048"/>
            <a:ext cx="256032" cy="0"/>
          </a:xfrm>
          <a:prstGeom prst="line">
            <a:avLst/>
          </a:prstGeom>
          <a:noFill/>
          <a:ln w="2286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125968" y="2743200"/>
            <a:ext cx="3377184" cy="2148840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6280" y="2944368"/>
            <a:ext cx="29565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36280" y="347472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学习有效策略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336280" y="4142232"/>
            <a:ext cx="2956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训练更新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更善于下一批任务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5340096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任务内：执行 → 失败 → 再尝试     /     训练期：用反馈更新策略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编码不是只靠人评“像不像”，而是让机器反复检验“行不行”。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我们常在软件之间，充当“人肉胶水”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49808" y="2295144"/>
            <a:ext cx="8229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以前：手动把几套软件接起来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49808" y="2697480"/>
            <a:ext cx="2368296" cy="53035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807208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业务系统导出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154680" y="282549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45536" y="3063240"/>
            <a:ext cx="338328" cy="0"/>
          </a:xfrm>
          <a:prstGeom prst="line">
            <a:avLst/>
          </a:prstGeom>
          <a:noFill/>
          <a:ln w="1524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529584" y="2697480"/>
            <a:ext cx="2368296" cy="53035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48456" y="2807208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Excel 匹配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934456" y="282549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25312" y="3063240"/>
            <a:ext cx="338328" cy="0"/>
          </a:xfrm>
          <a:prstGeom prst="line">
            <a:avLst/>
          </a:prstGeom>
          <a:noFill/>
          <a:ln w="1524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2697480"/>
            <a:ext cx="2368296" cy="53035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8232" y="2807208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逐行核对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714232" y="2825496"/>
            <a:ext cx="310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705088" y="3063240"/>
            <a:ext cx="338328" cy="0"/>
          </a:xfrm>
          <a:prstGeom prst="line">
            <a:avLst/>
          </a:prstGeom>
          <a:noFill/>
          <a:ln w="1524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89136" y="2697480"/>
            <a:ext cx="2368296" cy="53035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08008" y="2807208"/>
            <a:ext cx="2130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复制进汇报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49808" y="3502152"/>
            <a:ext cx="10058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换一种接法：说明规则，让脚本先把差异找出来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49808" y="3895344"/>
            <a:ext cx="3794760" cy="1435608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9264" y="4069080"/>
            <a:ext cx="3355848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“按订单号比对账单和流水，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列出差额，保留原始行号。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先别改账，我来核对。”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681728" y="4608576"/>
            <a:ext cx="402336" cy="0"/>
          </a:xfrm>
          <a:prstGeom prst="line">
            <a:avLst/>
          </a:prstGeom>
          <a:noFill/>
          <a:ln w="2159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367528" y="363931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订单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04888" y="3639312"/>
            <a:ext cx="1124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应收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458200" y="3639312"/>
            <a:ext cx="1124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到账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811512" y="3639312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差额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230368" y="4206240"/>
            <a:ext cx="5724144" cy="356616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67528" y="4206240"/>
            <a:ext cx="15087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O1042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04888" y="4206240"/>
            <a:ext cx="1124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980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458200" y="4206240"/>
            <a:ext cx="1124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950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811512" y="4206240"/>
            <a:ext cx="10515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5230368" y="4636008"/>
            <a:ext cx="5724144" cy="3566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67528" y="4636008"/>
            <a:ext cx="15087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O1088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104888" y="4636008"/>
            <a:ext cx="1124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1200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458200" y="4636008"/>
            <a:ext cx="1124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1200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811512" y="4636008"/>
            <a:ext cx="10515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0368" y="5065776"/>
            <a:ext cx="5724144" cy="356616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67528" y="5065776"/>
            <a:ext cx="15087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O1101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7104888" y="5065776"/>
            <a:ext cx="1124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600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458200" y="5065776"/>
            <a:ext cx="11247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9811512" y="5065776"/>
            <a:ext cx="10515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600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差额可以交给脚本算；是漏款、退款，还是到账延迟，仍要结合业务看。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 MCP 到 Skills：接入系统，再保存做事方法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463040" y="2304288"/>
            <a:ext cx="7406640" cy="896112"/>
          </a:xfrm>
          <a:prstGeom prst="roundRect">
            <a:avLst/>
          </a:prstGeom>
          <a:solidFill>
            <a:srgbClr val="FAEEE8"/>
          </a:solidFill>
          <a:ln w="12700">
            <a:solidFill>
              <a:srgbClr val="FAEEE8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00784" y="243230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Code + Harness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00784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跑得动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950208" y="2587752"/>
            <a:ext cx="110185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05072" y="2587752"/>
            <a:ext cx="9921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组合调用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143500" y="2587752"/>
            <a:ext cx="110185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8364" y="2587752"/>
            <a:ext cx="9921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读取反馈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36792" y="2587752"/>
            <a:ext cx="110185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91656" y="2587752"/>
            <a:ext cx="9921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保存状态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530084" y="2587752"/>
            <a:ext cx="110185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4948" y="2587752"/>
            <a:ext cx="9921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继续推进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97280" y="3328416"/>
            <a:ext cx="8138160" cy="896112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35024" y="34564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Skills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5024" y="3858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做得对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584448" y="3611880"/>
            <a:ext cx="128473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39312" y="3611880"/>
            <a:ext cx="11750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960620" y="3611880"/>
            <a:ext cx="128473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15484" y="3611880"/>
            <a:ext cx="11750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脚本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36792" y="3611880"/>
            <a:ext cx="128473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91656" y="3611880"/>
            <a:ext cx="11750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模板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12964" y="3611880"/>
            <a:ext cx="128473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67828" y="3611880"/>
            <a:ext cx="11750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验收规则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" y="4352544"/>
            <a:ext cx="8869680" cy="89611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9264" y="44805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MCP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69264" y="48828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接得上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3218688" y="4636008"/>
            <a:ext cx="146761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73552" y="4636008"/>
            <a:ext cx="13578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数据库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77740" y="4636008"/>
            <a:ext cx="146761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32604" y="4636008"/>
            <a:ext cx="13578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文档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336792" y="4636008"/>
            <a:ext cx="146761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91656" y="4636008"/>
            <a:ext cx="13578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业务工具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895844" y="4636008"/>
            <a:ext cx="1467612" cy="329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50708" y="4636008"/>
            <a:ext cx="13578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代码仓库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9802368" y="2304288"/>
            <a:ext cx="1673352" cy="2944368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222992" y="2651760"/>
            <a:ext cx="0" cy="22860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10332720" y="26974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调用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往下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 flipV="1">
            <a:off x="11045952" y="2651760"/>
            <a:ext cx="0" cy="2286000"/>
          </a:xfrm>
          <a:prstGeom prst="line">
            <a:avLst/>
          </a:prstGeom>
          <a:noFill/>
          <a:ln w="25400">
            <a:solidFill>
              <a:srgbClr val="A74C3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10332720" y="435254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反馈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往上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Anthropic 不只发布模型，还在定义 Agent 如何连接、学习与执行。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它引领的潮流，已经超出 Claude 自己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423160"/>
            <a:ext cx="3337560" cy="2304288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651760"/>
            <a:ext cx="29169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10,000+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41832" y="3611880"/>
            <a:ext cx="291693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活跃公共 MCP 服务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41832" y="4187952"/>
            <a:ext cx="2916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2025.12 官方生态快照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98848" y="2423160"/>
            <a:ext cx="3346704" cy="2304288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265176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97M+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709160" y="3611880"/>
            <a:ext cx="29260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每月 SDK 下载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09160" y="41879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Python + TypeScript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302752" y="2423160"/>
            <a:ext cx="3200400" cy="2304288"/>
          </a:xfrm>
          <a:prstGeom prst="roundRect">
            <a:avLst/>
          </a:prstGeom>
          <a:solidFill>
            <a:srgbClr val="FAEEE8"/>
          </a:solidFill>
          <a:ln w="12700">
            <a:solidFill>
              <a:srgbClr val="FAEEE8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40496" y="2734056"/>
            <a:ext cx="2724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跨平台采用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40496" y="3566160"/>
            <a:ext cx="272491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ChatGPT · Gemini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Cursor · Copilot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VS Code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77240" y="5166360"/>
            <a:ext cx="106984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2025.12：捐赠给 Linux Foundation；Anthropic、Block、OpenAI 共建 AAIF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连接标准与可移植技能，让“一个 Agent”变成一整套工作生态。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更好的 Agent，不是把所有信息都塞进提示词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423160"/>
            <a:ext cx="3346704" cy="2304288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65176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150,000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41832" y="3611880"/>
            <a:ext cx="29260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全量工具定义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41832" y="41879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Token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17136" y="2423160"/>
            <a:ext cx="3346704" cy="2304288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7448" y="265176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2,000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727448" y="3611880"/>
            <a:ext cx="29260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按需加载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27448" y="41879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Token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321040" y="2423160"/>
            <a:ext cx="3163824" cy="2304288"/>
          </a:xfrm>
          <a:prstGeom prst="roundRect">
            <a:avLst/>
          </a:prstGeom>
          <a:solidFill>
            <a:srgbClr val="FAEEE8"/>
          </a:solidFill>
          <a:ln w="12700">
            <a:solidFill>
              <a:srgbClr val="FAEEE8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31352" y="2651760"/>
            <a:ext cx="2743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−98.7%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531352" y="3611880"/>
            <a:ext cx="2743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工具上下文用量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531352" y="418795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5193792"/>
            <a:ext cx="10735056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目录发现 → 读取目标接口 → 写处理脚本 → 执行 → 只返回关键结果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能力变强，还要让它在真实工作中可负担、可恢复、可复用。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Gemini 的反例：综合聪明，不自动等于工程能干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926080" y="2633472"/>
            <a:ext cx="0" cy="2670048"/>
          </a:xfrm>
          <a:prstGeom prst="line">
            <a:avLst/>
          </a:prstGeom>
          <a:noFill/>
          <a:ln w="16510">
            <a:solidFill>
              <a:srgbClr val="DFDF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0" y="2633472"/>
            <a:ext cx="0" cy="2670048"/>
          </a:xfrm>
          <a:prstGeom prst="line">
            <a:avLst/>
          </a:prstGeom>
          <a:noFill/>
          <a:ln w="16510">
            <a:solidFill>
              <a:srgbClr val="DFDF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 综合智能指数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5054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v4.3.2 · 0–60 指数分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Terminal-Bench 4.0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5054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平均 pass@1 · 0–80%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42032" y="5175504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0" y="5175504"/>
            <a:ext cx="310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26080" y="2809037"/>
            <a:ext cx="4754880" cy="559430"/>
          </a:xfrm>
          <a:prstGeom prst="line">
            <a:avLst/>
          </a:prstGeom>
          <a:noFill/>
          <a:ln w="24130">
            <a:solidFill>
              <a:srgbClr val="D977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57500" y="2740457"/>
            <a:ext cx="137160" cy="1371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12380" y="3299887"/>
            <a:ext cx="137160" cy="1371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2653589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5.5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542032" y="2653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58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 flipV="1">
            <a:off x="7808976" y="3264408"/>
            <a:ext cx="329184" cy="104059"/>
          </a:xfrm>
          <a:prstGeom prst="line">
            <a:avLst/>
          </a:prstGeom>
          <a:noFill/>
          <a:ln w="11430">
            <a:solidFill>
              <a:srgbClr val="DFDF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93024" y="31089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59.6%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2926080" y="3019349"/>
            <a:ext cx="4754880" cy="364891"/>
          </a:xfrm>
          <a:prstGeom prst="line">
            <a:avLst/>
          </a:prstGeom>
          <a:noFill/>
          <a:ln w="24130">
            <a:solidFill>
              <a:srgbClr val="F4D7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57500" y="2950769"/>
            <a:ext cx="137160" cy="137160"/>
          </a:xfrm>
          <a:prstGeom prst="ellipse">
            <a:avLst/>
          </a:prstGeom>
          <a:solidFill>
            <a:srgbClr val="F4D77B"/>
          </a:solidFill>
          <a:ln w="12700">
            <a:solidFill>
              <a:srgbClr val="F4D77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12380" y="3315660"/>
            <a:ext cx="137160" cy="137160"/>
          </a:xfrm>
          <a:prstGeom prst="ellipse">
            <a:avLst/>
          </a:prstGeom>
          <a:solidFill>
            <a:srgbClr val="F4D77B"/>
          </a:solidFill>
          <a:ln w="12700">
            <a:solidFill>
              <a:srgbClr val="F4D77B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8096" y="2863901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GPT-6 Astra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542032" y="28639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53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808976" y="3384240"/>
            <a:ext cx="329184" cy="373944"/>
          </a:xfrm>
          <a:prstGeom prst="line">
            <a:avLst/>
          </a:prstGeom>
          <a:noFill/>
          <a:ln w="11430">
            <a:solidFill>
              <a:srgbClr val="DFDF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193024" y="36027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59.1%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2926080" y="3986784"/>
            <a:ext cx="4754880" cy="1135685"/>
          </a:xfrm>
          <a:prstGeom prst="line">
            <a:avLst/>
          </a:prstGeom>
          <a:noFill/>
          <a:ln w="39370">
            <a:solidFill>
              <a:srgbClr val="738A7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57500" y="3918204"/>
            <a:ext cx="137160" cy="137160"/>
          </a:xfrm>
          <a:prstGeom prst="ellipse">
            <a:avLst/>
          </a:prstGeom>
          <a:solidFill>
            <a:srgbClr val="738A78"/>
          </a:solidFill>
          <a:ln w="12700">
            <a:solidFill>
              <a:srgbClr val="738A78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12380" y="5053889"/>
            <a:ext cx="137160" cy="137160"/>
          </a:xfrm>
          <a:prstGeom prst="ellipse">
            <a:avLst/>
          </a:prstGeom>
          <a:solidFill>
            <a:srgbClr val="738A78"/>
          </a:solidFill>
          <a:ln w="12700">
            <a:solidFill>
              <a:srgbClr val="738A78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3831336"/>
            <a:ext cx="16824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Gemini 3.1 Pro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2542032" y="3831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8193024" y="4967021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4.0%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9052560" y="2724912"/>
            <a:ext cx="2423160" cy="2706624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53728" y="294436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同一个模型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253728" y="3310128"/>
            <a:ext cx="2020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9253728" y="3803904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综合指数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253728" y="4206240"/>
            <a:ext cx="2020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4.0%</a:t>
            </a:r>
            <a:endParaRPr lang="en-US" sz="3400" dirty="0"/>
          </a:p>
        </p:txBody>
      </p:sp>
      <p:sp>
        <p:nvSpPr>
          <p:cNvPr id="38" name="Text 36"/>
          <p:cNvSpPr/>
          <p:nvPr/>
        </p:nvSpPr>
        <p:spPr>
          <a:xfrm>
            <a:off x="9253728" y="470001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终端执行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253728" y="5029200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两种能力分开了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这一轮终端评测的掉队，提醒我们：会回答，与会连续行动是两种能力。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/ 不仅仅是程序员的梦中情模 / 2.4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OpenAI 的正例：追赶不止于 GPT-5.3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942832" y="1719072"/>
            <a:ext cx="100584" cy="10058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16568" y="16276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Claude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287000" y="1719072"/>
            <a:ext cx="100584" cy="100584"/>
          </a:xfrm>
          <a:prstGeom prst="ellipse">
            <a:avLst/>
          </a:prstGeom>
          <a:solidFill>
            <a:srgbClr val="738A78"/>
          </a:solidFill>
          <a:ln w="12700">
            <a:solidFill>
              <a:srgbClr val="738A78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460736" y="162763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738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OpenAI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06240" y="2185416"/>
            <a:ext cx="0" cy="3099816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90688" y="2185416"/>
            <a:ext cx="0" cy="3099816"/>
          </a:xfrm>
          <a:prstGeom prst="line">
            <a:avLst/>
          </a:prstGeom>
          <a:noFill/>
          <a:ln w="8890">
            <a:solidFill>
              <a:srgbClr val="DFDF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130552"/>
            <a:ext cx="3438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Terminal-Bench 2.0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496312"/>
            <a:ext cx="3438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2025.11—2026.05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42416" y="4974336"/>
            <a:ext cx="2770632" cy="0"/>
          </a:xfrm>
          <a:prstGeom prst="line">
            <a:avLst/>
          </a:prstGeom>
          <a:noFill/>
          <a:ln w="7620">
            <a:solidFill>
              <a:srgbClr val="DFDF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" y="488289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42416" y="4111142"/>
            <a:ext cx="2770632" cy="0"/>
          </a:xfrm>
          <a:prstGeom prst="line">
            <a:avLst/>
          </a:prstGeom>
          <a:noFill/>
          <a:ln w="7620">
            <a:solidFill>
              <a:srgbClr val="DFDF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" y="401970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042416" y="3247949"/>
            <a:ext cx="2770632" cy="0"/>
          </a:xfrm>
          <a:prstGeom prst="line">
            <a:avLst/>
          </a:prstGeom>
          <a:noFill/>
          <a:ln w="7620">
            <a:solidFill>
              <a:srgbClr val="DFDF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656" y="3156509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42416" y="2816352"/>
            <a:ext cx="2770632" cy="0"/>
          </a:xfrm>
          <a:prstGeom prst="line">
            <a:avLst/>
          </a:prstGeom>
          <a:noFill/>
          <a:ln w="7620">
            <a:solidFill>
              <a:srgbClr val="DFDF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272491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85800" y="518464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2025.11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071116" y="5184648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2026.01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74695" y="5184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21024" y="5184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 flipV="1">
            <a:off x="1388745" y="3985979"/>
            <a:ext cx="692658" cy="207166"/>
          </a:xfrm>
          <a:prstGeom prst="line">
            <a:avLst/>
          </a:prstGeom>
          <a:noFill/>
          <a:ln w="26670">
            <a:solidFill>
              <a:srgbClr val="738A7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2081403" y="3364480"/>
            <a:ext cx="346329" cy="621499"/>
          </a:xfrm>
          <a:prstGeom prst="line">
            <a:avLst/>
          </a:prstGeom>
          <a:noFill/>
          <a:ln w="26670">
            <a:solidFill>
              <a:srgbClr val="738A7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427732" y="3364480"/>
            <a:ext cx="692658" cy="94951"/>
          </a:xfrm>
          <a:prstGeom prst="line">
            <a:avLst/>
          </a:prstGeom>
          <a:noFill/>
          <a:ln w="26670">
            <a:solidFill>
              <a:srgbClr val="738A7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3120390" y="3161629"/>
            <a:ext cx="346329" cy="297802"/>
          </a:xfrm>
          <a:prstGeom prst="line">
            <a:avLst/>
          </a:prstGeom>
          <a:noFill/>
          <a:ln w="26670">
            <a:solidFill>
              <a:srgbClr val="738A7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735074" y="3541435"/>
            <a:ext cx="1038987" cy="159691"/>
          </a:xfrm>
          <a:prstGeom prst="line">
            <a:avLst/>
          </a:prstGeom>
          <a:noFill/>
          <a:ln w="26670">
            <a:solidFill>
              <a:srgbClr val="D9775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2416" y="4736958"/>
            <a:ext cx="0" cy="72786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98525" y="4693067"/>
            <a:ext cx="87782" cy="87782"/>
          </a:xfrm>
          <a:prstGeom prst="ellipse">
            <a:avLst/>
          </a:prstGeom>
          <a:solidFill>
            <a:srgbClr val="738A78"/>
          </a:solidFill>
          <a:ln w="6350">
            <a:solidFill>
              <a:srgbClr val="738A7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25957" y="4798771"/>
            <a:ext cx="1175918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2416" y="4809744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738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GPT-5.1 · 45.5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388745" y="4193146"/>
            <a:ext cx="0" cy="214262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44854" y="4149255"/>
            <a:ext cx="87782" cy="87782"/>
          </a:xfrm>
          <a:prstGeom prst="ellipse">
            <a:avLst/>
          </a:prstGeom>
          <a:solidFill>
            <a:srgbClr val="738A78"/>
          </a:solidFill>
          <a:ln w="6350">
            <a:solidFill>
              <a:srgbClr val="738A7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7941" y="4396435"/>
            <a:ext cx="1404518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4407408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738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5.1-Max · 58.1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1735074" y="3593592"/>
            <a:ext cx="0" cy="107533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691183" y="3657234"/>
            <a:ext cx="87782" cy="87782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7941" y="3372307"/>
            <a:ext cx="1404518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3383280"/>
            <a:ext cx="1371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4.5 · 69.5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081403" y="3985979"/>
            <a:ext cx="0" cy="92245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37512" y="3942088"/>
            <a:ext cx="87782" cy="87782"/>
          </a:xfrm>
          <a:prstGeom prst="ellipse">
            <a:avLst/>
          </a:prstGeom>
          <a:solidFill>
            <a:srgbClr val="738A78"/>
          </a:solidFill>
          <a:ln w="6350">
            <a:solidFill>
              <a:srgbClr val="738A7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592885" y="4067251"/>
            <a:ext cx="1130198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09344" y="4078224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738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5.2 · 62.9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 flipV="1">
            <a:off x="2427732" y="3200400"/>
            <a:ext cx="0" cy="164080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383841" y="3320589"/>
            <a:ext cx="87782" cy="87782"/>
          </a:xfrm>
          <a:prstGeom prst="ellipse">
            <a:avLst/>
          </a:prstGeom>
          <a:solidFill>
            <a:srgbClr val="738A78"/>
          </a:solidFill>
          <a:ln w="6350">
            <a:solidFill>
              <a:srgbClr val="738A78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812341" y="2979115"/>
            <a:ext cx="1450238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828800" y="2990088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738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5.3 Codex · 77.3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774061" y="3541435"/>
            <a:ext cx="0" cy="152741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730170" y="3497543"/>
            <a:ext cx="87782" cy="87782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68957" y="3683203"/>
            <a:ext cx="1477670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185416" y="3694176"/>
            <a:ext cx="14447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4.6 · 73.2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120390" y="3459431"/>
            <a:ext cx="0" cy="755953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076499" y="3415540"/>
            <a:ext cx="87782" cy="87782"/>
          </a:xfrm>
          <a:prstGeom prst="ellipse">
            <a:avLst/>
          </a:prstGeom>
          <a:solidFill>
            <a:srgbClr val="738A78"/>
          </a:solidFill>
          <a:ln w="6350">
            <a:solidFill>
              <a:srgbClr val="738A7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882189" y="4204411"/>
            <a:ext cx="1084478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898648" y="4215384"/>
            <a:ext cx="1051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738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5.4 · 75.1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 flipV="1">
            <a:off x="3466719" y="2935224"/>
            <a:ext cx="0" cy="226405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422828" y="3117738"/>
            <a:ext cx="87782" cy="87782"/>
          </a:xfrm>
          <a:prstGeom prst="ellipse">
            <a:avLst/>
          </a:prstGeom>
          <a:solidFill>
            <a:srgbClr val="738A78"/>
          </a:solidFill>
          <a:ln w="6350">
            <a:solidFill>
              <a:srgbClr val="738A7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55341" y="2713939"/>
            <a:ext cx="1130198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971800" y="2724912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738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5.5 · 82.0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13048" y="3230685"/>
            <a:ext cx="0" cy="710379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769157" y="3186794"/>
            <a:ext cx="87782" cy="87782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836469" y="3930091"/>
            <a:ext cx="1386230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852928" y="3941064"/>
            <a:ext cx="1353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Sonnet 5 · 80.4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4297680" y="2130552"/>
            <a:ext cx="3438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Terminal-Bench 2.1</a:t>
            </a:r>
            <a:endParaRPr lang="en-US" sz="1800" dirty="0"/>
          </a:p>
        </p:txBody>
      </p:sp>
      <p:sp>
        <p:nvSpPr>
          <p:cNvPr id="67" name="Text 65"/>
          <p:cNvSpPr/>
          <p:nvPr/>
        </p:nvSpPr>
        <p:spPr>
          <a:xfrm>
            <a:off x="4297680" y="2496312"/>
            <a:ext cx="3438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2026.04—09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626864" y="4974336"/>
            <a:ext cx="2770632" cy="0"/>
          </a:xfrm>
          <a:prstGeom prst="line">
            <a:avLst/>
          </a:prstGeom>
          <a:noFill/>
          <a:ln w="7620">
            <a:solidFill>
              <a:srgbClr val="DFDFD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61104" y="488289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70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626864" y="4111142"/>
            <a:ext cx="2770632" cy="0"/>
          </a:xfrm>
          <a:prstGeom prst="line">
            <a:avLst/>
          </a:prstGeom>
          <a:noFill/>
          <a:ln w="7620">
            <a:solidFill>
              <a:srgbClr val="DFDFD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61104" y="401970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80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4626864" y="3247949"/>
            <a:ext cx="2770632" cy="0"/>
          </a:xfrm>
          <a:prstGeom prst="line">
            <a:avLst/>
          </a:prstGeom>
          <a:noFill/>
          <a:ln w="7620">
            <a:solidFill>
              <a:srgbClr val="DFDFD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61104" y="3156509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90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4626864" y="2816352"/>
            <a:ext cx="2770632" cy="0"/>
          </a:xfrm>
          <a:prstGeom prst="line">
            <a:avLst/>
          </a:prstGeom>
          <a:noFill/>
          <a:ln w="7620">
            <a:solidFill>
              <a:srgbClr val="DFDFD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261104" y="272491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95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4434840" y="5184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266030" y="5184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097219" y="5184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6928409" y="5184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09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 flipV="1">
            <a:off x="4626864" y="3593226"/>
            <a:ext cx="554126" cy="984041"/>
          </a:xfrm>
          <a:prstGeom prst="line">
            <a:avLst/>
          </a:prstGeom>
          <a:noFill/>
          <a:ln w="26670">
            <a:solidFill>
              <a:srgbClr val="D97757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5180990" y="3325636"/>
            <a:ext cx="1108253" cy="267590"/>
          </a:xfrm>
          <a:prstGeom prst="line">
            <a:avLst/>
          </a:prstGeom>
          <a:noFill/>
          <a:ln w="26670">
            <a:solidFill>
              <a:srgbClr val="D97757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289243" y="3325636"/>
            <a:ext cx="1108253" cy="129479"/>
          </a:xfrm>
          <a:prstGeom prst="line">
            <a:avLst/>
          </a:prstGeom>
          <a:noFill/>
          <a:ln w="26670">
            <a:solidFill>
              <a:srgbClr val="D97757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5735117" y="3386060"/>
            <a:ext cx="1108253" cy="34528"/>
          </a:xfrm>
          <a:prstGeom prst="line">
            <a:avLst/>
          </a:prstGeom>
          <a:noFill/>
          <a:ln w="26670">
            <a:solidFill>
              <a:srgbClr val="738A7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626864" y="4577267"/>
            <a:ext cx="9144" cy="214189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582973" y="4533376"/>
            <a:ext cx="87782" cy="87782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619549" y="4780483"/>
            <a:ext cx="1477670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636008" y="4791456"/>
            <a:ext cx="14447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4.8 · 74.6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5180990" y="3593226"/>
            <a:ext cx="0" cy="238110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137099" y="3549335"/>
            <a:ext cx="87782" cy="87782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555541" y="3820363"/>
            <a:ext cx="1331366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572000" y="3831336"/>
            <a:ext cx="12984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Fable 5 · 86.0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 flipV="1">
            <a:off x="5735117" y="3200400"/>
            <a:ext cx="0" cy="220188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691226" y="3376696"/>
            <a:ext cx="87782" cy="87782"/>
          </a:xfrm>
          <a:prstGeom prst="ellipse">
            <a:avLst/>
          </a:prstGeom>
          <a:solidFill>
            <a:srgbClr val="738A78"/>
          </a:solidFill>
          <a:ln w="6350">
            <a:solidFill>
              <a:srgbClr val="738A7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241341" y="2979115"/>
            <a:ext cx="1386230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257800" y="2990088"/>
            <a:ext cx="13533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738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5.6 Sol · 88.0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 flipV="1">
            <a:off x="6289243" y="2935224"/>
            <a:ext cx="0" cy="390412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245352" y="3281745"/>
            <a:ext cx="87782" cy="87782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799125" y="2713939"/>
            <a:ext cx="1294790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815584" y="2724912"/>
            <a:ext cx="1261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5 · 89.1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6843370" y="3386060"/>
            <a:ext cx="0" cy="481852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799478" y="3342169"/>
            <a:ext cx="87782" cy="87782"/>
          </a:xfrm>
          <a:prstGeom prst="ellipse">
            <a:avLst/>
          </a:prstGeom>
          <a:solidFill>
            <a:srgbClr val="738A78"/>
          </a:solidFill>
          <a:ln w="6350">
            <a:solidFill>
              <a:srgbClr val="738A7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265469" y="3856939"/>
            <a:ext cx="1367942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281928" y="3867912"/>
            <a:ext cx="1335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738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 Astra · 88.4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 flipV="1">
            <a:off x="7397496" y="3291840"/>
            <a:ext cx="0" cy="163275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353605" y="3411224"/>
            <a:ext cx="87782" cy="87782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603797" y="3070555"/>
            <a:ext cx="1331366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6620256" y="3081528"/>
            <a:ext cx="12984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5.5 · 87.6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7882128" y="2130552"/>
            <a:ext cx="3621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Terminal-Bench 4.0</a:t>
            </a:r>
            <a:endParaRPr lang="en-US" sz="1800" dirty="0"/>
          </a:p>
        </p:txBody>
      </p:sp>
      <p:sp>
        <p:nvSpPr>
          <p:cNvPr id="109" name="Text 107"/>
          <p:cNvSpPr/>
          <p:nvPr/>
        </p:nvSpPr>
        <p:spPr>
          <a:xfrm>
            <a:off x="7882128" y="2496312"/>
            <a:ext cx="3621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2026.05—09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8211312" y="4974336"/>
            <a:ext cx="2953512" cy="0"/>
          </a:xfrm>
          <a:prstGeom prst="line">
            <a:avLst/>
          </a:prstGeom>
          <a:noFill/>
          <a:ln w="7620">
            <a:solidFill>
              <a:srgbClr val="DFDFD8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845552" y="488289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8211312" y="4434840"/>
            <a:ext cx="2953512" cy="0"/>
          </a:xfrm>
          <a:prstGeom prst="line">
            <a:avLst/>
          </a:prstGeom>
          <a:noFill/>
          <a:ln w="7620">
            <a:solidFill>
              <a:srgbClr val="DFDFD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7845552" y="43434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8211312" y="3895344"/>
            <a:ext cx="2953512" cy="0"/>
          </a:xfrm>
          <a:prstGeom prst="line">
            <a:avLst/>
          </a:prstGeom>
          <a:noFill/>
          <a:ln w="7620">
            <a:solidFill>
              <a:srgbClr val="DFDFD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7845552" y="380390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40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8211312" y="3355848"/>
            <a:ext cx="2953512" cy="0"/>
          </a:xfrm>
          <a:prstGeom prst="line">
            <a:avLst/>
          </a:prstGeom>
          <a:noFill/>
          <a:ln w="7620">
            <a:solidFill>
              <a:srgbClr val="DFDFD8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7845552" y="326440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8211312" y="2816352"/>
            <a:ext cx="2953512" cy="0"/>
          </a:xfrm>
          <a:prstGeom prst="line">
            <a:avLst/>
          </a:prstGeom>
          <a:noFill/>
          <a:ln w="7620">
            <a:solidFill>
              <a:srgbClr val="DFDFD8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845552" y="272491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80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8019288" y="5184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</a:t>
            </a:r>
            <a:endParaRPr lang="en-US" sz="900" dirty="0"/>
          </a:p>
        </p:txBody>
      </p:sp>
      <p:sp>
        <p:nvSpPr>
          <p:cNvPr id="121" name="Text 119"/>
          <p:cNvSpPr/>
          <p:nvPr/>
        </p:nvSpPr>
        <p:spPr>
          <a:xfrm>
            <a:off x="8675624" y="5184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</a:t>
            </a:r>
            <a:endParaRPr lang="en-US" sz="900" dirty="0"/>
          </a:p>
        </p:txBody>
      </p:sp>
      <p:sp>
        <p:nvSpPr>
          <p:cNvPr id="122" name="Text 120"/>
          <p:cNvSpPr/>
          <p:nvPr/>
        </p:nvSpPr>
        <p:spPr>
          <a:xfrm>
            <a:off x="9003792" y="5184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08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10152380" y="518464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09</a:t>
            </a:r>
            <a:endParaRPr lang="en-US" sz="900" dirty="0"/>
          </a:p>
        </p:txBody>
      </p:sp>
      <p:sp>
        <p:nvSpPr>
          <p:cNvPr id="124" name="Shape 122"/>
          <p:cNvSpPr/>
          <p:nvPr/>
        </p:nvSpPr>
        <p:spPr>
          <a:xfrm flipV="1">
            <a:off x="8867648" y="3331571"/>
            <a:ext cx="656336" cy="231983"/>
          </a:xfrm>
          <a:prstGeom prst="line">
            <a:avLst/>
          </a:prstGeom>
          <a:noFill/>
          <a:ln w="26670">
            <a:solidFill>
              <a:srgbClr val="D97757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9523984" y="3183209"/>
            <a:ext cx="656336" cy="148361"/>
          </a:xfrm>
          <a:prstGeom prst="line">
            <a:avLst/>
          </a:prstGeom>
          <a:noFill/>
          <a:ln w="26670">
            <a:solidFill>
              <a:srgbClr val="D97757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10180320" y="3069915"/>
            <a:ext cx="656336" cy="113294"/>
          </a:xfrm>
          <a:prstGeom prst="line">
            <a:avLst/>
          </a:prstGeom>
          <a:noFill/>
          <a:ln w="26670">
            <a:solidFill>
              <a:srgbClr val="D97757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8539480" y="3404403"/>
            <a:ext cx="1312672" cy="563773"/>
          </a:xfrm>
          <a:prstGeom prst="line">
            <a:avLst/>
          </a:prstGeom>
          <a:noFill/>
          <a:ln w="26670">
            <a:solidFill>
              <a:srgbClr val="738A78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10508488" y="3488025"/>
            <a:ext cx="656336" cy="288630"/>
          </a:xfrm>
          <a:prstGeom prst="line">
            <a:avLst/>
          </a:prstGeom>
          <a:noFill/>
          <a:ln w="21590">
            <a:solidFill>
              <a:srgbClr val="738A78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>
            <a:off x="8211312" y="4696496"/>
            <a:ext cx="0" cy="241264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8167421" y="4652604"/>
            <a:ext cx="87782" cy="87782"/>
          </a:xfrm>
          <a:prstGeom prst="rect">
            <a:avLst/>
          </a:prstGeom>
          <a:solidFill>
            <a:srgbClr val="FFFFFF"/>
          </a:solidFill>
          <a:ln w="17145">
            <a:solidFill>
              <a:srgbClr val="D97757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8112557" y="4926787"/>
            <a:ext cx="1633118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8129016" y="4937760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Sonnet 5 基线 · 10.3</a:t>
            </a:r>
            <a:endParaRPr lang="en-US" sz="1000" dirty="0"/>
          </a:p>
        </p:txBody>
      </p:sp>
      <p:sp>
        <p:nvSpPr>
          <p:cNvPr id="133" name="Shape 131"/>
          <p:cNvSpPr/>
          <p:nvPr/>
        </p:nvSpPr>
        <p:spPr>
          <a:xfrm>
            <a:off x="8539480" y="3968176"/>
            <a:ext cx="0" cy="302072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8495589" y="3924285"/>
            <a:ext cx="87782" cy="87782"/>
          </a:xfrm>
          <a:prstGeom prst="ellipse">
            <a:avLst/>
          </a:prstGeom>
          <a:solidFill>
            <a:srgbClr val="FFFFFF"/>
          </a:solidFill>
          <a:ln w="17145">
            <a:solidFill>
              <a:srgbClr val="738A78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213141" y="4259275"/>
            <a:ext cx="1651406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229600" y="4270248"/>
            <a:ext cx="161848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738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5.6 Sol 基线 · 37.3</a:t>
            </a:r>
            <a:endParaRPr lang="en-US" sz="1000" dirty="0"/>
          </a:p>
        </p:txBody>
      </p:sp>
      <p:sp>
        <p:nvSpPr>
          <p:cNvPr id="137" name="Shape 135"/>
          <p:cNvSpPr/>
          <p:nvPr/>
        </p:nvSpPr>
        <p:spPr>
          <a:xfrm>
            <a:off x="8867648" y="3563554"/>
            <a:ext cx="0" cy="130622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8823757" y="3519663"/>
            <a:ext cx="87782" cy="87782"/>
          </a:xfrm>
          <a:prstGeom prst="rect">
            <a:avLst/>
          </a:prstGeom>
          <a:solidFill>
            <a:srgbClr val="FFFFFF"/>
          </a:solidFill>
          <a:ln w="17145">
            <a:solidFill>
              <a:srgbClr val="D97757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103413" y="3683203"/>
            <a:ext cx="1642262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119872" y="3694176"/>
            <a:ext cx="160934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5 基线 · 52.3</a:t>
            </a:r>
            <a:endParaRPr lang="en-US" sz="1000" dirty="0"/>
          </a:p>
        </p:txBody>
      </p:sp>
      <p:sp>
        <p:nvSpPr>
          <p:cNvPr id="141" name="Shape 139"/>
          <p:cNvSpPr/>
          <p:nvPr/>
        </p:nvSpPr>
        <p:spPr>
          <a:xfrm flipV="1">
            <a:off x="9195816" y="3090672"/>
            <a:ext cx="0" cy="321823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151925" y="3368604"/>
            <a:ext cx="87782" cy="87782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240573" y="2869387"/>
            <a:ext cx="1477670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257032" y="2880360"/>
            <a:ext cx="14447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Fable 5.1 · 57.9</a:t>
            </a:r>
            <a:endParaRPr lang="en-US" sz="1000" dirty="0"/>
          </a:p>
        </p:txBody>
      </p:sp>
      <p:sp>
        <p:nvSpPr>
          <p:cNvPr id="145" name="Shape 143"/>
          <p:cNvSpPr/>
          <p:nvPr/>
        </p:nvSpPr>
        <p:spPr>
          <a:xfrm flipV="1">
            <a:off x="9523984" y="2880360"/>
            <a:ext cx="0" cy="451211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9480093" y="3287679"/>
            <a:ext cx="87782" cy="87782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8944661" y="2659075"/>
            <a:ext cx="1495958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961120" y="2670048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Mythos 5.1 · 60.9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9852152" y="3404403"/>
            <a:ext cx="0" cy="518373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08261" y="3360511"/>
            <a:ext cx="87782" cy="87782"/>
          </a:xfrm>
          <a:prstGeom prst="ellipse">
            <a:avLst/>
          </a:prstGeom>
          <a:solidFill>
            <a:srgbClr val="738A78"/>
          </a:solidFill>
          <a:ln w="6350">
            <a:solidFill>
              <a:srgbClr val="738A78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310421" y="3911803"/>
            <a:ext cx="1221638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9326880" y="3922776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738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 Astra · 58.2</a:t>
            </a:r>
            <a:endParaRPr lang="en-US" sz="1000" dirty="0"/>
          </a:p>
        </p:txBody>
      </p:sp>
      <p:sp>
        <p:nvSpPr>
          <p:cNvPr id="153" name="Shape 151"/>
          <p:cNvSpPr/>
          <p:nvPr/>
        </p:nvSpPr>
        <p:spPr>
          <a:xfrm>
            <a:off x="10180320" y="3183209"/>
            <a:ext cx="0" cy="309799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10136429" y="3139318"/>
            <a:ext cx="87782" cy="87782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840773" y="3482035"/>
            <a:ext cx="1239926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9857232" y="3493008"/>
            <a:ext cx="12070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Opus 5.5 · 66.4</a:t>
            </a:r>
            <a:endParaRPr lang="en-US" sz="1000" dirty="0"/>
          </a:p>
        </p:txBody>
      </p:sp>
      <p:sp>
        <p:nvSpPr>
          <p:cNvPr id="157" name="Shape 155"/>
          <p:cNvSpPr/>
          <p:nvPr/>
        </p:nvSpPr>
        <p:spPr>
          <a:xfrm>
            <a:off x="10508488" y="3776655"/>
            <a:ext cx="0" cy="777057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10464597" y="3732764"/>
            <a:ext cx="87782" cy="87782"/>
          </a:xfrm>
          <a:prstGeom prst="ellipse">
            <a:avLst/>
          </a:prstGeom>
          <a:solidFill>
            <a:srgbClr val="738A78"/>
          </a:solidFill>
          <a:ln w="6350">
            <a:solidFill>
              <a:srgbClr val="738A78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0078517" y="4542739"/>
            <a:ext cx="1313078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10094976" y="4553712"/>
            <a:ext cx="12801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738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 Sol · 44.4</a:t>
            </a:r>
            <a:endParaRPr lang="en-US" sz="1000" dirty="0"/>
          </a:p>
        </p:txBody>
      </p:sp>
      <p:sp>
        <p:nvSpPr>
          <p:cNvPr id="161" name="Shape 159"/>
          <p:cNvSpPr/>
          <p:nvPr/>
        </p:nvSpPr>
        <p:spPr>
          <a:xfrm flipV="1">
            <a:off x="10836656" y="2834640"/>
            <a:ext cx="0" cy="235275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10792765" y="3026024"/>
            <a:ext cx="87782" cy="87782"/>
          </a:xfrm>
          <a:prstGeom prst="rect">
            <a:avLst/>
          </a:prstGeom>
          <a:solidFill>
            <a:srgbClr val="D97757"/>
          </a:solidFill>
          <a:ln w="6350">
            <a:solidFill>
              <a:srgbClr val="D97757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10179101" y="2613355"/>
            <a:ext cx="1523390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0195560" y="2624328"/>
            <a:ext cx="14904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Sonnet 5.5 · 70.6</a:t>
            </a:r>
            <a:endParaRPr lang="en-US" sz="1000" dirty="0"/>
          </a:p>
        </p:txBody>
      </p:sp>
      <p:sp>
        <p:nvSpPr>
          <p:cNvPr id="165" name="Shape 163"/>
          <p:cNvSpPr/>
          <p:nvPr/>
        </p:nvSpPr>
        <p:spPr>
          <a:xfrm>
            <a:off x="11164824" y="3488025"/>
            <a:ext cx="0" cy="718215"/>
          </a:xfrm>
          <a:prstGeom prst="line">
            <a:avLst/>
          </a:prstGeom>
          <a:noFill/>
          <a:ln w="6985">
            <a:solidFill>
              <a:srgbClr val="DFDFD8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1120933" y="3444133"/>
            <a:ext cx="87782" cy="87782"/>
          </a:xfrm>
          <a:prstGeom prst="ellipse">
            <a:avLst/>
          </a:prstGeom>
          <a:solidFill>
            <a:srgbClr val="738A78"/>
          </a:solidFill>
          <a:ln w="6350">
            <a:solidFill>
              <a:srgbClr val="738A78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10151669" y="4195267"/>
            <a:ext cx="1358798" cy="23225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0168128" y="4206240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738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6.1 Sol · 55.1</a:t>
            </a:r>
            <a:endParaRPr lang="en-US" sz="1000" dirty="0"/>
          </a:p>
        </p:txBody>
      </p:sp>
      <p:sp>
        <p:nvSpPr>
          <p:cNvPr id="169" name="Text 167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2.x 的接近不是终点：评测升级后，追赶仍在继续。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86384" y="129844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PART 03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68096" y="178308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编码模型与 AGI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786384" y="3621024"/>
            <a:ext cx="10643616" cy="0"/>
          </a:xfrm>
          <a:prstGeom prst="line">
            <a:avLst/>
          </a:prstGeom>
          <a:noFill/>
          <a:ln w="15240">
            <a:solidFill>
              <a:srgbClr val="DFDF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096" y="3931920"/>
            <a:ext cx="3218688" cy="1298448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4133088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3.1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4526280"/>
            <a:ext cx="2779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AGI 指的是什么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52544" y="3931920"/>
            <a:ext cx="3218688" cy="1298448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4133088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3.2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4526280"/>
            <a:ext cx="2779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为什么是编码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936992" y="3931920"/>
            <a:ext cx="3218688" cy="1298448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56448" y="4133088"/>
            <a:ext cx="2779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3.3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56448" y="4526280"/>
            <a:ext cx="27797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还有多远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/ 编码模型与 AGI / 3.1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什么是 AGI？本场只用三条标准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346704" cy="310896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9264" y="2487168"/>
            <a:ext cx="2871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9264" y="2798064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持续学习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969264" y="336499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做完一件事，经验能留下来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69264" y="4041648"/>
            <a:ext cx="2871216" cy="0"/>
          </a:xfrm>
          <a:prstGeom prst="line">
            <a:avLst/>
          </a:prstGeom>
          <a:noFill/>
          <a:ln w="12700">
            <a:solidFill>
              <a:srgbClr val="DFDF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4133088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怎么判断有没有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9264" y="4407408"/>
            <a:ext cx="28712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下一次遇到同类问题，是从零开始，还是接着上次？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17136" y="2286000"/>
            <a:ext cx="3346704" cy="3108960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487168"/>
            <a:ext cx="2871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2798064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自主使用工具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4754880" y="336499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没见过的接口，能自己接上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754880" y="4041648"/>
            <a:ext cx="2871216" cy="0"/>
          </a:xfrm>
          <a:prstGeom prst="line">
            <a:avLst/>
          </a:prstGeom>
          <a:noFill/>
          <a:ln w="12700">
            <a:solidFill>
              <a:srgbClr val="DFDF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4133088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怎么判断有没有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4407408"/>
            <a:ext cx="28712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缺一段工具时，它是停下来问，还是自己写一段？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302752" y="2286000"/>
            <a:ext cx="3346704" cy="3108960"/>
          </a:xfrm>
          <a:prstGeom prst="roundRect">
            <a:avLst/>
          </a:prstGeom>
          <a:solidFill>
            <a:srgbClr val="FAEEE8"/>
          </a:solidFill>
          <a:ln w="12700">
            <a:solidFill>
              <a:srgbClr val="FAEEE8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40496" y="2487168"/>
            <a:ext cx="287121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540496" y="2798064"/>
            <a:ext cx="2871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自我迭代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8540496" y="336499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能改进“产生它自己”的那套工作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540496" y="4041648"/>
            <a:ext cx="2871216" cy="0"/>
          </a:xfrm>
          <a:prstGeom prst="line">
            <a:avLst/>
          </a:prstGeom>
          <a:noFill/>
          <a:ln w="12700">
            <a:solidFill>
              <a:srgbClr val="DFDF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40496" y="4133088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怎么判断有没有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540496" y="4407408"/>
            <a:ext cx="28712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它能不能让下一代比自己更强？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三条都不是“更会答题”，而是“能不能独立地、持续地把事情做完”。</a:t>
            </a:r>
            <a:endParaRPr lang="en-US" sz="2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/ 编码模型与 AGI / 3.1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从给建议，到接下一段工作：自治的滑杆在右移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097280" y="2825496"/>
            <a:ext cx="9820656" cy="0"/>
          </a:xfrm>
          <a:prstGeom prst="line">
            <a:avLst/>
          </a:prstGeom>
          <a:noFill/>
          <a:ln w="63500">
            <a:solidFill>
              <a:srgbClr val="DFDF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825496"/>
            <a:ext cx="6537960" cy="0"/>
          </a:xfrm>
          <a:prstGeom prst="line">
            <a:avLst/>
          </a:prstGeom>
          <a:noFill/>
          <a:ln w="63500">
            <a:solidFill>
              <a:srgbClr val="D977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" y="2651760"/>
            <a:ext cx="347472" cy="347472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268833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" y="3246120"/>
            <a:ext cx="2368296" cy="139903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" y="3438144"/>
            <a:ext cx="2020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建议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23544" y="3931920"/>
            <a:ext cx="2020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给我一个对账办法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23544" y="4379976"/>
            <a:ext cx="2020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我们照着做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721608" y="2651760"/>
            <a:ext cx="347472" cy="347472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21608" y="268833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47872" y="3246120"/>
            <a:ext cx="2368296" cy="139903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21608" y="3438144"/>
            <a:ext cx="2020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协作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3721608" y="3931920"/>
            <a:ext cx="2020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帮我写公式和脚本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721608" y="4379976"/>
            <a:ext cx="2020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我们边做边核对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19672" y="2651760"/>
            <a:ext cx="347472" cy="347472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9672" y="268833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45936" y="3246120"/>
            <a:ext cx="2368296" cy="1399032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19672" y="3438144"/>
            <a:ext cx="2020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任务委托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519672" y="3931920"/>
            <a:ext cx="2020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比对文件，列出异常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4379976"/>
            <a:ext cx="2020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我们验收这一批结果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17736" y="2651760"/>
            <a:ext cx="347472" cy="347472"/>
          </a:xfrm>
          <a:prstGeom prst="ellipse">
            <a:avLst/>
          </a:prstGeom>
          <a:solidFill>
            <a:srgbClr val="738A78"/>
          </a:solidFill>
          <a:ln w="12700">
            <a:solidFill>
              <a:srgbClr val="738A78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17736" y="268833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0" y="3246120"/>
            <a:ext cx="2368296" cy="139903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17736" y="3438144"/>
            <a:ext cx="2020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持续运行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9317736" y="3931920"/>
            <a:ext cx="2020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每天跑，异常再找我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317736" y="4379976"/>
            <a:ext cx="2020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配好监控、权限和恢复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77240" y="5010912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每往右一档，要多配的不是模型，而是这些：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758952" y="5495544"/>
            <a:ext cx="3346704" cy="557784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3544" y="5559552"/>
            <a:ext cx="1005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授权范围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1984248" y="5559552"/>
            <a:ext cx="197510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能碰哪些系统、哪些不能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35424" y="5495544"/>
            <a:ext cx="3346704" cy="557784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0016" y="5559552"/>
            <a:ext cx="1005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可恢复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760720" y="5559552"/>
            <a:ext cx="197510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出错了怎么回退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311896" y="5495544"/>
            <a:ext cx="3346704" cy="557784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76488" y="5559552"/>
            <a:ext cx="10058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审查量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9537192" y="5559552"/>
            <a:ext cx="197510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谁来验收这一批结果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/ 编码模型与 AGI / 3.2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代码既是数字义肢，也是造工具的“石斧”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331720"/>
            <a:ext cx="5175504" cy="2404872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2331720"/>
            <a:ext cx="5175504" cy="2404872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78608"/>
            <a:ext cx="4718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数字义肢 · 用已有的工具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37960" y="2578608"/>
            <a:ext cx="47183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石斧 · 为当前任务造一个工具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78408" y="3072384"/>
            <a:ext cx="786384" cy="786384"/>
          </a:xfrm>
          <a:prstGeom prst="ellipse">
            <a:avLst/>
          </a:prstGeom>
          <a:solidFill>
            <a:srgbClr val="FAEEE8"/>
          </a:solidFill>
          <a:ln w="12700">
            <a:solidFill>
              <a:srgbClr val="FAEEE8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324612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74C3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 }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993392" y="3182112"/>
            <a:ext cx="36576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读取文件 → 调用接口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拿到需要的数据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78408" y="4187952"/>
            <a:ext cx="4681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例如：读销售表、取已授权的银行流水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3090672"/>
            <a:ext cx="923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缺一段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653528" y="3090672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两个系统的订单编号不同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3785616"/>
            <a:ext cx="923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写一段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653528" y="378561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清洗编号 → 匹配金额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标出差异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49808" y="5074920"/>
            <a:ext cx="3346704" cy="54864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7824" y="521208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54480" y="5212080"/>
            <a:ext cx="23957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把两份账单对起来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151376" y="5349240"/>
            <a:ext cx="292608" cy="0"/>
          </a:xfrm>
          <a:prstGeom prst="line">
            <a:avLst/>
          </a:prstGeom>
          <a:noFill/>
          <a:ln w="1778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26280" y="5074920"/>
            <a:ext cx="3346704" cy="54864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54296" y="521208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脚本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30952" y="5212080"/>
            <a:ext cx="23957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把规则变成可运行的步骤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927848" y="5349240"/>
            <a:ext cx="292608" cy="0"/>
          </a:xfrm>
          <a:prstGeom prst="line">
            <a:avLst/>
          </a:prstGeom>
          <a:noFill/>
          <a:ln w="1778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302752" y="5074920"/>
            <a:ext cx="3346704" cy="54864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30768" y="5212080"/>
            <a:ext cx="585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结果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07424" y="5212080"/>
            <a:ext cx="23957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异常清单 + 来源 + 校验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不只是学会用某个软件；遇到新问题，也能写出一小段适用的工具。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/ 编码模型与 AGI / 3.2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从软件世界，到物理世界：代码搭起最后一段桥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188720" y="2286000"/>
            <a:ext cx="3200400" cy="118872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08176" y="2432304"/>
            <a:ext cx="914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08176" y="2670048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模型与代码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408176" y="301752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理解目标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写出操作逻辑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0" y="2286000"/>
            <a:ext cx="3200400" cy="118872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91856" y="2432304"/>
            <a:ext cx="914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91856" y="2670048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设备接口与控制系统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991856" y="301752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仿真器 · 设备 API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机器人与实验平台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772400" y="4206240"/>
            <a:ext cx="3200400" cy="1188720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91856" y="4352544"/>
            <a:ext cx="914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991856" y="4590288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物理动作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991856" y="493776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在真实环境里执行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一次就会留下后果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188720" y="4206240"/>
            <a:ext cx="3200400" cy="1188720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08176" y="4352544"/>
            <a:ext cx="9144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408176" y="4590288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传感器与测量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408176" y="4937760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回传实际发生了什么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与预期对不上就要改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480560" y="2880360"/>
            <a:ext cx="3200400" cy="0"/>
          </a:xfrm>
          <a:prstGeom prst="line">
            <a:avLst/>
          </a:prstGeom>
          <a:noFill/>
          <a:ln w="2794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372600" y="3474720"/>
            <a:ext cx="0" cy="640080"/>
          </a:xfrm>
          <a:prstGeom prst="line">
            <a:avLst/>
          </a:prstGeom>
          <a:noFill/>
          <a:ln w="2794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 flipH="1">
            <a:off x="4480560" y="4800600"/>
            <a:ext cx="3200400" cy="0"/>
          </a:xfrm>
          <a:prstGeom prst="line">
            <a:avLst/>
          </a:prstGeom>
          <a:noFill/>
          <a:ln w="27940">
            <a:solidFill>
              <a:srgbClr val="A74C32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 flipV="1">
            <a:off x="2788920" y="3474720"/>
            <a:ext cx="0" cy="640080"/>
          </a:xfrm>
          <a:prstGeom prst="line">
            <a:avLst/>
          </a:prstGeom>
          <a:noFill/>
          <a:ln w="27940">
            <a:solidFill>
              <a:srgbClr val="A74C3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46320" y="3218688"/>
            <a:ext cx="2514600" cy="1152144"/>
          </a:xfrm>
          <a:prstGeom prst="roundRect">
            <a:avLst/>
          </a:prstGeom>
          <a:solidFill>
            <a:srgbClr val="FAEEE8"/>
          </a:solidFill>
          <a:ln w="12700">
            <a:solidFill>
              <a:srgbClr val="FAEEE8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92624" y="3346704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每一步都要过这道闸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992624" y="3657600"/>
            <a:ext cx="22219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设备授权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安全保护 · 仿真先验证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现场随时可停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编码提供连接能力；物理世界把可靠性与安全要求抬高了一个数量级。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/ 编码模型与 AGI / 3.3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AGI 还有多远？先看它是否开始参与自己的研发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414016"/>
            <a:ext cx="3346704" cy="2304288"/>
          </a:xfrm>
          <a:prstGeom prst="roundRect">
            <a:avLst/>
          </a:prstGeom>
          <a:solidFill>
            <a:srgbClr val="FAEEE8"/>
          </a:solidFill>
          <a:ln w="12700">
            <a:solidFill>
              <a:srgbClr val="FAEEE8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642616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26%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41832" y="3602736"/>
            <a:ext cx="29260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主导研发工作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41832" y="41788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AL4 · 人类监督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17136" y="2414016"/>
            <a:ext cx="3346704" cy="2304288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27448" y="2642616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&gt;90%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727448" y="3602736"/>
            <a:ext cx="29260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至少 AI 协作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27448" y="41788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AL3+ · 包含 AL4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321040" y="2414016"/>
            <a:ext cx="3172968" cy="2304288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67928" y="2715768"/>
            <a:ext cx="2679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尚未报告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67928" y="3584448"/>
            <a:ext cx="26791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AL5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完全自主研发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这比“模型更会答题”更重要：智能正在参与制造下一代智能。</a:t>
            </a:r>
            <a:endParaRPr lang="en-US" sz="2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/ 编码模型与 AGI / 3.3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下一轮智能，开始吃到上一轮智能的红利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13232" y="2743200"/>
            <a:ext cx="3377184" cy="214884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944368"/>
            <a:ext cx="29565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23544" y="347472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当前智能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23544" y="4142232"/>
            <a:ext cx="2956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写代码、跑实验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分析失败、构建评测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7848" y="3813048"/>
            <a:ext cx="256032" cy="0"/>
          </a:xfrm>
          <a:prstGeom prst="line">
            <a:avLst/>
          </a:prstGeom>
          <a:noFill/>
          <a:ln w="2286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19600" y="2743200"/>
            <a:ext cx="3377184" cy="214884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9912" y="2944368"/>
            <a:ext cx="29565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29912" y="347472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研发能力放大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29912" y="4142232"/>
            <a:ext cx="2956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减少工程等待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增加可检验的尝试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824216" y="3813048"/>
            <a:ext cx="256032" cy="0"/>
          </a:xfrm>
          <a:prstGeom prst="line">
            <a:avLst/>
          </a:prstGeom>
          <a:noFill/>
          <a:ln w="2286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125968" y="2743200"/>
            <a:ext cx="3377184" cy="2148840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6280" y="2944368"/>
            <a:ext cx="29565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36280" y="347472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后继智能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336280" y="4142232"/>
            <a:ext cx="2956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训练、评测、部署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进入下一轮研发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866376" y="5010912"/>
            <a:ext cx="0" cy="384048"/>
          </a:xfrm>
          <a:prstGeom prst="line">
            <a:avLst/>
          </a:prstGeom>
          <a:noFill/>
          <a:ln w="22860">
            <a:solidFill>
              <a:srgbClr val="D9775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2276856" y="5394960"/>
            <a:ext cx="7589520" cy="0"/>
          </a:xfrm>
          <a:prstGeom prst="line">
            <a:avLst/>
          </a:prstGeom>
          <a:noFill/>
          <a:ln w="2286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编码模型之所以通向 AGI，是因为它能改进“产生智能的工作”。</a:t>
            </a:r>
            <a:endParaRPr lang="en-US" sz="2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/ 编码模型与 AGI / 3.3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 AGI，剩下的是哪些可观察的门槛？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" y="235000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能力门槛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880360" y="2350008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今天已经看到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78040" y="2350008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真正需要跨过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916936"/>
            <a:ext cx="10698480" cy="59436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16936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持续学习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880360" y="2916936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记忆文件、Skills、状态恢复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78040" y="291693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稳定吸收新经验并迁移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3584448"/>
            <a:ext cx="1069848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84448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长期自主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880360" y="3584448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多步执行、测试、自我纠错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78040" y="3584448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少接管、可恢复、长期可靠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1520" y="4251960"/>
            <a:ext cx="10698480" cy="59436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251960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研究迭代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2880360" y="4251960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协作与主导部分研发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178040" y="425196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新方法的创造、复现与独立验证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4919472"/>
            <a:ext cx="1069848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919472"/>
            <a:ext cx="1783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物理连接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2880360" y="4919472"/>
            <a:ext cx="4069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代码与接口可以接设备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78040" y="4919472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开放环境中的可靠行动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通道已打开；从强大的数字工作者，到可靠的通用智能，仍有硬门槛。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结尾 / 回到两万亿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两万亿押注的，不是一个更好的代码补全工具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13232" y="2743200"/>
            <a:ext cx="3377184" cy="214884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944368"/>
            <a:ext cx="29565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23544" y="347472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第一层：已被证明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23544" y="4142232"/>
            <a:ext cx="2956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开发者与企业付费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收入快速扩张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17848" y="3813048"/>
            <a:ext cx="256032" cy="0"/>
          </a:xfrm>
          <a:prstGeom prst="line">
            <a:avLst/>
          </a:prstGeom>
          <a:noFill/>
          <a:ln w="2286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19600" y="2743200"/>
            <a:ext cx="3377184" cy="2148840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9912" y="2944368"/>
            <a:ext cx="29565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29912" y="347472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第二层：正在发生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4629912" y="4142232"/>
            <a:ext cx="2956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编码能力外溢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跨领域数字工作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824216" y="3813048"/>
            <a:ext cx="256032" cy="0"/>
          </a:xfrm>
          <a:prstGeom prst="line">
            <a:avLst/>
          </a:prstGeom>
          <a:noFill/>
          <a:ln w="22860">
            <a:solidFill>
              <a:srgbClr val="D9775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125968" y="2743200"/>
            <a:ext cx="3377184" cy="2148840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6280" y="2944368"/>
            <a:ext cx="29565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36280" y="347472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第三层：未来溢价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8336280" y="4142232"/>
            <a:ext cx="29565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参与 AI 研发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智能的代际反馈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49808" y="5742432"/>
            <a:ext cx="10744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Anthropic 的故事：把“会编码的模型”，变成“会工作的智能”。</a:t>
            </a:r>
            <a:endParaRPr lang="en-US" sz="2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320040"/>
            <a:ext cx="9144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结尾 / 回到我们的工作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03504" y="8321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当执行越来越便宜，什么更值钱？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331720"/>
            <a:ext cx="10735056" cy="521208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432304"/>
            <a:ext cx="10296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脚本先做：搬数据、按规则匹配、算差额、整理清单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99816"/>
            <a:ext cx="10698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留给我们一起判断的，是这些：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3666744"/>
            <a:ext cx="3346704" cy="1408176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3867912"/>
            <a:ext cx="29443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什么值得做？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32688" y="4434840"/>
            <a:ext cx="294436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每天对全量，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还是先查高风险订单？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17136" y="3666744"/>
            <a:ext cx="3346704" cy="1408176"/>
          </a:xfrm>
          <a:prstGeom prst="roundRect">
            <a:avLst/>
          </a:prstGeom>
          <a:solidFill>
            <a:srgbClr val="FCF5DD"/>
          </a:solidFill>
          <a:ln w="12700">
            <a:solidFill>
              <a:srgbClr val="FCF5D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18304" y="3867912"/>
            <a:ext cx="29443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怎样算做对？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18304" y="4434840"/>
            <a:ext cx="294436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元差额是手续费？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600 元是没到账，还是退款？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302752" y="3666744"/>
            <a:ext cx="3346704" cy="1408176"/>
          </a:xfrm>
          <a:prstGeom prst="roundRect">
            <a:avLst/>
          </a:prstGeom>
          <a:solidFill>
            <a:srgbClr val="F3F3F0"/>
          </a:solidFill>
          <a:ln w="12700">
            <a:solidFill>
              <a:srgbClr val="F3F3F0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3867912"/>
            <a:ext cx="294436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A74C3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下一步怎么办？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503920" y="4434840"/>
            <a:ext cx="294436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哪些需要联系客户？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哪些要先找财务确认？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77240" y="544068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业务同事：留下规则和例外     研发：把流程接稳     公司：明确权限和责任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77240" y="5943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如果少花一点时间搬数据，我们最想把时间留给哪件事？</a:t>
            </a:r>
            <a:endParaRPr lang="en-US" sz="2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8972" y="1472184"/>
            <a:ext cx="2857500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728972" y="1595628"/>
            <a:ext cx="2857500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28972" y="1719072"/>
            <a:ext cx="2857500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28972" y="1842516"/>
            <a:ext cx="2857500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28972" y="1965960"/>
            <a:ext cx="388620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6192" y="1965960"/>
            <a:ext cx="149961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74408" y="1965960"/>
            <a:ext cx="512064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28972" y="2089404"/>
            <a:ext cx="388620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46192" y="2089404"/>
            <a:ext cx="149961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74408" y="2089404"/>
            <a:ext cx="512064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28972" y="2212848"/>
            <a:ext cx="388620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46192" y="2212848"/>
            <a:ext cx="149961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74408" y="2212848"/>
            <a:ext cx="512064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28972" y="2336292"/>
            <a:ext cx="388620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46192" y="2336292"/>
            <a:ext cx="149961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74408" y="2336292"/>
            <a:ext cx="512064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35196" y="2459736"/>
            <a:ext cx="3721608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35196" y="2583180"/>
            <a:ext cx="3721608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35196" y="2706624"/>
            <a:ext cx="3721608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35196" y="2830068"/>
            <a:ext cx="3721608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35196" y="2953512"/>
            <a:ext cx="3721608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28972" y="3076956"/>
            <a:ext cx="2857500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28972" y="3200400"/>
            <a:ext cx="2857500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28972" y="3323844"/>
            <a:ext cx="2857500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28972" y="3447288"/>
            <a:ext cx="2857500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28972" y="3570732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99304" y="3570732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27520" y="3570732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21296" y="3570732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28972" y="3694176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99304" y="3694176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27520" y="3694176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21296" y="3694176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28972" y="3817620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99304" y="3817620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27520" y="3817620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21296" y="3817620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728972" y="3941064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99304" y="3941064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27520" y="3941064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321296" y="3941064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28972" y="4064508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99304" y="4064508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827520" y="4064508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21296" y="4064508"/>
            <a:ext cx="265176" cy="1417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0" y="4526280"/>
            <a:ext cx="1219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8282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谢谢大家</a:t>
            </a:r>
            <a:endParaRPr lang="en-US" sz="3800" dirty="0"/>
          </a:p>
        </p:txBody>
      </p:sp>
      <p:sp>
        <p:nvSpPr>
          <p:cNvPr id="48" name="Text 46"/>
          <p:cNvSpPr/>
          <p:nvPr/>
        </p:nvSpPr>
        <p:spPr>
          <a:xfrm>
            <a:off x="11027664" y="6409944"/>
            <a:ext cx="521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706D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Anthropic 2万亿IPO的背后：编码模型与AGI</dc:title>
  <dc:subject>IPO与收入增长、Agentic范式、编码模型与AGI</dc:subject>
  <dc:creator>Internal Learning</dc:creator>
  <cp:lastModifiedBy>Internal Learning</cp:lastModifiedBy>
  <cp:revision>1</cp:revision>
  <dcterms:created xsi:type="dcterms:W3CDTF">2026-10-06T12:36:07Z</dcterms:created>
  <dcterms:modified xsi:type="dcterms:W3CDTF">2026-10-06T12:36:07Z</dcterms:modified>
</cp:coreProperties>
</file>