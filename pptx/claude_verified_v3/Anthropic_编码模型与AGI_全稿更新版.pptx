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6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Terminal-Bench 4.0 official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Sonnet 5</c:v>
                  </c:pt>
                  <c:pt idx="1">
                    <c:v>Sonnet 5.5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10.3</c:v>
                </c:pt>
                <c:pt idx="1">
                  <c:v>70.6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Terminal-Bench 4.0 pass@1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Opus 5.5</c:v>
                  </c:pt>
                  <c:pt idx="1">
                    <c:v>GPT-6 Astra</c:v>
                  </c:pt>
                  <c:pt idx="2">
                    <c:v>Gemini 3.1 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59.6</c:v>
                </c:pt>
                <c:pt idx="1">
                  <c:v>59.1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AA Intelligence Index v4.3.2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Opus 5.5</c:v>
                  </c:pt>
                  <c:pt idx="1">
                    <c:v>GPT-6 Astra</c:v>
                  </c:pt>
                  <c:pt idx="2">
                    <c:v>Gemini 3.1 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53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 USD per task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Sonnet 5.5</c:v>
                  </c:pt>
                  <c:pt idx="1">
                    <c:v>Opus 5.5</c:v>
                  </c:pt>
                  <c:pt idx="2">
                    <c:v>GPT-6 Astra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13</c:v>
                </c:pt>
                <c:pt idx="2">
                  <c:v>7.47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每步98%</c:v>
                </c:pt>
              </c:strCache>
            </c:strRef>
          </c:tx>
          <c:spPr>
            <a:solidFill>
              <a:srgbClr val="D97757"/>
            </a:solidFill>
            <a:ln w="25400" cap="flat">
              <a:solidFill>
                <a:srgbClr val="D977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57"/>
              </a:solidFill>
              <a:ln w="9525" cap="flat">
                <a:solidFill>
                  <a:srgbClr val="D977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</c:v>
                </c:pt>
                <c:pt idx="1">
                  <c:v>81.70728068875466</c:v>
                </c:pt>
                <c:pt idx="2">
                  <c:v>66.76079717550942</c:v>
                </c:pt>
                <c:pt idx="3">
                  <c:v>54.54843193824369</c:v>
                </c:pt>
                <c:pt idx="4">
                  <c:v>44.57004039509507</c:v>
                </c:pt>
                <c:pt idx="5">
                  <c:v>36.41696800871168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每步99.5%</c:v>
                </c:pt>
              </c:strCache>
            </c:strRef>
          </c:tx>
          <c:spPr>
            <a:solidFill>
              <a:srgbClr val="738A78"/>
            </a:solidFill>
            <a:ln w="25400" cap="flat">
              <a:solidFill>
                <a:srgbClr val="738A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38A78"/>
              </a:solidFill>
              <a:ln w="9525" cap="flat">
                <a:solidFill>
                  <a:srgbClr val="738A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99.5</c:v>
                </c:pt>
                <c:pt idx="1">
                  <c:v>95.11101304657718</c:v>
                </c:pt>
                <c:pt idx="2">
                  <c:v>90.46104802746176</c:v>
                </c:pt>
                <c:pt idx="3">
                  <c:v>86.0384191914696</c:v>
                </c:pt>
                <c:pt idx="4">
                  <c:v>81.83201210226743</c:v>
                </c:pt>
                <c:pt idx="5">
                  <c:v>77.83125570686418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Published benchmark scores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图表识别¹</c:v>
                  </c:pt>
                  <c:pt idx="1">
                    <c:v>桌面操作²</c:v>
                  </c:pt>
                  <c:pt idx="2">
                    <c:v>科研终端任务</c:v>
                  </c:pt>
                  <c:pt idx="3">
                    <c:v>业务工作流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</c:v>
                </c:pt>
                <c:pt idx="1">
                  <c:v>81.8</c:v>
                </c:pt>
                <c:pt idx="2">
                  <c:v>58.7</c:v>
                </c:pt>
                <c:pt idx="3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DFDF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为什么强 · 编码模型如何成功 · 通往 AGI 的行动能力
两万亿在此为讨论估值前景的情景开场，不宣称已核实IPO目标或已上市市值；原稿唯一报道链接本次HTTP403，原有断言降为情景。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估值前景情景；非已上市市值
原唯一媒体链接本次HTTP403，不能验证IPO目标；删除2026IPO时间表和已确认目标的措辞。不把无法获取等同于新闻虚假。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Artificial Analysis模型页和Terminal4；Anthropic Opus5.5发布页
2026-10-04核验。数据只采用本次直接读取的第三方或官方来源；配置和证据见本文件备注及source_audit.md。
https://artificialanalysis.ai/models/claude-opus-5-5
https://artificialanalysis.ai/evaluations/terminalbench-4-0
https://www.anthropic.com/news/claude-opus-5-5
AA前两项：max with fallback。后两项官方发布表：max effort；FrontierCode Main，非默认medium54.6。CursorBench57.8。不可把不同评测合成企业任务成功率。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https://www.anthropic.com/claude-sonnet-5-5
2026-10-04核验。数据只采用本次直接读取的第三方或官方来源；配置和证据见本文件备注及source_audit.md。
发布日期2026-09-28；官方表Sonnet5 10.3、5.5 70.6。此页官方数据不可与第5页AA mini-swe-agent混用。不同模型的最优配置，非受控训练实验。无需假称Verified98.1。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来源：Artificial Analysis · terminalbench-4-0 + 三款模型页；核验于 2026-10-04
核验日期：2026-10-04。全稿来源见source_audit.md。
{
  "retrieved_at": "2026-10-04",
  "scope": "Slide 05 only",
  "source_priority": "Artificial Analysis independent evaluations; official releases for missing entries only",
  "terminal_bench": {
    "version": "4.0",
    "url": "https://artificialanalysis.ai/evaluations/terminalbench-4-0?models=claude-opus-5-5%2Cgpt-6-astra%2Cgemini-3-1-pro-preview",
    "harness": "mini-swe-agent",
    "tasks": 66,
    "repeats_per_task": 3,
    "metric": "pass@1 averaged over three repeats per task",
    "scores_percent": [
      59.6,
      59.1,
      4
    ]
  },
  "intelligence_index": {
    "version": "4.3.2",
    "metric": "Artificial Analysis Intelligence Index, not a percentage or coding success rate",
    "scores": [
      58,
      53,
      30
    ]
  },
  "models": [
    {
      "display_name": "Opus 5.5",
      "evaluated_variant": "Claude Opus 5.5 (max with fallback)",
      "url": "https://artificialanalysis.ai/models/claude-opus-5-5"
    },
    {
      "display_name": "GPT-6 Astra",
      "evaluated_variant": "GPT-6 Astra (max)",
      "url": "https://artificialanalysis.ai/models/gpt-6-astra"
    },
    {
      "display_name": "Gemini 3.1 Pro",
      "evaluated_variant": "Gemini 3.1 Pro Preview",
      "url": "https://artificialanalysis.ai/models/gemini-3-1-pro-preview"
    }
  ],
  "swe_bench_pro": {
    "status": "No complete same-version three-model comparison verified in inspected public sources",
    "action": "Replace right panel with explicitly labelled AA Intelligence Index rather than retain unverified repository scores"
  },
  "official_cross_check": {
    "url": "https://www.anthropic.com/news/claude-opus-5-5",
    "terminal_bench_percent": {
      "opus_5_5_xhigh": 66.4,
      "gpt_6_astra_high_as_reported_by_openai": 57.9
    },
    "used_in_chart": false,
    "reason": "Different harness/effort/setup from AA; official table does not list SWE-bench Pro. OpenAI direct announcement access returned HTTP 403 / challenge."
  },
  "interpretation": "0.5 percentage point observed Terminal-Bench difference; not evidence of a statistically significant model lead. Results are configuration-specific. Other deck pages remain repository-sourced and are not reverified by this update."
}
Terminal-Bench为AA统一mini-swe-agent harness、66任务、每题3次的平均pass@1。Opus为max with fallback；Astra为max；Gemini为Pro Preview。fallback可能由其他模型完成部分任务，因此不是纯Opus无回退能力。AA Coding Agents页面采用厂商Agent harness，Opus约63、Astra约55，不与此处混用。官方66.4与57.9也不混入。
右侧Intelligence Index v4.3.2是10项评测综合指数，不是百分比、不是SWE-bench Pro、不是纯编码得分。SWE-bench Pro未核实到三者同版本数据，因而移除。0.5为观测分差，不证明统计显著优势。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 Sonnet5.5、Opus5.5发布页；AA对应模型页
https://www.anthropic.com/claude-sonnet-5-5
https://www.anthropic.com/news/claude-opus-5-5
https://artificialanalysis.ai/models/claude-sonnet-5-5
https://artificialanalysis.ai/models/claude-opus-5-5
输出速率132.3/92.0 t/s，不是完整任务交付速度。官方发布价格为输入2/4、输出10/20、缓存读取0.2/0.2。当前API不等于订阅价。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https://artificialanalysis.ai/agents/coding-agents
2026-10-04核验。数据只采用本次直接读取的第三方或官方来源；配置和证据见本文件备注及source_audit.md。
AA DOM：ClaudeCode Sonnet5.5 max14.2USD；Opus5.5 max13.0USD；Codex GPT6Astra max7.47USD。页面显示值有四舍五入。指数为DeepSWE1.1/TB4/SWEAtlasQnA均权；不是相同题目全部通过之后的成本、不是人类审查/基础设施总成本。厂商Harness与第5页不同。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 Sonnet5.5、Opus5.5官方发布页
https://www.anthropic.com/claude-sonnet-5-5
https://www.anthropic.com/news/claude-opus-5-5
Sonnet缓存读取比普通输入便宜90%，Opus便宜95%，对应输入标价2/4与cache0.2。输入2/4USD，cache0.2USD，20*100k=2M:4/8-&gt;0.4。初次缓存写入、保留期限和其他Tokens另计。算例非实测账单。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工程场景示意；命令、回显与文件为教学例，不是本次运行记录
https://www.anthropic.com/engineering/writing-tools-for-agents
https://www.anthropic.com/engineering/effective-harnesses-for-long-running-agents
不连接真实线上系统；日志预先提供，代码修改在测试环境。git blame仅提供变更线索，不等于定位根因。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来源：Anthropic 上下文工程、工具设计、长任务 Harness
https://www.anthropic.com/engineering/effective-context-engineering-for-ai-agents
https://www.anthropic.com/engineering/writing-tools-for-agents
https://www.anthropic.com/engineering/effective-harnesses-for-long-running-agents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来源：Anthropic · Effective context engineering；检索流程示意
https://www.anthropic.com/engineering/effective-context-engineering-for-ai-agents
移除200万字无单位换算的容量表达，保留按问题检索的工程解释。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数学示意；不由评测分数推算模型单步可靠性
0.98^50=36.4%；0.995^50=77.8%；真实Agent会重试、自愈，结果受任务与恢复能力影响。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SWE-bench官方、Scale Pro官方仓库、Terminal-Bench4与AA
2026-10-04核验。数据只采用本次直接读取的第三方或官方来源；配置和证据见本文件备注及source_audit.md。
https://www.swebench.com/SWE-bench/
https://github.com/scaleapi/SWE-bench_Pro-os
https://www.tbench.ai/news/terminal-bench-4-0
https://artificialanalysis.ai/evaluations/terminalbench-4-0
Verified500；ProV2 642（v1 731）；TB4 66。保留训练与评测分离：TerminalBench明确禁止将基准数据放入训练语料。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DeepSeek-R1官方研究；下图为编码Agent强化学习的机制示意
https://github.com/deepseek-ai/DeepSeek-R1
研究是公开RL实例，不声称图中的全部Agentic编码训练轨迹为Claude已披露的私有配方。OpenAI introducingCodex本次403，移除未经本次复核的codex-1具体归因；保留执行纠错与训练权重更新的区别。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Artificial Analysis Terminal-Bench4.0公开任务示例
https://artificialanalysis.ai/evaluations/terminalbench-4-0
用户请求5秒超时；p95比MySQL基线最多增加10ms；不允许5xx意外4xx、数据不一致、陈旧读取或丢行；验证PG全量数据、外键、继续写入、查询行为。公开题目要求，非本次执行或模型成功案例。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https://artificialanalysis.ai/agents/coding-agents
https://github.com/openai/codex
2026-10-04核验。数据只采用本次直接读取的第三方或官方来源；配置和证据见本文件备注及source_audit.md。
AA Coding Agent Index1.5 displayed scores GPT6.1Sol xhigh63 / Astra max62；runtime15.5/29.4min；APIcost1.04/7.47USD。不是受控模型唯一变量实验、不是Pro83.5、不支持品牌历史持续提升的曲线。Codex官方仓库核实CLI和Web存在。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业务案例示意；表内数字为教学样本，不是公司实际数据
https://www.anthropic.com/engineering/code-execution-with-mcp
教学样本O1042订单额980银行到账950差额30；O1088订单1200到账1200差额0；O1101订单600到账0差额600。Agent需处理编号、金额单位、重复记录与业务授权。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https://www.anthropic.com/engineering/code-execution-with-mcp
官方工程文章示例：按需探索工具文件，把需加载内容从150000降至2000Tokens，降低98.7%。它不是模型成功率、不是所有工作端到端账单降低98.7%；计算98.6667%四舍五入。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https://www.anthropic.com/news/claude-opus-5-5
官方发布表：Chartography with tools89；OSWorld2.1 partial81.8；TerminalBenchScience0.1 58.7；AutomationBenchZapier40.0。前两后两指标不同，不能作为统一考试或行业总体胜任率；AutomationBench无fallback，其他部分有安全fallback；均按原文标识。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 · Measuring the pace of AI development
https://www.anthropic.com/institute/measuring-pace-of-ai-development
26%AL4 AI主导、人类监督；&gt;90%至少AL3协作。AL4包含于AL3及以上集合，两数字不相加；不是26%的原创发现占比。所测任务没有报告AL5完全自主。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https://www.anthropic.com/institute/measuring-pace-of-ai-development
厂商自报，尚非独立审计：最常用平台任何时刻约30000研究工程Agent；动作100%执行前在线监测；8月超过10亿决策被分析，0.002%被拦截；监控覆盖不等于识别全部风险。三万不是员工人数，也不是完全自主的独立研究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来源：Anthropic 研发自动化研究；代际反馈机制示意
https://www.anthropic.com/institute/measuring-pace-of-ai-development
这描述可能的代际正反馈，不宣称完全自主RSI或智能爆炸已经完成。算力、研究创意和验证仍可能成为约束。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组织变化为方向性分析；任务执行仍需授权环境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内部分享 / 编码模型与 AGI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3232" y="1243584"/>
            <a:ext cx="731520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两万亿 IPO 的想象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31520" y="3072384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3000" dirty="0"/>
          </a:p>
        </p:txBody>
      </p:sp>
      <p:pic>
        <p:nvPicPr>
          <p:cNvPr id="9" name="Image 0" descr="/Users/tangpeng/Documents/github/anthropic-and-its-2t-ipo/pptx/claude_coral_white/assets/intelligence.sv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1344168"/>
            <a:ext cx="3108960" cy="3108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7240" y="4343400"/>
            <a:ext cx="3364992" cy="109728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60120" y="4498848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8"/>
          <p:cNvSpPr/>
          <p:nvPr/>
        </p:nvSpPr>
        <p:spPr>
          <a:xfrm>
            <a:off x="960120" y="513892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为什么强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81144" y="4343400"/>
            <a:ext cx="3364992" cy="109728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64024" y="4498848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764024" y="513892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编码模型如何成功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385048" y="4343400"/>
            <a:ext cx="3364992" cy="109728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567928" y="4498848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8567928" y="513892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AGI 需要编码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开场 / 两万亿的想象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如果估值迈向两万亿，市场在押注什么？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不只是更好用的开发工具，而是更大范围的数字工作能力。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58952" y="2368296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$2T?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822960" y="3685032"/>
            <a:ext cx="3566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估值前景的情景讨论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22960" y="4453128"/>
            <a:ext cx="36118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从工具收入，到工作能力的价值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18304" y="2404872"/>
            <a:ext cx="6812280" cy="75895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65192" y="2532888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开发工具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803136" y="2596896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写代码、修 Bug、跑测试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18304" y="3346704"/>
            <a:ext cx="6812280" cy="75895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65192" y="3474720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数字工作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803136" y="3538728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对账、文件处理、跨系统操作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18304" y="4288536"/>
            <a:ext cx="6812280" cy="75895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65192" y="4416552"/>
            <a:ext cx="1490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智能研发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803136" y="4480560"/>
            <a:ext cx="4489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运行实验、构建评测、优化基础设施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程序员是第一批用户；模型的行动能力，正在进入更多工作。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Claude 为什么强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 的成绩单：工程与通用行动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终端执行、综合推理、代码变更、多文件任务：四个能力切面。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67512" y="2395728"/>
            <a:ext cx="2542032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2624328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59.6%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77824" y="3584448"/>
            <a:ext cx="21214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77824" y="41605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 · 终端执行 · max / fallback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557016" y="2395728"/>
            <a:ext cx="2542032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67328" y="2624328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58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3767328" y="3584448"/>
            <a:ext cx="21214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Intelligence Index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767328" y="41605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 · 综合指数 v4.3.2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46520" y="2395728"/>
            <a:ext cx="2542032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56832" y="2624328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54.4%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6656832" y="3584448"/>
            <a:ext cx="21214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FrontierCode 1.1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656832" y="41605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 · 代码变更是否可合并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9336024" y="2395728"/>
            <a:ext cx="2542032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546336" y="2624328"/>
            <a:ext cx="21214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57.8%</a:t>
            </a:r>
            <a:endParaRPr lang="en-US" sz="4600" dirty="0"/>
          </a:p>
        </p:txBody>
      </p:sp>
      <p:sp>
        <p:nvSpPr>
          <p:cNvPr id="22" name="Text 19"/>
          <p:cNvSpPr/>
          <p:nvPr/>
        </p:nvSpPr>
        <p:spPr>
          <a:xfrm>
            <a:off x="9546336" y="3584448"/>
            <a:ext cx="21214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CursorBench 4.0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546336" y="416052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 · 真实会话多文件任务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它不只补全代码：搜索、修改、执行和验证，已经进入同一个任务。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代际跃迁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10.3% → 70.6%：一次明确的终端能力跃迁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 → Sonnet 5.5 · Terminal-Bench 4.0 · 厂商公布结果。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2404872"/>
            <a:ext cx="5486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完成终端任务 · 官方评测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77240" y="2944368"/>
          <a:ext cx="69494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777240" y="2944368"/>
            <a:ext cx="6949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77240" y="3218688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834640" y="3255264"/>
            <a:ext cx="397764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834640" y="3255264"/>
            <a:ext cx="409697" cy="246888"/>
          </a:xfrm>
          <a:prstGeom prst="rect">
            <a:avLst/>
          </a:prstGeom>
          <a:solidFill>
            <a:srgbClr val="DFDFD8"/>
          </a:solidFill>
          <a:ln w="12700">
            <a:solidFill>
              <a:srgbClr val="DFDFD8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949440" y="32095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10.3%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77240" y="4151376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2834640" y="4187952"/>
            <a:ext cx="397764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834640" y="4187952"/>
            <a:ext cx="2808214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49440" y="41422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70.6%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412480" y="2505456"/>
            <a:ext cx="3063240" cy="263347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668512" y="2880360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+60.3</a:t>
            </a:r>
            <a:endParaRPr lang="en-US" sz="3700" dirty="0"/>
          </a:p>
        </p:txBody>
      </p:sp>
      <p:sp>
        <p:nvSpPr>
          <p:cNvPr id="21" name="Text 17"/>
          <p:cNvSpPr/>
          <p:nvPr/>
        </p:nvSpPr>
        <p:spPr>
          <a:xfrm>
            <a:off x="8668512" y="3785616"/>
            <a:ext cx="2551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个百分点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8668512" y="4489704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读、改、跑、检查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在任务中连续发生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模型的进步，不只是答案更像人，而是更多系统任务能够被解决。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横向对照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第三方对照：终端执行接近，综合能力有差异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5.5（max / fallback）· GPT-6 Astra（max）· Gemini 3.1 Pro（Preview）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2340864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 · 平均 pass@1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73952" y="2340864"/>
            <a:ext cx="5029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AA Intelligence Index · 综合能力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706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 mini-swe-agent · 66 题 · 每题 3 次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73952" y="2706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v4.3.2 · 10 项评测 · 指数分，非百分比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731520" y="3063240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9"/>
          <p:cNvSpPr/>
          <p:nvPr/>
        </p:nvSpPr>
        <p:spPr>
          <a:xfrm>
            <a:off x="731520" y="306324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1520" y="318211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063240" y="3236976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063240" y="3236976"/>
            <a:ext cx="1062716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974336" y="3172968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59.6%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731520" y="3849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063240" y="3904488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063240" y="3904488"/>
            <a:ext cx="1053800" cy="246888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974336" y="384048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59.1%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731520" y="451713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3.1 Pro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3063240" y="4572000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063240" y="4572000"/>
            <a:ext cx="71323" cy="246888"/>
          </a:xfrm>
          <a:prstGeom prst="rect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974336" y="4507992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4.0%</a:t>
            </a:r>
            <a:endParaRPr lang="en-US" sz="1700" dirty="0"/>
          </a:p>
        </p:txBody>
      </p:sp>
      <p:graphicFrame>
        <p:nvGraphicFramePr>
          <p:cNvPr id="26" name="Chart 1" descr=""/>
          <p:cNvGraphicFramePr/>
          <p:nvPr/>
        </p:nvGraphicFramePr>
        <p:xfrm>
          <a:off x="6473952" y="3063240"/>
          <a:ext cx="50292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Shape 22"/>
          <p:cNvSpPr/>
          <p:nvPr/>
        </p:nvSpPr>
        <p:spPr>
          <a:xfrm>
            <a:off x="6473952" y="306324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73952" y="3182112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8805672" y="3236976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805672" y="3236976"/>
            <a:ext cx="1034186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10716768" y="3172968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58</a:t>
            </a:r>
            <a:endParaRPr lang="en-US" sz="1700" dirty="0"/>
          </a:p>
        </p:txBody>
      </p:sp>
      <p:sp>
        <p:nvSpPr>
          <p:cNvPr id="32" name="Text 27"/>
          <p:cNvSpPr/>
          <p:nvPr/>
        </p:nvSpPr>
        <p:spPr>
          <a:xfrm>
            <a:off x="6473952" y="3849624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8805672" y="3904488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805672" y="3904488"/>
            <a:ext cx="945032" cy="246888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0716768" y="384048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53</a:t>
            </a:r>
            <a:endParaRPr lang="en-US" sz="1700" dirty="0"/>
          </a:p>
        </p:txBody>
      </p:sp>
      <p:sp>
        <p:nvSpPr>
          <p:cNvPr id="36" name="Text 31"/>
          <p:cNvSpPr/>
          <p:nvPr/>
        </p:nvSpPr>
        <p:spPr>
          <a:xfrm>
            <a:off x="6473952" y="4517136"/>
            <a:ext cx="2185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Gemini 3.1 Pro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8805672" y="4572000"/>
            <a:ext cx="1783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805672" y="4572000"/>
            <a:ext cx="534924" cy="246888"/>
          </a:xfrm>
          <a:prstGeom prst="rect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0716768" y="4507992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700" dirty="0"/>
          </a:p>
        </p:txBody>
      </p:sp>
      <p:sp>
        <p:nvSpPr>
          <p:cNvPr id="40" name="Text 35"/>
          <p:cNvSpPr/>
          <p:nvPr/>
        </p:nvSpPr>
        <p:spPr>
          <a:xfrm>
            <a:off x="786384" y="5239512"/>
            <a:ext cx="5102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终端观测分差：仅 0.5 个百分点</a:t>
            </a:r>
            <a:endParaRPr lang="en-US" sz="1800" dirty="0"/>
          </a:p>
        </p:txBody>
      </p:sp>
      <p:sp>
        <p:nvSpPr>
          <p:cNvPr id="41" name="Text 36"/>
          <p:cNvSpPr/>
          <p:nvPr/>
        </p:nvSpPr>
        <p:spPr>
          <a:xfrm>
            <a:off x="6473952" y="52395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指数反映综合能力，不是编码成功率</a:t>
            </a:r>
            <a:endParaRPr lang="en-US" sz="1400" dirty="0"/>
          </a:p>
        </p:txBody>
      </p:sp>
      <p:sp>
        <p:nvSpPr>
          <p:cNvPr id="42" name="Text 3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统一测试配置，才能比较分数；综合能力不等于终端任务成功率。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能力与价格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与 Opus：日常迭代和复杂工作的两种选择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5.5 · API 价格为美元 / 百万 Token；速度为 AA 测量输出速率。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4140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11880" y="24140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74920" y="24140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37960" y="241401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缓存读取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32520" y="24140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输出速率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31520" y="2980944"/>
            <a:ext cx="10698480" cy="65836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298094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611880" y="29809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074920" y="298094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$10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37960" y="298094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$0.20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732520" y="298094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132.3 t/s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3712464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3712464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611880" y="371246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074920" y="371246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$20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37960" y="371246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$0.20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732520" y="3712464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92.0 t/s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31520" y="4727448"/>
            <a:ext cx="5120640" cy="54864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50976" y="4791456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Sonnet：清晰、频繁的日常任务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6327648" y="4727448"/>
            <a:ext cx="5102352" cy="5486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47104" y="479145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Opus：开放、复杂、持续判断</a:t>
            </a:r>
            <a:endParaRPr lang="en-US" sz="1900" dirty="0"/>
          </a:p>
        </p:txBody>
      </p:sp>
      <p:sp>
        <p:nvSpPr>
          <p:cNvPr id="29" name="Text 26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模型分工可以降低调用门槛；实际成本仍取决于一项任务用了多少 Token。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每任务成本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每次调用便宜，不等于整个任务更便宜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Artificial Analysis Coding Agent Index v1.5 · 平均每任务 API 费用。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58952" y="2697480"/>
          <a:ext cx="70408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58952" y="2697480"/>
            <a:ext cx="70408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58952" y="2916936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2816352" y="2953512"/>
            <a:ext cx="4069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816352" y="2953512"/>
            <a:ext cx="3611309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022592" y="290779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14.20 美元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58952" y="361188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2816352" y="3648456"/>
            <a:ext cx="4069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16352" y="3648456"/>
            <a:ext cx="3306128" cy="246888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22592" y="360273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13.00 美元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58952" y="4306824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2816352" y="4343400"/>
            <a:ext cx="406908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816352" y="4343400"/>
            <a:ext cx="1899752" cy="246888"/>
          </a:xfrm>
          <a:prstGeom prst="rect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22592" y="42976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7.47 美元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321040" y="2496312"/>
            <a:ext cx="3172968" cy="274320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77072" y="2862072"/>
            <a:ext cx="26609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单任务费用</a:t>
            </a:r>
            <a:endParaRPr lang="en-US" sz="2300" dirty="0"/>
          </a:p>
        </p:txBody>
      </p:sp>
      <p:sp>
        <p:nvSpPr>
          <p:cNvPr id="24" name="Text 20"/>
          <p:cNvSpPr/>
          <p:nvPr/>
        </p:nvSpPr>
        <p:spPr>
          <a:xfrm>
            <a:off x="8577072" y="3675888"/>
            <a:ext cx="26609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 + 缓存 + 输出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× 多轮执行</a:t>
            </a:r>
            <a:endParaRPr lang="en-US" sz="2100" dirty="0"/>
          </a:p>
        </p:txBody>
      </p:sp>
      <p:sp>
        <p:nvSpPr>
          <p:cNvPr id="25" name="Text 21"/>
          <p:cNvSpPr/>
          <p:nvPr/>
        </p:nvSpPr>
        <p:spPr>
          <a:xfrm>
            <a:off x="8577072" y="4709160"/>
            <a:ext cx="2660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 Code / Codex · max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比较“效果、耗时与费用”的组合，比只看 Token 单价更接近真实使用。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Prompt Caching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重复上下文读取，价格降低 90% / 95%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缓存读取分别比普通输入便宜 90% / 95%；输出与写入另外计费。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41401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11880" y="24140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 $ / M Token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241401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 $ / M Token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281160" y="241401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费用降低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2980944"/>
            <a:ext cx="10698480" cy="58521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980944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5.5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611880" y="2980944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$2.00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46520" y="2980944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$0.20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281160" y="2980944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520" y="3639312"/>
            <a:ext cx="106984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3639312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611880" y="3639312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$4.00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46520" y="3639312"/>
            <a:ext cx="2606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$0.20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281160" y="3639312"/>
            <a:ext cx="2057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31520" y="4572000"/>
            <a:ext cx="10735056" cy="83210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78408" y="4754880"/>
            <a:ext cx="4279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算例：20 轮 × 10 万 Token 相同前缀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5522976" y="4782312"/>
            <a:ext cx="5678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Sonnet  $4 → $0.40    Opus  $8 → $0.40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缓存把反复阅读代码背景的成本降下来，让多轮工作更容易负担。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Claude Code 的工作轨迹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终端原生：同一个任务里，查、改、测、再修复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例：支付请求偶发失败，定位重试逻辑并准备补丁。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359152"/>
            <a:ext cx="6611112" cy="3072384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2615184"/>
            <a:ext cx="6126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一次目标 → 多步动作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78408" y="31089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039112" y="31089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rg "retry|timeout" src/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78408" y="3502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读取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039112" y="35021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查看支付调用与异常分支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78408" y="389534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修改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039112" y="389534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调整可重试错误与次数上限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78408" y="42885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039112" y="42885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pytest tests/test_payment_retry.py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978408" y="46817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039112" y="468172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失败用例 → 修正 → 再运行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735824" y="2359152"/>
            <a:ext cx="3767328" cy="3072384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91856" y="2615184"/>
            <a:ext cx="3255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可检查的交付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01000" y="3246120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补丁 + 回归测试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001000" y="3849624"/>
            <a:ext cx="3200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修改范围、测试结果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仍待确认的问题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001000" y="488289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人负责业务取舍与合并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的价值是动作可组合、反馈可读取，不是让 AI 拥有无限权限。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模型与 Harness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为什么不是“换个模型”就能复制体验？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工程能力来自模型判断与执行系统的共同作用。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3591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71800" y="235915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具体工程资产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0" y="23591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解决的问题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106984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92608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模型判断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971800" y="29260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相关调用链、错误假设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80960" y="29260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下一步查哪里、改什么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56616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5661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工具接口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971800" y="35661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文件读取、精确补丁、终端回显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80960" y="35661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让动作可执行、失败可定位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4206240"/>
            <a:ext cx="106984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0624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2971800" y="42062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CLAUDE.md、相关函数、最近报错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80960" y="420624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保留任务需要的信息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1520" y="484632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84632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持续状态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2971800" y="48463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功能清单、进度文件、Git、测试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80960" y="4846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中断后可恢复、下一会话可接班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从“回答正确”到“交付可靠”，还隔着接口、状态与验证。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大仓库理解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长上下文，不等于找对这次任务的证据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修复支付重试：当前上下文需要的是关联信息，而不是全部文件。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13232" y="2386584"/>
            <a:ext cx="5120640" cy="2971800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91072" y="2386584"/>
            <a:ext cx="5212080" cy="2971800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266090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全量灌入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50976" y="34290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 + 库存 + UI + 营销 + 配置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87552" y="4050792"/>
            <a:ext cx="438912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72768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57984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0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328416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13632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98848" y="4050792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87552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572768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157984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0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28416" y="4242816"/>
            <a:ext cx="438912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13632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98848" y="4242816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87552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572768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157984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43200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28416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913632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98848" y="4434840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87552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572768" y="4626864"/>
            <a:ext cx="438912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157984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743200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328416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913632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498848" y="4626864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87552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572768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157984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743200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328416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913632" y="4818888"/>
            <a:ext cx="438912" cy="10972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498848" y="4818888"/>
            <a:ext cx="438912" cy="109728"/>
          </a:xfrm>
          <a:prstGeom prst="rect">
            <a:avLst/>
          </a:prstGeom>
          <a:solidFill>
            <a:srgbClr val="D8D8D1"/>
          </a:solidFill>
          <a:ln w="12700">
            <a:solidFill>
              <a:srgbClr val="D8D8D1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28816" y="2660904"/>
            <a:ext cx="4727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按问题探索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6528816" y="3401568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测试入口 → 复现条件</a:t>
            </a:r>
            <a:endParaRPr lang="en-US" sz="1700" dirty="0"/>
          </a:p>
        </p:txBody>
      </p:sp>
      <p:sp>
        <p:nvSpPr>
          <p:cNvPr id="49" name="Text 46"/>
          <p:cNvSpPr/>
          <p:nvPr/>
        </p:nvSpPr>
        <p:spPr>
          <a:xfrm>
            <a:off x="6528816" y="3794760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支付调用 → retry 分支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6528816" y="4187952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异常类型 → 超时配置</a:t>
            </a:r>
            <a:endParaRPr lang="en-US" sz="1700" dirty="0"/>
          </a:p>
        </p:txBody>
      </p:sp>
      <p:sp>
        <p:nvSpPr>
          <p:cNvPr id="51" name="Text 48"/>
          <p:cNvSpPr/>
          <p:nvPr/>
        </p:nvSpPr>
        <p:spPr>
          <a:xfrm>
            <a:off x="6528816" y="4581144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失败用例 → 修改后的验证</a:t>
            </a:r>
            <a:endParaRPr lang="en-US" sz="1700" dirty="0"/>
          </a:p>
        </p:txBody>
      </p:sp>
      <p:sp>
        <p:nvSpPr>
          <p:cNvPr id="52" name="Text 49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长窗口提供空间；主动检索决定哪些信息值得进入工作记忆。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第一幕 / 长任务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每步只差 1.5 个百分点，50 步之后差多少？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数学算例：每步独立、可靠性恒定、失败不可恢复。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85800" y="2395728"/>
          <a:ext cx="7315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685800" y="2395728"/>
            <a:ext cx="731520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34440" y="4791456"/>
            <a:ext cx="644652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5800" y="466344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0%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234440" y="4231386"/>
            <a:ext cx="644652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" y="410337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25%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234440" y="3671316"/>
            <a:ext cx="644652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85800" y="354330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1234440" y="3111246"/>
            <a:ext cx="644652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5800" y="298323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75%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1234440" y="2551176"/>
            <a:ext cx="6446520" cy="0"/>
          </a:xfrm>
          <a:prstGeom prst="line">
            <a:avLst/>
          </a:prstGeom>
          <a:noFill/>
          <a:ln w="8255">
            <a:solidFill>
              <a:srgbClr val="DFDF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5800" y="2423160"/>
            <a:ext cx="429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196035" y="2557577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234440" y="2595982"/>
            <a:ext cx="1289304" cy="365003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485339" y="2922579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523744" y="2960984"/>
            <a:ext cx="1289304" cy="334843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774643" y="3257422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813048" y="3295827"/>
            <a:ext cx="1289304" cy="273591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063947" y="3531014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102352" y="3569418"/>
            <a:ext cx="1289304" cy="223544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353251" y="3754557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391656" y="3792962"/>
            <a:ext cx="1289304" cy="182652"/>
          </a:xfrm>
          <a:prstGeom prst="line">
            <a:avLst/>
          </a:prstGeom>
          <a:noFill/>
          <a:ln w="33020">
            <a:solidFill>
              <a:srgbClr val="D97757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642555" y="3937209"/>
            <a:ext cx="76810" cy="7681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196035" y="2523973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234440" y="2562377"/>
            <a:ext cx="1289304" cy="98326"/>
          </a:xfrm>
          <a:prstGeom prst="line">
            <a:avLst/>
          </a:prstGeom>
          <a:noFill/>
          <a:ln w="33020">
            <a:solidFill>
              <a:srgbClr val="738A78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485339" y="2622298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523744" y="2660703"/>
            <a:ext cx="1289304" cy="104172"/>
          </a:xfrm>
          <a:prstGeom prst="line">
            <a:avLst/>
          </a:prstGeom>
          <a:noFill/>
          <a:ln w="33020">
            <a:solidFill>
              <a:srgbClr val="738A78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3774643" y="2726470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813048" y="2764875"/>
            <a:ext cx="1289304" cy="99079"/>
          </a:xfrm>
          <a:prstGeom prst="line">
            <a:avLst/>
          </a:prstGeom>
          <a:noFill/>
          <a:ln w="33020">
            <a:solidFill>
              <a:srgbClr val="738A78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063947" y="2825550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5102352" y="2863955"/>
            <a:ext cx="1289304" cy="94235"/>
          </a:xfrm>
          <a:prstGeom prst="line">
            <a:avLst/>
          </a:prstGeom>
          <a:noFill/>
          <a:ln w="33020">
            <a:solidFill>
              <a:srgbClr val="738A7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353251" y="2919785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391656" y="2958190"/>
            <a:ext cx="1289304" cy="89628"/>
          </a:xfrm>
          <a:prstGeom prst="line">
            <a:avLst/>
          </a:prstGeom>
          <a:noFill/>
          <a:ln w="33020">
            <a:solidFill>
              <a:srgbClr val="738A7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7642555" y="3009413"/>
            <a:ext cx="76810" cy="76810"/>
          </a:xfrm>
          <a:prstGeom prst="ellipse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1993392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3282696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572000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5861304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7150608" y="4974336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1280160" y="5358384"/>
            <a:ext cx="6400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珊瑚：每步 98%     绿色：每步 99.5%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8421624" y="2487168"/>
            <a:ext cx="3072384" cy="264261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668512" y="2852928"/>
            <a:ext cx="25786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36.4%</a:t>
            </a:r>
            <a:endParaRPr lang="en-US" sz="3700" dirty="0"/>
          </a:p>
        </p:txBody>
      </p:sp>
      <p:sp>
        <p:nvSpPr>
          <p:cNvPr id="51" name="Text 47"/>
          <p:cNvSpPr/>
          <p:nvPr/>
        </p:nvSpPr>
        <p:spPr>
          <a:xfrm>
            <a:off x="8668512" y="3694176"/>
            <a:ext cx="25786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77.8%</a:t>
            </a:r>
            <a:endParaRPr lang="en-US" sz="3200" dirty="0"/>
          </a:p>
        </p:txBody>
      </p:sp>
      <p:sp>
        <p:nvSpPr>
          <p:cNvPr id="52" name="Text 48"/>
          <p:cNvSpPr/>
          <p:nvPr/>
        </p:nvSpPr>
        <p:spPr>
          <a:xfrm>
            <a:off x="8668512" y="4599432"/>
            <a:ext cx="2578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步全部成功概率</a:t>
            </a:r>
            <a:endParaRPr lang="en-US" sz="1500" dirty="0"/>
          </a:p>
        </p:txBody>
      </p:sp>
      <p:sp>
        <p:nvSpPr>
          <p:cNvPr id="53" name="Text 49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真实体验的关键：少犯错、出错能恢复、少让人接管。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编码模型如何成功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代码训练场有任务、有环境，也有自动裁判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可运行的环境 + 可检查的结果，让“做对了”不再只靠主观评价。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359152"/>
            <a:ext cx="335584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587752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41832" y="3547872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Verified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1832" y="4123944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人工校验的 Issue 任务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26280" y="2359152"/>
            <a:ext cx="335584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2587752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642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736592" y="3547872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 V2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36592" y="4123944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离线执行的复杂仓库任务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21040" y="2359152"/>
            <a:ext cx="3355848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31352" y="2587752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8531352" y="3547872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531352" y="4123944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校准资源与超时的终端任务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77240" y="5047488"/>
            <a:ext cx="10716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代码库 + 容器环境 + 测试 / 验证器 → 可重复的执行反馈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编码的优势：大量试错能够运行、能够评分，也能够进入下一轮改进。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Agentic RL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模型学习的，不只是一份正确补丁，而是整段解题轨迹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公开研究展示：强化学习能鼓励自我检查、反思与更有效的推理。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68880"/>
            <a:ext cx="2103120" cy="227685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269748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给定任务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3968496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 + 仓库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 + 测试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880360" y="3630168"/>
            <a:ext cx="64008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611880" y="2468880"/>
            <a:ext cx="2103120" cy="227685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94760" y="269748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94760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生成轨迹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3794760" y="3968496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读文件 → 修改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 → 纠错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760720" y="3630168"/>
            <a:ext cx="64008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492240" y="2468880"/>
            <a:ext cx="2103120" cy="2276856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269748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75120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环境评分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675120" y="3968496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问题是否解决？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是否破坏原行为？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641080" y="3630168"/>
            <a:ext cx="64008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372600" y="2468880"/>
            <a:ext cx="2103120" cy="227685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555480" y="2697480"/>
            <a:ext cx="1737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9555480" y="320040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训练更新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9555480" y="3968496"/>
            <a:ext cx="1737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强化有效策略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进入下一批任务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执行时修好这一题；训练时让下一批题的解题策略变得更好。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反馈为何有效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一道真实任务：不停机，从 MySQL 迁到 PostgreSQL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Terminal-Bench 4.0 · live-database-cutover · 迁移期间读写继续。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359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验收维度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26080" y="23591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测试动作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0" y="23591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必须满足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106984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9260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不中断服务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926080" y="29260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切换期间持续重放客户请求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0" y="29260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零失败、零丢行、零陈旧读取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56616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5661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行为保持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926080" y="356616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 API 状态码与响应内容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15200" y="35661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MySQL 基线一致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4206240"/>
            <a:ext cx="10698480" cy="56692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206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性能预算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2926080" y="420624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检查各接口 p95 延迟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315200" y="42062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比基线最多增加 10 ms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1520" y="4846320"/>
            <a:ext cx="106984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8680" y="48463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迁移完成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2926080" y="484632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验证数据、外键与后续写入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315200" y="48463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新部署也不能依赖 MySQL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裁判检查的是系统行为达标，不是配置文件或代码看起来正确。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第二幕 / 赛道验证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的竞争力，不只在分数，也在执行效率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Artificial Analysis · Codex 两种模型配置 · 当前任务均值。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3957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Codex 模型配置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43400" y="239572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 Agent 指数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903720" y="23957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平均运行时间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89720" y="239572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 API 费用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1520" y="2962656"/>
            <a:ext cx="10698480" cy="7040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2962656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GPT-6.1 Sol · xhigh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343400" y="2962656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03720" y="2962656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15.5 分钟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189720" y="2962656"/>
            <a:ext cx="2148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$1.04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520" y="3739896"/>
            <a:ext cx="10698480" cy="704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3739896"/>
            <a:ext cx="32461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GPT-6 Astra · max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4343400" y="3739896"/>
            <a:ext cx="2331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03720" y="3739896"/>
            <a:ext cx="20574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29.4 分钟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189720" y="3739896"/>
            <a:ext cx="2148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$7.47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31520" y="4754880"/>
            <a:ext cx="10735056" cy="548640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87552" y="4873752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指数 v1.5：DeepSWE 1.1 + Terminal-Bench 4.0 + SWE-Atlas-QnA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赛道已经从“谁答得更好”，进入“谁能以更低代价持续完成任务”。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为什么 AGI 需要编码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普通员工的任务，也包含数据结构、循环与规则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对账示例：订单明细与银行流水；保留差异证据，不直接修改账目。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395728"/>
            <a:ext cx="3255264" cy="291693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50976" y="2642616"/>
            <a:ext cx="2788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 · 教学样本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50976" y="3227832"/>
            <a:ext cx="2788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orders.xlsx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28282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bank.csv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50976" y="449884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订单号 · 金额 · 到账日期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105656" y="3749040"/>
            <a:ext cx="484632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4873752" y="240487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订单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02552" y="2404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应收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28432" y="24048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到账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354312" y="240487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差额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736592" y="2971800"/>
            <a:ext cx="5879592" cy="58521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73752" y="2971800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O1042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702552" y="297180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980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028432" y="297180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950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54312" y="2971800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736592" y="3630168"/>
            <a:ext cx="5879592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73752" y="3630168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O1088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702552" y="363016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1200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028432" y="363016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1200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354312" y="3630168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736592" y="4288536"/>
            <a:ext cx="5879592" cy="585216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73752" y="4288536"/>
            <a:ext cx="1600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O1101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6702552" y="42885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028432" y="428853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354312" y="4288536"/>
            <a:ext cx="11704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600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4892040" y="5175504"/>
            <a:ext cx="6428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输出：异常清单 + 原始行号 + 核对依据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编写清洗与匹配脚本，人核对业务规则与异常解释。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按需制造工具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MCP + 代码执行：先发现工具，再按需组合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把工具定义按需加载，让大规模工具接入不挤满上下文。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04872"/>
            <a:ext cx="335584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633472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150,000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41832" y="3593592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全量加载工具定义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1832" y="4169664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· 官方工程示例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26280" y="2404872"/>
            <a:ext cx="3355848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2633472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2,000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736592" y="3593592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按需发现与读取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36592" y="4169664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 · 同一工程示例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21040" y="2404872"/>
            <a:ext cx="3172968" cy="23042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288036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−98.7%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8549640" y="3950208"/>
            <a:ext cx="2715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这部分上下文用量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7240" y="5102352"/>
            <a:ext cx="10716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探索 ./servers/ → 读取目标工具接口 → 写脚本 → 在环境里执行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执行动作，MCP 接入系统，Skills 保存可复用的做事方法。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能力边界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同一个模型，在不同工作上仍有不同表现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Opus 5.5 · 工具、科学、业务流程与桌面操作的评测切面。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49808" y="2459736"/>
          <a:ext cx="7132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749808" y="2459736"/>
            <a:ext cx="71323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49808" y="2670048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图表识别¹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2807208" y="2706624"/>
            <a:ext cx="416052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807208" y="2706624"/>
            <a:ext cx="3702863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104888" y="26609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89.0%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9808" y="3291840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桌面操作²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2807208" y="3328416"/>
            <a:ext cx="416052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807208" y="3328416"/>
            <a:ext cx="3403305" cy="246888"/>
          </a:xfrm>
          <a:prstGeom prst="rect">
            <a:avLst/>
          </a:prstGeom>
          <a:solidFill>
            <a:srgbClr val="D97757"/>
          </a:solidFill>
          <a:ln w="12700">
            <a:solidFill>
              <a:srgbClr val="D97757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104888" y="32826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81.8%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49808" y="3913632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科研终端任务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2807208" y="3950208"/>
            <a:ext cx="416052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807208" y="3950208"/>
            <a:ext cx="2442225" cy="246888"/>
          </a:xfrm>
          <a:prstGeom prst="rect">
            <a:avLst/>
          </a:prstGeom>
          <a:solidFill>
            <a:srgbClr val="F4D77B"/>
          </a:solidFill>
          <a:ln w="12700">
            <a:solidFill>
              <a:srgbClr val="F4D77B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104888" y="390448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58.7%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749808" y="4535424"/>
            <a:ext cx="1874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业务工作流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2807208" y="4572000"/>
            <a:ext cx="4160520" cy="246888"/>
          </a:xfrm>
          <a:prstGeom prst="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807208" y="4572000"/>
            <a:ext cx="1664208" cy="246888"/>
          </a:xfrm>
          <a:prstGeom prst="rect">
            <a:avLst/>
          </a:prstGeom>
          <a:solidFill>
            <a:srgbClr val="738A78"/>
          </a:solidFill>
          <a:ln w="12700">
            <a:solidFill>
              <a:srgbClr val="738A78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104888" y="452628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40.0%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86384" y="53766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¹ Chartography · with tools    ² OSWorld 2.1 · partial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421624" y="2496312"/>
            <a:ext cx="3072384" cy="272491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686800" y="2898648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能力不会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均匀展开</a:t>
            </a:r>
            <a:endParaRPr lang="en-US" sz="2700" dirty="0"/>
          </a:p>
        </p:txBody>
      </p:sp>
      <p:sp>
        <p:nvSpPr>
          <p:cNvPr id="29" name="Text 25"/>
          <p:cNvSpPr/>
          <p:nvPr/>
        </p:nvSpPr>
        <p:spPr>
          <a:xfrm>
            <a:off x="8686800" y="4215384"/>
            <a:ext cx="2542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检验具体工作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比套用一个总分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更能判断可用性</a:t>
            </a:r>
            <a:endParaRPr lang="en-US" sz="1700" dirty="0"/>
          </a:p>
        </p:txBody>
      </p:sp>
      <p:sp>
        <p:nvSpPr>
          <p:cNvPr id="30" name="Text 26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编码打开了通用行动的空间；业务适配与可靠性仍然决定落地效果。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AI 参与 AI 研发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26% 的内部研发工作，达到 AI 主导级别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R&amp;D Automation Index · 2026 年 8 月快照 · AL4 仍由人监督。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350008"/>
            <a:ext cx="3355848" cy="23042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578608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26%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41832" y="3538728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主导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1832" y="411480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高层目标输入 · 人类监督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26280" y="2350008"/>
            <a:ext cx="3355848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2578608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&gt;90%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736592" y="3538728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至少 AI 协作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36592" y="411480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AL3 及以上 · 含 AL4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21040" y="2350008"/>
            <a:ext cx="317296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9640" y="2624328"/>
            <a:ext cx="2697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任务级别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49640" y="3163824"/>
            <a:ext cx="27066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AL3 · 协作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AL4 · 主导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AL5 · 完全自主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86384" y="5065776"/>
            <a:ext cx="10625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AL4 是协作及以上的一部分；完全自主仍未在所测任务类别中报告。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已经从研究成果，变成研究能力的一部分。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研发执行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 3 万个 Agent，在同一平台并行做研发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最常用内部平台 · 2026 年 8 月快照。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14016"/>
            <a:ext cx="3355848" cy="2304288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1832" y="2642616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≈30,000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941832" y="3602736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同时运行的 Agent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41832" y="4178808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单一内部平台 · 研究与工程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26280" y="2414016"/>
            <a:ext cx="3355848" cy="2304288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36592" y="2642616"/>
            <a:ext cx="2935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100%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4736592" y="3602736"/>
            <a:ext cx="29352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执行前经过在线监控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736592" y="4178808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平台内动作覆盖率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321040" y="2414016"/>
            <a:ext cx="3172968" cy="2304288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31352" y="2642616"/>
            <a:ext cx="2752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&gt;10 亿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8531352" y="3602736"/>
            <a:ext cx="2752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被分析的决策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531352" y="4178808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 8 月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86384" y="5175504"/>
            <a:ext cx="10625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大规模并行执行，把代码、实验与检查工具变成持续运转的研发系统。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这不是完全自主研究，而是人类设定目标、Agent 执行、系统持续监督。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第三幕 / 递归改进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当前智能参与研发，后继智能再进入下一轮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RSI：改进工具的能力，也开始被工具自身放大。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487168"/>
            <a:ext cx="3355848" cy="222199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2862072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当前模型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969264" y="374904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编程、分析、运行实验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133088" y="3602736"/>
            <a:ext cx="32004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526280" y="2487168"/>
            <a:ext cx="3355848" cy="2221992"/>
          </a:xfrm>
          <a:prstGeom prst="roundRect">
            <a:avLst/>
          </a:prstGeom>
          <a:solidFill>
            <a:srgbClr val="FCF5DD"/>
          </a:solidFill>
          <a:ln w="12700">
            <a:solidFill>
              <a:srgbClr val="FCF5D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64024" y="2862072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有效研发增益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4764024" y="374904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更少工程等待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更多可检验的实验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927848" y="3602736"/>
            <a:ext cx="320040" cy="0"/>
          </a:xfrm>
          <a:prstGeom prst="line">
            <a:avLst/>
          </a:prstGeom>
          <a:noFill/>
          <a:ln w="2540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321040" y="2487168"/>
            <a:ext cx="3355848" cy="2221992"/>
          </a:xfrm>
          <a:prstGeom prst="roundRect">
            <a:avLst/>
          </a:prstGeom>
          <a:solidFill>
            <a:srgbClr val="FAEEE8"/>
          </a:solidFill>
          <a:ln w="12700">
            <a:solidFill>
              <a:srgbClr val="FAEEE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58784" y="2862072"/>
            <a:ext cx="2880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后继模型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8558784" y="3749040"/>
            <a:ext cx="2880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训练、评价、部署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9985248" y="4882896"/>
            <a:ext cx="0" cy="41148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 flipH="1">
            <a:off x="2395728" y="5294376"/>
            <a:ext cx="7589520" cy="0"/>
          </a:xfrm>
          <a:prstGeom prst="line">
            <a:avLst/>
          </a:prstGeom>
          <a:noFill/>
          <a:ln w="22860">
            <a:solidFill>
              <a:srgbClr val="D97757"/>
            </a:solidFill>
            <a:prstDash val="solid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749808" y="57424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最震撼的不是机器替我们工作，而是参与制造下一代更会工作的机器。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20040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结尾 / 员工与公司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把业务经验变成可执行能力，而不只是个人熟练度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21792" y="1581912"/>
            <a:ext cx="10917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先定义目标与规则，再委托执行；用产物和证据判断是否完成。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1792" y="641908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编码模型与 AGI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027664" y="6409944"/>
            <a:ext cx="521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06D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8680" y="23591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46120" y="235915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可以交给 Agent 的产物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35240" y="2359152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4C3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人应握住的判断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10698480" cy="6675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926080"/>
            <a:ext cx="2148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 / 市场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246120" y="2926080"/>
            <a:ext cx="4160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指标计算、交叉分析、异常报告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35240" y="2926080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问题是否值得问、指标是否正确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666744"/>
            <a:ext cx="1069848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8680" y="3666744"/>
            <a:ext cx="2148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财务 / HR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3246120" y="3666744"/>
            <a:ext cx="4160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对账清单、材料结构化、来源索引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635240" y="3666744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规则、例外、金额与敏感信息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31520" y="4407408"/>
            <a:ext cx="10698480" cy="667512"/>
          </a:xfrm>
          <a:prstGeom prst="roundRect">
            <a:avLst/>
          </a:prstGeom>
          <a:solidFill>
            <a:srgbClr val="F3F3F0"/>
          </a:solidFill>
          <a:ln w="12700">
            <a:solidFill>
              <a:srgbClr val="F3F3F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407408"/>
            <a:ext cx="21488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 / 研发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246120" y="4407408"/>
            <a:ext cx="4160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可运行原型、补丁、回归测试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35240" y="4407408"/>
            <a:ext cx="3703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需求价值、架构与上线责任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3816" y="5422392"/>
            <a:ext cx="1064361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8282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对公司：重新审视排期、交接和等待，释放过去做不起的任务。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的两万亿想象：编码模型与 AGI · 全稿更新版</dc:title>
  <dc:subject>Claude 工程能力、编码反馈与 AI 研发</dc:subject>
  <dc:creator>Internal Learning</dc:creator>
  <cp:lastModifiedBy>Internal Learning</cp:lastModifiedBy>
  <cp:revision>1</cp:revision>
  <dcterms:created xsi:type="dcterms:W3CDTF">2026-10-04T13:27:11Z</dcterms:created>
  <dcterms:modified xsi:type="dcterms:W3CDTF">2026-10-04T13:27:11Z</dcterms:modified>
</cp:coreProperties>
</file>