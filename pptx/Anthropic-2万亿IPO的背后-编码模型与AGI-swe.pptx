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封面。一句话定位：这不是一家软件公司的上市，而是人类历史上第一次为『数字硅基生产力母体』定价。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执行摘要。三个问题分别对应三篇：资本（凭什么）、产业（谁买单）、技术-AGI（为何可持续）。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目录页：三篇递进结构——资本→产业→AGI。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2T 坐标系：全球前七 + 历史最快速度 + 中国互联网全行业对照。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估值跃升台阶图：每一级台阶都对应一次 ARR 或模型的验证事件。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 双线图 + 定价公式：反超发生在 2026.05；拐点总在模型发布节点。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百倍杠杆 + Claude Code 三个 KPI + 杰文斯悖论收束第一篇。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SaaS 大浩劫：回撤条形图 + 蒸发总额 + 估值倍数降维，一页讲完失血侧。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席位制公式瓦解 + Agentforce 自噬算术。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JIT 软件：采购 9 个月 vs 生成 20 分钟的对照。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黄昏论战的三大软肋。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双环生态：CLI 执行引擎 + MCP 安全边界。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耻辱纪元四幕：政变/珍珠港/Windsurf/GPT-5。故事弧第一步。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Red 重组 + Codex 1.0→2.0 架构认错。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追赶曲线：两次短暂反超都被重新拉开；终端代差仍在。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经济战：军备清单 + 价格对照 + 成本结构软肋。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复利税：benchmark 小差距 = 生产大差距。OpenAI 故事弧收束。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Gemini 落差：纸面资源 vs 生态判决——衰落是能力结构问题，不是资源问题。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Gemini 四大硬伤 + T-Bench 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三情景卡：收敛/僵持/发散，基准情形支撑 1.8-2.0T。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饱和曲线：33%→98%，标尺被刷穿。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SWE Pro vs T-Bench 机制对比 + 真实任务实例。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Sonnet&gt;Opus：快探测循环定律；Fable 低分=安全税而非智力。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代码即 IR：四支柱论证 + 任务→引擎→沙箱管线图。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Instinct 与 Muse 案例：通用 Agent=代码内核的行业实证。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护城河：飞轮 + 三笔时间资产 + OpenAI 路径遗产对照。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预测坐标系：Altman/Amodei/Karpathy/LeCun 四点位 + 共识与参照物。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RSI：26%/90%/8x 三数字 + 四大自举流水线。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ASL 阶梯表 + Fable/Mythos 双轨：安全溢价的制度化表达。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3.0 语录谱系 + 反方校准与落点。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终极定价：自治滑杆可视化——$2T=对转速的杠杆化押注。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尾声：五条可证伪 watchlist + 三情景一行收束。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结语：三问回收 + 一句话收束全篇。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100584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F1DE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$2T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深度研究备忘录 · RESEARCH MEMO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514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资本飞轮 × 产业大迁徙 × 递归自我演化 —— 一份投研级拆解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6928" y="4434840"/>
            <a:ext cx="2578608" cy="274320"/>
          </a:xfrm>
          <a:prstGeom prst="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B887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第一篇 · 资本神话与 ARR 飞轮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74136" y="4434840"/>
            <a:ext cx="2194560" cy="274320"/>
          </a:xfrm>
          <a:prstGeom prst="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D977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第二篇 · 产业重构与格局战争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97296" y="4434840"/>
            <a:ext cx="1938528" cy="274320"/>
          </a:xfrm>
          <a:prstGeom prst="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1B8F8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第三篇 · 代码即 AGI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57607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数据截至 2026 年 10 月 · 全文 36 页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三个问题，一条证据链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序章：敲钟前夜 —— 每一问对应一篇论证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538728" cy="393192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95528" y="251460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一家成立五年的公司，凭什么挂出 $2T？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5528" y="3520440"/>
            <a:ext cx="3081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年化 ARR 突破 $1,000 亿、单一产品 Claude Code 年入 $25 亿——收入引擎是编码 Agent，不是聊天订阅。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5230368"/>
            <a:ext cx="2011680" cy="274320"/>
          </a:xfrm>
          <a:prstGeom prst="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B887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第一篇 · 资本神话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3538728" cy="393192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62856" y="251460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对手是谁，王座有多稳？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62856" y="3520440"/>
            <a:ext cx="3081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SaaS 万亿市值蒸发是注脚；真正的攻防在模型层——OpenAI 知耻后勇连追三代，Google 全线溃败。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62856" y="5230368"/>
            <a:ext cx="2011680" cy="274320"/>
          </a:xfrm>
          <a:prstGeom prst="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D977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第二篇 · 产业重构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01584" y="1783080"/>
            <a:ext cx="3538728" cy="393192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30184" y="251460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为什么这一切不会停在今天？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30184" y="3520440"/>
            <a:ext cx="3081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代码是人类首个被彻底形式化的智能领域；Claude 已深度参与训练下一代 Claude——RSI 飞轮一旦转起，差距按复利拉开。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30184" y="5230368"/>
            <a:ext cx="2011680" cy="274320"/>
          </a:xfrm>
          <a:prstGeom prst="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1B8F8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第三篇 · 代码即 AGI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序章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 · 三篇递进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先回答钱从哪来，再回答谁在买单，最后回答为什么不会停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538728" cy="416052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38528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" y="228600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资本神话与 ARR 飞轮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2880360"/>
            <a:ext cx="31363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1.1 $2T 的坐标系：全球前七</a:t>
            </a:r>
            <a:endParaRPr lang="en-US" sz="10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1.2 估值跃升：四年 111 倍</a:t>
            </a:r>
            <a:endParaRPr lang="en-US" sz="10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1.3 ARR 大逆转：16x → 0.7x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1.4 Claude Code 与百倍杠杆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4256" y="1783080"/>
            <a:ext cx="3538728" cy="416052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938528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5424" y="228600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产业重构与格局战争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35424" y="2880360"/>
            <a:ext cx="31363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2.1 SaaSpocalypse：$1.2T 蒸发</a:t>
            </a:r>
            <a:endParaRPr lang="en-US" sz="10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2.2 席位制死锁与 Agentforce</a:t>
            </a:r>
            <a:endParaRPr lang="en-US" sz="10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2.3 即时软件：边际成本归零</a:t>
            </a:r>
            <a:endParaRPr lang="en-US" sz="10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2.4 MCP 黄昏与双环生态</a:t>
            </a:r>
            <a:endParaRPr lang="en-US" sz="10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2.5 OpenAI 知耻后勇：四幕反攻</a:t>
            </a:r>
            <a:endParaRPr lang="en-US" sz="10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2.6 Gemini 衰落：执行力赤字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2.7 三情景定价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1584" y="1783080"/>
            <a:ext cx="3538728" cy="416052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938528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2752" y="228600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代码即 AGI：递归演化与文明拐点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02752" y="2880360"/>
            <a:ext cx="31363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3.1 评测革命与终端自愈</a:t>
            </a:r>
            <a:endParaRPr lang="en-US" sz="10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3.2 代码即思维中间表示</a:t>
            </a:r>
            <a:endParaRPr lang="en-US" sz="10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3.3 护城河解剖：为何是 Claude</a:t>
            </a:r>
            <a:endParaRPr lang="en-US" sz="10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3.4 AGI 预测坐标系</a:t>
            </a:r>
            <a:endParaRPr lang="en-US" sz="10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3.5 RSI 四大自举流水线</a:t>
            </a:r>
            <a:endParaRPr lang="en-US" sz="10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3.6 ASL-3 与安全双轨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3.7 Software 3.0 与自治滑杆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61264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尾声：投资者季度跟踪清单 P35 · 结语 P36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0" b="1" dirty="0">
                <a:solidFill>
                  <a:srgbClr val="F1DE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Text 1"/>
          <p:cNvSpPr/>
          <p:nvPr/>
        </p:nvSpPr>
        <p:spPr>
          <a:xfrm>
            <a:off x="566928" y="274320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资本神话与 ARR 飞轮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5204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 · THE $2T QUESTION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3977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先回答最表面的问题：这家成立五年的公司，收入从哪来、为什么敢要 2 万亿。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5120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1.1 坐标系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1.2 估值跃升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5968" y="5120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1.3 ARR 逆转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1.4 百倍杠杆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15968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· 2T IPO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1.1 数字的坐标系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万亿美元意味着什么？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全球史上仅六家公司跨过 $2T ——Anthropic 将是第七家，也是唯一一家成立不足六年的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764792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NVIDIA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32888" y="1801368"/>
            <a:ext cx="3246120" cy="201168"/>
          </a:xfrm>
          <a:prstGeom prst="rect">
            <a:avLst>
              <a:gd name="adj" fmla="val 13636"/>
            </a:avLst>
          </a:prstGeom>
          <a:solidFill>
            <a:srgbClr val="F1EDE3"/>
          </a:solidFill>
          <a:ln/>
        </p:spPr>
      </p:sp>
      <p:sp>
        <p:nvSpPr>
          <p:cNvPr id="7" name="Shape 5"/>
          <p:cNvSpPr/>
          <p:nvPr/>
        </p:nvSpPr>
        <p:spPr>
          <a:xfrm>
            <a:off x="2532888" y="1801368"/>
            <a:ext cx="3116275" cy="201168"/>
          </a:xfrm>
          <a:prstGeom prst="rect">
            <a:avLst>
              <a:gd name="adj" fmla="val 13636"/>
            </a:avLst>
          </a:prstGeom>
          <a:solidFill>
            <a:srgbClr val="6E6655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17647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$4.8T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33172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32888" y="2368296"/>
            <a:ext cx="3246120" cy="201168"/>
          </a:xfrm>
          <a:prstGeom prst="rect">
            <a:avLst>
              <a:gd name="adj" fmla="val 13636"/>
            </a:avLst>
          </a:prstGeom>
          <a:solidFill>
            <a:srgbClr val="F1EDE3"/>
          </a:solidFill>
          <a:ln/>
        </p:spPr>
      </p:sp>
      <p:sp>
        <p:nvSpPr>
          <p:cNvPr id="11" name="Shape 9"/>
          <p:cNvSpPr/>
          <p:nvPr/>
        </p:nvSpPr>
        <p:spPr>
          <a:xfrm>
            <a:off x="2532888" y="2368296"/>
            <a:ext cx="2531974" cy="201168"/>
          </a:xfrm>
          <a:prstGeom prst="rect">
            <a:avLst>
              <a:gd name="adj" fmla="val 13636"/>
            </a:avLst>
          </a:prstGeom>
          <a:solidFill>
            <a:srgbClr val="6E6655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2331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$3.9T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8986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Microsoft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32888" y="2935224"/>
            <a:ext cx="3246120" cy="201168"/>
          </a:xfrm>
          <a:prstGeom prst="rect">
            <a:avLst>
              <a:gd name="adj" fmla="val 13636"/>
            </a:avLst>
          </a:prstGeom>
          <a:solidFill>
            <a:srgbClr val="F1EDE3"/>
          </a:solidFill>
          <a:ln/>
        </p:spPr>
      </p:sp>
      <p:sp>
        <p:nvSpPr>
          <p:cNvPr id="15" name="Shape 13"/>
          <p:cNvSpPr/>
          <p:nvPr/>
        </p:nvSpPr>
        <p:spPr>
          <a:xfrm>
            <a:off x="2532888" y="2935224"/>
            <a:ext cx="2337206" cy="201168"/>
          </a:xfrm>
          <a:prstGeom prst="rect">
            <a:avLst>
              <a:gd name="adj" fmla="val 13636"/>
            </a:avLst>
          </a:prstGeom>
          <a:solidFill>
            <a:srgbClr val="6E6655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2898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$3.6T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3465576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Alphabet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32888" y="3502152"/>
            <a:ext cx="3246120" cy="201168"/>
          </a:xfrm>
          <a:prstGeom prst="rect">
            <a:avLst>
              <a:gd name="adj" fmla="val 13636"/>
            </a:avLst>
          </a:prstGeom>
          <a:solidFill>
            <a:srgbClr val="F1EDE3"/>
          </a:solidFill>
          <a:ln/>
        </p:spPr>
      </p:sp>
      <p:sp>
        <p:nvSpPr>
          <p:cNvPr id="19" name="Shape 17"/>
          <p:cNvSpPr/>
          <p:nvPr/>
        </p:nvSpPr>
        <p:spPr>
          <a:xfrm>
            <a:off x="2532888" y="3502152"/>
            <a:ext cx="2012594" cy="201168"/>
          </a:xfrm>
          <a:prstGeom prst="rect">
            <a:avLst>
              <a:gd name="adj" fmla="val 13636"/>
            </a:avLst>
          </a:prstGeom>
          <a:solidFill>
            <a:srgbClr val="6E6655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34655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$3.1T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4032504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Amazon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32888" y="4069080"/>
            <a:ext cx="3246120" cy="201168"/>
          </a:xfrm>
          <a:prstGeom prst="rect">
            <a:avLst>
              <a:gd name="adj" fmla="val 13636"/>
            </a:avLst>
          </a:prstGeom>
          <a:solidFill>
            <a:srgbClr val="F1EDE3"/>
          </a:solidFill>
          <a:ln/>
        </p:spPr>
      </p:sp>
      <p:sp>
        <p:nvSpPr>
          <p:cNvPr id="23" name="Shape 21"/>
          <p:cNvSpPr/>
          <p:nvPr/>
        </p:nvSpPr>
        <p:spPr>
          <a:xfrm>
            <a:off x="2532888" y="4069080"/>
            <a:ext cx="1687982" cy="201168"/>
          </a:xfrm>
          <a:prstGeom prst="rect">
            <a:avLst>
              <a:gd name="adj" fmla="val 13636"/>
            </a:avLst>
          </a:prstGeom>
          <a:solidFill>
            <a:srgbClr val="6E6655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0" y="4032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$2.6T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4599432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Saudi Aramco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32888" y="4636008"/>
            <a:ext cx="3246120" cy="201168"/>
          </a:xfrm>
          <a:prstGeom prst="rect">
            <a:avLst>
              <a:gd name="adj" fmla="val 13636"/>
            </a:avLst>
          </a:prstGeom>
          <a:solidFill>
            <a:srgbClr val="F1EDE3"/>
          </a:solidFill>
          <a:ln/>
        </p:spPr>
      </p:sp>
      <p:sp>
        <p:nvSpPr>
          <p:cNvPr id="27" name="Shape 25"/>
          <p:cNvSpPr/>
          <p:nvPr/>
        </p:nvSpPr>
        <p:spPr>
          <a:xfrm>
            <a:off x="2532888" y="4636008"/>
            <a:ext cx="1233526" cy="201168"/>
          </a:xfrm>
          <a:prstGeom prst="rect">
            <a:avLst>
              <a:gd name="adj" fmla="val 13636"/>
            </a:avLst>
          </a:prstGeom>
          <a:solidFill>
            <a:srgbClr val="6E6655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45994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$1.9T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516636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Anthropic（IPO 目标）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32888" y="5202936"/>
            <a:ext cx="3246120" cy="201168"/>
          </a:xfrm>
          <a:prstGeom prst="rect">
            <a:avLst>
              <a:gd name="adj" fmla="val 13636"/>
            </a:avLst>
          </a:prstGeom>
          <a:solidFill>
            <a:srgbClr val="F1EDE3"/>
          </a:solidFill>
          <a:ln/>
        </p:spPr>
      </p:sp>
      <p:sp>
        <p:nvSpPr>
          <p:cNvPr id="31" name="Shape 29"/>
          <p:cNvSpPr/>
          <p:nvPr/>
        </p:nvSpPr>
        <p:spPr>
          <a:xfrm>
            <a:off x="2532888" y="5202936"/>
            <a:ext cx="1233526" cy="201168"/>
          </a:xfrm>
          <a:prstGeom prst="rect">
            <a:avLst>
              <a:gd name="adj" fmla="val 13636"/>
            </a:avLst>
          </a:prstGeom>
          <a:solidFill>
            <a:srgbClr val="D97757"/>
          </a:solidFill>
          <a:ln/>
        </p:spPr>
      </p:sp>
      <p:sp>
        <p:nvSpPr>
          <p:cNvPr id="32" name="Text 30"/>
          <p:cNvSpPr/>
          <p:nvPr/>
        </p:nvSpPr>
        <p:spPr>
          <a:xfrm>
            <a:off x="5852160" y="5166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$1.8–2.0T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178040" y="1737360"/>
            <a:ext cx="44348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历史最快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06640" y="2240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5.7 年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7406640" y="2971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从成立到 $2T：Apple 用了 42 年，Microsoft 33 年，NVIDIA 31 年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406640" y="3611880"/>
            <a:ext cx="3931920" cy="0"/>
          </a:xfrm>
          <a:prstGeom prst="line">
            <a:avLst/>
          </a:prstGeom>
          <a:noFill/>
          <a:ln w="9525">
            <a:solidFill>
              <a:srgbClr val="EAE4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另一种坐标系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0664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 中国 Top 10 互联网巨头市值总和 × 1.5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06640" y="4617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腾讯 + 阿里 + 拼多多 + 美团 + 小米 + 网易 + 京东 + 携程 + 百度 + 快手 ≈ $1.32 万亿——十家公司覆盖十亿网民的全部数字生活，Anthropic 卖的是给所有行业供能的智能底座。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 · 1.1 坐标系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1.2 定价重构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估值跃升：11 个月再翻一倍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$180 亿到 $2 万亿——四年 111 倍，每一级台阶都对应一次能力验证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4800600"/>
            <a:ext cx="201168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4343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$180 亿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5733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2024 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60258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3.5 统治 IDE 插件时代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24912" y="5303520"/>
            <a:ext cx="384048" cy="237744"/>
          </a:xfrm>
          <a:prstGeom prst="rightArrow">
            <a:avLst/>
          </a:prstGeom>
          <a:solidFill>
            <a:srgbClr val="A79D8B"/>
          </a:solidFill>
          <a:ln/>
        </p:spPr>
      </p:sp>
      <p:sp>
        <p:nvSpPr>
          <p:cNvPr id="10" name="Shape 8"/>
          <p:cNvSpPr/>
          <p:nvPr/>
        </p:nvSpPr>
        <p:spPr>
          <a:xfrm>
            <a:off x="3264408" y="3886200"/>
            <a:ext cx="2011680" cy="173736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3429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$1,500–2,000 亿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72968" y="5733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 下半年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72968" y="60258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发布，ARR 斜率拐点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22392" y="5303520"/>
            <a:ext cx="384048" cy="237744"/>
          </a:xfrm>
          <a:prstGeom prst="rightArrow">
            <a:avLst/>
          </a:prstGeom>
          <a:solidFill>
            <a:srgbClr val="A79D8B"/>
          </a:solidFill>
          <a:ln/>
        </p:spPr>
      </p:sp>
      <p:sp>
        <p:nvSpPr>
          <p:cNvPr id="15" name="Shape 13"/>
          <p:cNvSpPr/>
          <p:nvPr/>
        </p:nvSpPr>
        <p:spPr>
          <a:xfrm>
            <a:off x="5961888" y="2697480"/>
            <a:ext cx="2011680" cy="29260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0448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$9,650 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70448" y="5733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2026.05 Series 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70448" y="60258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ARR 反超 OpenAI 的定价确认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19872" y="5303520"/>
            <a:ext cx="384048" cy="237744"/>
          </a:xfrm>
          <a:prstGeom prst="rightArrow">
            <a:avLst/>
          </a:prstGeom>
          <a:solidFill>
            <a:srgbClr val="A79D8B"/>
          </a:solidFill>
          <a:ln/>
        </p:spPr>
      </p:sp>
      <p:sp>
        <p:nvSpPr>
          <p:cNvPr id="20" name="Shape 18"/>
          <p:cNvSpPr/>
          <p:nvPr/>
        </p:nvSpPr>
        <p:spPr>
          <a:xfrm>
            <a:off x="8659368" y="1600200"/>
            <a:ext cx="2011680" cy="4023360"/>
          </a:xfrm>
          <a:prstGeom prst="rect">
            <a:avLst>
              <a:gd name="adj" fmla="val 2273"/>
            </a:avLst>
          </a:prstGeom>
          <a:solidFill>
            <a:srgbClr val="D97757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928" y="1143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$1.8 – 2.0 万亿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567928" y="5733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2026.11 IPO（目标）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67928" y="60258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二级市场为 AGI 期权定价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017520" y="4160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倍率 ×6.5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倍率 ×5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1417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×2 in 11 个月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 · 1.2 估值跃升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1.3 营收逆转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ARR 世纪追赶：从 16:1 到反超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年化营收（亿美元）· 2023–2026E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07008" y="5212080"/>
            <a:ext cx="640080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11149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$0亿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207008" y="4129430"/>
            <a:ext cx="640080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02884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$400亿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207008" y="3046781"/>
            <a:ext cx="640080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46197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$800亿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207008" y="1964131"/>
            <a:ext cx="640080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863547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$1200亿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41248" y="5303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23末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41348" y="5303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24中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41448" y="5303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24末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41548" y="5303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25.02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41648" y="5303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25末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1748" y="5303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26.05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41848" y="5303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26.07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41948" y="5303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26.09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242048" y="5303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26末E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207008" y="5212080"/>
            <a:ext cx="6400800" cy="0"/>
          </a:xfrm>
          <a:prstGeom prst="line">
            <a:avLst/>
          </a:prstGeom>
          <a:noFill/>
          <a:ln w="12700">
            <a:solidFill>
              <a:srgbClr val="E3DC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207008" y="5201254"/>
            <a:ext cx="800100" cy="812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007108" y="5185014"/>
            <a:ext cx="800100" cy="1624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2807208" y="5157948"/>
            <a:ext cx="800100" cy="27066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607308" y="4968484"/>
            <a:ext cx="800100" cy="189464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4407408" y="3994099"/>
            <a:ext cx="800100" cy="974385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207508" y="3452774"/>
            <a:ext cx="800100" cy="541325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6007608" y="2505456"/>
            <a:ext cx="800100" cy="947318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807708" y="1964131"/>
            <a:ext cx="800100" cy="541325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61288" y="5163653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2" name="Shape 30"/>
          <p:cNvSpPr/>
          <p:nvPr/>
        </p:nvSpPr>
        <p:spPr>
          <a:xfrm>
            <a:off x="1961388" y="5155534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3" name="Shape 31"/>
          <p:cNvSpPr/>
          <p:nvPr/>
        </p:nvSpPr>
        <p:spPr>
          <a:xfrm>
            <a:off x="2761488" y="5139294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4" name="Shape 32"/>
          <p:cNvSpPr/>
          <p:nvPr/>
        </p:nvSpPr>
        <p:spPr>
          <a:xfrm>
            <a:off x="3561588" y="5112228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5" name="Shape 33"/>
          <p:cNvSpPr/>
          <p:nvPr/>
        </p:nvSpPr>
        <p:spPr>
          <a:xfrm>
            <a:off x="4361688" y="4922764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6" name="Shape 34"/>
          <p:cNvSpPr/>
          <p:nvPr/>
        </p:nvSpPr>
        <p:spPr>
          <a:xfrm>
            <a:off x="5161788" y="3948379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7" name="Shape 35"/>
          <p:cNvSpPr/>
          <p:nvPr/>
        </p:nvSpPr>
        <p:spPr>
          <a:xfrm>
            <a:off x="5961888" y="3407054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8" name="Shape 36"/>
          <p:cNvSpPr/>
          <p:nvPr/>
        </p:nvSpPr>
        <p:spPr>
          <a:xfrm>
            <a:off x="6761988" y="2459736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9" name="Shape 37"/>
          <p:cNvSpPr/>
          <p:nvPr/>
        </p:nvSpPr>
        <p:spPr>
          <a:xfrm>
            <a:off x="7539228" y="1895551"/>
            <a:ext cx="137160" cy="1371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0" name="Text 38"/>
          <p:cNvSpPr/>
          <p:nvPr/>
        </p:nvSpPr>
        <p:spPr>
          <a:xfrm>
            <a:off x="6419088" y="1634947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$1,200亿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V="1">
            <a:off x="1207008" y="5136295"/>
            <a:ext cx="800100" cy="32479"/>
          </a:xfrm>
          <a:prstGeom prst="line">
            <a:avLst/>
          </a:prstGeom>
          <a:noFill/>
          <a:ln w="31750">
            <a:solidFill>
              <a:srgbClr val="3E74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2007108" y="5103815"/>
            <a:ext cx="800100" cy="32479"/>
          </a:xfrm>
          <a:prstGeom prst="line">
            <a:avLst/>
          </a:prstGeom>
          <a:noFill/>
          <a:ln w="31750">
            <a:solidFill>
              <a:srgbClr val="3E74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2807208" y="5049683"/>
            <a:ext cx="800100" cy="54132"/>
          </a:xfrm>
          <a:prstGeom prst="line">
            <a:avLst/>
          </a:prstGeom>
          <a:noFill/>
          <a:ln w="31750">
            <a:solidFill>
              <a:srgbClr val="3E74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3607308" y="4860219"/>
            <a:ext cx="800100" cy="189464"/>
          </a:xfrm>
          <a:prstGeom prst="line">
            <a:avLst/>
          </a:prstGeom>
          <a:noFill/>
          <a:ln w="31750">
            <a:solidFill>
              <a:srgbClr val="3E74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4407408" y="4264762"/>
            <a:ext cx="800100" cy="595457"/>
          </a:xfrm>
          <a:prstGeom prst="line">
            <a:avLst/>
          </a:prstGeom>
          <a:noFill/>
          <a:ln w="31750">
            <a:solidFill>
              <a:srgbClr val="3E74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5207508" y="4129430"/>
            <a:ext cx="800100" cy="135331"/>
          </a:xfrm>
          <a:prstGeom prst="line">
            <a:avLst/>
          </a:prstGeom>
          <a:noFill/>
          <a:ln w="31750">
            <a:solidFill>
              <a:srgbClr val="3E74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6007608" y="3317443"/>
            <a:ext cx="800100" cy="811987"/>
          </a:xfrm>
          <a:prstGeom prst="line">
            <a:avLst/>
          </a:prstGeom>
          <a:noFill/>
          <a:ln w="31750">
            <a:solidFill>
              <a:srgbClr val="3E74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6807708" y="2776118"/>
            <a:ext cx="800100" cy="541325"/>
          </a:xfrm>
          <a:prstGeom prst="line">
            <a:avLst/>
          </a:prstGeom>
          <a:noFill/>
          <a:ln w="31750">
            <a:solidFill>
              <a:srgbClr val="3E74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61288" y="5123054"/>
            <a:ext cx="91440" cy="91440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50" name="Shape 48"/>
          <p:cNvSpPr/>
          <p:nvPr/>
        </p:nvSpPr>
        <p:spPr>
          <a:xfrm>
            <a:off x="1961388" y="5090575"/>
            <a:ext cx="91440" cy="91440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51" name="Shape 49"/>
          <p:cNvSpPr/>
          <p:nvPr/>
        </p:nvSpPr>
        <p:spPr>
          <a:xfrm>
            <a:off x="2761488" y="5058095"/>
            <a:ext cx="91440" cy="91440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52" name="Shape 50"/>
          <p:cNvSpPr/>
          <p:nvPr/>
        </p:nvSpPr>
        <p:spPr>
          <a:xfrm>
            <a:off x="3561588" y="5003963"/>
            <a:ext cx="91440" cy="91440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53" name="Shape 51"/>
          <p:cNvSpPr/>
          <p:nvPr/>
        </p:nvSpPr>
        <p:spPr>
          <a:xfrm>
            <a:off x="4361688" y="4814499"/>
            <a:ext cx="91440" cy="91440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54" name="Shape 52"/>
          <p:cNvSpPr/>
          <p:nvPr/>
        </p:nvSpPr>
        <p:spPr>
          <a:xfrm>
            <a:off x="5161788" y="4219042"/>
            <a:ext cx="91440" cy="91440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55" name="Shape 53"/>
          <p:cNvSpPr/>
          <p:nvPr/>
        </p:nvSpPr>
        <p:spPr>
          <a:xfrm>
            <a:off x="5961888" y="4083710"/>
            <a:ext cx="91440" cy="91440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56" name="Shape 54"/>
          <p:cNvSpPr/>
          <p:nvPr/>
        </p:nvSpPr>
        <p:spPr>
          <a:xfrm>
            <a:off x="6761988" y="3271723"/>
            <a:ext cx="91440" cy="91440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57" name="Shape 55"/>
          <p:cNvSpPr/>
          <p:nvPr/>
        </p:nvSpPr>
        <p:spPr>
          <a:xfrm>
            <a:off x="7539228" y="2707538"/>
            <a:ext cx="137160" cy="137160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58" name="Text 56"/>
          <p:cNvSpPr/>
          <p:nvPr/>
        </p:nvSpPr>
        <p:spPr>
          <a:xfrm>
            <a:off x="6419088" y="290413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7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$900亿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252728" y="5623560"/>
            <a:ext cx="32004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45920" y="55321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852928" y="5623560"/>
            <a:ext cx="320040" cy="0"/>
          </a:xfrm>
          <a:prstGeom prst="line">
            <a:avLst/>
          </a:prstGeom>
          <a:noFill/>
          <a:ln w="31750">
            <a:solidFill>
              <a:srgbClr val="3E74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46120" y="55321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66928" y="5897880"/>
            <a:ext cx="7406640" cy="548640"/>
          </a:xfrm>
          <a:prstGeom prst="roundRect">
            <a:avLst>
              <a:gd name="adj" fmla="val 10000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5528" y="60167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定价公式：$1,000–1,200 亿 ARR × 16–18x P/S = $1.8–2.0T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8001000" y="1737360"/>
            <a:ext cx="3611880" cy="47091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2960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倍数坍缩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8229600" y="2212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16.0x → 0.7x</a:t>
            </a:r>
            <a:endParaRPr lang="en-US" sz="2600" dirty="0"/>
          </a:p>
        </p:txBody>
      </p:sp>
      <p:sp>
        <p:nvSpPr>
          <p:cNvPr id="68" name="Text 66"/>
          <p:cNvSpPr/>
          <p:nvPr/>
        </p:nvSpPr>
        <p:spPr>
          <a:xfrm>
            <a:off x="8229600" y="288036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2025.02 Claude Code 发布：追赶斜率的决定性拐点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2026.05 ARR 首次反超（$450 亿 vs $350 亿）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2026.09 突破 $1,000 亿年化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斜率拐点永远落在编码模型发布节点上——不是巧合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 · 1.3 ARR 逆转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1.4 催化核爆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Code：同一开发者，百倍 Token 消耗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它改变的不是功能，而是单位用户的算力消费模型——这就是 ARR 爆炸的微观机制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46634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 时代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331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1–2K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95528" y="3017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tokens / 次交互 · 问一句答一段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2514600"/>
            <a:ext cx="1234440" cy="1234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2898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×100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967728" y="1783080"/>
            <a:ext cx="46634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96328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时代（Claude Code）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96328" y="2331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0.5–2M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7196328" y="3017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tokens / 单次端到端任务 · 40–150 轮「改码→跑测→自愈」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617720"/>
            <a:ext cx="3538728" cy="1005840"/>
          </a:xfrm>
          <a:prstGeom prst="roundRect">
            <a:avLst>
              <a:gd name="adj" fmla="val 5455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773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$25 亿+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68096" y="5193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单品年化 ARR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34256" y="4617720"/>
            <a:ext cx="3538728" cy="1005840"/>
          </a:xfrm>
          <a:prstGeom prst="roundRect">
            <a:avLst>
              <a:gd name="adj" fmla="val 5455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4773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~7%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35424" y="5193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GitHub 全网新增 commit 渗透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01584" y="4617720"/>
            <a:ext cx="3538728" cy="1005840"/>
          </a:xfrm>
          <a:prstGeom prst="roundRect">
            <a:avLst>
              <a:gd name="adj" fmla="val 5455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4773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个月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02752" y="5193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研究预览 → 全面商用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59436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杰文斯悖论：单价 −90%，任务消耗 +100× —— 企业不止不省钱，反而启动 Agent 舰队，ARR 指数爆发。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 · 1.4 百倍杠杆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0" b="1" dirty="0">
                <a:solidFill>
                  <a:srgbClr val="F1DE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Text 1"/>
          <p:cNvSpPr/>
          <p:nvPr/>
        </p:nvSpPr>
        <p:spPr>
          <a:xfrm>
            <a:off x="566928" y="274320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产业重构与格局战争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5204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 · INDUSTRY RESTRUCTURING &amp; THE THRONE WAR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3977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旧世界的万亿市值正在蒸发；新王座前，OpenAI 知耻后勇、Google 全线溃败。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5120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2.1 SaaSpocalypse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2.2 席位制死锁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5968" y="5120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2.3 即时软件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2.4 MCP 论战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15968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65008" y="5120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2.5 OpenAI 知耻后勇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2.6 Gemini 衰落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65008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· 2T IPO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2.1 资本大屠杀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SaaSpocalypse：万亿美元市值大迁徙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六大 SaaS 标杆自历史高点的最大回撤（2024–2026）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76479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Atlassian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21408" y="1801368"/>
            <a:ext cx="4297680" cy="201168"/>
          </a:xfrm>
          <a:prstGeom prst="rect">
            <a:avLst>
              <a:gd name="adj" fmla="val 13636"/>
            </a:avLst>
          </a:prstGeom>
          <a:solidFill>
            <a:srgbClr val="F1EDE3"/>
          </a:solidFill>
          <a:ln/>
        </p:spPr>
      </p:sp>
      <p:sp>
        <p:nvSpPr>
          <p:cNvPr id="7" name="Shape 5"/>
          <p:cNvSpPr/>
          <p:nvPr/>
        </p:nvSpPr>
        <p:spPr>
          <a:xfrm>
            <a:off x="2121408" y="1801368"/>
            <a:ext cx="4039819" cy="201168"/>
          </a:xfrm>
          <a:prstGeom prst="rect">
            <a:avLst>
              <a:gd name="adj" fmla="val 13636"/>
            </a:avLst>
          </a:prstGeom>
          <a:solidFill>
            <a:srgbClr val="C7453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64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-70.5%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42316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Snowflake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21408" y="2459736"/>
            <a:ext cx="4297680" cy="201168"/>
          </a:xfrm>
          <a:prstGeom prst="rect">
            <a:avLst>
              <a:gd name="adj" fmla="val 13636"/>
            </a:avLst>
          </a:prstGeom>
          <a:solidFill>
            <a:srgbClr val="F1EDE3"/>
          </a:solidFill>
          <a:ln/>
        </p:spPr>
      </p:sp>
      <p:sp>
        <p:nvSpPr>
          <p:cNvPr id="11" name="Shape 9"/>
          <p:cNvSpPr/>
          <p:nvPr/>
        </p:nvSpPr>
        <p:spPr>
          <a:xfrm>
            <a:off x="2121408" y="2459736"/>
            <a:ext cx="2928153" cy="201168"/>
          </a:xfrm>
          <a:prstGeom prst="rect">
            <a:avLst>
              <a:gd name="adj" fmla="val 13636"/>
            </a:avLst>
          </a:prstGeom>
          <a:solidFill>
            <a:srgbClr val="C745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-51.1%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08152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ServiceNow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21408" y="3118104"/>
            <a:ext cx="4297680" cy="201168"/>
          </a:xfrm>
          <a:prstGeom prst="rect">
            <a:avLst>
              <a:gd name="adj" fmla="val 13636"/>
            </a:avLst>
          </a:prstGeom>
          <a:solidFill>
            <a:srgbClr val="F1EDE3"/>
          </a:solidFill>
          <a:ln/>
        </p:spPr>
      </p:sp>
      <p:sp>
        <p:nvSpPr>
          <p:cNvPr id="15" name="Shape 13"/>
          <p:cNvSpPr/>
          <p:nvPr/>
        </p:nvSpPr>
        <p:spPr>
          <a:xfrm>
            <a:off x="2121408" y="3118104"/>
            <a:ext cx="2315017" cy="201168"/>
          </a:xfrm>
          <a:prstGeom prst="rect">
            <a:avLst>
              <a:gd name="adj" fmla="val 13636"/>
            </a:avLst>
          </a:prstGeom>
          <a:solidFill>
            <a:srgbClr val="C745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081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-40.4%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73989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Adobe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21408" y="3776472"/>
            <a:ext cx="4297680" cy="201168"/>
          </a:xfrm>
          <a:prstGeom prst="rect">
            <a:avLst>
              <a:gd name="adj" fmla="val 13636"/>
            </a:avLst>
          </a:prstGeom>
          <a:solidFill>
            <a:srgbClr val="F1EDE3"/>
          </a:solidFill>
          <a:ln/>
        </p:spPr>
      </p:sp>
      <p:sp>
        <p:nvSpPr>
          <p:cNvPr id="19" name="Shape 17"/>
          <p:cNvSpPr/>
          <p:nvPr/>
        </p:nvSpPr>
        <p:spPr>
          <a:xfrm>
            <a:off x="2121408" y="3776472"/>
            <a:ext cx="2045696" cy="201168"/>
          </a:xfrm>
          <a:prstGeom prst="rect">
            <a:avLst>
              <a:gd name="adj" fmla="val 13636"/>
            </a:avLst>
          </a:prstGeom>
          <a:solidFill>
            <a:srgbClr val="C745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7398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-35.7%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439826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Workday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21408" y="4434840"/>
            <a:ext cx="4297680" cy="201168"/>
          </a:xfrm>
          <a:prstGeom prst="rect">
            <a:avLst>
              <a:gd name="adj" fmla="val 13636"/>
            </a:avLst>
          </a:prstGeom>
          <a:solidFill>
            <a:srgbClr val="F1EDE3"/>
          </a:solidFill>
          <a:ln/>
        </p:spPr>
      </p:sp>
      <p:sp>
        <p:nvSpPr>
          <p:cNvPr id="23" name="Shape 21"/>
          <p:cNvSpPr/>
          <p:nvPr/>
        </p:nvSpPr>
        <p:spPr>
          <a:xfrm>
            <a:off x="2121408" y="4434840"/>
            <a:ext cx="1908170" cy="201168"/>
          </a:xfrm>
          <a:prstGeom prst="rect">
            <a:avLst>
              <a:gd name="adj" fmla="val 13636"/>
            </a:avLst>
          </a:prstGeom>
          <a:solidFill>
            <a:srgbClr val="C745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3982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-33.3%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505663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Salesforce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21408" y="5093208"/>
            <a:ext cx="4297680" cy="201168"/>
          </a:xfrm>
          <a:prstGeom prst="rect">
            <a:avLst>
              <a:gd name="adj" fmla="val 13636"/>
            </a:avLst>
          </a:prstGeom>
          <a:solidFill>
            <a:srgbClr val="F1EDE3"/>
          </a:solidFill>
          <a:ln/>
        </p:spPr>
      </p:sp>
      <p:sp>
        <p:nvSpPr>
          <p:cNvPr id="27" name="Shape 25"/>
          <p:cNvSpPr/>
          <p:nvPr/>
        </p:nvSpPr>
        <p:spPr>
          <a:xfrm>
            <a:off x="2121408" y="5093208"/>
            <a:ext cx="1764914" cy="201168"/>
          </a:xfrm>
          <a:prstGeom prst="rect">
            <a:avLst>
              <a:gd name="adj" fmla="val 13636"/>
            </a:avLst>
          </a:prstGeom>
          <a:solidFill>
            <a:srgbClr val="C7453A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50566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-30.8%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1737360"/>
            <a:ext cx="3840480" cy="42976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六家合计蒸发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01000" y="2240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&gt;$4,000 亿</a:t>
            </a:r>
            <a:endParaRPr lang="en-US" sz="3400" dirty="0"/>
          </a:p>
        </p:txBody>
      </p:sp>
      <p:sp>
        <p:nvSpPr>
          <p:cNvPr id="32" name="Shape 30"/>
          <p:cNvSpPr/>
          <p:nvPr/>
        </p:nvSpPr>
        <p:spPr>
          <a:xfrm>
            <a:off x="8001000" y="2926080"/>
            <a:ext cx="3383280" cy="0"/>
          </a:xfrm>
          <a:prstGeom prst="line">
            <a:avLst/>
          </a:prstGeom>
          <a:noFill/>
          <a:ln w="9525">
            <a:solidFill>
              <a:srgbClr val="EAE4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全行业（BVP Cloud）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001000" y="34015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&gt;$1.2 万亿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8001000" y="4114800"/>
            <a:ext cx="3383280" cy="0"/>
          </a:xfrm>
          <a:prstGeom prst="line">
            <a:avLst/>
          </a:prstGeom>
          <a:noFill/>
          <a:ln w="9525">
            <a:solidFill>
              <a:srgbClr val="EAE4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01000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估值体系整体降维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00100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EV/Sales 中位数 18.5x → 5.6x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001000" y="5074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蒸发的市值几乎分文不差地重计入了底层模型公司的估值。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 · 2.1 SAASPOCALYPSE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2.2 席位制死锁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ARR = 人头 × 单价：被连根拔起的增长公式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让企业在人头零增长的前提下业绩翻倍——坐席费模型失去自然增长动力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 SaaS 增长公式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ARR = 员工数 × 席位单价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5528" y="2926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企业扩张一倍 → 坐席多买一倍。当 AI 冻结编制，等式第一项直接停转，NDR 跌破 100%。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Salesforce Agentforce 的困兽之斗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 / 次对话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8803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结果制计费听起来性感：但 Agent 每解决 80% 售后咨询，CFO 第一件事就是砍掉 500 个 $150/月的坐席。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4114800"/>
            <a:ext cx="11055096" cy="1828800"/>
          </a:xfrm>
          <a:prstGeom prst="roundRect">
            <a:avLst>
              <a:gd name="adj" fmla="val 3000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左口袋倒右口袋的坍塌算术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5528" y="4709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砍掉 500 个坐席  =  −$150 × 500 × 12 = −$90 万/月（确定性高毛利年费）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换回 Agent 计费   =  零星 $2/次调用——收入断崖远大于增量收入。创新者的窘境，现场版。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 · 2.2 席位制死锁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2.3 即时软件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Just-In-Time Software：边际制造成本归零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从「买软件」到「生成软件」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924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旧范式 · 采购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提出需求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2615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招标选型 3 个月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30723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5528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采购实施 6 个月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" y="35295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5528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付费 $500,000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" y="3986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5528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培训 + 忍受死板系统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34924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9B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新范式 · 生成（20 分钟）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「要一个跨部门大额报销工单流」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615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自动写 FastAPI + React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0723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挂载接口 / 部署内部 K8s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5295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即刻使用 · 业务变了就再生成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5029200"/>
            <a:ext cx="11055096" cy="1143000"/>
          </a:xfrm>
          <a:prstGeom prst="roundRect">
            <a:avLst>
              <a:gd name="adj" fmla="val 4800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终局推演：除国家级财务账本外，全行业 ~80% 横向功能性 SaaS（审批/看板/报表/营销自动化）正在被即时软件全量平替。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 · 2.3 即时软件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2.4 架构大论战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是否走向黄昏？三大软肋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2024 年的「AI 界 USB-C」，两年后被开发者重新审视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538728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软肋一 · Schema 隐形 Token 税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256032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MCP Server 要把全部 API Schema 预注入 System Prompt：单个 GitHub/Jira MCP 就占 2,000–5,000 tokens，挂 10 个 = 会话未开始先烧 3 万 tokens。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34256" y="1783080"/>
            <a:ext cx="3538728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软肋二 · Unix 管道降维打击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35424" y="256032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gh / aws / psql / jq 是 50 年工业淬炼的现成工具。一行 gh pr list | jq：零 Schema、200ms、&lt;50 tokens——繁琐的 MCP 包装显得过度工程化。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01584" y="1783080"/>
            <a:ext cx="3538728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软肋三 · Claude Code 身体力行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302752" y="256032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自家杀手级产品的底座极其精简：受限 Bash + 文件编辑器 + ripgrep。它从没逼用户去配几十个 MCP Server。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8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pr list --state open --json number,title | jq '.[] | select(.author.login=="alice")'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56235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一行 Unix 管道：零 Schema 预加载 · 200ms · &lt;50 tokens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 · 2.4 MCP 黄昏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2.4 架构大论战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辩证终局：双环生态法则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的「黄昏」是工具幻觉破灭；「黎明」是企业合规网关的加冕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内环 · CLI / Terminal 原生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The Action Engine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95528" y="26974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使用者：本地开发者、Claude Code、单机任务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权限：几乎不受限的本地 Shell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开销：零 Schema 预加载、Token 极低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50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风险：高危提权——禁入核心生产库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外环 · MCP Gateway 网关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The Security Perimeter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26974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使用者：Fortune 500 IT 架构师、合规部门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权限：OAuth 2.0 / RBAC / 只读写审计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开销：预加载结构化接口，类型安全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50" dirty="0">
                <a:solidFill>
                  <a:srgbClr val="2E9B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定位：SAP / Salesforce 的防火墙——不可能给外部 Agent 开 sudo psql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55778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同时统治终端 CLI（Claude Code）与企业协议标准（MCP）——两端市场两面合围。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 · 2.4 双环生态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2.5 OpenAI 知耻后勇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耻辱纪元：四幕连失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曾 16 倍领先的公司，如何在 18 个月内失去开发者世界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　四连败 · 失去开发者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1388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F1EDE3"/>
          </a:solidFill>
          <a:ln/>
        </p:spPr>
      </p:sp>
      <p:sp>
        <p:nvSpPr>
          <p:cNvPr id="8" name="Text 6"/>
          <p:cNvSpPr/>
          <p:nvPr/>
        </p:nvSpPr>
        <p:spPr>
          <a:xfrm>
            <a:off x="3331388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　Code Red · 内部清算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95848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F1EDE3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48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　All-in 追赶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60307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F1EDE3"/>
          </a:solidFill>
          <a:ln/>
        </p:spPr>
      </p:sp>
      <p:sp>
        <p:nvSpPr>
          <p:cNvPr id="12" name="Text 10"/>
          <p:cNvSpPr/>
          <p:nvPr/>
        </p:nvSpPr>
        <p:spPr>
          <a:xfrm>
            <a:off x="8860307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　收敛，但没追上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057400"/>
            <a:ext cx="2587752" cy="3794760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· 2024.06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静默政变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0175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3.5 Sonnet 发布后，Cursor/Aider 数周内把默认模型集体切走。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800600"/>
            <a:ext cx="2240280" cy="0"/>
          </a:xfrm>
          <a:prstGeom prst="line">
            <a:avLst/>
          </a:prstGeom>
          <a:noFill/>
          <a:ln w="9525">
            <a:solidFill>
              <a:srgbClr val="EAE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37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 Token 份额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70% → &lt;40%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2057400"/>
            <a:ext cx="2587752" cy="3794760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2152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· 2025.02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02152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珍珠港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02152" y="30175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两个月成为开发者标配；OpenAI 的资源当时在 Sora 和 Operator。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02152" y="4800600"/>
            <a:ext cx="2240280" cy="0"/>
          </a:xfrm>
          <a:prstGeom prst="line">
            <a:avLst/>
          </a:prstGeom>
          <a:noFill/>
          <a:ln w="9525">
            <a:solidFill>
              <a:srgbClr val="EAE4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02152" y="4937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 Agent 赛道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缺席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08192" y="2057400"/>
            <a:ext cx="2587752" cy="3794760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· 2025.04–07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72784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Windsurf 崩盘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72784" y="30175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$30 亿收购因微软 IP 条款卡壳流产；Google $24 亿反向雇佣其 CEO，Cognition 72 小时捡漏。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72784" y="4800600"/>
            <a:ext cx="2240280" cy="0"/>
          </a:xfrm>
          <a:prstGeom prst="line">
            <a:avLst/>
          </a:prstGeom>
          <a:noFill/>
          <a:ln w="9525">
            <a:solidFill>
              <a:srgbClr val="EAE4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4937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想买没买到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人财两空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878824" y="2057400"/>
            <a:ext cx="2587752" cy="3794760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43416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第四幕 · 2025.08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043416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GPT-5 遇冷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43416" y="30175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SWE-bench 74.9% 低于预期，路由误判叠加 4o 下架抗议——社区宣判：会做聊天，不会做工程。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43416" y="4800600"/>
            <a:ext cx="2240280" cy="0"/>
          </a:xfrm>
          <a:prstGeom prst="line">
            <a:avLst/>
          </a:prstGeom>
          <a:noFill/>
          <a:ln w="9525">
            <a:solidFill>
              <a:srgbClr val="EAE4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43416" y="4937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旗舰发布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口碑翻车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 · 2.5 OPENAI 知耻后勇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2.5 OpenAI 知耻后勇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 Red：内部清算与认错式转身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2025.12 内部备忘录：推迟广告与电商，全公司资源压向 Agentic Coding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F1EDE3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　四连败 · 失去开发者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1388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3331388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　Code Red · 内部清算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95848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F1EDE3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48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　All-in 追赶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60307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F1EDE3"/>
          </a:solidFill>
          <a:ln/>
        </p:spPr>
      </p:sp>
      <p:sp>
        <p:nvSpPr>
          <p:cNvPr id="12" name="Text 10"/>
          <p:cNvSpPr/>
          <p:nvPr/>
        </p:nvSpPr>
        <p:spPr>
          <a:xfrm>
            <a:off x="8860307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　收敛，但没追上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057400"/>
            <a:ext cx="534924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内部清算清单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" y="26517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合并 Operator / Deep Research / Codex → 统一 Agent Platform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Greg Brockman 亲自接管 agentic 训练基础设施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微软资本重组：PBC 化，摆脱 Azure 算力优先权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从终端工具创业公司批量 acquihire，补终端交互课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057400"/>
            <a:ext cx="534924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的架构认错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2651760"/>
            <a:ext cx="4937760" cy="457200"/>
          </a:xfrm>
          <a:prstGeom prst="rect">
            <a:avLst/>
          </a:prstGeom>
          <a:solidFill>
            <a:srgbClr val="F1EDE3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3108960"/>
            <a:ext cx="493776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26517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36992" y="26517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1.0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20072" y="26517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2.0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92240" y="3566160"/>
            <a:ext cx="493776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31089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范式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36992" y="31089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云端沙箱+异步队列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720072" y="31089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B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终端原生+实时闭环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92240" y="4023360"/>
            <a:ext cx="493776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35661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心智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36992" y="35661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把开发者当验收 PM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720072" y="35661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B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并肩作战的工程师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92240" y="4480560"/>
            <a:ext cx="493776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65392" y="40233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936992" y="40233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交还坏 PR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720072" y="40233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B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原地自愈重试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92240" y="5029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本质是公开承认：Claude Code 的交互范式是对的。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5440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外加 Codex Fleet 并行舰队 + Atlas 浏览器 8 亿 WAU 漏斗捆绑分发。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 · 2.5 OPENAI 知耻后勇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2.5 OpenAI 知耻后勇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追赶曲线：收敛了，但没追上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SWE-bench Pro 同期最强分对比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F1EDE3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　四连败 · 失去开发者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1388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F1EDE3"/>
          </a:solidFill>
          <a:ln/>
        </p:spPr>
      </p:sp>
      <p:sp>
        <p:nvSpPr>
          <p:cNvPr id="8" name="Text 6"/>
          <p:cNvSpPr/>
          <p:nvPr/>
        </p:nvSpPr>
        <p:spPr>
          <a:xfrm>
            <a:off x="3331388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　Code Red · 内部清算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95848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48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　All-in 追赶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60307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F1EDE3"/>
          </a:solidFill>
          <a:ln/>
        </p:spPr>
      </p:sp>
      <p:sp>
        <p:nvSpPr>
          <p:cNvPr id="12" name="Text 10"/>
          <p:cNvSpPr/>
          <p:nvPr/>
        </p:nvSpPr>
        <p:spPr>
          <a:xfrm>
            <a:off x="8860307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　收敛，但没追上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69848" y="5669280"/>
            <a:ext cx="630936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556869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30%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69848" y="4572000"/>
            <a:ext cx="630936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447141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69848" y="3474720"/>
            <a:ext cx="630936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3741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70%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69848" y="2377440"/>
            <a:ext cx="630936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27685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4088" y="5760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25.08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65960" y="5760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25.11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27832" y="5760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26.01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489704" y="5760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26.05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751576" y="5760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26.08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013448" y="5760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26.09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69848" y="5669280"/>
            <a:ext cx="6309360" cy="0"/>
          </a:xfrm>
          <a:prstGeom prst="line">
            <a:avLst/>
          </a:prstGeom>
          <a:noFill/>
          <a:ln w="12700">
            <a:solidFill>
              <a:srgbClr val="E3DC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69848" y="4094683"/>
            <a:ext cx="1261872" cy="1108253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31720" y="4094683"/>
            <a:ext cx="1261872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3593592" y="2794406"/>
            <a:ext cx="1261872" cy="1300277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55464" y="2794406"/>
            <a:ext cx="1261872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117336" y="2311603"/>
            <a:ext cx="1261872" cy="482803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4128" y="5157216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4" name="Shape 32"/>
          <p:cNvSpPr/>
          <p:nvPr/>
        </p:nvSpPr>
        <p:spPr>
          <a:xfrm>
            <a:off x="2286000" y="4048963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5" name="Shape 33"/>
          <p:cNvSpPr/>
          <p:nvPr/>
        </p:nvSpPr>
        <p:spPr>
          <a:xfrm>
            <a:off x="3547872" y="4048963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6" name="Shape 34"/>
          <p:cNvSpPr/>
          <p:nvPr/>
        </p:nvSpPr>
        <p:spPr>
          <a:xfrm>
            <a:off x="4809744" y="2748686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7" name="Shape 35"/>
          <p:cNvSpPr/>
          <p:nvPr/>
        </p:nvSpPr>
        <p:spPr>
          <a:xfrm>
            <a:off x="6071616" y="2748686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0628" y="2243023"/>
            <a:ext cx="137160" cy="1371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9" name="Text 37"/>
          <p:cNvSpPr/>
          <p:nvPr/>
        </p:nvSpPr>
        <p:spPr>
          <a:xfrm>
            <a:off x="7507224" y="2092147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91.2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 flipV="1">
            <a:off x="1069848" y="4495190"/>
            <a:ext cx="1261872" cy="416966"/>
          </a:xfrm>
          <a:prstGeom prst="line">
            <a:avLst/>
          </a:prstGeom>
          <a:noFill/>
          <a:ln w="31750">
            <a:solidFill>
              <a:srgbClr val="3E74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2331720" y="3809390"/>
            <a:ext cx="1261872" cy="685800"/>
          </a:xfrm>
          <a:prstGeom prst="line">
            <a:avLst/>
          </a:prstGeom>
          <a:noFill/>
          <a:ln w="31750">
            <a:solidFill>
              <a:srgbClr val="3E74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3593592" y="3211373"/>
            <a:ext cx="1261872" cy="598018"/>
          </a:xfrm>
          <a:prstGeom prst="line">
            <a:avLst/>
          </a:prstGeom>
          <a:noFill/>
          <a:ln w="31750">
            <a:solidFill>
              <a:srgbClr val="3E74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4855464" y="2734056"/>
            <a:ext cx="1261872" cy="477317"/>
          </a:xfrm>
          <a:prstGeom prst="line">
            <a:avLst/>
          </a:prstGeom>
          <a:noFill/>
          <a:ln w="31750">
            <a:solidFill>
              <a:srgbClr val="3E74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17336" y="2734056"/>
            <a:ext cx="1261872" cy="0"/>
          </a:xfrm>
          <a:prstGeom prst="line">
            <a:avLst/>
          </a:prstGeom>
          <a:noFill/>
          <a:ln w="31750">
            <a:solidFill>
              <a:srgbClr val="3E74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4128" y="4866437"/>
            <a:ext cx="91440" cy="91440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46" name="Shape 44"/>
          <p:cNvSpPr/>
          <p:nvPr/>
        </p:nvSpPr>
        <p:spPr>
          <a:xfrm>
            <a:off x="2286000" y="4449470"/>
            <a:ext cx="91440" cy="91440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47" name="Shape 45"/>
          <p:cNvSpPr/>
          <p:nvPr/>
        </p:nvSpPr>
        <p:spPr>
          <a:xfrm>
            <a:off x="3547872" y="3763670"/>
            <a:ext cx="91440" cy="91440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48" name="Shape 46"/>
          <p:cNvSpPr/>
          <p:nvPr/>
        </p:nvSpPr>
        <p:spPr>
          <a:xfrm>
            <a:off x="4809744" y="3165653"/>
            <a:ext cx="91440" cy="91440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49" name="Shape 47"/>
          <p:cNvSpPr/>
          <p:nvPr/>
        </p:nvSpPr>
        <p:spPr>
          <a:xfrm>
            <a:off x="6071616" y="2688336"/>
            <a:ext cx="91440" cy="91440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50" name="Shape 48"/>
          <p:cNvSpPr/>
          <p:nvPr/>
        </p:nvSpPr>
        <p:spPr>
          <a:xfrm>
            <a:off x="7310628" y="2665476"/>
            <a:ext cx="137160" cy="137160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51" name="Text 49"/>
          <p:cNvSpPr/>
          <p:nvPr/>
        </p:nvSpPr>
        <p:spPr>
          <a:xfrm>
            <a:off x="7507224" y="2514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83.5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115568" y="5943600"/>
            <a:ext cx="32004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508760" y="5852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最强模型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01568" y="5943600"/>
            <a:ext cx="320040" cy="0"/>
          </a:xfrm>
          <a:prstGeom prst="line">
            <a:avLst/>
          </a:prstGeom>
          <a:noFill/>
          <a:ln w="31750">
            <a:solidFill>
              <a:srgbClr val="3E74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94760" y="5852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Codex 系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001000" y="1965960"/>
            <a:ext cx="3611880" cy="40233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差距复盘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229600" y="251460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两度短暂反超，都被 Claude 新版本重新拉开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终端自主性（T-Bench）仍有两位数分差——一个代际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 Token 份额：OpenAI 12%→28%，Anthropic 仍占 ~63%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 · 2.5 OPENAI 知耻后勇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2.5 OpenAI 知耻后勇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经济战：史上最大算力囤积 + 挑战者价格战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用资产负债表反攻——但打的是一场结构性成本劣势的仗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F1EDE3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　四连败 · 失去开发者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1388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F1EDE3"/>
          </a:solidFill>
          <a:ln/>
        </p:spPr>
      </p:sp>
      <p:sp>
        <p:nvSpPr>
          <p:cNvPr id="8" name="Text 6"/>
          <p:cNvSpPr/>
          <p:nvPr/>
        </p:nvSpPr>
        <p:spPr>
          <a:xfrm>
            <a:off x="3331388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　Code Red · 内部清算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95848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48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　All-in 追赶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60307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F1EDE3"/>
          </a:solidFill>
          <a:ln/>
        </p:spPr>
      </p:sp>
      <p:sp>
        <p:nvSpPr>
          <p:cNvPr id="12" name="Text 10"/>
          <p:cNvSpPr/>
          <p:nvPr/>
        </p:nvSpPr>
        <p:spPr>
          <a:xfrm>
            <a:off x="8860307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　收敛，但没追上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057400"/>
            <a:ext cx="534924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算力军备清单（2025 累计披露）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" y="26517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Stargate 计划：$500B 框架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Oracle：~$300B / 4.5GW 云合同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NVIDIA：最高 $100B 投资换部署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AMD：6GW GPU + 认股权证</a:t>
            </a:r>
            <a:endParaRPr lang="en-US" sz="1100" dirty="0"/>
          </a:p>
          <a:p>
            <a:pPr algn="l" marL="152400" indent="-152400">
              <a:buSzPct val="100000"/>
              <a:buChar char="▪"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本质：为超大规模 RL Gym 储备弹药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057400"/>
            <a:ext cx="534924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价格战 + 捆绑分发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2651760"/>
            <a:ext cx="4937760" cy="457200"/>
          </a:xfrm>
          <a:prstGeom prst="rect">
            <a:avLst/>
          </a:prstGeom>
          <a:solidFill>
            <a:srgbClr val="F1EDE3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3108960"/>
            <a:ext cx="493776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26517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34272" y="2651760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输入/M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268712" y="2651760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输出/M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3566160"/>
            <a:ext cx="493776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31089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GPT-5.5-Codex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34272" y="3108960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7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$1.30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268712" y="3108960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7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$8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4023360"/>
            <a:ext cx="493776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35661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Sonnet 5.5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034272" y="3566160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$2.00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268712" y="3566160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4160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同档比 Sonnet 便宜 ~35%：亏损换份额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额度捆绑进 ChatGPT 全系订阅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软肋：主力仍是 Azure GPU——背着英伟达税打价格战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 · 2.5 OPENAI 知耻后勇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2.5 OpenAI 知耻后勇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为什么还是没追上：单步可靠性的复利税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Benchmark 差距 ≠ 体感差距——Agent 循环把小差距放大成任务成败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F1EDE3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　四连败 · 失去开发者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1388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F1EDE3"/>
          </a:solidFill>
          <a:ln/>
        </p:spPr>
      </p:sp>
      <p:sp>
        <p:nvSpPr>
          <p:cNvPr id="8" name="Text 6"/>
          <p:cNvSpPr/>
          <p:nvPr/>
        </p:nvSpPr>
        <p:spPr>
          <a:xfrm>
            <a:off x="3331388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　Code Red · 内部清算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95848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F1EDE3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48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　All-in 追赶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60307" y="1554480"/>
            <a:ext cx="2673020" cy="237744"/>
          </a:xfrm>
          <a:prstGeom prst="rect">
            <a:avLst>
              <a:gd name="adj" fmla="val 19231"/>
            </a:avLst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8860307" y="1554480"/>
            <a:ext cx="267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　收敛，但没追上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21031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任务成功率 ≈ 单步可靠性 ⁿ（n = 任务链步数）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2697480"/>
            <a:ext cx="35387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单步可靠性 98.0%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8096" y="3291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0.98⁵⁰ ≈ 36%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68096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 步任务链 → 「看着能用，实际要盯」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34256" y="2697480"/>
            <a:ext cx="35387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单步可靠性 99.0%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35424" y="3291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0.99⁵⁰ ≈ 61%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535424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 步任务链 → 「偶尔敢放手」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01584" y="2697480"/>
            <a:ext cx="35387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单步可靠性 99.5%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02752" y="3291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9B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0.995⁵⁰ ≈ 78%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302752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 步任务链 → 「敢放它跑过夜」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349240"/>
            <a:ext cx="11055096" cy="1051560"/>
          </a:xfrm>
          <a:prstGeom prst="roundRect">
            <a:avLst>
              <a:gd name="adj" fmla="val 5217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指标上差几个百分点，生产里是「Demo 惊艳」与「无人值守可交付」之间的鸿沟——这就是为何数字在收敛，心智差距没有。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 · 2.5 OPENAI 知耻后勇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2.6 反面教材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Gemini：纸面霸主如何输掉开发者战争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 什么都有——除了把最后一步做对的能力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457200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手里的牌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37744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自研 TPU 全栈，不受英伟达税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2M token 上下文窗口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Android + Chrome + Workspace 分发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DeepMind 人才密度 + I/O 舞台演示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40680" y="2926080"/>
            <a:ext cx="1325880" cy="1325880"/>
          </a:xfrm>
          <a:prstGeom prst="ellipse">
            <a:avLst/>
          </a:prstGeom>
          <a:solidFill>
            <a:srgbClr val="F1EDE3"/>
          </a:solidFill>
          <a:ln w="19050">
            <a:solidFill>
              <a:srgbClr val="C745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32004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资源≠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工程力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40880" y="1783080"/>
            <a:ext cx="457200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生态的判决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69480" y="237744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Cursor / Aider / Windsurf 默认模型集体切向 Claude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apply_diff 成功率 &lt;60%：改不动别人的代码库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运维高危命令一律拒答：能 demo，不能上岗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 仅 46.2%（Claude 70.6%）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608076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把模型训练成「工程师」；Google 停在把模型训练成「答题家」。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 · 2.6 GEMINI 衰落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2.6 反面教材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死因解剖：四个工程硬伤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万卡 TPU + 2M 上下文 + 华丽演示，输给「最后一步敲不对命令」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110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MALFORMED_FUNCTION_CALL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22860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多轮拼接后 Schema 遵循度劣化：未转义引号、尾随逗号——一次解析失败，整条状态机挂起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2784" y="178308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9110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补丁懒惰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73952" y="22860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数千行文件回「// existing code…」或擅改缩进锚点——补丁打不上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6941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安全过敏拒答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8096" y="40690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 -rf、socket.bind、CVE 分析都触发防御性拒答——系统运维场景事实不可用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2784" y="356616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36941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2M 上下文幻觉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73952" y="40690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大海捞针尚可；跨 20 个文件梳理类继承即符号混淆——长 ≠ 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5486400"/>
            <a:ext cx="11055096" cy="457200"/>
          </a:xfrm>
          <a:prstGeom prst="rect">
            <a:avLst/>
          </a:prstGeom>
          <a:solidFill>
            <a:srgbClr val="F1EDE3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5943600"/>
            <a:ext cx="11055096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4864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49040" y="54864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3.1 Pro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60720" y="54864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Sonnet 5.5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0" y="548640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含义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6400800"/>
            <a:ext cx="11055096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9436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真实终端任务通过率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49040" y="59436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46.2%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760720" y="59436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70.6%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0" y="594360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24pt = 能否无人值守的分界线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 · 2.6 GEMINI 衰落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2.7 格局定价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三情景推演：对 $2T 定价的含义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竞争格局收敛到哪一档，决定估值落在哪个区间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538728" cy="402336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收敛 · Bear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~25%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2743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$1.2–1.5T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95528" y="36118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 正式版追至 ±3pt；价格战迫使 Anthropic 全系降价 → 心智溢价瓦解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3538728" cy="402336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僵持 · 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62856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~55%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2856" y="2743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$1.8–2.0T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62856" y="36118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差距维持一个世代；双方 ARR 同涨、份额固化 → 双寡头格局被定价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1783080"/>
            <a:ext cx="3538728" cy="402336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B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发散 · Bull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0184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~20%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0184" y="2743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9B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&gt;$2T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30184" y="36118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RSI 飞轮见效、Claude 重新拉开代差 →「AGI 唯一候选」叙事成型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 · 2.7 三情景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0" b="1" dirty="0">
                <a:solidFill>
                  <a:srgbClr val="F1DE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Text 1"/>
          <p:cNvSpPr/>
          <p:nvPr/>
        </p:nvSpPr>
        <p:spPr>
          <a:xfrm>
            <a:off x="566928" y="274320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代码即 AGI：递归演化与文明拐点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5204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III · CODE IS AGI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3977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代码能力是通往 AGI 唯一已被验证的跳板——$2T 买的究竟是什么。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5120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3.1 评测革命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3.2 代码即 IR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5968" y="5120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3.3 护城河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3.4 AGI 坐标系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15968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65008" y="5120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3.5 RSI 闭环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3.6 安全双轨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3.7 文明拐点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65008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· 2T IPO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3.1 临界点证据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SWE-bench Verified 的饱和：旧标尺被刷穿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一个基准从『黄金标尺』到『失去区分度』，本身就是能力跃迁的历史见证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5528" y="4295303"/>
            <a:ext cx="960120" cy="1191097"/>
          </a:xfrm>
          <a:prstGeom prst="rect">
            <a:avLst>
              <a:gd name="adj" fmla="val 2857"/>
            </a:avLst>
          </a:prstGeom>
          <a:solidFill>
            <a:srgbClr val="1B8F8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4002695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33.4%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5559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3 Opus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24.03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39696" y="3738982"/>
            <a:ext cx="960120" cy="1747418"/>
          </a:xfrm>
          <a:prstGeom prst="rect">
            <a:avLst>
              <a:gd name="adj" fmla="val 2857"/>
            </a:avLst>
          </a:prstGeom>
          <a:solidFill>
            <a:srgbClr val="1B8F88"/>
          </a:solidFill>
          <a:ln/>
        </p:spPr>
      </p:sp>
      <p:sp>
        <p:nvSpPr>
          <p:cNvPr id="9" name="Text 7"/>
          <p:cNvSpPr/>
          <p:nvPr/>
        </p:nvSpPr>
        <p:spPr>
          <a:xfrm>
            <a:off x="2002536" y="344637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11096" y="5559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3.5 Sonnet v1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24.06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83864" y="3571372"/>
            <a:ext cx="960120" cy="1915028"/>
          </a:xfrm>
          <a:prstGeom prst="rect">
            <a:avLst>
              <a:gd name="adj" fmla="val 2857"/>
            </a:avLst>
          </a:prstGeom>
          <a:solidFill>
            <a:srgbClr val="1B8F88"/>
          </a:solidFill>
          <a:ln/>
        </p:spPr>
      </p:sp>
      <p:sp>
        <p:nvSpPr>
          <p:cNvPr id="12" name="Text 10"/>
          <p:cNvSpPr/>
          <p:nvPr/>
        </p:nvSpPr>
        <p:spPr>
          <a:xfrm>
            <a:off x="3346704" y="32787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53.7%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55264" y="5559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3.5 Sonnet v2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24.10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28032" y="2979390"/>
            <a:ext cx="960120" cy="2507010"/>
          </a:xfrm>
          <a:prstGeom prst="rect">
            <a:avLst>
              <a:gd name="adj" fmla="val 2857"/>
            </a:avLst>
          </a:prstGeom>
          <a:solidFill>
            <a:srgbClr val="1B8F88"/>
          </a:solidFill>
          <a:ln/>
        </p:spPr>
      </p:sp>
      <p:sp>
        <p:nvSpPr>
          <p:cNvPr id="15" name="Text 13"/>
          <p:cNvSpPr/>
          <p:nvPr/>
        </p:nvSpPr>
        <p:spPr>
          <a:xfrm>
            <a:off x="4690872" y="268678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70.3%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99432" y="5559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3.7 Sonnet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25.02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2547884"/>
            <a:ext cx="960120" cy="2938516"/>
          </a:xfrm>
          <a:prstGeom prst="rect">
            <a:avLst>
              <a:gd name="adj" fmla="val 2857"/>
            </a:avLst>
          </a:prstGeom>
          <a:solidFill>
            <a:srgbClr val="1B8F88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2552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82.4%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0" y="5559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4.5 Sonnet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25.11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16368" y="2127077"/>
            <a:ext cx="960120" cy="3359323"/>
          </a:xfrm>
          <a:prstGeom prst="rect">
            <a:avLst>
              <a:gd name="adj" fmla="val 2857"/>
            </a:avLst>
          </a:prstGeom>
          <a:solidFill>
            <a:srgbClr val="1B8F88"/>
          </a:solidFill>
          <a:ln/>
        </p:spPr>
      </p:sp>
      <p:sp>
        <p:nvSpPr>
          <p:cNvPr id="21" name="Text 19"/>
          <p:cNvSpPr/>
          <p:nvPr/>
        </p:nvSpPr>
        <p:spPr>
          <a:xfrm>
            <a:off x="7379208" y="1834469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94.2%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87768" y="5559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Fable 5.0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26.06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860536" y="1998696"/>
            <a:ext cx="960120" cy="3487704"/>
          </a:xfrm>
          <a:prstGeom prst="rect">
            <a:avLst>
              <a:gd name="adj" fmla="val 2857"/>
            </a:avLst>
          </a:prstGeom>
          <a:solidFill>
            <a:srgbClr val="D97757"/>
          </a:solidFill>
          <a:ln/>
        </p:spPr>
      </p:sp>
      <p:sp>
        <p:nvSpPr>
          <p:cNvPr id="24" name="Text 22"/>
          <p:cNvSpPr/>
          <p:nvPr/>
        </p:nvSpPr>
        <p:spPr>
          <a:xfrm>
            <a:off x="8723376" y="17060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97.8%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31936" y="5559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26.09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204704" y="1987997"/>
            <a:ext cx="960120" cy="3498403"/>
          </a:xfrm>
          <a:prstGeom prst="rect">
            <a:avLst>
              <a:gd name="adj" fmla="val 2857"/>
            </a:avLst>
          </a:prstGeom>
          <a:solidFill>
            <a:srgbClr val="D97757"/>
          </a:solidFill>
          <a:ln/>
        </p:spPr>
      </p:sp>
      <p:sp>
        <p:nvSpPr>
          <p:cNvPr id="27" name="Text 25"/>
          <p:cNvSpPr/>
          <p:nvPr/>
        </p:nvSpPr>
        <p:spPr>
          <a:xfrm>
            <a:off x="10067544" y="1695389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98.1%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976104" y="5559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26.09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1991563"/>
            <a:ext cx="11055096" cy="0"/>
          </a:xfrm>
          <a:prstGeom prst="line">
            <a:avLst/>
          </a:prstGeom>
          <a:noFill/>
          <a:ln w="12700">
            <a:solidFill>
              <a:srgbClr val="C7453A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95528" y="16642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── ≈98% 饱和线：到 5.x 世代 Verified 已无法拉开代际差距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III · 3.1 评测革命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3.1 临界点证据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新双核：SWE-bench Pro × Terminal-Bench 4.0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从「单文件补丁猜测」到「沙箱终端长程自主」的评测范式跃迁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SWE-bench Pro（Scale AI）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37744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642 个任务 × 11 个企业级巨型仓库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断网隔离：杜绝查阅 PR 作弊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双边门禁：参考补丁必过 + 空补丁必挂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考核跨文件 Monorepo 级重构闭环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95528" y="4434840"/>
            <a:ext cx="4892040" cy="1280160"/>
          </a:xfrm>
          <a:prstGeom prst="roundRect">
            <a:avLst>
              <a:gd name="adj" fmla="val 4286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任务实例 · Celery 连接池泄漏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78408" y="4864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 3 文件 / 120 行补丁 / 并发回归测试，全程自主复现-定位-修复-验证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4.0（Stanford / Harbor / Laude）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66 个校准任务：运维/编译链/安全渗透/ML 排错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资源硬约束：4C/8GB + 15–30 分钟超时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程序化 Verifier 检查系统终态，不看 diff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剔除可暴力试错与易误触发拒答的用例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4434840"/>
            <a:ext cx="4892040" cy="1280160"/>
          </a:xfrm>
          <a:prstGeom prst="roundRect">
            <a:avLst>
              <a:gd name="adj" fmla="val 4286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任务实例 · Nginx mTLS / PyTorch DDP 死锁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75120" y="4864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全配 mTLS + Lua HMAC 签名；定位 Rank 屏障死锁并改代码——真实运维级难度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III · 3.1 双核标尺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3.1 临界点证据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反直觉发现：Sonnet 5.5 为何逆袭旗舰 Opus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 通过率——「快速探测循环」胜过「昂贵脑内仿真」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" y="2608326"/>
            <a:ext cx="960120" cy="2420874"/>
          </a:xfrm>
          <a:prstGeom prst="rect">
            <a:avLst>
              <a:gd name="adj" fmla="val 2857"/>
            </a:avLst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31571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70.6%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" y="5102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$2/$10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95728" y="2752344"/>
            <a:ext cx="960120" cy="2276856"/>
          </a:xfrm>
          <a:prstGeom prst="rect">
            <a:avLst>
              <a:gd name="adj" fmla="val 2857"/>
            </a:avLst>
          </a:prstGeom>
          <a:solidFill>
            <a:srgbClr val="1B8F88"/>
          </a:solidFill>
          <a:ln/>
        </p:spPr>
      </p:sp>
      <p:sp>
        <p:nvSpPr>
          <p:cNvPr id="9" name="Text 7"/>
          <p:cNvSpPr/>
          <p:nvPr/>
        </p:nvSpPr>
        <p:spPr>
          <a:xfrm>
            <a:off x="2258568" y="24597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66.4%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67128" y="5102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$4/$20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67328" y="2999232"/>
            <a:ext cx="960120" cy="2029968"/>
          </a:xfrm>
          <a:prstGeom prst="rect">
            <a:avLst>
              <a:gd name="adj" fmla="val 2857"/>
            </a:avLst>
          </a:prstGeom>
          <a:solidFill>
            <a:srgbClr val="3E7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30168" y="27066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7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59.2%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38728" y="5102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GPT-6-Codex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预览版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38928" y="3043809"/>
            <a:ext cx="960120" cy="1985391"/>
          </a:xfrm>
          <a:prstGeom prst="rect">
            <a:avLst>
              <a:gd name="adj" fmla="val 2857"/>
            </a:avLst>
          </a:prstGeom>
          <a:solidFill>
            <a:srgbClr val="B8872F"/>
          </a:solidFill>
          <a:ln/>
        </p:spPr>
      </p:sp>
      <p:sp>
        <p:nvSpPr>
          <p:cNvPr id="15" name="Text 13"/>
          <p:cNvSpPr/>
          <p:nvPr/>
        </p:nvSpPr>
        <p:spPr>
          <a:xfrm>
            <a:off x="5001768" y="2751201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57.9%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0328" y="5102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Fable 5.1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安全税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10528" y="3445002"/>
            <a:ext cx="960120" cy="1584198"/>
          </a:xfrm>
          <a:prstGeom prst="rect">
            <a:avLst>
              <a:gd name="adj" fmla="val 2857"/>
            </a:avLst>
          </a:prstGeom>
          <a:solidFill>
            <a:srgbClr val="C7453A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315239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46.2%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81928" y="5102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3.1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63840" y="1783080"/>
            <a:ext cx="3749040" cy="42062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工程定律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92440" y="233172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终端反馈是廉价且确定的真值：一次 pytest 胜过 5000 字脑内推导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低延迟 → 同等超时内多 30–50%「试错-回溯」轮次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报错即反思的轻量内省，避免过度规划陷阱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Fable 的 57.9% 是「安全税」：高危任务主动拒答换合规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III · 3.1 SONNET 逆袭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3.2 认知操作系统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代码不是垂类：是通用 Agent 的思维中间表示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顶级通用 Agent 的底层，几乎 100% 运行在顶级编码基座之上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现实世界任务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跨国行程 / 报销核对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 App 调度 / 系统协同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87368" y="2514600"/>
            <a:ext cx="384048" cy="237744"/>
          </a:xfrm>
          <a:prstGeom prst="rightArrow">
            <a:avLst/>
          </a:prstGeom>
          <a:solidFill>
            <a:srgbClr val="A79D8B"/>
          </a:solidFill>
          <a:ln/>
        </p:spPr>
      </p:sp>
      <p:sp>
        <p:nvSpPr>
          <p:cNvPr id="9" name="Shape 7"/>
          <p:cNvSpPr/>
          <p:nvPr/>
        </p:nvSpPr>
        <p:spPr>
          <a:xfrm>
            <a:off x="4453128" y="178308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认知引擎 · Code-as-Thought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36008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任务解构为循环/分支/异常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状态机与变量持久化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动态合成 API SDK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73568" y="2514600"/>
            <a:ext cx="384048" cy="237744"/>
          </a:xfrm>
          <a:prstGeom prst="rightArrow">
            <a:avLst/>
          </a:prstGeom>
          <a:solidFill>
            <a:srgbClr val="A79D8B"/>
          </a:solidFill>
          <a:ln/>
        </p:spPr>
      </p:sp>
      <p:sp>
        <p:nvSpPr>
          <p:cNvPr id="13" name="Shape 11"/>
          <p:cNvSpPr/>
          <p:nvPr/>
        </p:nvSpPr>
        <p:spPr>
          <a:xfrm>
            <a:off x="8339328" y="178308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22208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沙箱执行与反馈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22208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Exit Code / Stderr / HTTP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编译报错的确定性裁判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886200"/>
            <a:ext cx="2587752" cy="2011680"/>
          </a:xfrm>
          <a:prstGeom prst="roundRect">
            <a:avLst>
              <a:gd name="adj" fmla="val 2727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2793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Code-as-Plan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4800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循环/分支/Try-Except 是长程行为的形式化骨架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3886200"/>
            <a:ext cx="2587752" cy="2011680"/>
          </a:xfrm>
          <a:prstGeom prst="roundRect">
            <a:avLst>
              <a:gd name="adj" fmla="val 2727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02152" y="42793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 API 合成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02152" y="4800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不可能预写所有 Tool Call——现场读文档、合成、执行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08192" y="3886200"/>
            <a:ext cx="2587752" cy="2011680"/>
          </a:xfrm>
          <a:prstGeom prst="roundRect">
            <a:avLst>
              <a:gd name="adj" fmla="val 2727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72784" y="42793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确定性自愈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72784" y="4800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代码有 Exit Code：训练出「报错→回溯→修补」闭环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878824" y="3886200"/>
            <a:ext cx="2587752" cy="2011680"/>
          </a:xfrm>
          <a:prstGeom prst="roundRect">
            <a:avLst>
              <a:gd name="adj" fmla="val 2727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43416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支柱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43416" y="42793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结构化状态解析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043416" y="4800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DOM/文件系统/AST 都是代码树——UI 操作的本质是符号理解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III · 3.2 代码即 IR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3.2 认知操作系统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跨界实证：通用管家的内核是代码引擎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 2026 年现象级 Agent 的解剖——它们都运行在编码基座上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Instinct · 个人履职 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3774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任务：汇总一年打车收据、按月归类、与信用卡对账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内部动作：现场写 Python → 无头浏览器登录 → 抓 PDF → OCR → 对账报表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00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失败面：任一 CSS 选择器变更 / JSON 未转义 / 浮点舍入错 = 崩溃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 Muse · VM 沙箱双模 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双重身份：个人管家（日程/购票）+ 终端工程师（重构仓库）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底层：自研 Muse Spark 编码基座 + 终端专属模型 + 安全网关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设计哲学：管家与写代码共享同一套「受限 VM 里调工具并验证」的行动逻辑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603504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没有顶级代码能力，就没有通用 Agent —— 两家不约而同地回答了同一个问题。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III · 3.2 跨界实证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3.3 护城河解剖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为什么偏偏是 Claude 赢了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Benchmark 证明「赢了」；这一节回答「为什么能赢」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终端轨迹数据飞轮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78408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全网部署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" y="2944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真实终端交互轨迹回流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" y="35112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合成高保真思考链（RLAIF）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" y="3858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8408" y="40782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下一代 Claude 更强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78408" y="4425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78408" y="4645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开发者心智进一步锁定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78408" y="49926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↺ 回到起点，复利加速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783080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三笔「时间买不回来」的资产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237744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Agentic RL 五代迭代：环境工程、轨迹清洗、reward shaping 只能用时间换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蒸馏经济学：旗舰能力下放 $2 价位带——对手的成本结构学不会</a:t>
            </a:r>
            <a:endParaRPr lang="en-US" sz="10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长程可靠性复利：单步每 +0.5pt，50 步任务成功率 +约 17pt</a:t>
            </a:r>
            <a:endParaRPr lang="en-US" sz="1050" dirty="0"/>
          </a:p>
          <a:p>
            <a:pPr algn="l" marL="152400" indent="-152400">
              <a:buSzPct val="100000"/>
              <a:buChar char="▪"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对照：OpenAI 的 chat 优先 RLHF 路径遗产，到 GPT-6 才把 agentic RL 提为一等公民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III · 3.3 护城河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3.4 AGI 预测坐标系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同一张地图，四个位置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AGI 尚未到来——但预言家们站位的分布，本身就是信息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" y="3017520"/>
            <a:ext cx="10149840" cy="0"/>
          </a:xfrm>
          <a:prstGeom prst="line">
            <a:avLst/>
          </a:prstGeom>
          <a:noFill/>
          <a:ln w="25400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激进 · 「已越过事件视界」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16368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保守 · 「LLM 是死胡同」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53819" y="2935224"/>
            <a:ext cx="164592" cy="164592"/>
          </a:xfrm>
          <a:prstGeom prst="ellipse">
            <a:avLst/>
          </a:prstGeom>
          <a:solidFill>
            <a:srgbClr val="3E74D8"/>
          </a:solidFill>
          <a:ln/>
        </p:spPr>
      </p:sp>
      <p:sp>
        <p:nvSpPr>
          <p:cNvPr id="9" name="Text 7"/>
          <p:cNvSpPr/>
          <p:nvPr/>
        </p:nvSpPr>
        <p:spPr>
          <a:xfrm>
            <a:off x="830275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7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 Altman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1675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「已越过事件视界」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 Agent→2026 新见解→2027 机器人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86784" y="2935224"/>
            <a:ext cx="164592" cy="16459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Dario Amodei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34640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「强大 AI：2026–27」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 年科研压缩成 5 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34733" y="2935224"/>
            <a:ext cx="164592" cy="164592"/>
          </a:xfrm>
          <a:prstGeom prst="ellipse">
            <a:avLst/>
          </a:prstGeom>
          <a:solidFill>
            <a:srgbClr val="B8872F"/>
          </a:solidFill>
          <a:ln/>
        </p:spPr>
      </p:sp>
      <p:sp>
        <p:nvSpPr>
          <p:cNvPr id="15" name="Text 13"/>
          <p:cNvSpPr/>
          <p:nvPr/>
        </p:nvSpPr>
        <p:spPr>
          <a:xfrm>
            <a:off x="6311189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Andrej Karpathy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82589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「Agent 的十年，不是一年」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march of nines · 幽灵非动物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076688" y="2935224"/>
            <a:ext cx="164592" cy="164592"/>
          </a:xfrm>
          <a:prstGeom prst="ellipse">
            <a:avLst/>
          </a:prstGeom>
          <a:solidFill>
            <a:srgbClr val="C7453A"/>
          </a:solidFill>
          <a:ln/>
        </p:spPr>
      </p:sp>
      <p:sp>
        <p:nvSpPr>
          <p:cNvPr id="18" name="Text 16"/>
          <p:cNvSpPr/>
          <p:nvPr/>
        </p:nvSpPr>
        <p:spPr>
          <a:xfrm>
            <a:off x="9153144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Yann LeCun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24544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「LLM 通往 AGI 是 BS」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需要世界模型，已离场创业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4617720"/>
            <a:ext cx="5349240" cy="1508760"/>
          </a:xfrm>
          <a:prstGeom prst="roundRect">
            <a:avLst>
              <a:gd name="adj" fmla="val 3636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B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全场唯一共识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连怀疑派都不否认「代码先亡」——LeCun 的反驳精确地绕开了编码领域。代码是第一个被形式化攻克的智能领域。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4617720"/>
            <a:ext cx="5349240" cy="1508760"/>
          </a:xfrm>
          <a:prstGeom prst="roundRect">
            <a:avLst>
              <a:gd name="adj" fmla="val 3636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一个可测量的参照物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METR 任务时长曲线：Agent 能自主完成的任务长度约每 7 个月翻倍——它度量的是斜坡，不是终点。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III · 3.4 AGI 坐标系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3.5 终极自举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如何训练下一代 Claude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已不只是产品——它是 Anthropic 内部研发流水线的核心研究员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5387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019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~26%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258568" y="20116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内部研发与消融任务由 Claude 自主领导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34256" y="1783080"/>
            <a:ext cx="35387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19019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90%+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025896" y="20116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研发流水线含 Claude Agent 协作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01584" y="1783080"/>
            <a:ext cx="35387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19019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8×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793224" y="20116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研究员人均代码交付 vs 2021–25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291840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4015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集群运维与算力优化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" y="373075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自动捕获 NCCL 死锁、py-spy 调用栈、自写 Triton 算子压榨 MFU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72784" y="3291840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34015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合成思考链（RLAIF）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55664" y="373075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沙箱中自问自答自验证，产出含反思纠错的推理轨迹；高阶 Claude 当评委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4663440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773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自动化红蓝对抗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9808" y="510235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数百万次压力测试：Sleeper Agent 探测、越狱、提权与沙箱逃逸封堵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72784" y="4663440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55664" y="4773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自建 RL 环境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55664" y="510235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为下一代模型自动编写模拟沙箱——从 Linux 漏洞修复到金融清算网关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6928" y="6172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四条流水线汇入同一出口：下一代更强的 Claude —— 再反哺驱动下一轮迭代。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III · 3.5 RSI 闭环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3.6 安全防线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RSP · ASL 阶梯 · 商业双轨制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给递归演化装上制度化的刹车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6583680" cy="566928"/>
          </a:xfrm>
          <a:prstGeom prst="rect">
            <a:avLst/>
          </a:prstGeom>
          <a:solidFill>
            <a:srgbClr val="F1EDE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304288"/>
            <a:ext cx="658368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676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等级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63040" y="173736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能力边界 / 触发门槛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0" y="1737360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强制防御措施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871216"/>
            <a:ext cx="658368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04288"/>
            <a:ext cx="676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ASL-1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63040" y="230428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无灾难性自主风险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0" y="230428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基础防火墙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438144"/>
            <a:ext cx="658368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71216"/>
            <a:ext cx="676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ASL-2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63040" y="287121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初级代码与工具能力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0" y="2871216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云鉴权 + 审计日志 + 输出审查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005072"/>
            <a:ext cx="658368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38144"/>
            <a:ext cx="676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ASL-3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63040" y="343814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重大滥用潜力；T-Bench&gt;50% 即达门槛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0" y="3438144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物理隔离训练、多签密钥、全量红队、第三方评估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4572000"/>
            <a:ext cx="6583680" cy="0"/>
          </a:xfrm>
          <a:prstGeom prst="line">
            <a:avLst/>
          </a:prstGeom>
          <a:noFill/>
          <a:ln w="6350">
            <a:solidFill>
              <a:srgbClr val="EAE4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05072"/>
            <a:ext cx="676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ASL-4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463040" y="4005072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完全自主 RSI + 国家级战力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0" y="400507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Kill Switch · 受限国防合作 · 未公开探索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35240" y="173736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Fable（商业版）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63840" y="22402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内置网络攻击/生化双轨检测器；高危探针触发拒答——少 13pt 通过率，换全球商用零合规风险。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35240" y="384048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Mythos（专研特许）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63840" y="43434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无内置拦截的极限内核，仅对顶级安保实体开放——智能前沿与消费市场彻底分轨。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598932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RSP 核心承诺：能力跨过 ASL 门槛但安全审计未过 → 强制停训停部署，宁可承受商业损失。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III · 3.6 安全双轨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3.7 文明拐点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Software 3.0：全行业「代码先亡」的预言谱系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不是一家之言——行业领袖先后说出同一句话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2023.05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3560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Jensen Huang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35608" y="20299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「人人都是程序员——跟计算机说句话就行」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72784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2024.12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41464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Satya Nadella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41464" y="20299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「SaaS = CRUD + 业务逻辑；逻辑迁往 AI tier，应用将崩塌」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907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35608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Dario Amodei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35608" y="32004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「3–6 个月内 AI 写 90% 的代码」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72784" y="2907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41464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Andrej Karpathy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41464" y="32004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「Prompts are now programs——用英语给 LLM 编程」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0782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35608" y="4078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 Altman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435608" y="437083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「我们已越过事件视界——写代码将永远不同」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72784" y="40782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41464" y="4078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Thomas Dohmke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41464" y="437083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「开发者 → 代码创意总监；要么拥抱 AI 要么出局」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534924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50468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另一种声音：Karpathy 自我刹车「这是 Agent 的十年」· LeCun「LLM 死胡同」· 工程派「prompt 是概率谈判不是程序」。Anthropic 的回答：终端的 Exit Code，正好给概率性的 prompt 接上了确定性裁判。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III · 3.7 SOFTWARE 3.0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3.7 文明拐点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$2T 买的是什么：对自治滑杆转速的押注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从「人机对话」到「无人值守」——自治滑杆每向右一档，Token 经济学翻一个量级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15568" y="3017520"/>
            <a:ext cx="9966960" cy="0"/>
          </a:xfrm>
          <a:prstGeom prst="line">
            <a:avLst/>
          </a:prstGeom>
          <a:noFill/>
          <a:ln w="38100">
            <a:solidFill>
              <a:srgbClr val="E3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907792"/>
            <a:ext cx="219456" cy="219456"/>
          </a:xfrm>
          <a:prstGeom prst="ellipse">
            <a:avLst/>
          </a:prstGeom>
          <a:solidFill>
            <a:srgbClr val="E3DCC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Tab 补全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2022 Copilot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人在驾驶位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97580" y="2907792"/>
            <a:ext cx="219456" cy="219456"/>
          </a:xfrm>
          <a:prstGeom prst="ellipse">
            <a:avLst/>
          </a:prstGeom>
          <a:solidFill>
            <a:srgbClr val="E3DCCB"/>
          </a:solidFill>
          <a:ln/>
        </p:spPr>
      </p:sp>
      <p:sp>
        <p:nvSpPr>
          <p:cNvPr id="10" name="Text 8"/>
          <p:cNvSpPr/>
          <p:nvPr/>
        </p:nvSpPr>
        <p:spPr>
          <a:xfrm>
            <a:off x="2601468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Cmd+K 改块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1468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 辅助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人主导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2907792"/>
            <a:ext cx="219456" cy="219456"/>
          </a:xfrm>
          <a:prstGeom prst="ellipse">
            <a:avLst/>
          </a:prstGeom>
          <a:solidFill>
            <a:srgbClr val="E3DCCB"/>
          </a:solidFill>
          <a:ln/>
        </p:spPr>
      </p:sp>
      <p:sp>
        <p:nvSpPr>
          <p:cNvPr id="13" name="Text 11"/>
          <p:cNvSpPr/>
          <p:nvPr/>
        </p:nvSpPr>
        <p:spPr>
          <a:xfrm>
            <a:off x="5093208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模式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93208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 Claude 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人机共治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481060" y="2907792"/>
            <a:ext cx="219456" cy="21945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4948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无人值守舰队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84948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当下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7×24 自主闭环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972800" y="2907792"/>
            <a:ext cx="219456" cy="219456"/>
          </a:xfrm>
          <a:prstGeom prst="ellipse">
            <a:avLst/>
          </a:prstGeom>
          <a:solidFill>
            <a:srgbClr val="E3DCC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76688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RSI 自我演化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76688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下一代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智能体繁育智能体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84948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当前位置 · 2026.10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4846320"/>
            <a:ext cx="11055096" cy="1371600"/>
          </a:xfrm>
          <a:prstGeom prst="roundRect">
            <a:avLst>
              <a:gd name="adj" fmla="val 4000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$2T 买的不是「每年收几百亿 API 费的软件供应商」，而是全球第一个具有递归自我演化能力、内嵌安全阀门、能 7×24 自我繁育下一代智能的生产力母体。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III · 3.7 文明拐点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EPILOGUE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定价一个时代：投资者季度跟踪清单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五个可证伪的观察点——把它们钉在你的终端上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810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Terminal-Bench 4.0 逐季分差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138928" y="18105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最能反映终端自主性代差；OpenAI 每缩 3pt，估值中枢下移一档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2450592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5237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Codex 开发者 DAU 与留存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138928" y="252374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看使用而非注册——GA 后 90 天留存率决定份额是反弹还是假摔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163824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2369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企业具名 logo 争夺战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38928" y="32369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金融/医药/政企是 Fable 主场，也是 OpenAI 最难啃的阵地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877056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9502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Broadcom 自研芯片流片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38928" y="395020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决定 OpenAI 价格战能打多久：自有 ASIC 落地前，它在用高成本打别人的低成本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590288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1EDE3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663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开源权重模型基准斜率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38928" y="4663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DeepSeek/Qwen 距 frontier 尚有代差，但斜率决定 API 定价的长期天花板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553212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基准情形：僵持 55% · $1.8–2.0T ｜ 上行：RSI 发散 → &gt;$2T ｜ 下行：基准收敛 → $1.2–1.5T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尾声 · WATCHLIST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822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F1DE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$2T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1B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这不是一家软件公司的上市。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2651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这是人类第一次为「能自我演化的生产力母体」定价。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0"/>
            <a:ext cx="353872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887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凭什么是 $2T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" y="449884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 Agent 重构了收入引擎：百倍 Token 杠杆 × 开发者心智垄断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4256" y="4023360"/>
            <a:ext cx="353872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745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谁在为它买单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35424" y="449884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蒸发的 SaaS 万亿市值；知耻后勇的 OpenAI 反而验证了赛道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01584" y="4023360"/>
            <a:ext cx="353872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8F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为什么不会停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02752" y="449884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代码是智能唯一被形式化的领域，RSI 飞轮已经开始转动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研究备忘录 · 非投资建议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2377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结语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167567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D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2 万亿 IPO 的背后：编码模型与 AGI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2 万亿 IPO 的背后：编码模型与 AGI</dc:title>
  <dc:subject>PptxGenJS Presentation</dc:subject>
  <dc:creator>Research Memo</dc:creator>
  <cp:lastModifiedBy>Research Memo</cp:lastModifiedBy>
  <cp:revision>1</cp:revision>
  <dcterms:created xsi:type="dcterms:W3CDTF">2026-10-03T06:36:44Z</dcterms:created>
  <dcterms:modified xsi:type="dcterms:W3CDTF">2026-10-03T06:36:44Z</dcterms:modified>
</cp:coreProperties>
</file>