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Sonnet 5.5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8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Terminal-Bench 4.0</c:v>
                </c:pt>
                <c:pt idx="1">
                  <c:v>FrontierCode 1.1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70.6</c:v>
                </c:pt>
                <c:pt idx="1">
                  <c:v>52.1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Opus 5.5</c:v>
                </c:pt>
              </c:strCache>
            </c:strRef>
          </c:tx>
          <c:spPr>
            <a:solidFill>
              <a:srgbClr val="F4D77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828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Terminal-Bench 4.0</c:v>
                </c:pt>
                <c:pt idx="1">
                  <c:v>FrontierCode 1.1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66.4</c:v>
                </c:pt>
                <c:pt idx="1">
                  <c:v>54.4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828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82824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06D6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每步 98%</c:v>
                </c:pt>
              </c:strCache>
            </c:strRef>
          </c:tx>
          <c:spPr>
            <a:solidFill>
              <a:srgbClr val="D97757"/>
            </a:solidFill>
            <a:ln w="3175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81.70728068875466</c:v>
                </c:pt>
                <c:pt idx="2">
                  <c:v>66.76079717550942</c:v>
                </c:pt>
                <c:pt idx="3">
                  <c:v>54.54843193824369</c:v>
                </c:pt>
                <c:pt idx="4">
                  <c:v>44.57004039509507</c:v>
                </c:pt>
                <c:pt idx="5">
                  <c:v>36.41696800871168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每步 99.5%</c:v>
                </c:pt>
              </c:strCache>
            </c:strRef>
          </c:tx>
          <c:spPr>
            <a:solidFill>
              <a:srgbClr val="738A78"/>
            </a:solidFill>
            <a:ln w="31750" cap="flat">
              <a:solidFill>
                <a:srgbClr val="738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38A78"/>
              </a:solidFill>
              <a:ln w="9525" cap="flat">
                <a:solidFill>
                  <a:srgbClr val="738A7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99.5</c:v>
                </c:pt>
                <c:pt idx="1">
                  <c:v>95.11101304657718</c:v>
                </c:pt>
                <c:pt idx="2">
                  <c:v>90.46104802746176</c:v>
                </c:pt>
                <c:pt idx="3">
                  <c:v>86.0384191914696</c:v>
                </c:pt>
                <c:pt idx="4">
                  <c:v>81.83201210226743</c:v>
                </c:pt>
                <c:pt idx="5">
                  <c:v>77.83125570686418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研发自动化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7757"/>
              </a:solidFill>
              <a:effectLst/>
            </c:spPr>
          </c:dPt>
          <c:dPt>
            <c:idx val="1"/>
            <c:bubble3D val="0"/>
            <c:spPr>
              <a:solidFill>
                <a:srgbClr val="F3F3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AI 主导 AL4</c:v>
                </c:pt>
                <c:pt idx="1">
                  <c:v>其他级别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26</c:v>
                </c:pt>
                <c:pt idx="1">
                  <c:v>74</c:v>
                </c:pt>
              </c:numCache>
            </c:numRef>
          </c:val>
        </c:ser>
        <c:firstSliceAng val="0"/>
        <c:holeSize val="77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两万亿美元在仓库中为 IPO 目标估值，不是已完成挂牌市值。估值只作为入口，本演示的重点是工程能力、训练机制与通用行动。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IPO 目标估值报道链接：https://www.investing.com/news/stock-market-news/exclusiveanthropics-ipo-prospectus-shows-sweeping-ai-vision-surging-costs-4921382。目标估值不等于实际市值，也不等于融资额。三层能力为本报告的分析框架。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https://www.anthropic.com/news/claude-3-5-sonnet
https://www.anthropic.com/news/claude-3-7-sonnet
https://www.anthropic.com/news/claude-4
https://www.anthropic.com/claude-sonnet-5-5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https://www.anthropic.com/engineering/writing-tools-for-agents
https://www.anthropic.com/engineering/effective-harnesses-for-long-running-agents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工程教学场景来自 docs/02_swe_bench_pro_and_terminal_bench_deep_dive.md。此页不宣称是已复现的官方评测题或真实运行结果。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https://www.anthropic.com/engineering/effective-harnesses-for-long-running-agents
https://www.anthropic.com/engineering/building-effective-agents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https://www.anthropic.com/engineering/effective-context-engineering-for-ai-agents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https://www.anthropic.com/engineering/writing-tools-for-agents
左右为教学接口示例，非真实 Claude Code 函数签名。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https://www.anthropic.com/claude-sonnet-5-5
Terminal-Bench 4.0：Sonnet 5.5 70.6%，Opus 5.5 66.4%。FrontierCode 1.1：Sonnet Xhigh 52.1%，Opus 54.4%。两基准量纲相同但任务与条件不同，不是统一能力排名。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0.98^50=36.4%；0.99^50=60.5%；0.995^50=77.8%。该独立、不可恢复假设不描述真实 Agent 的全部行为，真实系统还能重试、纠错与请求人接管。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https://www.anthropic.com/engineering/effective-harnesses-for-long-running-agents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https://openai.com/index/introducing-codex/
https://github.com/scaleapi/SWE-bench_Pro-os
Claude 具体训练配方未完整公开。此图解释编码 Agent 的一般强化学习机制。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https://openai.com/index/introducing-codex/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https://www.swebench.com/
https://github.com/scaleapi/SWE-bench_Pro-os
https://www.tbench.ai/news/terminal-bench-4-0
https://www.anthropic.com/claude-sonnet-5-5
Verified 本身也支持工具与多文件补丁；这些评测不是严格线性等级，观察角度不同。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https://nginx.org/en/docs/http/ngx_http_ssl_module.html
案例解释验证层次，不是本次实验记录。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https://www.anthropic.com/claude-sonnet-5-5
时间轴为策略示意，非实测延迟或性能比例。不同任务仍需要不同思考深度。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https://openai.com/index/introducing-o3-and-o4-mini/
https://openai.com/index/introducing-codex/
Codex CLI 初期支持 o3、o4-mini；本地 CLI 与云端 Codex 并行，不构成放弃推理路线。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此处是通用报销流程示意，不接入真实公司数据。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https://www.anthropic.com/engineering/writing-tools-for-agents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https://code.claude.com/docs/en/best-practices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https://darioamodei.com/essay/machines-of-loving-grace
https://www.anthropic.com/institute/measuring-pace-of-ai-development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按仓库引用：26% 工作达到 AL4（AI 主导，高层目标输入，人类监督）；超过90%至少达到 AL3（AI 协作）。所测任务类别未报告 AL5 完全自主。指数按任务类型评级汇总，不是26%的原创突破独立由AI完成。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人类监督下的研发参与不等于完全自主 RSI 或已发生智能爆炸。有效研究增益、算力与验证能力决定循环是否加速。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https://youtu.be/LCEmiRjPEtQ
三种软件范式并存；自然语言编排不意味着传统代码、GUI 或确定性系统消失。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这些岗位变化为方向性分析，不是全岗位可立即自动化的能力清单。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任务执行仍须匹配权限、数据环境与责任边界。此页为组织选择，不是部署操作指导。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https://www.anthropic.com/engineering/effective-context-engineering-for-ai-agents
https://openai.com/index/introducing-codex/
https://www.anthropic.com/institute/measuring-pace-of-ai-development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/ 内部学习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 · 公司内部分享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32588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万亿 IPO 的背后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67512" y="31272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2900" dirty="0"/>
          </a:p>
        </p:txBody>
      </p:sp>
      <p:pic>
        <p:nvPicPr>
          <p:cNvPr id="9" name="Image 0" descr="/Users/tangpeng/Documents/github/anthropic-and-its-2t-ipo/pptx/claude_coral_white/assets/intelligenc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53312"/>
            <a:ext cx="3840480" cy="3840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4398264"/>
            <a:ext cx="274320" cy="2743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43000" y="43434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为什么强？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685800" y="4992624"/>
            <a:ext cx="274320" cy="274320"/>
          </a:xfrm>
          <a:prstGeom prst="ellipse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43000" y="4937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编码模型如何持续进步？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85800" y="5586984"/>
            <a:ext cx="274320" cy="27432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43000" y="55321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AGI 需要编码能力？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 / 能力扩张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两万亿的想象，来自工作能力的扩张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资本数字只是入口：开发工具 → 数字工作 → 智能研发。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IPO 研究；目标估值报道见备注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" y="24231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</a:t>
            </a:r>
            <a:endParaRPr lang="en-US" sz="780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 目标估值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023360" y="2194560"/>
            <a:ext cx="7498080" cy="8138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2414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83480" y="23225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360920" y="23774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构建、修复与维护软件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23360" y="3227832"/>
            <a:ext cx="7498080" cy="8138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34472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83480" y="3355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完成数字工作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360920" y="34107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组合数据、工具与业务系统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023360" y="4261104"/>
            <a:ext cx="7498080" cy="81381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44805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83480" y="4389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参与智能研发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360920" y="44439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进入下一代模型的研发过程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市场押注的，不只是一款工具，而是更大范围的任务委托。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Claude 为什么强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四次转折：理解代码、选择行动、持续执行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终端入口把模型能力变成了可反复运行的工作方式。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3.5 / 3.7 / Claude 4 / Sonnet 5.5 发布资料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97280" y="2816352"/>
            <a:ext cx="9966960" cy="0"/>
          </a:xfrm>
          <a:prstGeom prst="line">
            <a:avLst/>
          </a:prstGeom>
          <a:noFill/>
          <a:ln w="38100">
            <a:solidFill>
              <a:srgbClr val="DFDF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2024.06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17320" y="2670048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3.5 Sonnet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85800" y="4023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更强的代码修改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速度与能力兼顾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661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2670048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3.7 + Code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3566160" y="4023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可调思考 + 终端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查、改、测进入同一任务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465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178040" y="2670048"/>
            <a:ext cx="292608" cy="29260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4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6446520" y="4023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工具与思考交错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长任务与 Code 正式可用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268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2026.09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058400" y="2670048"/>
            <a:ext cx="292608" cy="292608"/>
          </a:xfrm>
          <a:prstGeom prst="ellipse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9326880" y="40233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减少冗余步骤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日常工程执行更高效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工程判断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的强，体现在四种工程判断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不是输出更多代码，而是更常把任务推进到可用结果。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来源：内部工程体验；Anthropic 产品与 Agent 工程资料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工程判断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03320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可靠执行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缺失时的代价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743200"/>
            <a:ext cx="10927080" cy="51206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7432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找准问题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03320" y="274320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沿调用链识别原因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38160" y="27432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反复修改表面症状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3355848"/>
            <a:ext cx="109270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3558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控制改动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703320" y="335584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保持约束，限定修改范围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138160" y="335584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修好一处，破坏另一处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3968496"/>
            <a:ext cx="10927080" cy="51206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9684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选择证据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3703320" y="396849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运行能区分假设的检查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138160" y="39684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搜索很多，信息增量很少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" y="4581144"/>
            <a:ext cx="1092708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58114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完成交付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703320" y="458114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出错后恢复，核对真实结果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138160" y="458114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留下半成品，让人接管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判断与行动配合，决定任务是否需要人反复接管。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真实工程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连接耗尽只是症状，修复要看懂生命周期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任务取消后，Redis 连接没有归还，最终耗尽连接池。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来源：仓库 Celery 教学场景；非本次运行记录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5786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61872" y="25603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任务取消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3172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异常从哪里进入？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3072384"/>
            <a:ext cx="27432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47872" y="2395728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12464" y="25786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69664" y="25603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异步回调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3730752" y="3172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谁还持有连接？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08192" y="3072384"/>
            <a:ext cx="27432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455664" y="2395728"/>
            <a:ext cx="2514600" cy="13533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0256" y="25786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77456" y="25603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资源清理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638544" y="3172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每条退出路径都归还？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015984" y="3072384"/>
            <a:ext cx="27432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363456" y="2395728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28048" y="25786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2804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85248" y="25603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回归验证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9546336" y="3172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泄漏消失，原行为保留？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4315968"/>
            <a:ext cx="5212080" cy="9326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只改表面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8680" y="486460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提高连接池上限，推迟问题爆发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6217920" y="4315968"/>
            <a:ext cx="5303520" cy="9326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修复关系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46520" y="4864608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追踪资源归属，补齐异常退出路径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工作系统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把模型接入一套工作系统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同一个模型，工具接口、上下文与环境不同，交付能力也会不同。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Building effective agents / Long-running harnesses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3749040" cy="265176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模型判断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337560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下一步看哪里？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哪个假设值得验证？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何时可以结束？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4572000" y="3383280"/>
            <a:ext cx="960120" cy="0"/>
          </a:xfrm>
          <a:prstGeom prst="line">
            <a:avLst/>
          </a:prstGeom>
          <a:noFill/>
          <a:ln w="2794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532120" y="4251960"/>
            <a:ext cx="-960120" cy="0"/>
          </a:xfrm>
          <a:prstGeom prst="line">
            <a:avLst/>
          </a:prstGeom>
          <a:noFill/>
          <a:ln w="20320">
            <a:solidFill>
              <a:srgbClr val="706D6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669280" y="2331720"/>
            <a:ext cx="5669280" cy="7772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468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工具接口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818120" y="25054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搜索、读取、修改、运行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69280" y="3337560"/>
            <a:ext cx="5669280" cy="7772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工作状态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818120" y="35112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目标、进度、已验证结论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69280" y="4343400"/>
            <a:ext cx="5669280" cy="7772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480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执行环境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818120" y="4517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依赖、权限、进程、测试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Harness：让判断变成真实行动，再把环境反馈带回模型的执行系统。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上下文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大仓库的理解，靠按需建立高价值上下文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窗口容量决定能装多少；检索策略决定现在该看什么。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Effective context engineering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257800" cy="290779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2331720"/>
            <a:ext cx="5257800" cy="290779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一次塞进整座仓库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49224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围绕当前问题逐层探索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941832" y="3346704"/>
            <a:ext cx="310896" cy="228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89888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37944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34056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82112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30168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78224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26280" y="3346704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74336" y="3346704"/>
            <a:ext cx="310896" cy="228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1832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89888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837944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86000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34056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82112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30168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78224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26280" y="3767328"/>
            <a:ext cx="310896" cy="228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74336" y="3767328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41832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89888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837944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86000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34056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182112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30168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78224" y="4187952"/>
            <a:ext cx="310896" cy="228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26280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74336" y="4187952"/>
            <a:ext cx="310896" cy="228600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6112" y="46360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大量无关实现挤占工作记忆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510528" y="3337560"/>
            <a:ext cx="4480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20256" y="33375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项目规则 + 测试入口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510528" y="3813048"/>
            <a:ext cx="448056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20256" y="3813048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相关函数 + 调用关系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510528" y="4288536"/>
            <a:ext cx="4480560" cy="36576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20256" y="4288536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最近失败 + 已验证结论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工具设计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回显有多清楚，下一步判断就有多准确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通过工具感知工程环境；错误信息也是行动材料。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Writing tools for agents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5257800" cy="297180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624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低信息量回显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868680" y="3291840"/>
            <a:ext cx="4800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410712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edit_file()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operation failed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4526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不知道哪里失败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继续猜参数、重复尝试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63640" y="2377440"/>
            <a:ext cx="5257800" cy="297180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624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可定位的回显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6492240" y="3291840"/>
            <a:ext cx="4800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410712"/>
            <a:ext cx="4443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edit_file(path, expected_text)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A74C3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未匹配位置 + 当前片段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492240" y="45262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把失败变成新证据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缩小范围，精确修正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工程表现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的优势：把能力用在合适的任务上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终端执行效率，与开放难题中的持续判断，是不同的优势。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Sonnet 5.5 发布表；各模型为页面所列配置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304288"/>
          <a:ext cx="75895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2304288"/>
            <a:ext cx="75895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61872" y="4983480"/>
            <a:ext cx="6711696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088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61872" y="4462272"/>
            <a:ext cx="6711696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04088" y="4343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61872" y="3941064"/>
            <a:ext cx="6711696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" y="38221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61872" y="3419856"/>
            <a:ext cx="6711696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33009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61872" y="2898648"/>
            <a:ext cx="6711696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" y="27797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039112" y="3511589"/>
            <a:ext cx="521208" cy="1471891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01952" y="3182405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2761488" y="3599152"/>
            <a:ext cx="521208" cy="138432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624328" y="326996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66.4%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581912" y="5093208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175504" y="3897283"/>
            <a:ext cx="521208" cy="1086197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38344" y="3568099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52.1%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897880" y="3849331"/>
            <a:ext cx="521208" cy="1134149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760720" y="3520147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54.4%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718304" y="5093208"/>
            <a:ext cx="2240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FrontierCode 1.1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2441448" y="5504688"/>
            <a:ext cx="164592" cy="16459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34056" y="5458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800600" y="5504688"/>
            <a:ext cx="164592" cy="164592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93208" y="5458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613648" y="2404872"/>
            <a:ext cx="2907792" cy="294436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851392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任务匹配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8851392" y="3191256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日常实现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速度与协作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开放难题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持续判断</a:t>
            </a:r>
            <a:endParaRPr lang="en-US" sz="2100" dirty="0"/>
          </a:p>
        </p:txBody>
      </p:sp>
      <p:sp>
        <p:nvSpPr>
          <p:cNvPr id="37" name="Shape 33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更少步骤是效率线索；一个榜单，不能独自解释全部工程体验。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长程可靠性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小错误会在长任务里累积放大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简化示意：50 个独立步骤，每步可靠性恒定，失败不可恢复。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数学示意；不是模型实测，也不能由 benchmark 分数换算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2221992"/>
          <a:ext cx="74980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94360" y="2221992"/>
            <a:ext cx="7498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52728" y="4892040"/>
            <a:ext cx="6199632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52728" y="4304538"/>
            <a:ext cx="6199632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18566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52728" y="3717036"/>
            <a:ext cx="6199632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5981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52728" y="3129534"/>
            <a:ext cx="6199632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01066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52728" y="2542032"/>
            <a:ext cx="6199632" cy="0"/>
          </a:xfrm>
          <a:prstGeom prst="line">
            <a:avLst/>
          </a:prstGeom>
          <a:noFill/>
          <a:ln w="8890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423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69848" y="5020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208556" y="5020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73787" y="5020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39018" y="5020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004249" y="5020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269480" y="50200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1211580" y="2547884"/>
            <a:ext cx="82296" cy="8229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52728" y="2589032"/>
            <a:ext cx="126523" cy="46060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379251" y="2635092"/>
            <a:ext cx="126523" cy="45139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505774" y="2680231"/>
            <a:ext cx="126523" cy="44236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632297" y="2724467"/>
            <a:ext cx="126523" cy="43351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758820" y="2767819"/>
            <a:ext cx="126523" cy="42484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885344" y="2810303"/>
            <a:ext cx="126523" cy="4163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011867" y="2851938"/>
            <a:ext cx="126523" cy="4080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138390" y="2892740"/>
            <a:ext cx="126523" cy="39986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264913" y="2932726"/>
            <a:ext cx="126523" cy="39186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350288" y="2930764"/>
            <a:ext cx="82296" cy="8229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391436" y="2971912"/>
            <a:ext cx="126523" cy="38403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517959" y="3010315"/>
            <a:ext cx="126523" cy="3763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644482" y="3047949"/>
            <a:ext cx="126523" cy="3688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2771005" y="3084831"/>
            <a:ext cx="126523" cy="36144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897528" y="3120975"/>
            <a:ext cx="126523" cy="35421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024051" y="3156397"/>
            <a:ext cx="126523" cy="34713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150575" y="3191110"/>
            <a:ext cx="126523" cy="34019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277098" y="3225128"/>
            <a:ext cx="126523" cy="3333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403621" y="3258466"/>
            <a:ext cx="126523" cy="32671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530144" y="3291138"/>
            <a:ext cx="126523" cy="3201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615519" y="3282008"/>
            <a:ext cx="82296" cy="8229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656667" y="3323156"/>
            <a:ext cx="126523" cy="3137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783190" y="3354534"/>
            <a:ext cx="126523" cy="30750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909713" y="3385284"/>
            <a:ext cx="126523" cy="3013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036236" y="3415419"/>
            <a:ext cx="126523" cy="2953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162759" y="3444951"/>
            <a:ext cx="126523" cy="2894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289282" y="3473893"/>
            <a:ext cx="126523" cy="28363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415806" y="3502256"/>
            <a:ext cx="126523" cy="27796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542329" y="3530052"/>
            <a:ext cx="126523" cy="27240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668852" y="3557291"/>
            <a:ext cx="126523" cy="2669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795375" y="3583986"/>
            <a:ext cx="126523" cy="26161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880750" y="3568999"/>
            <a:ext cx="82296" cy="8229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921898" y="3610147"/>
            <a:ext cx="126523" cy="2563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048421" y="3635785"/>
            <a:ext cx="126523" cy="2512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174944" y="3660910"/>
            <a:ext cx="126523" cy="24623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301467" y="3685533"/>
            <a:ext cx="126523" cy="24130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427990" y="3709663"/>
            <a:ext cx="126523" cy="2364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554513" y="3733311"/>
            <a:ext cx="126523" cy="2317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681037" y="3756485"/>
            <a:ext cx="126523" cy="22711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807560" y="3779196"/>
            <a:ext cx="126523" cy="22257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34083" y="3801453"/>
            <a:ext cx="126523" cy="2181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060606" y="3823265"/>
            <a:ext cx="126523" cy="21376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145981" y="3803492"/>
            <a:ext cx="82296" cy="8229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187129" y="3844640"/>
            <a:ext cx="126523" cy="2094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313652" y="3865588"/>
            <a:ext cx="126523" cy="20529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6440175" y="3886118"/>
            <a:ext cx="126523" cy="20118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6566698" y="3906236"/>
            <a:ext cx="126523" cy="19716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6693221" y="3925952"/>
            <a:ext cx="126523" cy="1932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6819744" y="3945274"/>
            <a:ext cx="126523" cy="1893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946268" y="3964209"/>
            <a:ext cx="126523" cy="18557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7072791" y="3982766"/>
            <a:ext cx="126523" cy="1818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7199314" y="4000951"/>
            <a:ext cx="126523" cy="17822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7325837" y="4018773"/>
            <a:ext cx="126523" cy="17465"/>
          </a:xfrm>
          <a:prstGeom prst="line">
            <a:avLst/>
          </a:prstGeom>
          <a:noFill/>
          <a:ln w="29210">
            <a:solidFill>
              <a:srgbClr val="D97757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7411212" y="3995090"/>
            <a:ext cx="82296" cy="82296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1211580" y="2512634"/>
            <a:ext cx="82296" cy="82296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1252728" y="2553782"/>
            <a:ext cx="126523" cy="11691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1379251" y="2565473"/>
            <a:ext cx="126523" cy="11633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1505774" y="2577106"/>
            <a:ext cx="126523" cy="11575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1632297" y="2588681"/>
            <a:ext cx="126523" cy="11517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758820" y="2600198"/>
            <a:ext cx="126523" cy="1145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885344" y="2611657"/>
            <a:ext cx="126523" cy="11402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2011867" y="2623059"/>
            <a:ext cx="126523" cy="11345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38390" y="2634404"/>
            <a:ext cx="126523" cy="11288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264913" y="2645692"/>
            <a:ext cx="126523" cy="11232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350288" y="2615776"/>
            <a:ext cx="82296" cy="82296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391436" y="2656924"/>
            <a:ext cx="126523" cy="11176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2517959" y="2668099"/>
            <a:ext cx="126523" cy="11120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2644482" y="2679219"/>
            <a:ext cx="126523" cy="1106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2771005" y="2690283"/>
            <a:ext cx="126523" cy="1100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2897528" y="2701292"/>
            <a:ext cx="126523" cy="1095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3024051" y="2712246"/>
            <a:ext cx="126523" cy="1089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3150575" y="2723144"/>
            <a:ext cx="126523" cy="1084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3277098" y="2733989"/>
            <a:ext cx="126523" cy="10790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3403621" y="2744779"/>
            <a:ext cx="126523" cy="10736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3530144" y="2755516"/>
            <a:ext cx="126523" cy="10683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3615519" y="2725050"/>
            <a:ext cx="82296" cy="82296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656667" y="2766198"/>
            <a:ext cx="126523" cy="1062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783190" y="2776827"/>
            <a:ext cx="126523" cy="10576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909713" y="2787403"/>
            <a:ext cx="126523" cy="10523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4036236" y="2797927"/>
            <a:ext cx="126523" cy="10471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4162759" y="2808397"/>
            <a:ext cx="126523" cy="10418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4289282" y="2818815"/>
            <a:ext cx="126523" cy="10366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5806" y="2829181"/>
            <a:ext cx="126523" cy="1031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4542329" y="2839496"/>
            <a:ext cx="126523" cy="10263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4668852" y="2849759"/>
            <a:ext cx="126523" cy="10211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4795375" y="2859970"/>
            <a:ext cx="126523" cy="10160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4880750" y="2828982"/>
            <a:ext cx="82296" cy="82296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921898" y="2870130"/>
            <a:ext cx="126523" cy="10110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5048421" y="2880240"/>
            <a:ext cx="126523" cy="1005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5174944" y="2890299"/>
            <a:ext cx="126523" cy="1000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5301467" y="2900308"/>
            <a:ext cx="126523" cy="995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5427990" y="2910266"/>
            <a:ext cx="126523" cy="990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5554513" y="2920175"/>
            <a:ext cx="126523" cy="985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681037" y="2930034"/>
            <a:ext cx="126523" cy="9810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807560" y="2939844"/>
            <a:ext cx="126523" cy="9761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5934083" y="2949605"/>
            <a:ext cx="126523" cy="9712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6060606" y="2959318"/>
            <a:ext cx="126523" cy="966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6145981" y="2927833"/>
            <a:ext cx="82296" cy="82296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6187129" y="2968981"/>
            <a:ext cx="126523" cy="9615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6313652" y="2978596"/>
            <a:ext cx="126523" cy="9567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440175" y="2988164"/>
            <a:ext cx="126523" cy="9519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566698" y="2997683"/>
            <a:ext cx="126523" cy="9472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6693221" y="3007155"/>
            <a:ext cx="126523" cy="942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819744" y="3016579"/>
            <a:ext cx="126523" cy="9377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6946268" y="3025957"/>
            <a:ext cx="126523" cy="9330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7072791" y="3035287"/>
            <a:ext cx="126523" cy="9284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7199314" y="3044571"/>
            <a:ext cx="126523" cy="9237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7325837" y="3053808"/>
            <a:ext cx="126523" cy="9191"/>
          </a:xfrm>
          <a:prstGeom prst="line">
            <a:avLst/>
          </a:prstGeom>
          <a:noFill/>
          <a:ln w="29210">
            <a:solidFill>
              <a:srgbClr val="738A78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7411212" y="3021851"/>
            <a:ext cx="82296" cy="82296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6172200" y="5376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任务步骤数</a:t>
            </a:r>
            <a:endParaRPr lang="en-US" sz="1100" dirty="0"/>
          </a:p>
        </p:txBody>
      </p:sp>
      <p:sp>
        <p:nvSpPr>
          <p:cNvPr id="137" name="Shape 133"/>
          <p:cNvSpPr/>
          <p:nvPr/>
        </p:nvSpPr>
        <p:spPr>
          <a:xfrm>
            <a:off x="1261872" y="5440680"/>
            <a:ext cx="109728" cy="10972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1481328" y="53858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 98%</a:t>
            </a:r>
            <a:endParaRPr lang="en-US" sz="1200" dirty="0"/>
          </a:p>
        </p:txBody>
      </p:sp>
      <p:sp>
        <p:nvSpPr>
          <p:cNvPr id="139" name="Shape 135"/>
          <p:cNvSpPr/>
          <p:nvPr/>
        </p:nvSpPr>
        <p:spPr>
          <a:xfrm>
            <a:off x="3474720" y="5440680"/>
            <a:ext cx="109728" cy="109728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3694176" y="5385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 99.5%</a:t>
            </a:r>
            <a:endParaRPr lang="en-US" sz="1200" dirty="0"/>
          </a:p>
        </p:txBody>
      </p:sp>
      <p:sp>
        <p:nvSpPr>
          <p:cNvPr id="141" name="Text 137"/>
          <p:cNvSpPr/>
          <p:nvPr/>
        </p:nvSpPr>
        <p:spPr>
          <a:xfrm>
            <a:off x="8257032" y="2688336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36% → 78%</a:t>
            </a:r>
            <a:endParaRPr lang="en-US" sz="3200" dirty="0"/>
          </a:p>
        </p:txBody>
      </p:sp>
      <p:sp>
        <p:nvSpPr>
          <p:cNvPr id="142" name="Text 138"/>
          <p:cNvSpPr/>
          <p:nvPr/>
        </p:nvSpPr>
        <p:spPr>
          <a:xfrm>
            <a:off x="8339328" y="3703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真实体验还取决于</a:t>
            </a:r>
            <a:endParaRPr lang="en-US" sz="1700" dirty="0"/>
          </a:p>
        </p:txBody>
      </p:sp>
      <p:sp>
        <p:nvSpPr>
          <p:cNvPr id="143" name="Text 139"/>
          <p:cNvSpPr/>
          <p:nvPr/>
        </p:nvSpPr>
        <p:spPr>
          <a:xfrm>
            <a:off x="8339328" y="4270248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错误后能否恢复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需要人接管几次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结果能否放心合并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连续工作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长任务的连续性，靠可恢复的工作状态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下一次会话接续的，不只是聊天历史，而是可复验的进度。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Effective harnesses for long-running agents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59736"/>
            <a:ext cx="2788920" cy="26334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 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实现一个功能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60120" y="4142232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记录决策与失败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留下可运行的改动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50792" y="2240280"/>
            <a:ext cx="4069080" cy="30723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15968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持久工作状态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15968" y="3127248"/>
            <a:ext cx="3502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功能清单：完成 / 未完成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315968" y="3758184"/>
            <a:ext cx="3502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进度记录：证据 / 下一步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315968" y="4389120"/>
            <a:ext cx="3502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 + 测试：恢复 / 复验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788920" cy="263347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 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869680" y="333756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读取状态再继续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869680" y="4142232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从已验证的进度出发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不重复探索旧问题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66160" y="3749040"/>
            <a:ext cx="41148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183880" y="3749040"/>
            <a:ext cx="39319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文件记忆让系统能够接班；它不等于模型权重已经持续学习。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编码模型如何成功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代码环境，提供可规模化的训练反馈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任务、执行环境、评分器，让解题过程成为可重复的训练材料。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来源：OpenAI · Introducing Codex；SWE-bench Pro；Anthropic Agent 资料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7432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61872" y="27249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代码库 + 需求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9544" y="3236976"/>
            <a:ext cx="265176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47872" y="2560320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12464" y="27432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69664" y="27249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轨迹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3730752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 → 修改 → 运行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17336" y="3236976"/>
            <a:ext cx="265176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455664" y="2560320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0256" y="27432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77456" y="27249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评分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638544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 + 回归 + 约束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025128" y="3236976"/>
            <a:ext cx="265176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363456" y="2560320"/>
            <a:ext cx="2514600" cy="13533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28048" y="27432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28048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85248" y="27249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9546336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强化更有效的策略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10424160" y="4160520"/>
            <a:ext cx="0" cy="603504"/>
          </a:xfrm>
          <a:prstGeom prst="line">
            <a:avLst/>
          </a:prstGeom>
          <a:noFill/>
          <a:ln w="21590">
            <a:solidFill>
              <a:srgbClr val="D9775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24160" y="4764024"/>
            <a:ext cx="-8503920" cy="0"/>
          </a:xfrm>
          <a:prstGeom prst="line">
            <a:avLst/>
          </a:prstGeom>
          <a:noFill/>
          <a:ln w="2159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2926080" y="4928616"/>
            <a:ext cx="6400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更强的模型，进入下一批任务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学习层次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任务内纠错，与模型训练，是两种不同的进步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一个改变当前方案，一个改变之后处理任务的能力。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来源：OpenAI codex-1 强化学习披露；机制示意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50008"/>
            <a:ext cx="5257800" cy="303580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55117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执行阶段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" y="2990088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根据报错修正方案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59536" y="3685032"/>
            <a:ext cx="48188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读取失败 → 改写补丁 → 再跑测试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同一任务里，工作方案变得更好。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63640" y="2350008"/>
            <a:ext cx="5257800" cy="303580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3096" y="2551176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训练阶段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83096" y="2990088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根据轨迹更新模型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483096" y="3685032"/>
            <a:ext cx="481888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收集尝试 → 环境评分 → 训练更新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下一批任务里，解题策略变得更好。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评测升级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评测在追问：Agent 完成了哪一层工作？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修复补丁、处理复杂仓库、操作终端、达到可合并质量。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来源：SWE-bench / SWE-bench Pro V2 / Terminal-Bench 4.0 / FrontierCode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" y="2807208"/>
            <a:ext cx="2487168" cy="2404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035808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648456"/>
            <a:ext cx="2093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Verified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4462272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Issue 的补丁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能否通过测试？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547872" y="2642616"/>
            <a:ext cx="2487168" cy="24048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49040" y="2871216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3483864"/>
            <a:ext cx="2093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SWE-bench Pro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49040" y="4297680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复杂、长程的仓库任务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能否推进到底？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28232" y="2478024"/>
            <a:ext cx="2487168" cy="2404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29400" y="2706624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29400" y="3319272"/>
            <a:ext cx="2093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629400" y="4133088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终端操作之后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系统是否符合要求？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308592" y="2313432"/>
            <a:ext cx="2487168" cy="24048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09760" y="2542032"/>
            <a:ext cx="384048" cy="38404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0976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509760" y="3154680"/>
            <a:ext cx="2093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FrontierCode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509760" y="3968496"/>
            <a:ext cx="2103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改动质量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是否达到可合并标准？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成绩同时受到模型、工具系统、预算、运行环境与评分规则影响。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验证反馈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配置能启动，不代表访问控制做对了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Nginx 示例：只允许持有有效客户端证书的请求访问。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来源：Nginx SSL 模块文档；工程教学示例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3383280" cy="26060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语法检查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23544" y="3648456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nginx -t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608576"/>
            <a:ext cx="2898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配置是否合法？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80560" y="2606040"/>
            <a:ext cx="3383280" cy="26060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18304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正向请求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18304" y="3648456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有效证书 → 接受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4718304" y="4608576"/>
            <a:ext cx="2898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该放行的能否放行？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75320" y="2606040"/>
            <a:ext cx="3383280" cy="26060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13064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反向请求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13064" y="3648456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 / 错证书 → 拒绝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513064" y="4608576"/>
            <a:ext cx="28986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该拦截的能否拦截？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代码世界的优势，是大量可运行的裁判；裁判质量决定反馈质量。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执行策略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工程任务里，廉价反馈能减少无效推演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先运行能区分假设的检查，把不确定性变成证据。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机制示意；不由榜单排名反推私有训练算法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只有脑内推演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38728" y="2295144"/>
            <a:ext cx="7763256" cy="8046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85616" y="2468880"/>
            <a:ext cx="7260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猜环境 → 猜依赖 → 猜失败原因 → 一次大改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用检查获取证据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38728" y="3639312"/>
            <a:ext cx="1810512" cy="80467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66744" y="383133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小检查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367528" y="4041648"/>
            <a:ext cx="11887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522976" y="3639312"/>
            <a:ext cx="1810512" cy="8046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50992" y="383133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环境回显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7351776" y="4041648"/>
            <a:ext cx="11887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07224" y="3639312"/>
            <a:ext cx="1810512" cy="80467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383133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修正假设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9336024" y="4041648"/>
            <a:ext cx="118872" cy="0"/>
          </a:xfrm>
          <a:prstGeom prst="line">
            <a:avLst/>
          </a:prstGeom>
          <a:noFill/>
          <a:ln w="1905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491472" y="3639312"/>
            <a:ext cx="1810512" cy="8046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19488" y="383133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小改动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68680" y="512064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快速反馈与深度思考互补：关键是下一步能否减少不确定性。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行业竞争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的追赶，也在结合模型与执行系统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编码不是边缘垂类，而是前沿模型的重要产品与训练方向。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来源：OpenAI · o3/o4-mini 发布；Introducing Codex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8952" y="2578608"/>
            <a:ext cx="320040" cy="3200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2025.04.16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302666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CLI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4526280" y="2432304"/>
            <a:ext cx="6995160" cy="108813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2606040"/>
            <a:ext cx="6382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本地仓库与终端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800600" y="3099816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同机修改、运行、检查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8952" y="3995928"/>
            <a:ext cx="320040" cy="320040"/>
          </a:xfrm>
          <a:prstGeom prst="ellipse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2025.05.16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71600" y="444398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 Codex</a:t>
            </a:r>
            <a:endParaRPr lang="en-US" sz="2500" dirty="0"/>
          </a:p>
        </p:txBody>
      </p:sp>
      <p:sp>
        <p:nvSpPr>
          <p:cNvPr id="17" name="Shape 14"/>
          <p:cNvSpPr/>
          <p:nvPr/>
        </p:nvSpPr>
        <p:spPr>
          <a:xfrm>
            <a:off x="4526280" y="3849624"/>
            <a:ext cx="6995160" cy="108813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4023360"/>
            <a:ext cx="6382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独立沙箱与并行任务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4800600" y="4517136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读取代码、跑测试、提交结果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codex-1 已披露真实编码任务强化学习：学习修改、测试与继续修复。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为什么 AGI 需要编码能力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很多办公室工作，本来就是未写出来的程序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例：核对本月报销，找出重复扣款与不一致记录。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来源：MCP 代码执行机制；办公流程示意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" y="2651760"/>
            <a:ext cx="2011680" cy="168249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50392" y="3941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票据 / 账单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697480" y="3493008"/>
            <a:ext cx="21031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80944" y="2651760"/>
            <a:ext cx="2011680" cy="168249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3824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163824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3163824" y="3941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 / 金额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10912" y="3493008"/>
            <a:ext cx="21031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294376" y="2651760"/>
            <a:ext cx="2011680" cy="168249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77256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77256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匹配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477256" y="3941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去重 / 对账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24344" y="3493008"/>
            <a:ext cx="21031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607808" y="2651760"/>
            <a:ext cx="2011680" cy="168249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90688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790688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应用规则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7790688" y="3941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阈值 / 例外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637776" y="3493008"/>
            <a:ext cx="21031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921240" y="2651760"/>
            <a:ext cx="2011680" cy="168249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104120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104120" y="3355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</a:t>
            </a:r>
            <a:endParaRPr lang="en-US" sz="2300" dirty="0"/>
          </a:p>
        </p:txBody>
      </p:sp>
      <p:sp>
        <p:nvSpPr>
          <p:cNvPr id="31" name="Text 28"/>
          <p:cNvSpPr/>
          <p:nvPr/>
        </p:nvSpPr>
        <p:spPr>
          <a:xfrm>
            <a:off x="10104120" y="39410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 / 证据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68680" y="499262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条件、循环、数据与异常处理，过去由员工在不同系统间亲自执行。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工具制造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会写代码，Agent 就能按需制造工具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预定义工具覆盖已知任务；生成适配层，扩展新的行动组合。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Code execution with MCP / Writing tools for agents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2386584"/>
            <a:ext cx="3383280" cy="29900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5256" y="258775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05256" y="302666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发现新系统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05256" y="3721608"/>
            <a:ext cx="29443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读文档与数据格式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理解认证、参数与返回值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087368" y="3840480"/>
            <a:ext cx="30175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80560" y="2386584"/>
            <a:ext cx="3383280" cy="29900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0016" y="258775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0016" y="302666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生成适配层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4700016" y="3721608"/>
            <a:ext cx="29443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补齐接口之间的缺口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分页、重试、格式转换与校验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882128" y="3840480"/>
            <a:ext cx="301752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275320" y="2386584"/>
            <a:ext cx="3383280" cy="29900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94776" y="258775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94776" y="302666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执行并复用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8494776" y="3721608"/>
            <a:ext cx="29443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保存有效的工作成果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脚本、检查方式与使用条件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通用行动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CLI、MCP、Skills，接成一条实际工作流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例：订单同步失败——获取线索、复现故障、修复并交付。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MCP 代码执行文章；Claude Code 最佳实践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2496312"/>
            <a:ext cx="3383280" cy="246888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544" y="27614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23544" y="36027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连接业务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23544" y="437997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日志、工单、业务数据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80560" y="2496312"/>
            <a:ext cx="3383280" cy="246888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18304" y="27614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718304" y="36027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执行工程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4718304" y="437997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搜索、运行、修改、测试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75320" y="2496312"/>
            <a:ext cx="3383280" cy="246888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13064" y="27614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513064" y="3602736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复用经验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513064" y="437997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诊断顺序、脚本、交付标准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22960" y="5212080"/>
            <a:ext cx="10515600" cy="45720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9848" y="5212080"/>
            <a:ext cx="10012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同一任务里：连到系统 → 操作环境 → 复用组织经验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智能研发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科学研究也需要把想法变成可执行实验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编码降低研究执行成本，科学判断决定结果有没有意义。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来源：Amodei · Machines of Loving Grace；Anthropic 研发研究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8072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61872" y="27889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提出假设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论文、问题、对照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3291840"/>
            <a:ext cx="2743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47872" y="2624328"/>
            <a:ext cx="2514600" cy="13533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12464" y="28072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2464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69664" y="27889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构建实验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3730752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算法、数据、环境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08192" y="3291840"/>
            <a:ext cx="2743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455664" y="2624328"/>
            <a:ext cx="2514600" cy="135331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20256" y="28072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77456" y="27889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运行分析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6638544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计算、比较、误差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015984" y="3291840"/>
            <a:ext cx="2743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363456" y="2624328"/>
            <a:ext cx="2514600" cy="13533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528048" y="28072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52804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85248" y="2788920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形成结论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9546336" y="34015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复现、解释、判断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547872" y="4297680"/>
            <a:ext cx="5422392" cy="5577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76472" y="4297680"/>
            <a:ext cx="49651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Agent 承担大量研究执行工作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868680" y="5266944"/>
            <a:ext cx="10515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实验运行成功 ≠ 假设成立；真实增益仍要靠对照、统计与复现。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直接证据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已经进入下一代 Claude 的研发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研发自动化指数：任务从 AI 协作，向 AI 主导推进。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· Measuring the pace of AI development；截至 2026.08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322576"/>
          <a:ext cx="43891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31520" y="2322576"/>
            <a:ext cx="43891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883103" y="2435047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968653" y="2437736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53864" y="2445791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38402" y="2459180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21932" y="2477851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04125" y="2501731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84657" y="2530724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463209" y="2564716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39471" y="2603574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13144" y="2647144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83935" y="2695253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751565" y="2747713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815769" y="2804316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876291" y="2864838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932894" y="2929041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85353" y="2996672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033463" y="3067463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077032" y="3141135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5890" y="3217398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49883" y="3295950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178876" y="3376481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02755" y="3458674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221426" y="3542204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234816" y="3626742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42871" y="3711954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245559" y="3797503"/>
            <a:ext cx="85954" cy="85954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242871" y="388305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234816" y="396826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221426" y="405280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202755" y="413633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178876" y="421852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149883" y="4299057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115890" y="4377609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077032" y="445387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033463" y="452754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985353" y="459833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3932894" y="466596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876291" y="4730169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815769" y="479069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751565" y="484729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83935" y="489975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613144" y="494786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539471" y="499143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3463209" y="5030290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3384657" y="506428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3304125" y="509327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221932" y="511715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138402" y="513582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053864" y="514921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2968653" y="515727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2883103" y="5159959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797554" y="515727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712342" y="514921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627804" y="513582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2544274" y="511715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462081" y="509327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2381550" y="506428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2302998" y="5030290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2226735" y="499143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2153063" y="494786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2082272" y="489975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2014641" y="484729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1950438" y="479069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889916" y="4730169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833313" y="466596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780853" y="459833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732744" y="452754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689174" y="445387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650316" y="4377609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616324" y="4299057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587331" y="421852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1563451" y="413633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1544780" y="405280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1531391" y="396826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1523336" y="388305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1520647" y="379750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523336" y="371195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531391" y="362674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544780" y="354220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563451" y="345867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587331" y="337648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616324" y="3295950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1650316" y="3217398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1689174" y="3141135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1732744" y="306746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780853" y="2996672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1833313" y="292904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889916" y="2864838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1950438" y="280431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14641" y="274771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082272" y="2695253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153063" y="264714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226735" y="260357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302998" y="256471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2381550" y="2530724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2462081" y="250173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2544274" y="247785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2627804" y="2459180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2712342" y="2445791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2797554" y="2437736"/>
            <a:ext cx="85954" cy="85954"/>
          </a:xfrm>
          <a:prstGeom prst="ellipse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1828800" y="3163824"/>
            <a:ext cx="2194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</a:t>
            </a:r>
            <a:endParaRPr lang="en-US" sz="4400" dirty="0"/>
          </a:p>
        </p:txBody>
      </p:sp>
      <p:sp>
        <p:nvSpPr>
          <p:cNvPr id="111" name="Text 107"/>
          <p:cNvSpPr/>
          <p:nvPr/>
        </p:nvSpPr>
        <p:spPr>
          <a:xfrm>
            <a:off x="1463040" y="3995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主导 · 人类监督</a:t>
            </a:r>
            <a:endParaRPr lang="en-US" sz="1500" dirty="0"/>
          </a:p>
        </p:txBody>
      </p:sp>
      <p:sp>
        <p:nvSpPr>
          <p:cNvPr id="112" name="Text 108"/>
          <p:cNvSpPr/>
          <p:nvPr/>
        </p:nvSpPr>
        <p:spPr>
          <a:xfrm>
            <a:off x="5760720" y="2697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&gt;90%</a:t>
            </a:r>
            <a:endParaRPr lang="en-US" sz="5200" dirty="0"/>
          </a:p>
        </p:txBody>
      </p:sp>
      <p:sp>
        <p:nvSpPr>
          <p:cNvPr id="113" name="Text 109"/>
          <p:cNvSpPr/>
          <p:nvPr/>
        </p:nvSpPr>
        <p:spPr>
          <a:xfrm>
            <a:off x="5806440" y="36850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至少达到 AI 协作</a:t>
            </a:r>
            <a:endParaRPr lang="en-US" sz="2300" dirty="0"/>
          </a:p>
        </p:txBody>
      </p:sp>
      <p:sp>
        <p:nvSpPr>
          <p:cNvPr id="114" name="Text 110"/>
          <p:cNvSpPr/>
          <p:nvPr/>
        </p:nvSpPr>
        <p:spPr>
          <a:xfrm>
            <a:off x="5806440" y="46177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完全自主：所测任务类别尚未报告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指标描述参与程度，不等于原创突破占比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代际反馈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RSI：研究工具开始参与改进研究工具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递归发生在代际之间：当前模型参与研发，后继模型再进入研发。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来源：Anthropic 研发自动化研究；代际机制示意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2478024"/>
            <a:ext cx="3200400" cy="201168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5256" y="2807208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当前模型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05256" y="3657600"/>
            <a:ext cx="2761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编程与分析能力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931920" y="3474720"/>
            <a:ext cx="48463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80560" y="2478024"/>
            <a:ext cx="3200400" cy="201168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0016" y="2807208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研发增益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00016" y="3657600"/>
            <a:ext cx="2761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更多有效实验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更少工程等待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26680" y="3474720"/>
            <a:ext cx="48463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275320" y="2478024"/>
            <a:ext cx="3200400" cy="201168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94776" y="2807208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后继模型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94776" y="3657600"/>
            <a:ext cx="27614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训练与验证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产生更强能力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875520" y="4663440"/>
            <a:ext cx="0" cy="41148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75520" y="5074920"/>
            <a:ext cx="-75895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2852928" y="5266944"/>
            <a:ext cx="6583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后继模型重新进入下一轮研发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软件范式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Software 3.0：自然语言成为新的编程入口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Prompt、模型权重与传统代码，共同构成新的工作系统。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来源：Karpathy · Software Is Changing (Again)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2350008"/>
            <a:ext cx="10451592" cy="74980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3856" y="24963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788920" y="25054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559552" y="254203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定义目标、约束与工作方式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8680" y="3310128"/>
            <a:ext cx="10451592" cy="74980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34564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788920" y="346557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模型权重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5559552" y="350215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提供识别、推理与行动判断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68680" y="4270248"/>
            <a:ext cx="10451592" cy="74980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44165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788920" y="442569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显式代码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5559552" y="446227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访问数据、执行规则与连接系统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94360" y="5715000"/>
            <a:ext cx="10991088" cy="438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715000"/>
            <a:ext cx="10533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软件既可以是固定产品，也可以成为针对一次任务、按需生成的能力。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我们的工作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执行越来越便宜，业务判断越来越重要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不是每个人都要成为程序员，但每个人都要更会定义与验收任务。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岗位变化：本报告的组织分析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276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过去的执行重心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新的能力重心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2770632"/>
            <a:ext cx="10881360" cy="52120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77063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 / 市场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926080" y="277063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取数、整理、制作报表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43800" y="2770632"/>
            <a:ext cx="3703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定义指标、提出假设、识别异常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58368" y="3410712"/>
            <a:ext cx="10881360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41071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 / HR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926080" y="341071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核对材料、跨系统录入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543800" y="3410712"/>
            <a:ext cx="3703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建立规则、核对证据、处理例外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58368" y="4050792"/>
            <a:ext cx="10881360" cy="52120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05079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926080" y="405079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写需求、画静态原型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543800" y="4050792"/>
            <a:ext cx="3703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用可运行成果验证业务假设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8368" y="4690872"/>
            <a:ext cx="10881360" cy="521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690872"/>
            <a:ext cx="1874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926080" y="4690872"/>
            <a:ext cx="4206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逐行实现与重复调试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543800" y="4690872"/>
            <a:ext cx="3703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架构、复杂问题、验收与责任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公司选择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瓶颈正在从“有没有人做”，转向“什么值得做”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不只给旧流程加 AI，而是重新审视排期、交接与等待。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组织推演 · 编码能力扩张的管理含义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2386584"/>
            <a:ext cx="5257800" cy="297180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258775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旧问题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" y="3026664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怎样增加执行资源？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59536" y="3721608"/>
            <a:ext cx="48188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更多人手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更多软件席位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更多排期与交接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63640" y="2386584"/>
            <a:ext cx="5257800" cy="297180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83096" y="2587752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新问题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83096" y="3026664"/>
            <a:ext cx="4818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哪些过去做不起的事值得做？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483096" y="3721608"/>
            <a:ext cx="481888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更有价值的问题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可执行的组织知识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可检验的业务结果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收束 / 能力路径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91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程序员是第一批用户，智能研发是更大的应用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10991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从工程交付，到通用行动，再到参与制造下一代智能。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· 编码模型 ·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1852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" y="2368296"/>
            <a:ext cx="3401568" cy="2404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96112" y="3108960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的工程优势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96112" y="384048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 × 工具 × 工作状态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6112" y="43616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更少接管与返工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71416" y="2368296"/>
            <a:ext cx="3401568" cy="240487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0016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0016" y="3108960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编码模型的成功机制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700016" y="384048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 × 环境 × 反馈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00016" y="43616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可规模化地练习行动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75320" y="2368296"/>
            <a:ext cx="3401568" cy="24048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03920" y="3108960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通往 AGI 的路径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503920" y="3840480"/>
            <a:ext cx="2944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制造工具 × 研究执行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03920" y="43616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进入后继智能的研发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5413248"/>
            <a:ext cx="10698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如果执行不再稀缺，你会怎样重新组织工作？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内部分享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2 万亿 IPO 的背后：编码模型与 AGI</dc:title>
  <dc:subject>Claude 的工程优势、编码模型的进步机制与 AGI</dc:subject>
  <dc:creator>Internal Learning</dc:creator>
  <cp:lastModifiedBy>Internal Learning</cp:lastModifiedBy>
  <cp:revision>1</cp:revision>
  <dcterms:created xsi:type="dcterms:W3CDTF">2026-10-04T04:05:15Z</dcterms:created>
  <dcterms:modified xsi:type="dcterms:W3CDTF">2026-10-04T04:05:15Z</dcterms:modified>
</cp:coreProperties>
</file>