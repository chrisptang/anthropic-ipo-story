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Verified</c:v>
                </c:pt>
              </c:strCache>
            </c:strRef>
          </c:tx>
          <c:spPr>
            <a:solidFill>
              <a:srgbClr val="D97757"/>
            </a:solidFill>
            <a:ln w="254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3 Opus
2024.03</c:v>
                  </c:pt>
                  <c:pt idx="1">
                    <c:v>3.5 Sonnet
2024.06</c:v>
                  </c:pt>
                  <c:pt idx="2">
                    <c:v>3.7 Sonnet
2025.02</c:v>
                  </c:pt>
                  <c:pt idx="3">
                    <c:v>4.5 Sonnet
2025.11</c:v>
                  </c:pt>
                  <c:pt idx="4">
                    <c:v>5.5 Sonnet
2026.09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33.4</c:v>
                </c:pt>
                <c:pt idx="1">
                  <c:v>49</c:v>
                </c:pt>
                <c:pt idx="2">
                  <c:v>70.3</c:v>
                </c:pt>
                <c:pt idx="3">
                  <c:v>82.4</c:v>
                </c:pt>
                <c:pt idx="4">
                  <c:v>98.1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Terminal-Bench 4.0 pass@1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Opus 5.5</c:v>
                  </c:pt>
                  <c:pt idx="1">
                    <c:v>GPT-6 Astra</c:v>
                  </c:pt>
                  <c:pt idx="2">
                    <c:v>Gemini 3.1 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59.6</c:v>
                </c:pt>
                <c:pt idx="1">
                  <c:v>59.1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 Intelligence Index v4.3.2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Opus 5.5</c:v>
                  </c:pt>
                  <c:pt idx="1">
                    <c:v>GPT-6 Astra</c:v>
                  </c:pt>
                  <c:pt idx="2">
                    <c:v>Gemini 3.1 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53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Verified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3 Opus</c:v>
                  </c:pt>
                  <c:pt idx="1">
                    <c:v>Sonnet 5.5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33.4</c:v>
                </c:pt>
                <c:pt idx="1">
                  <c:v>98.1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标价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普通输入</c:v>
                  </c:pt>
                  <c:pt idx="1">
                    <c:v>缓存读取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每步98%</c:v>
                </c:pt>
              </c:strCache>
            </c:strRef>
          </c:tx>
          <c:spPr>
            <a:solidFill>
              <a:srgbClr val="D97757"/>
            </a:solidFill>
            <a:ln w="254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</c:v>
                </c:pt>
                <c:pt idx="1">
                  <c:v>81.70728068875466</c:v>
                </c:pt>
                <c:pt idx="2">
                  <c:v>66.76079717550942</c:v>
                </c:pt>
                <c:pt idx="3">
                  <c:v>54.54843193824369</c:v>
                </c:pt>
                <c:pt idx="4">
                  <c:v>44.57004039509507</c:v>
                </c:pt>
                <c:pt idx="5">
                  <c:v>36.41696800871168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每步99.5%</c:v>
                </c:pt>
              </c:strCache>
            </c:strRef>
          </c:tx>
          <c:spPr>
            <a:solidFill>
              <a:srgbClr val="738A78"/>
            </a:solidFill>
            <a:ln w="25400" cap="flat">
              <a:solidFill>
                <a:srgbClr val="738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38A78"/>
              </a:solidFill>
              <a:ln w="9525" cap="flat">
                <a:solidFill>
                  <a:srgbClr val="738A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99.5</c:v>
                </c:pt>
                <c:pt idx="1">
                  <c:v>95.11101304657718</c:v>
                </c:pt>
                <c:pt idx="2">
                  <c:v>90.46104802746176</c:v>
                </c:pt>
                <c:pt idx="3">
                  <c:v>86.0384191914696</c:v>
                </c:pt>
                <c:pt idx="4">
                  <c:v>81.83201210226743</c:v>
                </c:pt>
                <c:pt idx="5">
                  <c:v>77.83125570686418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</c:v>
                </c:pt>
              </c:strCache>
            </c:strRef>
          </c:tx>
          <c:spPr>
            <a:solidFill>
              <a:srgbClr val="D97757"/>
            </a:solidFill>
            <a:ln w="254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GPT-5
2025.08</c:v>
                  </c:pt>
                  <c:pt idx="1">
                    <c:v>5-Codex
2025.09</c:v>
                  </c:pt>
                  <c:pt idx="2">
                    <c:v>5.2-Codex
2026.01</c:v>
                  </c:pt>
                  <c:pt idx="3">
                    <c:v>5.5-Codex
2026.05</c:v>
                  </c:pt>
                  <c:pt idx="4">
                    <c:v>6-Codex*
2026.08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43.8</c:v>
                </c:pt>
                <c:pt idx="1">
                  <c:v>51.4</c:v>
                </c:pt>
                <c:pt idx="2">
                  <c:v>63.9</c:v>
                </c:pt>
                <c:pt idx="3">
                  <c:v>74.8</c:v>
                </c:pt>
                <c:pt idx="4">
                  <c:v>83.5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完成率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零售交互</c:v>
                  </c:pt>
                  <c:pt idx="1">
                    <c:v>航司交互</c:v>
                  </c:pt>
                  <c:pt idx="2">
                    <c:v>桌面操作</c:v>
                  </c:pt>
                  <c:pt idx="3">
                    <c:v>银行交互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94.8</c:v>
                </c:pt>
                <c:pt idx="1">
                  <c:v>84.2</c:v>
                </c:pt>
                <c:pt idx="2">
                  <c:v>47.2</c:v>
                </c:pt>
                <c:pt idx="3">
                  <c:v>40.1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数值沿用仓库研究数据，本次未新增外部核验。历史评测的 harness、预算与样本可能不同，曲线描述仓库记录，非严格受控实验。
98.1% 为仓库Sonnet5.5 SWE-bench Verified；70.6%为Terminal-Bench4.0；26%为仓库引用的研发AL4评级，含人类监督。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https://www.investing.com/news/stock-market-news/exclusiveanthropics-ipo-prospectus-shows-sweeping-ai-vision-surging-costs-4921382
数值沿用仓库研究数据，本次未新增外部核验。历史评测的 harness、预算与样本可能不同，曲线描述仓库记录，非严格受控实验。
图中1.8–2.0T为目标区间；2026.05 965B为仓库估值记录，不是本次独立核实。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数值沿用仓库研究数据，本次未新增外部核验。历史评测的 harness、预算与样本可能不同，曲线描述仓库记录，非严格受控实验。
data/claude_agent_benchmark_evolution.csv
Verified 98.1；Pro 91.2；Terminal4 70.6；BFCL98.8。不能换算为所有企业工作的总体完成率。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数值沿用仓库研究数据，本次未新增外部核验。历史评测的 harness、预算与样本可能不同，曲线描述仓库记录，非严格受控实验。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核验日期：2026-10-04。本页单独核验，其他页仍为仓库资料。
{
  "retrieved_at": "2026-10-04",
  "scope": "Slide 05 only",
  "source_priority": "Artificial Analysis independent evaluations; official releases for missing entries only",
  "terminal_bench": {
    "version": "4.0",
    "url": "https://artificialanalysis.ai/evaluations/terminalbench-4-0?models=claude-opus-5-5%2Cgpt-6-astra%2Cgemini-3-1-pro-preview",
    "harness": "mini-swe-agent",
    "tasks": 66,
    "repeats_per_task": 3,
    "metric": "pass@1 averaged over three repeats per task",
    "scores_percent": [
      59.6,
      59.1,
      4
    ]
  },
  "intelligence_index": {
    "version": "4.3.2",
    "metric": "Artificial Analysis Intelligence Index, not a percentage or coding success rate",
    "scores": [
      58,
      53,
      30
    ]
  },
  "models": [
    {
      "display_name": "Opus 5.5",
      "evaluated_variant": "Claude Opus 5.5 (max with fallback)",
      "url": "https://artificialanalysis.ai/models/claude-opus-5-5"
    },
    {
      "display_name": "GPT-6 Astra",
      "evaluated_variant": "GPT-6 Astra (max)",
      "url": "https://artificialanalysis.ai/models/gpt-6-astra"
    },
    {
      "display_name": "Gemini 3.1 Pro",
      "evaluated_variant": "Gemini 3.1 Pro Preview",
      "url": "https://artificialanalysis.ai/models/gemini-3-1-pro-preview"
    }
  ],
  "swe_bench_pro": {
    "status": "No complete same-version three-model comparison verified in inspected public sources",
    "action": "Replace right panel with explicitly labelled AA Intelligence Index rather than retain unverified repository scores"
  },
  "official_cross_check": {
    "url": "https://www.anthropic.com/news/claude-opus-5-5",
    "terminal_bench_percent": {
      "opus_5_5_xhigh": 66.4,
      "gpt_6_astra_high_as_reported_by_openai": 57.9
    },
    "used_in_chart": false,
    "reason": "Different harness/effort/setup from AA; official table does not list SWE-bench Pro. OpenAI direct announcement access returned HTTP 403 / challenge."
  },
  "interpretation": "0.5 percentage point observed Terminal-Bench difference; not evidence of a statistically significant model lead. Results are configuration-specific. Other deck pages remain repository-sourced and are not reverified by this update."
}
Terminal-Bench为AA统一mini-swe-agent harness、66任务、每题3次的平均pass@1。Opus为max with fallback；Astra为max；Gemini为Pro Preview。fallback可能由其他模型完成部分任务，因此不是纯Opus无回退能力。AA Coding Agents页面采用厂商Agent harness，Opus约63、Astra约55，不与此处混用。官方66.4与57.9也不混入。
右侧Intelligence Index v4.3.2是10项评测综合指数，不是百分比、不是SWE-bench Pro、不是纯编码得分。SWE-bench Pro未核实到三者同版本数据，因而移除。0.5为观测分差，不证明统计显著优势。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数值沿用仓库研究数据，本次未新增外部核验。历史评测的 harness、预算与样本可能不同，曲线描述仓库记录，非严格受控实验。
3Opus input15 output75 Verified33.4；Sonnet5.5 input2 output10 Verified98.1。输入价格下降86.7%。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数值沿用仓库研究数据，本次未新增外部核验。历史评测的 harness、预算与样本可能不同，曲线描述仓库记录，非严格受控实验。
假设50k未缓存输入、1M缓存读取、20k输出。0.05*2+1*0.2+0.02*10=0.5。关闭缓存时，同样用量(1.05*2+0.02*10)=2.3。输入缓存写入费用、失败重试与审查时间未计，实际账单依用量和政策变化。参考版150美元、半天、3分钟不作为实测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数值沿用仓库研究数据，本次未新增外部核验。历史评测的 harness、预算与样本可能不同，曲线描述仓库记录，非严格受控实验。
未缓存输入2$/M；缓存读取0.2$/M。量级比10倍。假设每轮100k可缓存前缀，20轮即2M读取，未缓存4美元，缓存读取0.4美元，示意不含初次写入与其他Tokens。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https://www.anthropic.com/engineering/writing-tools-for-agents
https://www.anthropic.com/engineering/effective-harnesses-for-long-running-agents
不连接真实线上系统；日志预先提供，代码修改在测试环境。git blame仅提供变更线索，不等于定位根因。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https://www.anthropic.com/engineering/effective-context-engineering-for-ai-agents
https://www.anthropic.com/engineering/writing-tools-for-agents
https://www.anthropic.com/engineering/effective-harnesses-for-long-running-agents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https://www.anthropic.com/engineering/effective-context-engineering-for-ai-agents
200万字是表达容量与选择的示意，不对应具体模型字数标价。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0.98^50=36.4%；0.995^50=77.8%；真实Agent会重试、自愈，结果受任务与恢复能力影响。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数值沿用仓库研究数据，本次未新增外部核验。历史评测的 harness、预算与样本可能不同，曲线描述仓库记录，非严格受控实验。
docs/02_swe_bench_pro_and_terminal_bench_deep_dive.md
仓库记录Verified500、ProV2 642、TB4 66校准任务。三个集合不相加，不作为全部训练数据规模。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https://openai.com/index/introducing-codex/
Claude的私有训练配方未完整公开。任务内纠错改变方案，离线训练更新权重；不能混同。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docs/02_swe_bench_pro_and_terminal_bench_deep_dive.md §3.3。任务需求与预期验证，不是实测完成情况或独立复现的官方题目。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数值沿用仓库研究数据，本次未新增外部核验。历史评测的 harness、预算与样本可能不同，曲线描述仓库记录，非严格受控实验。
Codex CLI2025.04.16；云端Codex2025.05.16。初期CLI支持o3/o4-mini，不能据此宣称放弃推理路线。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教学样本O1042订单额980银行到账950差额30；O1088订单1200到账1200差额0；O1101订单600到账0差额600。Agent需处理编号、金额单位、重复记录与业务授权。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程序是伪代码，非可执行SDK；授权系统只读接入，发送前人工确认。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数值沿用仓库研究数据，本次未新增外部核验。历史评测的 harness、预算与样本可能不同，曲线描述仓库记录，非严格受控实验。
TAU retail94.8 airline84.2 banking40.1；OSWorld47.2。指标描述特定任务集合，不能直接推断一般领域智力。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26%AL4 AI主导、人类监督；&gt;90%至少AL3协作。AL4包含于AL3及以上集合，两数字不相加；不是26%的原创发现占比。所测任务没有报告AL5完全自主。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docs/05_chapter4_rsi_and_safety_paradigms.md。此表说明编码Agent用途，不宣称每项都是已公开证实的内部部署。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这描述可能的代际正反馈，不宣称完全自主RSI或智能爆炸已经完成。算力、研究创意和验证仍可能成为约束。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内部分享 / 数据增强版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为什么强 · 编码模型如何成功 · 通往 AGI 的行动能力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" y="1243584"/>
            <a:ext cx="73152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万亿 IPO 的背后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07238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3000" dirty="0"/>
          </a:p>
        </p:txBody>
      </p:sp>
      <p:pic>
        <p:nvPicPr>
          <p:cNvPr id="9" name="Image 0" descr="/Users/tangpeng/Documents/github/anthropic-and-its-2t-ipo/pptx/claude_coral_white/assets/intelligence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44168"/>
            <a:ext cx="3108960" cy="3108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7240" y="4343400"/>
            <a:ext cx="3364992" cy="109728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60120" y="4498848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960120" y="513892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为什么强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81144" y="4343400"/>
            <a:ext cx="3364992" cy="109728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64024" y="4498848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764024" y="513892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编码模型如何成功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385048" y="4343400"/>
            <a:ext cx="3364992" cy="109728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67928" y="4498848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8567928" y="513892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AGI 需要编码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 / 两万亿的尺度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两万亿，不只是在给“写代码工具”定价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从软件开发扩展到数字工作，再进入智能研发。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来源：仓库 IPO 研究；两万亿美元为目标估值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" y="236829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$2T</a:t>
            </a:r>
            <a:endParaRPr lang="en-US" sz="760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目标估值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4453128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2021 成立 → 2026 IPO 目标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18304" y="2404872"/>
            <a:ext cx="6812280" cy="75895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65192" y="2532888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开发工具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803136" y="2596896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写代码、修 Bug、跑测试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18304" y="3346704"/>
            <a:ext cx="6812280" cy="75895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65192" y="3474720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数字工作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803136" y="3538728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对账、文件处理、跨系统操作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18304" y="4288536"/>
            <a:ext cx="6812280" cy="75895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65192" y="441655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智能研发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803136" y="4480560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运行实验、构建评测、优化基础设施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程序员是第一批用户；模型的行动能力，正在进入更多工作。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Claude 为什么强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的成绩单：修软件、做工程、用工具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Sonnet 5.5 · 2026.09 · 不同评测观察不同能力。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来源：仓库 Claude 评测 CSV；发布时间与评测口径见备注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7512" y="2395728"/>
            <a:ext cx="2542032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624328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98.1%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77824" y="3584448"/>
            <a:ext cx="21214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Verified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77824" y="41605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Issue 的补丁通过测试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557016" y="2395728"/>
            <a:ext cx="2542032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67328" y="2624328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91.2%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3767328" y="3584448"/>
            <a:ext cx="21214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Pro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767328" y="41605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复杂仓库任务修复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46520" y="2395728"/>
            <a:ext cx="2542032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56832" y="2624328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70.6%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6656832" y="3584448"/>
            <a:ext cx="21214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656832" y="41605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终端环境的多步任务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336024" y="2395728"/>
            <a:ext cx="2542032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46336" y="2624328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98.8%</a:t>
            </a:r>
            <a:endParaRPr lang="en-US" sz="4600" dirty="0"/>
          </a:p>
        </p:txBody>
      </p:sp>
      <p:sp>
        <p:nvSpPr>
          <p:cNvPr id="22" name="Text 19"/>
          <p:cNvSpPr/>
          <p:nvPr/>
        </p:nvSpPr>
        <p:spPr>
          <a:xfrm>
            <a:off x="9546336" y="3584448"/>
            <a:ext cx="21214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BFCL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546336" y="41605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结构化工具调用表现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它不只补全代码：搜索、修改、执行和验证，已经进入同一个任务。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代际跃迁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33.4% 到 98.1%：旧标尺接近饱和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Verified · 仓库记录的代表模型表现。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来源：data/claude_agent_benchmark_evolution.csv；跨代际配置不同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340864"/>
          <a:ext cx="7726680" cy="31455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2340864"/>
            <a:ext cx="7726680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34440" y="4818888"/>
            <a:ext cx="685800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690872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0%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234440" y="4238244"/>
            <a:ext cx="685800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110228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234440" y="3657600"/>
            <a:ext cx="685800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529584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234440" y="3076956"/>
            <a:ext cx="685800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294894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234440" y="2496312"/>
            <a:ext cx="685800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2368296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196035" y="4004743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3649956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33.4%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 flipV="1">
            <a:off x="1234440" y="3680826"/>
            <a:ext cx="1714500" cy="362322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910535" y="3642421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537460" y="328763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49.0%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 flipV="1">
            <a:off x="2948940" y="3186117"/>
            <a:ext cx="1714500" cy="494709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25035" y="3147712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251960" y="2792925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70.3%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 flipV="1">
            <a:off x="4663440" y="2905085"/>
            <a:ext cx="1714500" cy="281032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339535" y="2866681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66460" y="2511893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82.4%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 flipV="1">
            <a:off x="6377940" y="2540441"/>
            <a:ext cx="1714500" cy="364644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054035" y="2502036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680960" y="2147249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98.1%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04088" y="5001768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Opus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2024.03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2418588" y="5001768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Sonnet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2024.06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133088" y="5001768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3.7 Sonnet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2025.02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847588" y="5001768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4.5 Sonnet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2025.11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7562088" y="5001768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5.5 Sonnet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2026.09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8823960" y="2487168"/>
            <a:ext cx="2706624" cy="258775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052560" y="2843784"/>
            <a:ext cx="2240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+64.7</a:t>
            </a:r>
            <a:endParaRPr lang="en-US" sz="3700" dirty="0"/>
          </a:p>
        </p:txBody>
      </p:sp>
      <p:sp>
        <p:nvSpPr>
          <p:cNvPr id="41" name="Text 37"/>
          <p:cNvSpPr/>
          <p:nvPr/>
        </p:nvSpPr>
        <p:spPr>
          <a:xfrm>
            <a:off x="9070848" y="371246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个百分点</a:t>
            </a:r>
            <a:endParaRPr lang="en-US" sz="1800" dirty="0"/>
          </a:p>
        </p:txBody>
      </p:sp>
      <p:sp>
        <p:nvSpPr>
          <p:cNvPr id="42" name="Text 38"/>
          <p:cNvSpPr/>
          <p:nvPr/>
        </p:nvSpPr>
        <p:spPr>
          <a:xfrm>
            <a:off x="9070848" y="43434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任务变难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标尺也在升级</a:t>
            </a:r>
            <a:endParaRPr lang="en-US" sz="1700" dirty="0"/>
          </a:p>
        </p:txBody>
      </p:sp>
      <p:sp>
        <p:nvSpPr>
          <p:cNvPr id="43" name="Text 39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模型的进步，不只是答案更像人，而是更多软件问题能够被解决。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横向对照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第三方对照：终端执行接近，综合能力有差异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5.5（max / fallback）· GPT-6 Astra（max）· Gemini 3.1 Pro（Preview）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来源：Artificial Analysis · terminalbench-4-0 + 三款模型页；核验于 2026-10-04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2340864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 · 平均 pass@1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73952" y="2340864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 Intelligence Index · 综合能力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706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 mini-swe-agent · 66 题 · 每题 3 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73952" y="2706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v4.3.2 · 10 项评测 · 指数分，非百分比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31520" y="306324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731520" y="306324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" y="318211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063240" y="3236976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063240" y="3236976"/>
            <a:ext cx="1062716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74336" y="3172968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59.6%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31520" y="3849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063240" y="3904488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063240" y="3904488"/>
            <a:ext cx="1053800" cy="246888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74336" y="384048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59.1%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31520" y="451713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3.1 Pro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063240" y="4572000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063240" y="4572000"/>
            <a:ext cx="71323" cy="246888"/>
          </a:xfrm>
          <a:prstGeom prst="rect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74336" y="4507992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4.0%</a:t>
            </a:r>
            <a:endParaRPr lang="en-US" sz="17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6473952" y="306324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Shape 22"/>
          <p:cNvSpPr/>
          <p:nvPr/>
        </p:nvSpPr>
        <p:spPr>
          <a:xfrm>
            <a:off x="6473952" y="306324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73952" y="318211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805672" y="3236976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805672" y="3236976"/>
            <a:ext cx="1034186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0716768" y="3172968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58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6473952" y="3849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8805672" y="3904488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805672" y="3904488"/>
            <a:ext cx="945032" cy="246888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716768" y="384048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53</a:t>
            </a:r>
            <a:endParaRPr lang="en-US" sz="1700" dirty="0"/>
          </a:p>
        </p:txBody>
      </p:sp>
      <p:sp>
        <p:nvSpPr>
          <p:cNvPr id="36" name="Text 31"/>
          <p:cNvSpPr/>
          <p:nvPr/>
        </p:nvSpPr>
        <p:spPr>
          <a:xfrm>
            <a:off x="6473952" y="451713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3.1 Pro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8805672" y="4572000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805672" y="4572000"/>
            <a:ext cx="534924" cy="246888"/>
          </a:xfrm>
          <a:prstGeom prst="rect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0716768" y="4507992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700" dirty="0"/>
          </a:p>
        </p:txBody>
      </p:sp>
      <p:sp>
        <p:nvSpPr>
          <p:cNvPr id="40" name="Text 35"/>
          <p:cNvSpPr/>
          <p:nvPr/>
        </p:nvSpPr>
        <p:spPr>
          <a:xfrm>
            <a:off x="786384" y="523951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终端观测分差：仅 0.5 个百分点</a:t>
            </a:r>
            <a:endParaRPr lang="en-US" sz="1800" dirty="0"/>
          </a:p>
        </p:txBody>
      </p:sp>
      <p:sp>
        <p:nvSpPr>
          <p:cNvPr id="41" name="Text 36"/>
          <p:cNvSpPr/>
          <p:nvPr/>
        </p:nvSpPr>
        <p:spPr>
          <a:xfrm>
            <a:off x="6473952" y="52395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未核实到完整 SWE-bench Pro 对照，改用综合指数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统一测试配置，才能比较分数；综合能力不等于终端任务成功率。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能力与价格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更强，也更便宜：能力被推向日常工作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3 Opus → Sonnet 5.5 · 仓库记录的能力与定价。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来源：Claude 评测 CSV；美元 / 百万 Token；不等于每任务总成本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404872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Verified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2926080"/>
          <a:ext cx="50292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777240" y="2926080"/>
            <a:ext cx="5029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304495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Opus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834640" y="3081528"/>
            <a:ext cx="205740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34640" y="3081528"/>
            <a:ext cx="687172" cy="246888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0" y="30358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33.4%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77240" y="388620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2834640" y="3922776"/>
            <a:ext cx="205740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34640" y="3922776"/>
            <a:ext cx="2018309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0" y="38770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98.1%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428232" y="2377440"/>
            <a:ext cx="5084064" cy="297180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0" y="2642616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标价 · $ / 百万 Token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675120" y="326440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  $15 → $2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6675120" y="4041648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  $75 → $10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6675120" y="4736592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输入标价下降 86.7%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当任务能力提升、调用门槛下降，更多小任务开始值得交给 Agent。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一笔可复算的账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 美元怎样算出来？看一次任务的账单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 定价算例；展示费用结构，不代表所有 Bug 的实际成本。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来源：仓库 API 标价；Token 用量为算例假设；不含人工审查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用量假设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26280" y="2468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标价 / 百万 Token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60920" y="2468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费用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035808"/>
            <a:ext cx="81838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0358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未缓存输入 5 万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26280" y="30358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$2.00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60920" y="30358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$0.10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675888"/>
            <a:ext cx="8183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67588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缓存读取 100 万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526280" y="36758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$0.20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60920" y="36758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$0.20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315968"/>
            <a:ext cx="81838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31596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 2 万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526280" y="43159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$10.00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60920" y="43159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$0.20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308592" y="2432304"/>
            <a:ext cx="2194560" cy="267004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09760" y="2980944"/>
            <a:ext cx="18013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$0.50</a:t>
            </a:r>
            <a:endParaRPr lang="en-US" sz="3800" dirty="0"/>
          </a:p>
        </p:txBody>
      </p:sp>
      <p:sp>
        <p:nvSpPr>
          <p:cNvPr id="25" name="Text 22"/>
          <p:cNvSpPr/>
          <p:nvPr/>
        </p:nvSpPr>
        <p:spPr>
          <a:xfrm>
            <a:off x="9518904" y="397764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本次算例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模型调用费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对比人力时，要比较“通过验收的任务”，不只比较一次模型输出。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Prompt Caching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反复读取相同上下文，缓存把价格压到十分之一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 · 相同前缀的缓存读取；不是整张账单一律打一折。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来源：Claude 价格 CSV；缓存写入及输出另计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58952" y="2688336"/>
          <a:ext cx="58521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58952" y="2688336"/>
            <a:ext cx="5852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8952" y="288036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普通输入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2816352" y="2916936"/>
            <a:ext cx="288036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16352" y="2916936"/>
            <a:ext cx="2880360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33872" y="28712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2.0 美元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58952" y="368503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缓存读取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2816352" y="3721608"/>
            <a:ext cx="288036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16352" y="3721608"/>
            <a:ext cx="288036" cy="246888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33872" y="36758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 美元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333488" y="2468880"/>
            <a:ext cx="4160520" cy="278892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89520" y="27980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轮 × 10 万 Token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7589520" y="364845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$4.00 → $0.40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7589520" y="4681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相同前缀读取的费用算例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长任务反复使用代码背景与执行历史，缓存让连续循环更容易负担。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Claude Code 的工作轨迹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终端原生：同一个任务里，查、改、测、再修复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例：支付请求偶发失败，定位重试逻辑并准备补丁。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工程场景示意；命令、回显与文件为教学例，不是本次运行记录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359152"/>
            <a:ext cx="6611112" cy="307238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2615184"/>
            <a:ext cx="6126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一次目标 → 多步动作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78408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039112" y="31089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rg "retry|timeout" src/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78408" y="3502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039112" y="3502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查看支付调用与异常分支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78408" y="38953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修改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039112" y="3895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调整可重试错误与次数上限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78408" y="42885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039112" y="42885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pytest tests/test_payment_retry.py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78408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039112" y="4681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失败用例 → 修正 → 再运行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735824" y="2359152"/>
            <a:ext cx="3767328" cy="307238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91856" y="2615184"/>
            <a:ext cx="3255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可检查的交付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01000" y="32461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补丁 + 回归测试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001000" y="3849624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修改范围、测试结果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仍待确认的问题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001000" y="48828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人负责业务取舍与合并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的价值是动作可组合、反馈可读取，不是让 AI 拥有无限权限。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模型与 Harness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为什么不是“换个模型”就能复制体验？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工程能力来自模型判断与执行系统的共同作用。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上下文工程、工具设计、长任务 Harness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3591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71800" y="2359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具体工程资产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2359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解决的问题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106984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260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模型判断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971800" y="29260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相关调用链、错误假设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80960" y="2926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下一步查哪里、改什么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56616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5661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工具接口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971800" y="35661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文件读取、精确补丁、终端回显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80960" y="35661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让动作可执行、失败可定位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206240"/>
            <a:ext cx="106984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062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2971800" y="4206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CLAUDE.md、相关函数、最近报错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80960" y="4206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保留任务需要的信息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1520" y="484632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8463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持续状态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971800" y="48463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功能清单、进度文件、Git、测试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80960" y="4846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中断后可恢复、下一会话可接班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从“回答正确”到“交付可靠”，还隔着接口、状态与验证。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大仓库理解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 万字的容量，不等于找对这次任务的证据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修复支付重试：当前上下文需要的是关联信息，而不是全部文件。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· Effective context engineering；检索流程示意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386584"/>
            <a:ext cx="5120640" cy="297180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91072" y="2386584"/>
            <a:ext cx="5212080" cy="2971800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26609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全量灌入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50976" y="34290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 + 库存 + UI + 营销 + 配置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87552" y="4050792"/>
            <a:ext cx="438912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72768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57984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0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28416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13632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98848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72768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57984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0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28416" y="4242816"/>
            <a:ext cx="438912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13632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8848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87552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572768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57984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43200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28416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913632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98848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87552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572768" y="4626864"/>
            <a:ext cx="438912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157984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43200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328416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913632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98848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87552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572768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157984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743200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328416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913632" y="4818888"/>
            <a:ext cx="438912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498848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28816" y="2660904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按问题探索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6528816" y="3401568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测试入口 → 复现条件</a:t>
            </a:r>
            <a:endParaRPr lang="en-US" sz="1700" dirty="0"/>
          </a:p>
        </p:txBody>
      </p:sp>
      <p:sp>
        <p:nvSpPr>
          <p:cNvPr id="49" name="Text 46"/>
          <p:cNvSpPr/>
          <p:nvPr/>
        </p:nvSpPr>
        <p:spPr>
          <a:xfrm>
            <a:off x="6528816" y="3794760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支付调用 → retry 分支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6528816" y="4187952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异常类型 → 超时配置</a:t>
            </a:r>
            <a:endParaRPr lang="en-US" sz="1700" dirty="0"/>
          </a:p>
        </p:txBody>
      </p:sp>
      <p:sp>
        <p:nvSpPr>
          <p:cNvPr id="51" name="Text 48"/>
          <p:cNvSpPr/>
          <p:nvPr/>
        </p:nvSpPr>
        <p:spPr>
          <a:xfrm>
            <a:off x="6528816" y="4581144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失败用例 → 修改后的验证</a:t>
            </a:r>
            <a:endParaRPr lang="en-US" sz="1700" dirty="0"/>
          </a:p>
        </p:txBody>
      </p:sp>
      <p:sp>
        <p:nvSpPr>
          <p:cNvPr id="52" name="Text 49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长窗口提供空间；主动检索决定哪些信息值得进入工作记忆。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长任务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每步只差 1.5 个百分点，50 步之后差多少？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简化模型：每步独立、可靠性恒定、失败不可恢复。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数学示意；不由评测分数推算模型单步可靠性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395728"/>
          <a:ext cx="7315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2395728"/>
            <a:ext cx="7315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34440" y="4791456"/>
            <a:ext cx="644652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66344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0%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234440" y="4231386"/>
            <a:ext cx="644652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10337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234440" y="3671316"/>
            <a:ext cx="644652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54330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234440" y="3111246"/>
            <a:ext cx="644652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298323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234440" y="2551176"/>
            <a:ext cx="644652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242316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196035" y="2557577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234440" y="2595982"/>
            <a:ext cx="1289304" cy="365003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485339" y="2922579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523744" y="2960984"/>
            <a:ext cx="1289304" cy="334843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774643" y="3257422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813048" y="3295827"/>
            <a:ext cx="1289304" cy="273591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063947" y="3531014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102352" y="3569418"/>
            <a:ext cx="1289304" cy="223544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53251" y="3754557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391656" y="3792962"/>
            <a:ext cx="1289304" cy="182652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642555" y="3937209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96035" y="2523973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234440" y="2562377"/>
            <a:ext cx="1289304" cy="98326"/>
          </a:xfrm>
          <a:prstGeom prst="line">
            <a:avLst/>
          </a:prstGeom>
          <a:noFill/>
          <a:ln w="33020">
            <a:solidFill>
              <a:srgbClr val="738A7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485339" y="2622298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523744" y="2660703"/>
            <a:ext cx="1289304" cy="104172"/>
          </a:xfrm>
          <a:prstGeom prst="line">
            <a:avLst/>
          </a:prstGeom>
          <a:noFill/>
          <a:ln w="33020">
            <a:solidFill>
              <a:srgbClr val="738A7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774643" y="2726470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813048" y="2764875"/>
            <a:ext cx="1289304" cy="99079"/>
          </a:xfrm>
          <a:prstGeom prst="line">
            <a:avLst/>
          </a:prstGeom>
          <a:noFill/>
          <a:ln w="33020">
            <a:solidFill>
              <a:srgbClr val="738A7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063947" y="2825550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102352" y="2863955"/>
            <a:ext cx="1289304" cy="94235"/>
          </a:xfrm>
          <a:prstGeom prst="line">
            <a:avLst/>
          </a:prstGeom>
          <a:noFill/>
          <a:ln w="33020">
            <a:solidFill>
              <a:srgbClr val="738A7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353251" y="2919785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391656" y="2958190"/>
            <a:ext cx="1289304" cy="89628"/>
          </a:xfrm>
          <a:prstGeom prst="line">
            <a:avLst/>
          </a:prstGeom>
          <a:noFill/>
          <a:ln w="33020">
            <a:solidFill>
              <a:srgbClr val="738A7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642555" y="3009413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1993392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3282696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572000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5861304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7150608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1280160" y="5358384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珊瑚：每步 98%     绿色：每步 99.5%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8421624" y="2487168"/>
            <a:ext cx="3072384" cy="264261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668512" y="2852928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36.4%</a:t>
            </a:r>
            <a:endParaRPr lang="en-US" sz="3700" dirty="0"/>
          </a:p>
        </p:txBody>
      </p:sp>
      <p:sp>
        <p:nvSpPr>
          <p:cNvPr id="51" name="Text 47"/>
          <p:cNvSpPr/>
          <p:nvPr/>
        </p:nvSpPr>
        <p:spPr>
          <a:xfrm>
            <a:off x="8668512" y="369417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77.8%</a:t>
            </a:r>
            <a:endParaRPr lang="en-US" sz="3200" dirty="0"/>
          </a:p>
        </p:txBody>
      </p:sp>
      <p:sp>
        <p:nvSpPr>
          <p:cNvPr id="52" name="Text 48"/>
          <p:cNvSpPr/>
          <p:nvPr/>
        </p:nvSpPr>
        <p:spPr>
          <a:xfrm>
            <a:off x="8668512" y="4599432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步全部成功概率</a:t>
            </a:r>
            <a:endParaRPr lang="en-US" sz="1500" dirty="0"/>
          </a:p>
        </p:txBody>
      </p:sp>
      <p:sp>
        <p:nvSpPr>
          <p:cNvPr id="53" name="Text 49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真实体验的关键：少犯错、出错能恢复、少让人接管。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编码模型如何成功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代码训练场有任务、有环境，也有自动裁判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从人类逐条评价，走向大规模执行与评分。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来源：仓库基准研究；SWE-bench / SWE-bench Pro / Terminal-Bench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359152"/>
            <a:ext cx="335584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587752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547872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Verified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23944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人工校验的 Issue 任务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26280" y="2359152"/>
            <a:ext cx="335584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2587752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642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36592" y="3547872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 V2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36592" y="4123944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离线执行的复杂仓库任务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21040" y="2359152"/>
            <a:ext cx="3355848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31352" y="2587752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8531352" y="3547872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31352" y="4123944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校准资源与超时的终端任务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" y="5047488"/>
            <a:ext cx="10716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代码库 + 容器环境 + 测试 / 验证器 → 可重复的执行反馈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编码的优势：大量试错能够运行、能够评分，也能够进入下一轮改进。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Agentic RL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模型学习的，不只是一份正确补丁，而是整段解题轨迹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codex-1 披露：用真实编码任务强化学习，学习修改与反复测试。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来源：OpenAI · Introducing Codex；一般训练机制示意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68880"/>
            <a:ext cx="2103120" cy="227685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69748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给定任务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3968496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 + 仓库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 + 测试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880360" y="3630168"/>
            <a:ext cx="64008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611880" y="2468880"/>
            <a:ext cx="2103120" cy="227685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94760" y="269748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94760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生成轨迹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794760" y="3968496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读文件 → 修改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 → 纠错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760720" y="3630168"/>
            <a:ext cx="64008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492240" y="2468880"/>
            <a:ext cx="2103120" cy="227685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269748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75120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环境评分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675120" y="3968496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问题是否解决？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是否破坏原行为？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641080" y="3630168"/>
            <a:ext cx="64008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372600" y="2468880"/>
            <a:ext cx="2103120" cy="227685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55480" y="269748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55480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训练更新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555480" y="3968496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强化有效策略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进入下一批任务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执行时修好这一题；训练时让下一批题的解题策略变得更好。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反馈为何有效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任务不是“写一段 Nginx 配置”，而是满足四项验收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终端工程场景：证书认证、限流、签名与服务运行。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来源：仓库 Nginx 教学任务；非本次运行记录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3591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71800" y="23591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验证输入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95160" y="23591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预期结果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106984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260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客户端证书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971800" y="29260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 / 无 / 错误证书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95160" y="29260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仅有效证书可访问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56616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5661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请求限流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971800" y="35661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次/秒 与 20 次/秒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95160" y="356616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超额请求返回 HTTP 429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206240"/>
            <a:ext cx="106984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062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请求签名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2971800" y="42062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请求体 + 固定密钥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995160" y="420624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上游收到正确 SHA256 HMAC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1520" y="484632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8463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服务状态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971800" y="48463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启动、端口、配置重载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95160" y="484632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8443 监听、重载后规则生效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从“生成像样代码”到“系统行为达标”，中间有可执行的验收。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赛道验证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的编码专项迭代，也在持续爬坡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Pro · Codex 模型演进；* GPT-6-Codex 为预览。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来源：data/openai_codex_benchmark_evolution.csv；历史条件不同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368296"/>
          <a:ext cx="7818120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2368296"/>
            <a:ext cx="7818120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34440" y="4837176"/>
            <a:ext cx="69494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70916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0%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234440" y="4258818"/>
            <a:ext cx="69494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130802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234440" y="3680460"/>
            <a:ext cx="69494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552444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234440" y="3102102"/>
            <a:ext cx="69494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2974086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234440" y="2523744"/>
            <a:ext cx="69494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2395728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196035" y="3785488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3430701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43.8%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 flipV="1">
            <a:off x="1234440" y="3648072"/>
            <a:ext cx="1737360" cy="175821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933395" y="3609667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560320" y="325488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51.4%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 flipV="1">
            <a:off x="2971800" y="3358893"/>
            <a:ext cx="1737360" cy="289179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70755" y="3320488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297680" y="2965701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63.9%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 flipV="1">
            <a:off x="4709160" y="3106729"/>
            <a:ext cx="1737360" cy="252164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408115" y="3068324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035040" y="2713537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74.8%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 flipV="1">
            <a:off x="6446520" y="2905460"/>
            <a:ext cx="1737360" cy="201269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145475" y="2867055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0" y="251226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83.5%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04088" y="502005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2025.08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2441448" y="502005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5-Codex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2025.09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178808" y="502005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5.2-Codex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2026.01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16168" y="502005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5.5-Codex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7653528" y="502005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6-Codex*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2026.08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8906256" y="2496312"/>
            <a:ext cx="2606040" cy="258775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144000" y="2816352"/>
            <a:ext cx="2139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43.8%</a:t>
            </a:r>
            <a:endParaRPr lang="en-US" sz="3200" dirty="0"/>
          </a:p>
        </p:txBody>
      </p:sp>
      <p:sp>
        <p:nvSpPr>
          <p:cNvPr id="41" name="Text 37"/>
          <p:cNvSpPr/>
          <p:nvPr/>
        </p:nvSpPr>
        <p:spPr>
          <a:xfrm>
            <a:off x="9144000" y="363931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83.5%</a:t>
            </a:r>
            <a:endParaRPr lang="en-US" sz="3000" dirty="0"/>
          </a:p>
        </p:txBody>
      </p:sp>
      <p:sp>
        <p:nvSpPr>
          <p:cNvPr id="42" name="Text 38"/>
          <p:cNvSpPr/>
          <p:nvPr/>
        </p:nvSpPr>
        <p:spPr>
          <a:xfrm>
            <a:off x="9144000" y="46177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同一系列持续迭代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巨头争夺的不只是聊天入口，而是可以反复被委托的执行能力。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为什么 AGI 需要编码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普通员工的任务，也包含数据结构、循环与规则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例：订单明细与银行流水对账；保留差异证据，不直接修改账目。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业务案例示意；表内数字为教学样本，不是公司实际数据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395728"/>
            <a:ext cx="3255264" cy="291693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2642616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50976" y="3227832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orders.xlsx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bank.csv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50976" y="44988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订单号 · 金额 · 到账日期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05656" y="3749040"/>
            <a:ext cx="48463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873752" y="24048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02552" y="2404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应收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28432" y="2404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到账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54312" y="240487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差额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36592" y="2971800"/>
            <a:ext cx="5879592" cy="58521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73752" y="2971800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O1042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702552" y="297180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28432" y="297180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54312" y="2971800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736592" y="3630168"/>
            <a:ext cx="5879592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3752" y="363016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O1088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702552" y="363016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1200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028432" y="363016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1200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54312" y="3630168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736592" y="4288536"/>
            <a:ext cx="5879592" cy="58521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3752" y="4288536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O1101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702552" y="42885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028432" y="42885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354312" y="4288536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892040" y="5175504"/>
            <a:ext cx="6428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输出：异常清单 + 原始行号 + 核对依据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编写清洗与匹配脚本，人核对业务规则与异常解释。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按需制造工具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新需求不必都先开发一个新产品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读接口、生成脚本、组合工具，临时补齐系统之间的缺口。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· Code execution with MCP；代码为说明性伪代码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14016"/>
            <a:ext cx="5861304" cy="289864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2651760"/>
            <a:ext cx="5385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目标：对账并准备异常报告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" y="3182112"/>
            <a:ext cx="537667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4C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orders = load("orders.xlsx")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74C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bank = load("bank.csv")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74C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rows = reconcile(orders, bank)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74C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 = attach_evidence(rows)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74C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save(report, "exceptions.xlsx")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059168" y="25603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CLI：执行脚本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59168" y="3163824"/>
            <a:ext cx="4389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文件处理、计算、运行与检查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059168" y="39776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MCP：接入业务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059168" y="4581144"/>
            <a:ext cx="4389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获批的数据与办公系统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Skills 把有效流程、脚本与验收方式保存下来，让经验能够复用。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能力边界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数字任务先走得更远，不同领域仍然很不均衡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 · 业务交互与桌面操作的评测切面。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来源：Claude 评测 CSV；各集合规则不同，不可视为统一考试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" y="2459736"/>
          <a:ext cx="7132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9808" y="2459736"/>
            <a:ext cx="7132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9808" y="2670048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零售交互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2807208" y="2706624"/>
            <a:ext cx="416052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07208" y="2706624"/>
            <a:ext cx="3944173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104888" y="26609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94.8%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" y="329184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航司交互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2807208" y="3328416"/>
            <a:ext cx="416052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07208" y="3328416"/>
            <a:ext cx="3503158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04888" y="32826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84.2%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49808" y="391363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桌面操作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2807208" y="3950208"/>
            <a:ext cx="416052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807208" y="3950208"/>
            <a:ext cx="1963765" cy="246888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39044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47.2%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49808" y="4535424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银行交互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2807208" y="4572000"/>
            <a:ext cx="416052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807208" y="4572000"/>
            <a:ext cx="1668369" cy="246888"/>
          </a:xfrm>
          <a:prstGeom prst="rect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04888" y="4526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40.1%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8421624" y="2496312"/>
            <a:ext cx="3072384" cy="2724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86800" y="2898648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代码打开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行动空间</a:t>
            </a:r>
            <a:endParaRPr lang="en-US" sz="2700" dirty="0"/>
          </a:p>
        </p:txBody>
      </p:sp>
      <p:sp>
        <p:nvSpPr>
          <p:cNvPr id="28" name="Text 24"/>
          <p:cNvSpPr/>
          <p:nvPr/>
        </p:nvSpPr>
        <p:spPr>
          <a:xfrm>
            <a:off x="8686800" y="421538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跨任务泛化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长期学习与业务判断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仍要继续进步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编码是通用行动的重要底座；它不是所有领域已经自动化的证明。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AI 参与 AI 研发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26% 的研发工作，已经达到 AI 主导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更强的模型，不只被卖给用户，也开始进入下一代模型的研发。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来源：仓库引用 Anthropic 研发自动化指数；截至 2026.08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350008"/>
            <a:ext cx="3355848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578608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26%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538728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主导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1480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高层目标输入 · 人类监督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26280" y="2350008"/>
            <a:ext cx="3355848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2578608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&gt;90%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36592" y="3538728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 AI 协作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36592" y="411480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多数研发工作已包含 AI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21040" y="2350008"/>
            <a:ext cx="317296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2624328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任务级别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49640" y="3163824"/>
            <a:ext cx="27066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AL3 · 协作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AL4 · 主导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AL5 · 完全自主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86384" y="5065776"/>
            <a:ext cx="10625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AL4 是协作及以上的一部分；完全自主仍未在所测任务类别中报告。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已经从研究成果，变成研究能力的一部分。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研发执行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它进入研发的方式，是代码、实验与检查工具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四类工作，把研究想法更快送到可以验证的环节。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来源：仓库 RSI 研究 + Anthropic 研发自动化研究；用途示意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3591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研发环节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63240" y="23591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可交付的工程产物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35240" y="23591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需要验证的结果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106984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260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训练基础设施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063240" y="29260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诊断日志、内核补丁、性能脚本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35240" y="292608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吞吐、稳定性、数值精度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56616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5661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数据与评测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063240" y="356616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候选任务、评分器、检查脚本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35240" y="356616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泛化、偏差、是否可作弊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206240"/>
            <a:ext cx="106984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062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实验执行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063240" y="420624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实验配置、运行脚本、对照表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35240" y="42062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增益是否可复现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1520" y="484632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安全研究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3063240" y="484632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红队样本、复现用例、风险报告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35240" y="484632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失败机制与部署风险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研发增益要看有效实验与可靠结论，不只看生成代码量。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递归改进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当前智能参与研发，后继智能再进入下一轮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RSI：改进工具的能力，也开始被工具自身放大。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研发自动化研究；代际反馈机制示意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87168"/>
            <a:ext cx="3355848" cy="222199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2862072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当前模型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969264" y="374904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编程、分析、运行实验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133088" y="3602736"/>
            <a:ext cx="32004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526280" y="2487168"/>
            <a:ext cx="3355848" cy="222199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64024" y="2862072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有效研发增益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4764024" y="374904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更少工程等待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更多可检验的实验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927848" y="3602736"/>
            <a:ext cx="32004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321040" y="2487168"/>
            <a:ext cx="3355848" cy="222199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58784" y="2862072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后继模型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8558784" y="374904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训练、评价、部署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985248" y="4882896"/>
            <a:ext cx="0" cy="41148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>
            <a:off x="2395728" y="5294376"/>
            <a:ext cx="758952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最震撼的不是机器替我们工作，而是参与制造下一代更会工作的机器。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结尾 / 员工与公司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把业务经验变成可执行能力，而不只是个人熟练度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先定义目标与规则，再委托执行；用产物和证据判断是否完成。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组织变化为方向性分析；任务执行仍需授权环境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3591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46120" y="23591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可以交给 Agent 的产物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35240" y="23591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人应握住的判断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10698480" cy="6675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26080"/>
            <a:ext cx="2148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 / 市场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246120" y="2926080"/>
            <a:ext cx="4160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指标计算、交叉分析、异常报告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35240" y="2926080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问题是否值得问、指标是否正确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666744"/>
            <a:ext cx="1069848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666744"/>
            <a:ext cx="2148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 / HR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246120" y="3666744"/>
            <a:ext cx="4160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对账清单、材料结构化、来源索引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35240" y="3666744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规则、例外、金额与敏感信息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407408"/>
            <a:ext cx="10698480" cy="6675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407408"/>
            <a:ext cx="2148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 / 研发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246120" y="4407408"/>
            <a:ext cx="4160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可运行原型、补丁、回归测试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35240" y="4407408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需求价值、架构与上线责任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3816" y="5422392"/>
            <a:ext cx="106436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对公司：重新审视排期、交接和等待，释放过去做不起的任务。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2万亿 IPO 的背后：编码模型与 AGI · 数据增强版</dc:title>
  <dc:subject>Claude 工程能力、编码反馈与 AI 研发</dc:subject>
  <dc:creator>Internal Learning</dc:creator>
  <cp:lastModifiedBy>Internal Learning</cp:lastModifiedBy>
  <cp:revision>1</cp:revision>
  <dcterms:created xsi:type="dcterms:W3CDTF">2026-10-04T11:07:21Z</dcterms:created>
  <dcterms:modified xsi:type="dcterms:W3CDTF">2026-10-04T11:07:21Z</dcterms:modified>
</cp:coreProperties>
</file>