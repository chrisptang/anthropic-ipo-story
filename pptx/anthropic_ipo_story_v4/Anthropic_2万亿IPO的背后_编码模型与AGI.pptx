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B</c:v>
                </c:pt>
              </c:strCache>
            </c:strRef>
          </c:tx>
          <c:spPr>
            <a:solidFill>
              <a:srgbClr val="D97757"/>
            </a:solidFill>
            <a:ln w="2540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2025.03
E 轮</c:v>
                  </c:pt>
                  <c:pt idx="1">
                    <c:v>2025.09
F 轮</c:v>
                  </c:pt>
                  <c:pt idx="2">
                    <c:v>2026.02
G 轮</c:v>
                  </c:pt>
                  <c:pt idx="3">
                    <c:v>2026.05
H 轮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61.5</c:v>
                </c:pt>
                <c:pt idx="1">
                  <c:v>183</c:v>
                </c:pt>
                <c:pt idx="2">
                  <c:v>380</c:v>
                </c:pt>
                <c:pt idx="3">
                  <c:v>965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Run-rate USD B</c:v>
                </c:pt>
              </c:strCache>
            </c:strRef>
          </c:tx>
          <c:spPr>
            <a:solidFill>
              <a:srgbClr val="D97757"/>
            </a:solidFill>
            <a:ln w="2540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2025 年初</c:v>
                  </c:pt>
                  <c:pt idx="1">
                    <c:v>2025.08</c:v>
                  </c:pt>
                  <c:pt idx="2">
                    <c:v>2026.02</c:v>
                  </c:pt>
                  <c:pt idx="3">
                    <c:v>2026.05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14</c:v>
                </c:pt>
                <c:pt idx="3">
                  <c:v>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SWE-bench Verified %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Sonnet 3.5</c:v>
                  </c:pt>
                  <c:pt idx="1">
                    <c:v>Sonnet 3.5 v2</c:v>
                  </c:pt>
                  <c:pt idx="2">
                    <c:v>Sonnet 3.7</c:v>
                  </c:pt>
                  <c:pt idx="3">
                    <c:v>Opus 4</c:v>
                  </c:pt>
                  <c:pt idx="4">
                    <c:v>Sonnet 4</c:v>
                  </c:pt>
                  <c:pt idx="5">
                    <c:v>Opus 4.1</c:v>
                  </c:pt>
                  <c:pt idx="6">
                    <c:v>Sonnet 4.5</c:v>
                  </c:pt>
                  <c:pt idx="7">
                    <c:v>Opus 4.5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49</c:v>
                </c:pt>
                <c:pt idx="2">
                  <c:v>62.3</c:v>
                </c:pt>
                <c:pt idx="3">
                  <c:v>72.5</c:v>
                </c:pt>
                <c:pt idx="4">
                  <c:v>72.7</c:v>
                </c:pt>
                <c:pt idx="5">
                  <c:v>74.5</c:v>
                </c:pt>
                <c:pt idx="6">
                  <c:v>77.2</c:v>
                </c:pt>
                <c:pt idx="7">
                  <c:v>80.9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SWE-bench Verified %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Opus 4.6</c:v>
                  </c:pt>
                  <c:pt idx="1">
                    <c:v>Sonnet 4.6</c:v>
                  </c:pt>
                  <c:pt idx="2">
                    <c:v>Mythos Preview</c:v>
                  </c:pt>
                  <c:pt idx="3">
                    <c:v>Opus 4.7</c:v>
                  </c:pt>
                  <c:pt idx="4">
                    <c:v>Opus 4.8</c:v>
                  </c:pt>
                  <c:pt idx="5">
                    <c:v>Mythos / Fable 5</c:v>
                  </c:pt>
                  <c:pt idx="6">
                    <c:v>Sonnet 5</c:v>
                  </c:pt>
                  <c:pt idx="7">
                    <c:v>Opus 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80.8</c:v>
                </c:pt>
                <c:pt idx="1">
                  <c:v>79.6</c:v>
                </c:pt>
                <c:pt idx="2">
                  <c:v>93.9</c:v>
                </c:pt>
                <c:pt idx="3">
                  <c:v>87.6</c:v>
                </c:pt>
                <c:pt idx="4">
                  <c:v>88.6</c:v>
                </c:pt>
                <c:pt idx="5">
                  <c:v>95.5</c:v>
                </c:pt>
                <c:pt idx="6">
                  <c:v>85.2</c:v>
                </c:pt>
                <c:pt idx="7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Terminal-Bench 原版 · 2025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Opus 4</c:v>
                  </c:pt>
                  <c:pt idx="1">
                    <c:v>Sonnet 4</c:v>
                  </c:pt>
                  <c:pt idx="2">
                    <c:v>Opus 4.1</c:v>
                  </c:pt>
                  <c:pt idx="3">
                    <c:v>Sonnet 4.5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43.2</c:v>
                </c:pt>
                <c:pt idx="1">
                  <c:v>35.5</c:v>
                </c:pt>
                <c:pt idx="2">
                  <c:v>43.3</c:v>
                </c:pt>
                <c:pt idx="3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Terminal-Bench 2.0 · 2025–26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Opus 4.5</c:v>
                  </c:pt>
                  <c:pt idx="1">
                    <c:v>Opus 4.6</c:v>
                  </c:pt>
                  <c:pt idx="2">
                    <c:v>Sonnet 4.6</c:v>
                  </c:pt>
                  <c:pt idx="3">
                    <c:v>Mythos Preview</c:v>
                  </c:pt>
                  <c:pt idx="4">
                    <c:v>Opus 4.7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59.3</c:v>
                </c:pt>
                <c:pt idx="1">
                  <c:v>65.4</c:v>
                </c:pt>
                <c:pt idx="2">
                  <c:v>59.1</c:v>
                </c:pt>
                <c:pt idx="3">
                  <c:v>82</c:v>
                </c:pt>
                <c:pt idx="4">
                  <c:v>69.4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Terminal-Bench 2.1 · 2026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Opus 4.8</c:v>
                  </c:pt>
                  <c:pt idx="1">
                    <c:v>Fable 5</c:v>
                  </c:pt>
                  <c:pt idx="2">
                    <c:v>Mythos 5</c:v>
                  </c:pt>
                  <c:pt idx="3">
                    <c:v>Sonnet 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74.6</c:v>
                </c:pt>
                <c:pt idx="1">
                  <c:v>84.3</c:v>
                </c:pt>
                <c:pt idx="2">
                  <c:v>88</c:v>
                </c:pt>
                <c:pt idx="3">
                  <c:v>80.4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Terminal-Bench 4.0 · 2026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Sonnet 5</c:v>
                  </c:pt>
                  <c:pt idx="1">
                    <c:v>Fable 5</c:v>
                  </c:pt>
                  <c:pt idx="2">
                    <c:v>Opus 5</c:v>
                  </c:pt>
                  <c:pt idx="3">
                    <c:v>Fable 5.1</c:v>
                  </c:pt>
                  <c:pt idx="4">
                    <c:v>Mythos 5.1</c:v>
                  </c:pt>
                  <c:pt idx="5">
                    <c:v>Opus 5.5</c:v>
                  </c:pt>
                  <c:pt idx="6">
                    <c:v>Sonnet 5.5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10.3</c:v>
                </c:pt>
                <c:pt idx="1">
                  <c:v>42</c:v>
                </c:pt>
                <c:pt idx="2">
                  <c:v>52.3</c:v>
                </c:pt>
                <c:pt idx="3">
                  <c:v>55.8</c:v>
                </c:pt>
                <c:pt idx="4">
                  <c:v>60.9</c:v>
                </c:pt>
                <c:pt idx="5">
                  <c:v>66.4</c:v>
                </c:pt>
                <c:pt idx="6">
                  <c:v>70.6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TB4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Opus 5.5</c:v>
                  </c:pt>
                  <c:pt idx="1">
                    <c:v>GPT-6 Astra</c:v>
                  </c:pt>
                  <c:pt idx="2">
                    <c:v>Gemini 3.1 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59.6</c:v>
                </c:pt>
                <c:pt idx="1">
                  <c:v>59.1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Intelligence Index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Opus 5.5</c:v>
                  </c:pt>
                  <c:pt idx="1">
                    <c:v>GPT-6 Astra</c:v>
                  </c:pt>
                  <c:pt idx="2">
                    <c:v>Gemini 3.1 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53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https://www.anthropic.com/news/confidential-draft-s1-sec
https://live.euronext.com/en/financial-news/anthropics-ipo-prospectus-shows-sweeping-ai-vision-surging-costs
IPO已提交；超过两万亿美元为Reuters预期上市估值目标，非完成定价或当前上市市值。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https://www.anthropic.com/news/confidential-draft-s1-sec
https://live.euronext.com/en/financial-news/anthropics-ipo-prospectus-shows-sweeping-ai-vision-surging-costs
官方6月公告未确定发行股数、价格。Reuters9月预计美国中期选举后上市，不设定已确定敲钟日。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https://live.euronext.com/en/financial-news/anthropics-ipo-prospectus-shows-sweeping-ai-vision-surging-costs
https://www.alibabagroup.com/en-US/document-1490842489823690752
https://www.cnbc.com/2014/09/18/alibaba-prices-shares-at-68-a-share-dj.html
https://www.cnbc.com/2020/01/12/saudi-aramco-raises-ipo-to-record-29point4-billion-through-greenshoe-option.html
https://www.cnbc.com/2019/12/05/saudi-aramco-prices-shares-at-the-top-of-the-range-for-record-ipo-report-says.html
https://ir.spacex.com/updates/releases-details/2026/Space-Exploration-Technologies-Corp--Announces-Closing-of-Initial-Public-Offering-Including-Full-Exercise-of-Underwriters-Option-to-Purchase-Additional-Shares-2026-RgoR-Y1Vwh/default.aspx
2026-10-05叙事纠正：合并原第3/4页，删除SpaceX纪录支线。历史公司只用于建立Anthropic估值尺度。公司估值按发行价：阿里167.62B（不是首日231.4B）；Aramco1.7T；SpaceX1.77T来自Reuters。发行总额含超额配售：阿里25.03B含公司及售股股东；Aramco29.4B；SpaceX官方85.7B，其股数乘135美元与公告金额不一致，按公告明确gross proceeds，冲突保留audit。Anthropic募资未定、&gt;2T为报道目标。不是完整所有IPO名单，不宣称Anthropic募资额破纪录。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https://www.anthropic.com/news/anthropic-raises-series-e-at-usd61-5b-post-money-valuation
https://www.anthropic.com/news/anthropic-raises-series-f-at-usd183b-post-money-valuation
https://www.anthropic.com/news/anthropic-raises-30-billion-series-g-funding-380-billion-post-money-valuation
https://www.anthropic.com/news/series-h
https://live.euronext.com/en/financial-news/anthropics-ipo-prospectus-shows-sweeping-ai-vision-surging-costs
早期融资CSV日期轮次金额有错，保留2021成立而不画无原始证据的早期估值；折线各点等距展示事件，不代表等时距。IPO目标不用作为已成交融资点。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https://www.anthropic.com/news/anthropic-raises-series-f-at-usd183b-post-money-valuation
https://www.anthropic.com/news/anthropic-raises-30-billion-series-g-funding-380-billion-post-money-valuation
https://www.anthropic.com/news/series-h
https://www.anthropic.com/news/claude-3-7-sonnet
https://www.anthropic.com/news/claude-4
run-rate revenue不是全年确认营收、不是保证续约ARR，采用官方名称。公司整体收入并非全部来自ClaudeCode；时间共现不证明Code单独导致全部增长。年初约1B、8月&gt;5B、2月14B、5月&gt;47B，下限点。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https://www.anthropic.com/news/anthropic-raises-series-f-at-usd183b-post-money-valuation
https://www.anthropic.com/news/anthropic-raises-30-billion-series-g-funding-380-billion-post-money-valuation
2025.08 Code &gt;0.5B；2026.02 &gt;2.5B。业务订阅从2026年初增4倍，企业占Code收入过半。不是整个公司企业收入比例。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https://www.anthropic.com/news/series-h
https://live.euronext.com/en/financial-news/anthropics-ipo-prospectus-shows-sweeping-ai-vision-surging-costs
Reuters全文没有100B ARR；仓库9月100B没有独立来源，不作为实际收入。以下100–111B是所需收入倒算。965/47=20.53；2000/47=42.55；2000/20=100；2000/18=111.11。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https://live.euronext.com/en/financial-news/anthropics-ipo-prospectus-shows-sweeping-ai-vision-surging-costs
2025净亏损近42B含约34B融资估值会计费用，不等于现金烧钱；经营亏损&gt;8B。未来cloud/compute/infrastructure义务518B不是单年Capex。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"checked_at": "2026-10-05",
  "provenance": "Anthropic release pages and system cards; repo CSV used as discovery only, conflicting scores replaced",
  "early": {
    "model": "Claude 2",
    "date": "2023-07-11",
    "benchmark": "HumanEval",
    "score": 71.2,
    "previous_model": "Claude 1.3",
    "previous_score": 56,
    "source": "https://www.anthropic.com/news/claude-2",
    "note": "No model named Sonnet 2 in official releases; Claude 2 predates Sonnet naming. Claude 3 Opus release does not disclose a comparable SWE Verified score."
  },
  "swe_verified": [
    {
      "name": "Sonnet 3.5",
      "date": "2024.06",
      "score": 33.4,
      "source": "https://www.anthropic.com/news/3-5-models-and-computer-use"
    },
    {
      "name": "Sonnet 3.5 v2",
      "date": "2024.10",
      "score": 49,
      "source": "https://www.anthropic.com/news/3-5-models-and-computer-use"
    },
    {
      "name": "Sonnet 3.7",
      "date": "2025.02",
      "score": 62.3,
      "source": "https://www.anthropic.com/news/claude-3-7-sonnet",
      "note": "Full 500 pass@1; custom scaffold 70.3 is on 489 eligible tasks, not plotted."
    },
    {
      "name": "Opus 4",
      "date": "2025.05",
      "score": 72.5,
      "source": "https://www.anthropic.com/news/claude-4"
    },
    {
      "name": "Sonnet 4",
      "date": "2025.05",
      "score": 72.7,
      "source": "https://www.anthropic.com/news/claude-4"
    },
    {
      "name": "Opus 4.1",
      "date": "2025.08",
      "score": 74.5,
      "source": "https://www.anthropic.com/news/claude-opus-4-1"
    },
    {
      "name": "Sonnet 4.5",
      "date": "2025.09",
      "score": 77.2,
      "source": "https://www.anthropic.com/news/claude-sonnet-4-5"
    },
    {
      "name": "Opus 4.5",
      "date": "2025.11",
      "score": 80.9,
      "source": "https://www.anthropic.com/claude-opus-4-5-system-card",
      "page": 20
    },
    {
      "name": "Opus 4.6",
      "date": "2026.02",
      "score": 80.8,
      "source": "https://www.anthropic.com/claude-opus-4-6-system-card",
      "page": 19
    },
    {
      "name": "Sonnet 4.6",
      "date": "2026.02",
      "score": 79.6,
      "source": "https://www.anthropic.com/claude-sonnet-4-6-system-card",
      "page": 16
    },
    {
      "name": "Mythos Preview",
      "date": "2026.04",
      "score": 93.9,
      "source": "https://www.anthropic.com/claude-mythos-preview-system-card",
      "page": 189
    },
    {
      "name": "Opus 4.7",
      "date": "2026.04",
      "score": 87.6,
      "source": "https://www.anthropic.com/news/claude-opus-4-7"
    },
    {
      "name": "Opus 4.8",
      "date": "2026.05",
      "score": 88.6,
      "source": "https://www.anthropic.com/claude-opus-4-8-system-card",
      "page": 195
    },
    {
      "name": "Mythos / Fable 5",
      "date": "2026.06",
      "score": 95.5,
      "paired_score": 95,
      "source": "https://www.anthropic.com/claude-fable-5-mythos-5-system-card",
      "page": 253
    },
    {
      "name": "Sonnet 5",
      "date": "2026.06",
      "score": 85.2,
      "source": "https://www.anthropic.com/claude-sonnet-5-system-card",
      "page": 116
    },
    {
      "name": "Opus 5",
      "date": "2026.07",
      "score": 96,
      "source": "https://www.anthropic.com/claude-opus-5-system-card",
      "page": 153
    }
  ],
  "new_swe_pro": [
    {
      "name": "Mythos / Fable 5.1",
      "score": 81.2,
      "source": "https://www.anthropic.com/claude-fable-5-1-mythos-5-1-system-card",
      "page": 167
    },
    {
      "name": "Opus 5.5",
      "score": 89.9,
      "source": "https://www.anthropic.com/claude-opus-5-5-system-card",
      "page": 175
    },
    {
      "name": "Sonnet 5.5",
      "score": 81.3,
      "source": "https://www.anthropic.com/claude-sonnet-5-5-system-card",
      "page": 109
    }
  ],
  "terminal_panels": [
    {
      "version": "原版 · 2025",
      "harness": "发布时配置；Opus 4 使用 Claude Code",
      "rows": [
        [
          "Opus 4",
          43.2
        ],
        [
          "Sonnet 4",
          35.5
        ],
        [
          "Opus 4.1",
          43.3
        ],
        [
          "Sonnet 4.5",
          50
        ]
      ],
      "sources": [
        "https://www.anthropic.com/news/claude-4",
        "https://www.anthropic.com/news/claude-opus-4-1",
        "https://www.anthropic.com/news/claude-sonnet-4-5"
      ]
    },
    {
      "version": "2.0 · 2025–26",
      "harness": "Terminus-2；各代发布配置",
      "rows": [
        [
          "Opus 4.5",
          59.3
        ],
        [
          "Opus 4.6",
          65.4
        ],
        [
          "Sonnet 4.6",
          59.1
        ],
        [
          "Mythos Preview",
          82
        ],
        [
          "Opus 4.7",
          69.4
        ]
      ],
      "sources": [
        "https://www.anthropic.com/claude-opus-4-5-system-card",
        "https://www.anthropic.com/claude-opus-4-6-system-card",
        "https://www.anthropic.com/claude-sonnet-4-6-system-card",
        "https://www.anthropic.com/claude-mythos-preview-system-card",
        "https://www.anthropic.com/news/claude-opus-4-7"
      ]
    },
    {
      "version": "2.1 · 2026",
      "harness": "4.8: Terminus-2；后续含不同 harness",
      "rows": [
        [
          "Opus 4.8",
          74.6
        ],
        [
          "Fable 5",
          84.3
        ],
        [
          "Mythos 5",
          88
        ],
        [
          "Sonnet 5",
          80.4
        ]
      ],
      "sources": [
        "https://www.anthropic.com/claude-opus-4-8-system-card",
        "https://www.anthropic.com/claude-fable-5-mythos-5-system-card",
        "https://www.anthropic.com/claude-sonnet-5-system-card"
      ],
      "note": "Fable/Mythos5 card reruns Opus4.8 at82.7, not substituted for release74.6. Sonnet5 uses mini-swe-agent."
    },
    {
      "version": "4.0 · 2026",
      "harness": "Claude Code --bare；5.5 含 fallback",
      "rows": [
        [
          "Sonnet 5",
          10.3
        ],
        [
          "Fable 5",
          42
        ],
        [
          "Opus 5",
          52.3
        ],
        [
          "Fable 5.1",
          55.8
        ],
        [
          "Mythos 5.1",
          60.9
        ],
        [
          "Opus 5.5",
          66.4
        ],
        [
          "Sonnet 5.5",
          70.6
        ]
      ],
      "sources": [
        "https://www.anthropic.com/claude-sonnet-5-5",
        "https://www.anthropic.com/claude-fable-5-1-mythos-5-1-system-card",
        "https://www.anthropic.com/claude-opus-5-5-system-card",
        "https://www.anthropic.com/claude-sonnet-5-5-system-card"
      ],
      "note": "Opus5.5 xhigh (max64.8), other shown 5.1/5.5 models max; Mythos and Fable are same core with different safeguards/access. 5/10/15 repeats vary. Sonnet5 10.3 from latest release body, no finer setting disclosed there."
    }
  ]
}
以repo数据发现节点，再按官方发布页和system card逐项重建。Claude 2不是Sonnet 2；71.2为HumanEval，不能入Verified。Claude 3 Opus原发布未提供同口径Verified，不用CSV错标33.4。3.7用500题62.3；定制scaffold70.3为489题，旁注不入主图。历代harness、thinking、trial数变化，是官方能力足迹，不是控制配置的逐代实验。Mythos/Fable5 95.5/95来自card253页；Opus5 96来自card153页。5.1/5.5未报Verified，不能用repo96.5/97.8/98.1；右栏独立Pro81.2/89.9/81.3。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  {
    "version": "原版 · 2025",
    "harness": "发布时配置；Opus 4 使用 Claude Code",
    "rows": [
      [
        "Opus 4",
        43.2
      ],
      [
        "Sonnet 4",
        35.5
      ],
      [
        "Opus 4.1",
        43.3
      ],
      [
        "Sonnet 4.5",
        50
      ]
    ],
    "sources": [
      "https://www.anthropic.com/news/claude-4",
      "https://www.anthropic.com/news/claude-opus-4-1",
      "https://www.anthropic.com/news/claude-sonnet-4-5"
    ]
  },
  {
    "version": "2.0 · 2025–26",
    "harness": "Terminus-2；各代发布配置",
    "rows": [
      [
        "Opus 4.5",
        59.3
      ],
      [
        "Opus 4.6",
        65.4
      ],
      [
        "Sonnet 4.6",
        59.1
      ],
      [
        "Mythos Preview",
        82
      ],
      [
        "Opus 4.7",
        69.4
      ]
    ],
    "sources": [
      "https://www.anthropic.com/claude-opus-4-5-system-card",
      "https://www.anthropic.com/claude-opus-4-6-system-card",
      "https://www.anthropic.com/claude-sonnet-4-6-system-card",
      "https://www.anthropic.com/claude-mythos-preview-system-card",
      "https://www.anthropic.com/news/claude-opus-4-7"
    ]
  },
  {
    "version": "2.1 · 2026",
    "harness": "4.8: Terminus-2；后续含不同 harness",
    "rows": [
      [
        "Opus 4.8",
        74.6
      ],
      [
        "Fable 5",
        84.3
      ],
      [
        "Mythos 5",
        88
      ],
      [
        "Sonnet 5",
        80.4
      ]
    ],
    "sources": [
      "https://www.anthropic.com/claude-opus-4-8-system-card",
      "https://www.anthropic.com/claude-fable-5-mythos-5-system-card",
      "https://www.anthropic.com/claude-sonnet-5-system-card"
    ],
    "note": "Fable/Mythos5 card reruns Opus4.8 at82.7, not substituted for release74.6. Sonnet5 uses mini-swe-agent."
  },
  {
    "version": "4.0 · 2026",
    "harness": "Claude Code --bare；5.5 含 fallback",
    "rows": [
      [
        "Sonnet 5",
        10.3
      ],
      [
        "Fable 5",
        42
      ],
      [
        "Opus 5",
        52.3
      ],
      [
        "Fable 5.1",
        55.8
      ],
      [
        "Mythos 5.1",
        60.9
      ],
      [
        "Opus 5.5",
        66.4
      ],
      [
        "Sonnet 5.5",
        70.6
      ]
    ],
    "sources": [
      "https://www.anthropic.com/claude-sonnet-5-5",
      "https://www.anthropic.com/claude-fable-5-1-mythos-5-1-system-card",
      "https://www.anthropic.com/claude-opus-5-5-system-card",
      "https://www.anthropic.com/claude-sonnet-5-5-system-card"
    ],
    "note": "Opus5.5 xhigh (max64.8), other shown 5.1/5.5 models max; Mythos and Fable are same core with different safeguards/access. 5/10/15 repeats vary. Sonnet5 10.3 from latest release body, no finer setting disclosed there."
  }
]
不同版本不连线、不计算跨版本增幅。原版Opus4 43.2 ClaudeCode；Opus4.1 43.3 Terminus1，Sonnet4.5 50.0发布表。2.0 Opus4.5 59.3为128Kthinking原始发布而非后续重测59.8；Opus4.6 65.4 max；Sonnet4.6 59.1无thinking；Mythos Preview82 max；Opus4.7 69.4无thinking。2.1 Opus4.8发布74.6 Terminus2，后续重跑82.7不混入发布点；Fable84.3/Mythos88.0取card251；Sonnet5 80.4 mini-swe-agent。4.0 Opus5.5 66.4 xhigh+fallback；其他5.1和Sonnet5.5为max；各点重复次数不同。Mythos/Fable5.1同一基础模型，差异是safeguards/access。Sonnet5 10.3由Sonnet5.5发布正文提供，不能将它与Sonnet5 TB2.1 80.4相减。数据与AA模型-only59.6不同。Terminal-Bench始于2025，不能为Claude2/3.x补造分数。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"retrieved_at": "2026-10-04",
  "scope": "Slide 05 only",
  "source_priority": "Artificial Analysis independent evaluations; official releases for missing entries only",
  "terminal_bench": {
    "version": "4.0",
    "url": "https://artificialanalysis.ai/evaluations/terminalbench-4-0?models=claude-opus-5-5%2Cgpt-6-astra%2Cgemini-3-1-pro-preview",
    "harness": "mini-swe-agent",
    "tasks": 66,
    "repeats_per_task": 3,
    "metric": "pass@1 averaged over three repeats per task",
    "scores_percent": [
      59.6,
      59.1,
      4
    ]
  },
  "intelligence_index": {
    "version": "4.3.2",
    "metric": "Artificial Analysis Intelligence Index, not a percentage or coding success rate",
    "scores": [
      58,
      53,
      30
    ]
  },
  "models": [
    {
      "display_name": "Opus 5.5",
      "evaluated_variant": "Claude Opus 5.5 (max with fallback)",
      "url": "https://artificialanalysis.ai/models/claude-opus-5-5"
    },
    {
      "display_name": "GPT-6 Astra",
      "evaluated_variant": "GPT-6 Astra (max)",
      "url": "https://artificialanalysis.ai/models/gpt-6-astra"
    },
    {
      "display_name": "Gemini 3.1 Pro",
      "evaluated_variant": "Gemini 3.1 Pro Preview",
      "url": "https://artificialanalysis.ai/models/gemini-3-1-pro-preview"
    }
  ],
  "swe_bench_pro": {
    "status": "No complete same-version three-model comparison verified in inspected public sources",
    "action": "Replace right panel with explicitly labelled AA Intelligence Index rather than retain unverified repository scores"
  },
  "official_cross_check": {
    "url": "https://www.anthropic.com/news/claude-opus-5-5",
    "terminal_bench_percent": {
      "opus_5_5_xhigh": 66.4,
      "gpt_6_astra_high_as_reported_by_openai": 57.9
    },
    "used_in_chart": false,
    "reason": "Different harness/effort/setup from AA; official table does not list SWE-bench Pro. OpenAI direct announcement access returned HTTP 403 / challenge."
  },
  "interpretation": "0.5 percentage point observed Terminal-Bench difference; not evidence of a statistically significant model lead. Results are configuration-specific. Other deck pages remain repository-sourced and are not reverified by this update."
}
AA TB4 mini-swe-agent 66题3次平均pass@1；fallback可能用其他模型，0.5pp观测差不证明显著领先。AA综合指数v4.3.2不是编码通过率。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https://www.anthropic.com/news/claude-3-7-sonnet
https://www.anthropic.com/engineering/effective-harnesses-for-long-running-agents
命令文件回显为教学示意，非本次真实运行；修改在测试环境，生产上线另行授权。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https://github.com/deepseek-ai/DeepSeek-R1
https://www.tbench.ai/news/terminal-bench-4-0
机制图不是Claude私有训练配方；公开RL研究支持反思自检。评测数据不是训练数据，不把TB基准放进训练语料。运行中纠错不等于在线更新权重。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表内数据是教学样本，非真实账务；订单980到账950差30、1200/1200差0、600/0差600。不直接修改账目。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https://www.anthropic.com/news/model-context-protocol
https://www.anthropic.com/engineering/equipping-agents-for-the-real-world-with-agent-skills
MCP2024.11.25；Skills2025.10.16，2025.12.18开放标准。Skills包含指令脚本资源，渐进加载。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https://www.anthropic.com/news/donating-the-model-context-protocol-and-establishing-of-the-agentic-ai-foundation
2025.12.09官方生态快照，自报非独立市场份额；10000+ active public servers，97M+月SDK下载，不是使用人数。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150000到2000 Tokens，98.6667%舍入98.7%，仅工具相关上下文，不是全任务费用。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https://artificialanalysis.ai/models/gemini-3-1-pro-preview
https://artificialanalysis.ai/evaluations/terminalbench-4-0
只说明本次型号在TB4弱，不据此断言Google整体衰落、组织训练原因、产品关闭或迁移导致失败。综合指数30、TB4 4%，两者不同单位不可相减。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https://artificialanalysis.ai/agents/coding-agents
https://github.com/openai/codex
63/62分，15.5/29.4min，1.04/7.47USD；不是控制所有变量的模型训练实验。不能从两个快照声称历史知耻或放弃o系列。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演讲工作定义；不是AGI已有统一公认判定标准
工具使用、持续学习、自我迭代为演讲框架；仅三条件不充分证明人类级通用性。需跨域迁移可靠性自主程度。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https://www.anthropic.com/engineering/equipping-agents-for-the-real-world-with-agent-skills
方向性机制，不把所有任务归约为编码；授权、接口、现场反馈仍必要。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机制示意；非Claude机器人实测或产品能力承诺
物理动作必须有被授权硬件、传感器反馈、保护系统；不能把API访问等同物理通用智能。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https://www.anthropic.com/institute/measuring-pace-of-ai-development
厂商原型指标自报：26% AL4 AI主导、人监督；&gt;90% AL3+协作包含AL4，不相加；不是发现占比或26%模型改进，未报告AL5完全自主。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https://www.anthropic.com/institute/measuring-pace-of-ai-development
RSI为可能的代际反馈机制；不等于完全自主递归改进已实现或智能爆炸已证实。创意、验证、算力与安全为约束。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分析框架
https://www.anthropic.com/engineering/effective-harnesses-for-long-running-agents
https://www.anthropic.com/institute/measuring-pace-of-ai-development
文件记忆和skills改善运行系统不等于权重持续学习。AI主导研发仍人监督；物理世界长期可靠性未由代码基准证明。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https://live.euronext.com/en/financial-news/anthropics-ipo-prospectus-shows-sweeping-ai-vision-surging-costs
https://www.anthropic.com/news/anthropic-raises-series-f-at-usd183b-post-money-valuation
https://www.anthropic.com/news/anthropic-raises-30-billion-series-g-funding-380-billion-post-money-valuation
https://www.anthropic.com/news/series-h
https://www.anthropic.com/institute/measuring-pace-of-ai-development
结尾为商业与技术方向性判断，非目标估值合理性的确定结论或投资建议。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组织方向性分析；授权、隐私与生产操作责任保留在人类组织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chart" Target="/ppt/charts/chart8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内部分享 / 2026.10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3232" y="1207008"/>
            <a:ext cx="77724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2万亿 IPO 的背后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31520" y="304495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3100" dirty="0"/>
          </a:p>
        </p:txBody>
      </p:sp>
      <p:pic>
        <p:nvPicPr>
          <p:cNvPr id="9" name="Image 0" descr="/Users/tangpeng/Documents/github/anthropic-and-its-2t-ipo/pptx/claude_coral_white/assets/intelligence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1371600"/>
            <a:ext cx="3017520" cy="3017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4480560"/>
            <a:ext cx="3364992" cy="105156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41832" y="4645152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1673352" y="4745736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为什么值两万亿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26280" y="4480560"/>
            <a:ext cx="3364992" cy="105156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36592" y="4645152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468112" y="4745736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从编码到数字工作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321040" y="4480560"/>
            <a:ext cx="3364992" cy="105156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31352" y="4645152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9262872" y="4745736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从数字工作到 AGI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一家成立五年的公司，正在冲击两万亿 IPO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2026.06.01 已秘密提交 S-1；Reuters 9 月报道预期上市估值超过 $2T。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8952" y="2423160"/>
            <a:ext cx="4572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&gt;$2T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822960" y="366674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预期上市估值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0" y="2478024"/>
            <a:ext cx="5980176" cy="72237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05856" y="26243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2021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351776" y="2642616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成立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0" y="3392424"/>
            <a:ext cx="5980176" cy="72237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05856" y="3538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2026.06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351776" y="3557016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秘密提交 S-1 草案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0" y="4306824"/>
            <a:ext cx="5980176" cy="72237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05856" y="44531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2026.09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351776" y="4471416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报道披露两万亿估值目标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真正值得追问的是：资本为什么给它如此高的价格？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从阿里巴巴到 Anthropic：超级 IPO 的尺度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历数大型 IPO：公司估值与募资额，同时放进一个坐标系。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2340864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 / IPO 年份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0" y="2340864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 公司估值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2340864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募资额（含超额配售）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2935224"/>
            <a:ext cx="10698480" cy="48463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935224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阿里巴巴 · 2014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114800" y="2935224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1,676 亿美元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863840" y="2935224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250.3 亿美元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31520" y="3520440"/>
            <a:ext cx="1069848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520440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沙特阿美 · 2019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114800" y="3520440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1.70 万亿美元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863840" y="3520440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294 亿美元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31520" y="4105656"/>
            <a:ext cx="10698480" cy="48463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105656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SpaceX · 2026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4114800" y="4105656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1.77 万亿美元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863840" y="4105656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857 亿美元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731520" y="4690872"/>
            <a:ext cx="10698480" cy="48463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4690872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· IPO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114800" y="4690872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目标超过 2 万亿美元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863840" y="4690872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发行规模待定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14400" y="5404104"/>
            <a:ext cx="10332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已上市公司按 IPO 发行价计算估值；Anthropic 为报道中的上市估值目标。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为什么一家成立仅五年的 AI 公司，能以两万亿目标进入这个行列？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从成立到两万亿目标：仅仅五年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投后估值 → IPO 目标；单位：十亿美元；目标点单独标记。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331720"/>
          <a:ext cx="7498080" cy="31272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2331720"/>
            <a:ext cx="749808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52728" y="4846320"/>
            <a:ext cx="64922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71830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252728" y="4327398"/>
            <a:ext cx="64922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19938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250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252728" y="3808476"/>
            <a:ext cx="64922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6804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252728" y="3289554"/>
            <a:ext cx="64922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316153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750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252728" y="2770632"/>
            <a:ext cx="64922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264261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207008" y="4672945"/>
            <a:ext cx="91440" cy="914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3816" y="4325473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61.5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76656" y="5020056"/>
            <a:ext cx="1152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 轮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 flipV="1">
            <a:off x="1252728" y="4466469"/>
            <a:ext cx="2164080" cy="252196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71088" y="4420749"/>
            <a:ext cx="91440" cy="914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977896" y="4073277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183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2840736" y="5020056"/>
            <a:ext cx="1152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 轮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 flipV="1">
            <a:off x="3416808" y="4057559"/>
            <a:ext cx="2164080" cy="408911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535168" y="4011839"/>
            <a:ext cx="91440" cy="914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41976" y="3664367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380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5004816" y="5020056"/>
            <a:ext cx="1152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 轮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 flipV="1">
            <a:off x="5580888" y="2843281"/>
            <a:ext cx="2164080" cy="1214277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699248" y="2797561"/>
            <a:ext cx="91440" cy="914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06056" y="2450089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965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7168896" y="5020056"/>
            <a:ext cx="1152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 轮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8567928" y="2441448"/>
            <a:ext cx="2926080" cy="290779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787384" y="2679192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2021 → 2026</a:t>
            </a:r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8787384" y="337413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&gt;$2T</a:t>
            </a:r>
            <a:endParaRPr lang="en-US" sz="4300" dirty="0"/>
          </a:p>
        </p:txBody>
      </p:sp>
      <p:sp>
        <p:nvSpPr>
          <p:cNvPr id="38" name="Text 34"/>
          <p:cNvSpPr/>
          <p:nvPr/>
        </p:nvSpPr>
        <p:spPr>
          <a:xfrm>
            <a:off x="8787384" y="4526280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 目标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 H 轮再翻一倍以上</a:t>
            </a:r>
            <a:endParaRPr lang="en-US" sz="1700" dirty="0"/>
          </a:p>
        </p:txBody>
      </p:sp>
      <p:sp>
        <p:nvSpPr>
          <p:cNvPr id="39" name="Text 35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不是缓慢积累的巨头，而是收入与能力同时加速的公司。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发布之后，公司年化收入陡增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2025.02 研究预览 · 2025.05 全面开放；单位：十亿美元年化收入。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350008"/>
          <a:ext cx="7498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2350008"/>
            <a:ext cx="7498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52728" y="4846320"/>
            <a:ext cx="64922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71830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252728" y="4331970"/>
            <a:ext cx="64922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20395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12.5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252728" y="3817620"/>
            <a:ext cx="64922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68960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252728" y="3303270"/>
            <a:ext cx="64922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317525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37.5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252728" y="2788920"/>
            <a:ext cx="649224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266090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207008" y="4759452"/>
            <a:ext cx="91440" cy="914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3816" y="441198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76656" y="5020056"/>
            <a:ext cx="1152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年初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 flipV="1">
            <a:off x="1252728" y="4640580"/>
            <a:ext cx="2164080" cy="164592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71088" y="4594860"/>
            <a:ext cx="91440" cy="914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977896" y="424738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&gt;5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2840736" y="5020056"/>
            <a:ext cx="1152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2025.08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 flipV="1">
            <a:off x="3416808" y="4270248"/>
            <a:ext cx="2164080" cy="370332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535168" y="4224528"/>
            <a:ext cx="91440" cy="914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41976" y="387705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5004816" y="5020056"/>
            <a:ext cx="1152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2026.02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 flipV="1">
            <a:off x="5580888" y="2912364"/>
            <a:ext cx="2164080" cy="1357884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699248" y="2866644"/>
            <a:ext cx="91440" cy="914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06056" y="251917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&gt;47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7168896" y="5020056"/>
            <a:ext cx="1152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2026.05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8586216" y="2487168"/>
            <a:ext cx="2907792" cy="270662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805672" y="2779776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$1B</a:t>
            </a:r>
            <a:endParaRPr lang="en-US" sz="3100" dirty="0"/>
          </a:p>
        </p:txBody>
      </p:sp>
      <p:sp>
        <p:nvSpPr>
          <p:cNvPr id="37" name="Text 33"/>
          <p:cNvSpPr/>
          <p:nvPr/>
        </p:nvSpPr>
        <p:spPr>
          <a:xfrm>
            <a:off x="8805672" y="3630168"/>
            <a:ext cx="2468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&gt;$47B</a:t>
            </a:r>
            <a:endParaRPr lang="en-US" sz="3300" dirty="0"/>
          </a:p>
        </p:txBody>
      </p:sp>
      <p:sp>
        <p:nvSpPr>
          <p:cNvPr id="38" name="Text 34"/>
          <p:cNvSpPr/>
          <p:nvPr/>
        </p:nvSpPr>
        <p:spPr>
          <a:xfrm>
            <a:off x="8805672" y="4599432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2025 年初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 2026 年 5 月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公司开始出售的不只是答案，而是能持续完成工作的执行能力。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本身，也跑出了十亿美元级生意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公司整体增长之外，这个产品已经有可观察的收入与企业扩张。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395728"/>
            <a:ext cx="335584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624328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&gt;$0.5B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41832" y="3584448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年 8 月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1832" y="41605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年化收入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26280" y="2395728"/>
            <a:ext cx="335584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2624328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&gt;$2.5B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736592" y="3584448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 2 月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36592" y="41605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年化收入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21040" y="2395728"/>
            <a:ext cx="3355848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31352" y="2624328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&gt;50%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8531352" y="3584448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企业使用占比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531352" y="41605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收入构成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6384" y="510235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同期：Claude Code 企业订阅较年初增长 4 倍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程序员不是小众试用者，而是让智能劳动最先形成付费闭环的人。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 / 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18–20 倍收入，怎样才能支撑两万亿？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估值 ÷ 年化收入 = 收入倍数；这里不是 PE，ARR 也不是利润。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3682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估值口径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26280" y="23682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年化收入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0" y="236829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对应收入倍数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935224"/>
            <a:ext cx="10698480" cy="60350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93522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 轮：$965B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26280" y="2935224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&gt;$47B（2026.05）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58200" y="293522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低于约 20.5×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611880"/>
            <a:ext cx="106984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61188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 目标：$2,000B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526280" y="3611880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$47B 作参照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58200" y="3611880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42.6×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4288536"/>
            <a:ext cx="10698480" cy="60350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8853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 目标：$2,000B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526280" y="4288536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$100–111B（倒算）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58200" y="428853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18–20×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1520" y="5029200"/>
            <a:ext cx="10698480" cy="49377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9264" y="5093208"/>
            <a:ext cx="102229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$2,000B ÷ 20 = $100B       $2,000B ÷ 18 ≈ $111B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两万亿的商业逻辑，押注的是收入继续放大，而不是今天已经赚到了利润。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史上最大 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高增长之外，市场还在押注什么？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年确认收入约 $4.6B；仍有超过 $8B 的经营亏损。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3544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今天的证据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23544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真实付费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公司与 Code 收入增长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7848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19600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9912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9912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正在扩张的市场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629912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从开发者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走向全体知识工作者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24216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125968" y="2743200"/>
            <a:ext cx="3377184" cy="21488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6280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36280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更远的溢价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336280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参与 AI 研发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智能成为增长发动机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77240" y="5340096"/>
            <a:ext cx="10744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代价也很真实：未来云、算力与基础设施义务 $518B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要解释估值，下一步必须解释：Claude 为什么能完成越来越多工作？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Sonnet 的突破，到旗舰模型的工程能力跃迁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Verified · 真实仓库修复率 · 历代官方结果；新一代转向更难的 Pro。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112264"/>
            <a:ext cx="10771632" cy="39319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21396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起点：Claude 2 · HumanEval 71.2%（2023）     →     Claude 3 家族（2024）     →     Sonnet 开始攻克真实仓库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86968" y="2660904"/>
          <a:ext cx="7909560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886968" y="2660904"/>
            <a:ext cx="7909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86968" y="3575304"/>
            <a:ext cx="781812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3504" y="34747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886968" y="3241548"/>
            <a:ext cx="781812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3504" y="314096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886968" y="2907792"/>
            <a:ext cx="781812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3504" y="280720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987552" y="3352355"/>
            <a:ext cx="769239" cy="222949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96112" y="3105467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33.4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86968" y="3648456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86968" y="3995928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2024.06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1976247" y="3248223"/>
            <a:ext cx="769239" cy="327081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884807" y="3001335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49.0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875663" y="3648456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 v2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875663" y="3995928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2024.10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964942" y="3159444"/>
            <a:ext cx="769239" cy="4158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873502" y="2912556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62.3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2864358" y="3648456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2864358" y="3995928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2025.02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3953637" y="3091358"/>
            <a:ext cx="769239" cy="483946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862197" y="2844470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72.5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3853053" y="3648456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3853053" y="3995928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2025.05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942332" y="3090023"/>
            <a:ext cx="769239" cy="485281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50892" y="2843135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72.7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841748" y="3648456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841748" y="3995928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2025.05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5931027" y="3078008"/>
            <a:ext cx="769239" cy="497296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839587" y="2831120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74.5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5830443" y="3648456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830443" y="3995928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2025.08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6919722" y="3059985"/>
            <a:ext cx="769239" cy="515319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828282" y="2813097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77.2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6819138" y="3648456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6819138" y="3995928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2025.09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908417" y="3035287"/>
            <a:ext cx="769239" cy="540017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7816977" y="2788399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80.9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7807833" y="3648456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7807833" y="3995928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2025.11</a:t>
            </a:r>
            <a:endParaRPr lang="en-US" sz="850" dirty="0"/>
          </a:p>
        </p:txBody>
      </p:sp>
      <p:graphicFrame>
        <p:nvGraphicFramePr>
          <p:cNvPr id="50" name="Chart 1" descr=""/>
          <p:cNvGraphicFramePr/>
          <p:nvPr/>
        </p:nvGraphicFramePr>
        <p:xfrm>
          <a:off x="886968" y="4114800"/>
          <a:ext cx="7909560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Shape 46"/>
          <p:cNvSpPr/>
          <p:nvPr/>
        </p:nvSpPr>
        <p:spPr>
          <a:xfrm>
            <a:off x="886968" y="4114800"/>
            <a:ext cx="7909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886968" y="5029200"/>
            <a:ext cx="781812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03504" y="49286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886968" y="4695444"/>
            <a:ext cx="781812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03504" y="45948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886968" y="4361688"/>
            <a:ext cx="7818120" cy="0"/>
          </a:xfrm>
          <a:prstGeom prst="line">
            <a:avLst/>
          </a:prstGeom>
          <a:noFill/>
          <a:ln w="7620">
            <a:solidFill>
              <a:srgbClr val="DFDFD8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03504" y="426110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</a:t>
            </a:r>
            <a:endParaRPr lang="en-US" sz="800" dirty="0"/>
          </a:p>
        </p:txBody>
      </p:sp>
      <p:sp>
        <p:nvSpPr>
          <p:cNvPr id="58" name="Shape 53"/>
          <p:cNvSpPr/>
          <p:nvPr/>
        </p:nvSpPr>
        <p:spPr>
          <a:xfrm>
            <a:off x="987552" y="4489850"/>
            <a:ext cx="769239" cy="539350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896112" y="4242962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80.8</a:t>
            </a:r>
            <a:endParaRPr lang="en-US" sz="1200" dirty="0"/>
          </a:p>
        </p:txBody>
      </p:sp>
      <p:sp>
        <p:nvSpPr>
          <p:cNvPr id="60" name="Text 55"/>
          <p:cNvSpPr/>
          <p:nvPr/>
        </p:nvSpPr>
        <p:spPr>
          <a:xfrm>
            <a:off x="886968" y="5102352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</a:t>
            </a:r>
            <a:endParaRPr lang="en-US" sz="1100" dirty="0"/>
          </a:p>
        </p:txBody>
      </p:sp>
      <p:sp>
        <p:nvSpPr>
          <p:cNvPr id="61" name="Text 56"/>
          <p:cNvSpPr/>
          <p:nvPr/>
        </p:nvSpPr>
        <p:spPr>
          <a:xfrm>
            <a:off x="886968" y="5449824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2026.02</a:t>
            </a:r>
            <a:endParaRPr lang="en-US" sz="850" dirty="0"/>
          </a:p>
        </p:txBody>
      </p:sp>
      <p:sp>
        <p:nvSpPr>
          <p:cNvPr id="62" name="Shape 57"/>
          <p:cNvSpPr/>
          <p:nvPr/>
        </p:nvSpPr>
        <p:spPr>
          <a:xfrm>
            <a:off x="1976247" y="4497860"/>
            <a:ext cx="769239" cy="531340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1884807" y="4250972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79.6</a:t>
            </a:r>
            <a:endParaRPr lang="en-US" sz="1200" dirty="0"/>
          </a:p>
        </p:txBody>
      </p:sp>
      <p:sp>
        <p:nvSpPr>
          <p:cNvPr id="64" name="Text 59"/>
          <p:cNvSpPr/>
          <p:nvPr/>
        </p:nvSpPr>
        <p:spPr>
          <a:xfrm>
            <a:off x="1875663" y="5102352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</a:t>
            </a:r>
            <a:endParaRPr lang="en-US" sz="1100" dirty="0"/>
          </a:p>
        </p:txBody>
      </p:sp>
      <p:sp>
        <p:nvSpPr>
          <p:cNvPr id="65" name="Text 60"/>
          <p:cNvSpPr/>
          <p:nvPr/>
        </p:nvSpPr>
        <p:spPr>
          <a:xfrm>
            <a:off x="1875663" y="5449824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2026.02</a:t>
            </a:r>
            <a:endParaRPr lang="en-US" sz="850" dirty="0"/>
          </a:p>
        </p:txBody>
      </p:sp>
      <p:sp>
        <p:nvSpPr>
          <p:cNvPr id="66" name="Shape 61"/>
          <p:cNvSpPr/>
          <p:nvPr/>
        </p:nvSpPr>
        <p:spPr>
          <a:xfrm>
            <a:off x="2964942" y="4402406"/>
            <a:ext cx="769239" cy="62679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2873502" y="4155518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93.9</a:t>
            </a:r>
            <a:endParaRPr lang="en-US" sz="1200" dirty="0"/>
          </a:p>
        </p:txBody>
      </p:sp>
      <p:sp>
        <p:nvSpPr>
          <p:cNvPr id="68" name="Text 63"/>
          <p:cNvSpPr/>
          <p:nvPr/>
        </p:nvSpPr>
        <p:spPr>
          <a:xfrm>
            <a:off x="2864358" y="5102352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Preview</a:t>
            </a:r>
            <a:endParaRPr lang="en-US" sz="1100" dirty="0"/>
          </a:p>
        </p:txBody>
      </p:sp>
      <p:sp>
        <p:nvSpPr>
          <p:cNvPr id="69" name="Text 64"/>
          <p:cNvSpPr/>
          <p:nvPr/>
        </p:nvSpPr>
        <p:spPr>
          <a:xfrm>
            <a:off x="2864358" y="5449824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2026.04</a:t>
            </a:r>
            <a:endParaRPr lang="en-US" sz="850" dirty="0"/>
          </a:p>
        </p:txBody>
      </p:sp>
      <p:sp>
        <p:nvSpPr>
          <p:cNvPr id="70" name="Shape 65"/>
          <p:cNvSpPr/>
          <p:nvPr/>
        </p:nvSpPr>
        <p:spPr>
          <a:xfrm>
            <a:off x="3953637" y="4444459"/>
            <a:ext cx="769239" cy="584741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3862197" y="4197571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87.6</a:t>
            </a:r>
            <a:endParaRPr lang="en-US" sz="1200" dirty="0"/>
          </a:p>
        </p:txBody>
      </p:sp>
      <p:sp>
        <p:nvSpPr>
          <p:cNvPr id="72" name="Text 67"/>
          <p:cNvSpPr/>
          <p:nvPr/>
        </p:nvSpPr>
        <p:spPr>
          <a:xfrm>
            <a:off x="3853053" y="5102352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</a:t>
            </a:r>
            <a:endParaRPr lang="en-US" sz="1100" dirty="0"/>
          </a:p>
        </p:txBody>
      </p:sp>
      <p:sp>
        <p:nvSpPr>
          <p:cNvPr id="73" name="Text 68"/>
          <p:cNvSpPr/>
          <p:nvPr/>
        </p:nvSpPr>
        <p:spPr>
          <a:xfrm>
            <a:off x="3853053" y="5449824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2026.04</a:t>
            </a:r>
            <a:endParaRPr lang="en-US" sz="850" dirty="0"/>
          </a:p>
        </p:txBody>
      </p:sp>
      <p:sp>
        <p:nvSpPr>
          <p:cNvPr id="74" name="Shape 69"/>
          <p:cNvSpPr/>
          <p:nvPr/>
        </p:nvSpPr>
        <p:spPr>
          <a:xfrm>
            <a:off x="4942332" y="4437784"/>
            <a:ext cx="769239" cy="591416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4850892" y="4190896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88.6</a:t>
            </a:r>
            <a:endParaRPr lang="en-US" sz="1200" dirty="0"/>
          </a:p>
        </p:txBody>
      </p:sp>
      <p:sp>
        <p:nvSpPr>
          <p:cNvPr id="76" name="Text 71"/>
          <p:cNvSpPr/>
          <p:nvPr/>
        </p:nvSpPr>
        <p:spPr>
          <a:xfrm>
            <a:off x="4841748" y="5102352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</a:t>
            </a:r>
            <a:endParaRPr lang="en-US" sz="1100" dirty="0"/>
          </a:p>
        </p:txBody>
      </p:sp>
      <p:sp>
        <p:nvSpPr>
          <p:cNvPr id="77" name="Text 72"/>
          <p:cNvSpPr/>
          <p:nvPr/>
        </p:nvSpPr>
        <p:spPr>
          <a:xfrm>
            <a:off x="4841748" y="5449824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2026.05</a:t>
            </a:r>
            <a:endParaRPr lang="en-US" sz="850" dirty="0"/>
          </a:p>
        </p:txBody>
      </p:sp>
      <p:sp>
        <p:nvSpPr>
          <p:cNvPr id="78" name="Shape 73"/>
          <p:cNvSpPr/>
          <p:nvPr/>
        </p:nvSpPr>
        <p:spPr>
          <a:xfrm>
            <a:off x="5931027" y="4391726"/>
            <a:ext cx="769239" cy="63747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5839587" y="4144838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95.5 / 95</a:t>
            </a:r>
            <a:endParaRPr lang="en-US" sz="1000" dirty="0"/>
          </a:p>
        </p:txBody>
      </p:sp>
      <p:sp>
        <p:nvSpPr>
          <p:cNvPr id="80" name="Text 75"/>
          <p:cNvSpPr/>
          <p:nvPr/>
        </p:nvSpPr>
        <p:spPr>
          <a:xfrm>
            <a:off x="5830443" y="5102352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</a:t>
            </a:r>
            <a:endParaRPr lang="en-US" sz="1100" dirty="0"/>
          </a:p>
        </p:txBody>
      </p:sp>
      <p:sp>
        <p:nvSpPr>
          <p:cNvPr id="81" name="Text 76"/>
          <p:cNvSpPr/>
          <p:nvPr/>
        </p:nvSpPr>
        <p:spPr>
          <a:xfrm>
            <a:off x="5830443" y="5449824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2026.06</a:t>
            </a:r>
            <a:endParaRPr lang="en-US" sz="850" dirty="0"/>
          </a:p>
        </p:txBody>
      </p:sp>
      <p:sp>
        <p:nvSpPr>
          <p:cNvPr id="82" name="Shape 77"/>
          <p:cNvSpPr/>
          <p:nvPr/>
        </p:nvSpPr>
        <p:spPr>
          <a:xfrm>
            <a:off x="6919722" y="4460480"/>
            <a:ext cx="769239" cy="568720"/>
          </a:xfrm>
          <a:prstGeom prst="rect">
            <a:avLst/>
          </a:prstGeom>
          <a:solidFill>
            <a:srgbClr val="E8BAA5"/>
          </a:solidFill>
          <a:ln w="12700">
            <a:solidFill>
              <a:srgbClr val="E8BAA5">
                <a:alpha val="0"/>
              </a:srgbClr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6828282" y="4213592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85.2</a:t>
            </a:r>
            <a:endParaRPr lang="en-US" sz="1200" dirty="0"/>
          </a:p>
        </p:txBody>
      </p:sp>
      <p:sp>
        <p:nvSpPr>
          <p:cNvPr id="84" name="Text 79"/>
          <p:cNvSpPr/>
          <p:nvPr/>
        </p:nvSpPr>
        <p:spPr>
          <a:xfrm>
            <a:off x="6819138" y="5102352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</a:t>
            </a:r>
            <a:endParaRPr lang="en-US" sz="1100" dirty="0"/>
          </a:p>
        </p:txBody>
      </p:sp>
      <p:sp>
        <p:nvSpPr>
          <p:cNvPr id="85" name="Text 80"/>
          <p:cNvSpPr/>
          <p:nvPr/>
        </p:nvSpPr>
        <p:spPr>
          <a:xfrm>
            <a:off x="6819138" y="5449824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2026.06</a:t>
            </a:r>
            <a:endParaRPr lang="en-US" sz="850" dirty="0"/>
          </a:p>
        </p:txBody>
      </p:sp>
      <p:sp>
        <p:nvSpPr>
          <p:cNvPr id="86" name="Shape 81"/>
          <p:cNvSpPr/>
          <p:nvPr/>
        </p:nvSpPr>
        <p:spPr>
          <a:xfrm>
            <a:off x="7908417" y="4388388"/>
            <a:ext cx="769239" cy="64081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7816977" y="4141500"/>
            <a:ext cx="970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96.0</a:t>
            </a:r>
            <a:endParaRPr lang="en-US" sz="1200" dirty="0"/>
          </a:p>
        </p:txBody>
      </p:sp>
      <p:sp>
        <p:nvSpPr>
          <p:cNvPr id="88" name="Text 83"/>
          <p:cNvSpPr/>
          <p:nvPr/>
        </p:nvSpPr>
        <p:spPr>
          <a:xfrm>
            <a:off x="7807833" y="5102352"/>
            <a:ext cx="979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</a:t>
            </a:r>
            <a:endParaRPr lang="en-US" sz="1100" dirty="0"/>
          </a:p>
        </p:txBody>
      </p:sp>
      <p:sp>
        <p:nvSpPr>
          <p:cNvPr id="89" name="Text 84"/>
          <p:cNvSpPr/>
          <p:nvPr/>
        </p:nvSpPr>
        <p:spPr>
          <a:xfrm>
            <a:off x="7807833" y="5449824"/>
            <a:ext cx="9795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2026.07</a:t>
            </a:r>
            <a:endParaRPr lang="en-US" sz="850" dirty="0"/>
          </a:p>
        </p:txBody>
      </p:sp>
      <p:sp>
        <p:nvSpPr>
          <p:cNvPr id="90" name="Shape 85"/>
          <p:cNvSpPr/>
          <p:nvPr/>
        </p:nvSpPr>
        <p:spPr>
          <a:xfrm>
            <a:off x="9079992" y="2660904"/>
            <a:ext cx="2395728" cy="29900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9262872" y="28346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新一代 · SWE-bench Pro</a:t>
            </a:r>
            <a:endParaRPr lang="en-US" sz="1500" dirty="0"/>
          </a:p>
        </p:txBody>
      </p:sp>
      <p:sp>
        <p:nvSpPr>
          <p:cNvPr id="92" name="Text 87"/>
          <p:cNvSpPr/>
          <p:nvPr/>
        </p:nvSpPr>
        <p:spPr>
          <a:xfrm>
            <a:off x="9262872" y="34655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/ Fable 5.1</a:t>
            </a:r>
            <a:endParaRPr lang="en-US" sz="1100" dirty="0"/>
          </a:p>
        </p:txBody>
      </p:sp>
      <p:sp>
        <p:nvSpPr>
          <p:cNvPr id="93" name="Text 88"/>
          <p:cNvSpPr/>
          <p:nvPr/>
        </p:nvSpPr>
        <p:spPr>
          <a:xfrm>
            <a:off x="9262872" y="3721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81.2%</a:t>
            </a:r>
            <a:endParaRPr lang="en-US" sz="2400" dirty="0"/>
          </a:p>
        </p:txBody>
      </p:sp>
      <p:sp>
        <p:nvSpPr>
          <p:cNvPr id="94" name="Text 89"/>
          <p:cNvSpPr/>
          <p:nvPr/>
        </p:nvSpPr>
        <p:spPr>
          <a:xfrm>
            <a:off x="9262872" y="411480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400" dirty="0"/>
          </a:p>
        </p:txBody>
      </p:sp>
      <p:sp>
        <p:nvSpPr>
          <p:cNvPr id="95" name="Text 90"/>
          <p:cNvSpPr/>
          <p:nvPr/>
        </p:nvSpPr>
        <p:spPr>
          <a:xfrm>
            <a:off x="9262872" y="4370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89.9%</a:t>
            </a:r>
            <a:endParaRPr lang="en-US" sz="2400" dirty="0"/>
          </a:p>
        </p:txBody>
      </p:sp>
      <p:sp>
        <p:nvSpPr>
          <p:cNvPr id="96" name="Text 91"/>
          <p:cNvSpPr/>
          <p:nvPr/>
        </p:nvSpPr>
        <p:spPr>
          <a:xfrm>
            <a:off x="9262872" y="47640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1400" dirty="0"/>
          </a:p>
        </p:txBody>
      </p:sp>
      <p:sp>
        <p:nvSpPr>
          <p:cNvPr id="97" name="Text 92"/>
          <p:cNvSpPr/>
          <p:nvPr/>
        </p:nvSpPr>
        <p:spPr>
          <a:xfrm>
            <a:off x="9262872" y="50200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81.3%</a:t>
            </a:r>
            <a:endParaRPr lang="en-US" sz="2400" dirty="0"/>
          </a:p>
        </p:txBody>
      </p:sp>
      <p:sp>
        <p:nvSpPr>
          <p:cNvPr id="98" name="Text 93"/>
          <p:cNvSpPr/>
          <p:nvPr/>
        </p:nvSpPr>
        <p:spPr>
          <a:xfrm>
            <a:off x="9262872" y="544068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Verified 分开展示</a:t>
            </a:r>
            <a:endParaRPr lang="en-US" sz="1000" dirty="0"/>
          </a:p>
        </p:txBody>
      </p:sp>
      <p:sp>
        <p:nvSpPr>
          <p:cNvPr id="99" name="Text 94"/>
          <p:cNvSpPr/>
          <p:nvPr/>
        </p:nvSpPr>
        <p:spPr>
          <a:xfrm>
            <a:off x="731520" y="5824728"/>
            <a:ext cx="1075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3.7 发布时领先：62.3%；定制 scaffold 可达 70.3%。历史结果含不同配置；柱高均从 0 起。</a:t>
            </a:r>
            <a:endParaRPr lang="en-US" sz="1200" dirty="0"/>
          </a:p>
        </p:txBody>
      </p:sp>
      <p:sp>
        <p:nvSpPr>
          <p:cNvPr id="100" name="Text 95"/>
          <p:cNvSpPr/>
          <p:nvPr/>
        </p:nvSpPr>
        <p:spPr>
          <a:xfrm>
            <a:off x="731520" y="6126480"/>
            <a:ext cx="10753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Sonnet 3.7 的领先，到 Mythos / Fable 的约 95%，再到更难的工程任务。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Terminal-Bench：Claude 历代旗舰的执行能力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从读写文件，到依赖、进程与科学计算；原版、2.0、2.1、4.0 分区呈现。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340864"/>
            <a:ext cx="2276856" cy="313639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496312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原版 · 2025</a:t>
            </a:r>
            <a:endParaRPr lang="en-US" sz="17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50392" y="2926080"/>
          <a:ext cx="2002536" cy="22494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850392" y="2926080"/>
            <a:ext cx="2002536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960" y="2852928"/>
            <a:ext cx="2057400" cy="248716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9536" y="2953512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194560" y="295351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43.2%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68680" y="3214116"/>
            <a:ext cx="1956816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214116"/>
            <a:ext cx="845345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9536" y="3268980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4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194560" y="326898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35.5%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68680" y="3529584"/>
            <a:ext cx="1956816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68680" y="3529584"/>
            <a:ext cx="694670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9536" y="3584448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4.1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2194560" y="358444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43.3%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68680" y="3845052"/>
            <a:ext cx="1956816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68680" y="3845052"/>
            <a:ext cx="847301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59536" y="3899916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4.5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2194560" y="389991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50.0%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68680" y="4160520"/>
            <a:ext cx="1956816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68680" y="4160520"/>
            <a:ext cx="978408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59536" y="5239512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发布时原版配置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/ Terminus-1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182112" y="2340864"/>
            <a:ext cx="2432304" cy="313639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28416" y="2496312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2.0 · 2025–26</a:t>
            </a:r>
            <a:endParaRPr lang="en-US" sz="1700" dirty="0"/>
          </a:p>
        </p:txBody>
      </p:sp>
      <p:graphicFrame>
        <p:nvGraphicFramePr>
          <p:cNvPr id="32" name="Chart 1" descr=""/>
          <p:cNvGraphicFramePr/>
          <p:nvPr/>
        </p:nvGraphicFramePr>
        <p:xfrm>
          <a:off x="3319272" y="2926080"/>
          <a:ext cx="2157984" cy="22494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Shape 28"/>
          <p:cNvSpPr/>
          <p:nvPr/>
        </p:nvSpPr>
        <p:spPr>
          <a:xfrm>
            <a:off x="3319272" y="2926080"/>
            <a:ext cx="2157984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291840" y="2852928"/>
            <a:ext cx="2212848" cy="248716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328416" y="2953512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4.5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4818888" y="295351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59.3%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3337560" y="3214116"/>
            <a:ext cx="2112264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337560" y="3214116"/>
            <a:ext cx="1252573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328416" y="3268980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4.6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4818888" y="326898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65.4%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3337560" y="3529584"/>
            <a:ext cx="2112264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3337560" y="3529584"/>
            <a:ext cx="1381421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328416" y="3584448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4.6</a:t>
            </a:r>
            <a:endParaRPr lang="en-US" sz="1250" dirty="0"/>
          </a:p>
        </p:txBody>
      </p:sp>
      <p:sp>
        <p:nvSpPr>
          <p:cNvPr id="44" name="Text 39"/>
          <p:cNvSpPr/>
          <p:nvPr/>
        </p:nvSpPr>
        <p:spPr>
          <a:xfrm>
            <a:off x="4818888" y="358444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59.1%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3337560" y="3845052"/>
            <a:ext cx="2112264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3337560" y="3845052"/>
            <a:ext cx="1248348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328416" y="3899916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Preview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4818888" y="389991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82.0%</a:t>
            </a:r>
            <a:endParaRPr lang="en-US" sz="1300" dirty="0"/>
          </a:p>
        </p:txBody>
      </p:sp>
      <p:sp>
        <p:nvSpPr>
          <p:cNvPr id="49" name="Shape 44"/>
          <p:cNvSpPr/>
          <p:nvPr/>
        </p:nvSpPr>
        <p:spPr>
          <a:xfrm>
            <a:off x="3337560" y="4160520"/>
            <a:ext cx="2112264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3337560" y="4160520"/>
            <a:ext cx="1732056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328416" y="4215384"/>
            <a:ext cx="1490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4.7</a:t>
            </a:r>
            <a:endParaRPr lang="en-US" sz="1250" dirty="0"/>
          </a:p>
        </p:txBody>
      </p:sp>
      <p:sp>
        <p:nvSpPr>
          <p:cNvPr id="52" name="Text 47"/>
          <p:cNvSpPr/>
          <p:nvPr/>
        </p:nvSpPr>
        <p:spPr>
          <a:xfrm>
            <a:off x="4818888" y="4215384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69.4%</a:t>
            </a:r>
            <a:endParaRPr lang="en-US" sz="1300" dirty="0"/>
          </a:p>
        </p:txBody>
      </p:sp>
      <p:sp>
        <p:nvSpPr>
          <p:cNvPr id="53" name="Shape 48"/>
          <p:cNvSpPr/>
          <p:nvPr/>
        </p:nvSpPr>
        <p:spPr>
          <a:xfrm>
            <a:off x="3337560" y="4475988"/>
            <a:ext cx="2112264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3337560" y="4475988"/>
            <a:ext cx="1465911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3328416" y="5239512"/>
            <a:ext cx="2139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Terminus-2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各代 thinking 设置不同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5806440" y="2340864"/>
            <a:ext cx="2240280" cy="313639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5952744" y="2496312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2.1 · 2026</a:t>
            </a:r>
            <a:endParaRPr lang="en-US" sz="1700" dirty="0"/>
          </a:p>
        </p:txBody>
      </p:sp>
      <p:graphicFrame>
        <p:nvGraphicFramePr>
          <p:cNvPr id="58" name="Chart 2" descr=""/>
          <p:cNvGraphicFramePr/>
          <p:nvPr/>
        </p:nvGraphicFramePr>
        <p:xfrm>
          <a:off x="5943600" y="2926080"/>
          <a:ext cx="1965960" cy="22494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9" name="Shape 53"/>
          <p:cNvSpPr/>
          <p:nvPr/>
        </p:nvSpPr>
        <p:spPr>
          <a:xfrm>
            <a:off x="5943600" y="2926080"/>
            <a:ext cx="196596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5916168" y="2852928"/>
            <a:ext cx="2020824" cy="248716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5952744" y="2953512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4.8</a:t>
            </a:r>
            <a:endParaRPr lang="en-US" sz="1250" dirty="0"/>
          </a:p>
        </p:txBody>
      </p:sp>
      <p:sp>
        <p:nvSpPr>
          <p:cNvPr id="62" name="Text 56"/>
          <p:cNvSpPr/>
          <p:nvPr/>
        </p:nvSpPr>
        <p:spPr>
          <a:xfrm>
            <a:off x="7251192" y="295351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74.6%</a:t>
            </a:r>
            <a:endParaRPr lang="en-US" sz="1300" dirty="0"/>
          </a:p>
        </p:txBody>
      </p:sp>
      <p:sp>
        <p:nvSpPr>
          <p:cNvPr id="63" name="Shape 57"/>
          <p:cNvSpPr/>
          <p:nvPr/>
        </p:nvSpPr>
        <p:spPr>
          <a:xfrm>
            <a:off x="5961888" y="3214116"/>
            <a:ext cx="1920240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5961888" y="3214116"/>
            <a:ext cx="1432499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5952744" y="3268980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</a:t>
            </a:r>
            <a:endParaRPr lang="en-US" sz="1250" dirty="0"/>
          </a:p>
        </p:txBody>
      </p:sp>
      <p:sp>
        <p:nvSpPr>
          <p:cNvPr id="66" name="Text 60"/>
          <p:cNvSpPr/>
          <p:nvPr/>
        </p:nvSpPr>
        <p:spPr>
          <a:xfrm>
            <a:off x="7251192" y="326898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84.3%</a:t>
            </a:r>
            <a:endParaRPr lang="en-US" sz="1300" dirty="0"/>
          </a:p>
        </p:txBody>
      </p:sp>
      <p:sp>
        <p:nvSpPr>
          <p:cNvPr id="67" name="Shape 61"/>
          <p:cNvSpPr/>
          <p:nvPr/>
        </p:nvSpPr>
        <p:spPr>
          <a:xfrm>
            <a:off x="5961888" y="3529584"/>
            <a:ext cx="1920240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5961888" y="3529584"/>
            <a:ext cx="1618762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5952744" y="358444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5</a:t>
            </a:r>
            <a:endParaRPr lang="en-US" sz="1250" dirty="0"/>
          </a:p>
        </p:txBody>
      </p:sp>
      <p:sp>
        <p:nvSpPr>
          <p:cNvPr id="70" name="Text 64"/>
          <p:cNvSpPr/>
          <p:nvPr/>
        </p:nvSpPr>
        <p:spPr>
          <a:xfrm>
            <a:off x="7251192" y="358444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88.0%</a:t>
            </a:r>
            <a:endParaRPr lang="en-US" sz="1300" dirty="0"/>
          </a:p>
        </p:txBody>
      </p:sp>
      <p:sp>
        <p:nvSpPr>
          <p:cNvPr id="71" name="Shape 65"/>
          <p:cNvSpPr/>
          <p:nvPr/>
        </p:nvSpPr>
        <p:spPr>
          <a:xfrm>
            <a:off x="5961888" y="3845052"/>
            <a:ext cx="1920240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5961888" y="3845052"/>
            <a:ext cx="1689811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5952744" y="389991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</a:t>
            </a:r>
            <a:endParaRPr lang="en-US" sz="1250" dirty="0"/>
          </a:p>
        </p:txBody>
      </p:sp>
      <p:sp>
        <p:nvSpPr>
          <p:cNvPr id="74" name="Text 68"/>
          <p:cNvSpPr/>
          <p:nvPr/>
        </p:nvSpPr>
        <p:spPr>
          <a:xfrm>
            <a:off x="7251192" y="389991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80.4%</a:t>
            </a:r>
            <a:endParaRPr lang="en-US" sz="1300" dirty="0"/>
          </a:p>
        </p:txBody>
      </p:sp>
      <p:sp>
        <p:nvSpPr>
          <p:cNvPr id="75" name="Shape 69"/>
          <p:cNvSpPr/>
          <p:nvPr/>
        </p:nvSpPr>
        <p:spPr>
          <a:xfrm>
            <a:off x="5961888" y="4160520"/>
            <a:ext cx="1920240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5961888" y="4160520"/>
            <a:ext cx="1543873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5952744" y="5239512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4.8：Terminus-2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后续含不同 harness</a:t>
            </a:r>
            <a:endParaRPr lang="en-US" sz="900" dirty="0"/>
          </a:p>
        </p:txBody>
      </p:sp>
      <p:sp>
        <p:nvSpPr>
          <p:cNvPr id="78" name="Shape 72"/>
          <p:cNvSpPr/>
          <p:nvPr/>
        </p:nvSpPr>
        <p:spPr>
          <a:xfrm>
            <a:off x="8238744" y="2340864"/>
            <a:ext cx="3246120" cy="313639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8385048" y="2496312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4.0 · 2026</a:t>
            </a:r>
            <a:endParaRPr lang="en-US" sz="1700" dirty="0"/>
          </a:p>
        </p:txBody>
      </p:sp>
      <p:graphicFrame>
        <p:nvGraphicFramePr>
          <p:cNvPr id="80" name="Chart 3" descr=""/>
          <p:cNvGraphicFramePr/>
          <p:nvPr/>
        </p:nvGraphicFramePr>
        <p:xfrm>
          <a:off x="8375904" y="2926080"/>
          <a:ext cx="2971800" cy="22494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1" name="Shape 74"/>
          <p:cNvSpPr/>
          <p:nvPr/>
        </p:nvSpPr>
        <p:spPr>
          <a:xfrm>
            <a:off x="8375904" y="2926080"/>
            <a:ext cx="297180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8348472" y="2852928"/>
            <a:ext cx="3026664" cy="2487168"/>
          </a:xfrm>
          <a:prstGeom prst="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83" name="Text 76"/>
          <p:cNvSpPr/>
          <p:nvPr/>
        </p:nvSpPr>
        <p:spPr>
          <a:xfrm>
            <a:off x="8385048" y="2953512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</a:t>
            </a:r>
            <a:endParaRPr lang="en-US" sz="1300" dirty="0"/>
          </a:p>
        </p:txBody>
      </p:sp>
      <p:sp>
        <p:nvSpPr>
          <p:cNvPr id="84" name="Text 77"/>
          <p:cNvSpPr/>
          <p:nvPr/>
        </p:nvSpPr>
        <p:spPr>
          <a:xfrm>
            <a:off x="10689336" y="295351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10.3%</a:t>
            </a:r>
            <a:endParaRPr lang="en-US" sz="1300" dirty="0"/>
          </a:p>
        </p:txBody>
      </p:sp>
      <p:sp>
        <p:nvSpPr>
          <p:cNvPr id="85" name="Shape 78"/>
          <p:cNvSpPr/>
          <p:nvPr/>
        </p:nvSpPr>
        <p:spPr>
          <a:xfrm>
            <a:off x="8394192" y="3214116"/>
            <a:ext cx="2926080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8394192" y="3214116"/>
            <a:ext cx="301386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87" name="Text 80"/>
          <p:cNvSpPr/>
          <p:nvPr/>
        </p:nvSpPr>
        <p:spPr>
          <a:xfrm>
            <a:off x="8385048" y="3268980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</a:t>
            </a:r>
            <a:endParaRPr lang="en-US" sz="1300" dirty="0"/>
          </a:p>
        </p:txBody>
      </p:sp>
      <p:sp>
        <p:nvSpPr>
          <p:cNvPr id="88" name="Text 81"/>
          <p:cNvSpPr/>
          <p:nvPr/>
        </p:nvSpPr>
        <p:spPr>
          <a:xfrm>
            <a:off x="10689336" y="326898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42.0%</a:t>
            </a:r>
            <a:endParaRPr lang="en-US" sz="1300" dirty="0"/>
          </a:p>
        </p:txBody>
      </p:sp>
      <p:sp>
        <p:nvSpPr>
          <p:cNvPr id="89" name="Shape 82"/>
          <p:cNvSpPr/>
          <p:nvPr/>
        </p:nvSpPr>
        <p:spPr>
          <a:xfrm>
            <a:off x="8394192" y="3529584"/>
            <a:ext cx="2926080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8394192" y="3529584"/>
            <a:ext cx="1228954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1" name="Text 84"/>
          <p:cNvSpPr/>
          <p:nvPr/>
        </p:nvSpPr>
        <p:spPr>
          <a:xfrm>
            <a:off x="8385048" y="3584448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</a:t>
            </a:r>
            <a:endParaRPr lang="en-US" sz="1300" dirty="0"/>
          </a:p>
        </p:txBody>
      </p:sp>
      <p:sp>
        <p:nvSpPr>
          <p:cNvPr id="92" name="Text 85"/>
          <p:cNvSpPr/>
          <p:nvPr/>
        </p:nvSpPr>
        <p:spPr>
          <a:xfrm>
            <a:off x="10689336" y="358444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52.3%</a:t>
            </a:r>
            <a:endParaRPr lang="en-US" sz="1300" dirty="0"/>
          </a:p>
        </p:txBody>
      </p:sp>
      <p:sp>
        <p:nvSpPr>
          <p:cNvPr id="93" name="Shape 86"/>
          <p:cNvSpPr/>
          <p:nvPr/>
        </p:nvSpPr>
        <p:spPr>
          <a:xfrm>
            <a:off x="8394192" y="3845052"/>
            <a:ext cx="2926080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4" name="Shape 87"/>
          <p:cNvSpPr/>
          <p:nvPr/>
        </p:nvSpPr>
        <p:spPr>
          <a:xfrm>
            <a:off x="8394192" y="3845052"/>
            <a:ext cx="1530340" cy="3200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5" name="Text 88"/>
          <p:cNvSpPr/>
          <p:nvPr/>
        </p:nvSpPr>
        <p:spPr>
          <a:xfrm>
            <a:off x="8385048" y="3899916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Fable 5.1</a:t>
            </a:r>
            <a:endParaRPr lang="en-US" sz="1300" dirty="0"/>
          </a:p>
        </p:txBody>
      </p:sp>
      <p:sp>
        <p:nvSpPr>
          <p:cNvPr id="96" name="Text 89"/>
          <p:cNvSpPr/>
          <p:nvPr/>
        </p:nvSpPr>
        <p:spPr>
          <a:xfrm>
            <a:off x="10689336" y="389991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55.8%</a:t>
            </a:r>
            <a:endParaRPr lang="en-US" sz="1300" dirty="0"/>
          </a:p>
        </p:txBody>
      </p:sp>
      <p:sp>
        <p:nvSpPr>
          <p:cNvPr id="97" name="Shape 90"/>
          <p:cNvSpPr/>
          <p:nvPr/>
        </p:nvSpPr>
        <p:spPr>
          <a:xfrm>
            <a:off x="8394192" y="4160520"/>
            <a:ext cx="2926080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>
            <a:off x="8394192" y="4160520"/>
            <a:ext cx="1632753" cy="32004"/>
          </a:xfrm>
          <a:prstGeom prst="rect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99" name="Text 92"/>
          <p:cNvSpPr/>
          <p:nvPr/>
        </p:nvSpPr>
        <p:spPr>
          <a:xfrm>
            <a:off x="8385048" y="4215384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5.1</a:t>
            </a:r>
            <a:endParaRPr lang="en-US" sz="1300" dirty="0"/>
          </a:p>
        </p:txBody>
      </p:sp>
      <p:sp>
        <p:nvSpPr>
          <p:cNvPr id="100" name="Text 93"/>
          <p:cNvSpPr/>
          <p:nvPr/>
        </p:nvSpPr>
        <p:spPr>
          <a:xfrm>
            <a:off x="10689336" y="4215384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60.9%</a:t>
            </a:r>
            <a:endParaRPr lang="en-US" sz="1300" dirty="0"/>
          </a:p>
        </p:txBody>
      </p:sp>
      <p:sp>
        <p:nvSpPr>
          <p:cNvPr id="101" name="Shape 94"/>
          <p:cNvSpPr/>
          <p:nvPr/>
        </p:nvSpPr>
        <p:spPr>
          <a:xfrm>
            <a:off x="8394192" y="4475988"/>
            <a:ext cx="2926080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8394192" y="4475988"/>
            <a:ext cx="1781983" cy="32004"/>
          </a:xfrm>
          <a:prstGeom prst="rect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103" name="Text 96"/>
          <p:cNvSpPr/>
          <p:nvPr/>
        </p:nvSpPr>
        <p:spPr>
          <a:xfrm>
            <a:off x="8385048" y="4530852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300" dirty="0"/>
          </a:p>
        </p:txBody>
      </p:sp>
      <p:sp>
        <p:nvSpPr>
          <p:cNvPr id="104" name="Text 97"/>
          <p:cNvSpPr/>
          <p:nvPr/>
        </p:nvSpPr>
        <p:spPr>
          <a:xfrm>
            <a:off x="10689336" y="453085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66.4%</a:t>
            </a:r>
            <a:endParaRPr lang="en-US" sz="1300" dirty="0"/>
          </a:p>
        </p:txBody>
      </p:sp>
      <p:sp>
        <p:nvSpPr>
          <p:cNvPr id="105" name="Shape 98"/>
          <p:cNvSpPr/>
          <p:nvPr/>
        </p:nvSpPr>
        <p:spPr>
          <a:xfrm>
            <a:off x="8394192" y="4791456"/>
            <a:ext cx="2926080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8394192" y="4791456"/>
            <a:ext cx="1942917" cy="32004"/>
          </a:xfrm>
          <a:prstGeom prst="rect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107" name="Text 100"/>
          <p:cNvSpPr/>
          <p:nvPr/>
        </p:nvSpPr>
        <p:spPr>
          <a:xfrm>
            <a:off x="8385048" y="4846320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1300" dirty="0"/>
          </a:p>
        </p:txBody>
      </p:sp>
      <p:sp>
        <p:nvSpPr>
          <p:cNvPr id="108" name="Text 101"/>
          <p:cNvSpPr/>
          <p:nvPr/>
        </p:nvSpPr>
        <p:spPr>
          <a:xfrm>
            <a:off x="10689336" y="484632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70.6%</a:t>
            </a:r>
            <a:endParaRPr lang="en-US" sz="1300" dirty="0"/>
          </a:p>
        </p:txBody>
      </p:sp>
      <p:sp>
        <p:nvSpPr>
          <p:cNvPr id="109" name="Shape 102"/>
          <p:cNvSpPr/>
          <p:nvPr/>
        </p:nvSpPr>
        <p:spPr>
          <a:xfrm>
            <a:off x="8394192" y="5106924"/>
            <a:ext cx="2926080" cy="32004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0" name="Shape 103"/>
          <p:cNvSpPr/>
          <p:nvPr/>
        </p:nvSpPr>
        <p:spPr>
          <a:xfrm>
            <a:off x="8394192" y="5106924"/>
            <a:ext cx="2065812" cy="32004"/>
          </a:xfrm>
          <a:prstGeom prst="rect">
            <a:avLst/>
          </a:prstGeom>
          <a:solidFill>
            <a:srgbClr val="A74C32"/>
          </a:solidFill>
          <a:ln w="12700">
            <a:solidFill>
              <a:srgbClr val="A74C32">
                <a:alpha val="0"/>
              </a:srgbClr>
            </a:solidFill>
            <a:prstDash val="solid"/>
          </a:ln>
        </p:spPr>
      </p:sp>
      <p:sp>
        <p:nvSpPr>
          <p:cNvPr id="111" name="Text 104"/>
          <p:cNvSpPr/>
          <p:nvPr/>
        </p:nvSpPr>
        <p:spPr>
          <a:xfrm>
            <a:off x="8385048" y="5239512"/>
            <a:ext cx="29535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 --bare · Opus 5.5 xhigh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其余 max；5.5 含 fallback</a:t>
            </a:r>
            <a:endParaRPr lang="en-US" sz="900" dirty="0"/>
          </a:p>
        </p:txBody>
      </p:sp>
      <p:sp>
        <p:nvSpPr>
          <p:cNvPr id="112" name="Text 105"/>
          <p:cNvSpPr/>
          <p:nvPr/>
        </p:nvSpPr>
        <p:spPr>
          <a:xfrm>
            <a:off x="731520" y="5669280"/>
            <a:ext cx="10753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版本之间不直接比高低；同版也要看 harness 与 effort。Mythos / Fable 5.1 为同一基础模型、不同安全配置。</a:t>
            </a:r>
            <a:endParaRPr lang="en-US" sz="1200" dirty="0"/>
          </a:p>
        </p:txBody>
      </p:sp>
      <p:sp>
        <p:nvSpPr>
          <p:cNvPr id="113" name="Text 106"/>
          <p:cNvSpPr/>
          <p:nvPr/>
        </p:nvSpPr>
        <p:spPr>
          <a:xfrm>
            <a:off x="731520" y="6117336"/>
            <a:ext cx="10753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Mythos / Fable 5.1 → Opus 5.5：工程智能正从“能写”走向“能持续完成”。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今天的第三方对照：Claude 强，但领先不是天赋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 max / fallback · Astra max · Gemini 3.1 Pro Preview。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2350008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 · 平均 pass@1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73952" y="2350008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 Intelligence Index v4.3.2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2880360"/>
          <a:ext cx="5029200" cy="2295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731520" y="2880360"/>
            <a:ext cx="5029200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3172968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2999232" y="3227832"/>
            <a:ext cx="1783080" cy="265176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999232" y="3227832"/>
            <a:ext cx="1062716" cy="2651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46904" y="3163824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59.6%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31520" y="3849624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2999232" y="3904488"/>
            <a:ext cx="1783080" cy="265176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999232" y="3904488"/>
            <a:ext cx="1053800" cy="265176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46904" y="3840480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59.1%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31520" y="4526280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3.1 Pro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2999232" y="4581144"/>
            <a:ext cx="1783080" cy="265176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999232" y="4581144"/>
            <a:ext cx="71323" cy="265176"/>
          </a:xfrm>
          <a:prstGeom prst="rect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46904" y="4517136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4%</a:t>
            </a:r>
            <a:endParaRPr lang="en-US" sz="18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6473952" y="2880360"/>
          <a:ext cx="5029200" cy="2295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0"/>
          <p:cNvSpPr/>
          <p:nvPr/>
        </p:nvSpPr>
        <p:spPr>
          <a:xfrm>
            <a:off x="6473952" y="2880360"/>
            <a:ext cx="5029200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73952" y="3172968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8741664" y="3227832"/>
            <a:ext cx="1783080" cy="265176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741664" y="3227832"/>
            <a:ext cx="1034186" cy="2651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0689336" y="3163824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58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6473952" y="3849624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</a:t>
            </a:r>
            <a:endParaRPr lang="en-US" sz="1700" dirty="0"/>
          </a:p>
        </p:txBody>
      </p:sp>
      <p:sp>
        <p:nvSpPr>
          <p:cNvPr id="31" name="Shape 26"/>
          <p:cNvSpPr/>
          <p:nvPr/>
        </p:nvSpPr>
        <p:spPr>
          <a:xfrm>
            <a:off x="8741664" y="3904488"/>
            <a:ext cx="1783080" cy="265176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741664" y="3904488"/>
            <a:ext cx="945032" cy="265176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689336" y="3840480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53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6473952" y="4526280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3.1 Pro</a:t>
            </a:r>
            <a:endParaRPr lang="en-US" sz="1700" dirty="0"/>
          </a:p>
        </p:txBody>
      </p:sp>
      <p:sp>
        <p:nvSpPr>
          <p:cNvPr id="35" name="Shape 30"/>
          <p:cNvSpPr/>
          <p:nvPr/>
        </p:nvSpPr>
        <p:spPr>
          <a:xfrm>
            <a:off x="8741664" y="4581144"/>
            <a:ext cx="1783080" cy="265176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741664" y="4581144"/>
            <a:ext cx="534924" cy="265176"/>
          </a:xfrm>
          <a:prstGeom prst="rect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0689336" y="4517136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777240" y="536752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终端分差：Opus 与 Astra 仅 0.5 个百分点</a:t>
            </a:r>
            <a:endParaRPr lang="en-US" sz="1700" dirty="0"/>
          </a:p>
        </p:txBody>
      </p:sp>
      <p:sp>
        <p:nvSpPr>
          <p:cNvPr id="39" name="Text 34"/>
          <p:cNvSpPr/>
          <p:nvPr/>
        </p:nvSpPr>
        <p:spPr>
          <a:xfrm>
            <a:off x="6473952" y="536752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综合指数不是百分比，也不是纯编码分数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领先必须持续经营：模型能力、Agent 系统和产品体验缺一不可。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的新范式：交给目标，而不是索取答案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教学任务：定位支付重试缺陷，准备补丁和回归测试。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368296"/>
            <a:ext cx="6601968" cy="307238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26974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37944" y="26974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rg "retry|timeout" src/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78408" y="3191256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837944" y="319125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相关调用链与错误分支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78408" y="368503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837944" y="36850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补丁 + 异常边界处理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78408" y="417880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837944" y="417880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pytest tests/test_payment_retry.py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78408" y="4672584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再修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837944" y="467258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失败回显 → 调整 → 重新验证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763256" y="2368296"/>
            <a:ext cx="3730752" cy="307238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19288" y="2688336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交付物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8019288" y="3557016"/>
            <a:ext cx="32186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可审查的补丁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可运行的测试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未解决的问题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8019288" y="4965192"/>
            <a:ext cx="3218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业务取舍与合并由人负责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Chatbot 给你一段建议；Agent 在反馈中持续推进任务。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coding model 会越来越强？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代码有可执行环境，也有能自动检查结果的裁判。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3544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任务与环境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23544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仓库、依赖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需求与约束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7848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19600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9912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9912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执行与反馈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629912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 → 改 → 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测试指出失败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24216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125968" y="2743200"/>
            <a:ext cx="3377184" cy="21488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6280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36280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学习有效策略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336280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训练更新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更善于下一批任务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77240" y="5340096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任务内：执行 → 失败 → 再尝试     /     训练期：用反馈更新策略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编码不是只靠人评“像不像”，而是让机器反复检验“行不行”。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code 处理一切需要计算的部分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对账教学样本：让模型理解规则，让脚本准确执行匹配与运算。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14016"/>
            <a:ext cx="3255264" cy="288950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2944368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orders.xlsx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bank.csv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69264" y="4407408"/>
            <a:ext cx="27797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编号 · 金额 · 日期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重复记录与业务规则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105656" y="3776472"/>
            <a:ext cx="48463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4873752" y="24140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02552" y="24140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应收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28432" y="24140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到账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354312" y="241401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36592" y="2980944"/>
            <a:ext cx="5879592" cy="60350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3752" y="298094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O1042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702552" y="298094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28432" y="298094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354312" y="2980944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736592" y="3657600"/>
            <a:ext cx="587959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73752" y="365760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O1088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702552" y="365760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1200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28432" y="365760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1200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354312" y="3657600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736592" y="4334256"/>
            <a:ext cx="5879592" cy="60350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3752" y="4334256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O1101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702552" y="4334256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028432" y="4334256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354312" y="4334256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864608" y="5248656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输出：异常清单 + 原始行号 + 核对依据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普通员工不必先变成程序员，但可以开始拥有可编程的工作能力。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MCP 到 Skills：接入系统，再保存做事方法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不是被 Skills 替代；两者解决的是不同问题。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23160"/>
            <a:ext cx="10744200" cy="75895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256946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3319272" y="25968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接得上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367528" y="2542032"/>
            <a:ext cx="58430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将数据库、文档、业务工具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暴露为统一接口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31520" y="3374136"/>
            <a:ext cx="10744200" cy="75895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976" y="352044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Skills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3319272" y="35478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做得对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367528" y="3493008"/>
            <a:ext cx="58430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 SOP、脚本、模板、验收规则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打包成可复用技能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31520" y="4325112"/>
            <a:ext cx="10744200" cy="75895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0976" y="447141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 + Harness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3319272" y="4498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跑得动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367528" y="4443984"/>
            <a:ext cx="58430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把工具组合起来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读取反馈、保存状态、继续推进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不只发布模型，还在定义 Agent 如何连接、学习与执行。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它引领的潮流，已经超出 Claude 自己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从一家公司的开放协议，走向跨厂商 Agent 基础设施。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23160"/>
            <a:ext cx="3337560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651760"/>
            <a:ext cx="2916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10,000+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41832" y="3611880"/>
            <a:ext cx="29169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活跃公共 MCP 服务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1832" y="4187952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2025.12 官方生态快照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98848" y="2423160"/>
            <a:ext cx="3346704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65176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97M+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709160" y="3611880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每月 SDK 下载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09160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Python + TypeScript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02752" y="2423160"/>
            <a:ext cx="3200400" cy="23042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0496" y="2734056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跨平台采用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540496" y="3566160"/>
            <a:ext cx="272491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ChatGPT · Gemini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 · Copilot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Code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77240" y="5166360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2025.12：捐赠给 Linux Foundation；Anthropic、Block、OpenAI 共建 AAIF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连接标准与可移植技能，让“一个 Agent”变成一整套工作生态。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更好的 Agent，不是把所有信息都塞进提示词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 MCP 工程示例：按需发现、读取工具接口，再用代码组合执行。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23160"/>
            <a:ext cx="3346704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65176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150,000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41832" y="3611880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全量工具定义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1832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17136" y="2423160"/>
            <a:ext cx="3346704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27448" y="265176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2,000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727448" y="3611880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按需加载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27448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21040" y="2423160"/>
            <a:ext cx="3163824" cy="23042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31352" y="265176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−98.7%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8531352" y="3611880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工具上下文用量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531352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同一工程示例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" y="5193792"/>
            <a:ext cx="10735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目录发现 → 读取目标接口 → 写处理脚本 → 执行 → 只返回关键结果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能力变强，还要让它在真实工作中可负担、可恢复、可复用。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的反例：综合聪明，不自动等于工程能干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3.1 Pro Preview · 同一第三方模型评测配置。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23160"/>
            <a:ext cx="3346704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65176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41832" y="3611880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 综合智能指数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1832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v4.3.2 · 指数分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17136" y="2423160"/>
            <a:ext cx="3346704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27448" y="265176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4.0%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727448" y="3611880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27448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 pass@1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02752" y="2423160"/>
            <a:ext cx="3191256" cy="23042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58784" y="2807208"/>
            <a:ext cx="26791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工程智能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要在环境里兑现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558784" y="4261104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版本、模型与 Agent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都要放进任务里看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这一轮终端评测的掉队，提醒我们：会回答，与会连续行动是两种能力。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不仅仅是程序员的梦中情模 / 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的正例：把竞争带到执行效率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Artificial Analysis Coding Agent Index v1.5 · Codex 当前配置对照。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4323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配置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43400" y="243230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 Agent 指数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03720" y="24323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平均运行时间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89720" y="243230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 API 费用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2999232"/>
            <a:ext cx="10698480" cy="74980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99923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 · max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343400" y="299923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03720" y="2999232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29.4 分钟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89720" y="2999232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$7.47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520" y="3822192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382219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GPT-6.1 Sol · xhigh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343400" y="382219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03720" y="3822192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15.5 分钟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89720" y="3822192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$1.04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31520" y="4846320"/>
            <a:ext cx="10735056" cy="59436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264" y="4992624"/>
            <a:ext cx="10259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不只争一分：更快交付、更低成本，会改变用户与企业的选择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的领先并非永久；但整个行业已经被推向同一条 Agentic 赛道。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AGI：不是更会聊天，而是能够持续扩展能力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本次演讲的工作定义：跨领域完成任务，并在反馈中持续变强。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3544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自主使用工具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23544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从目标出发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选择并执行动作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7848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19600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9912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9912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持续学习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629912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从新经验中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保留可迁移的知识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24216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125968" y="2743200"/>
            <a:ext cx="3377184" cy="21488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6280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36280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自我迭代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336280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改进工具与方法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参与改进后继模型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77240" y="5340096"/>
            <a:ext cx="10716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关键不是具备一个按钮，而是能跨任务迁移，并可靠地长期工作。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编码模型打开了第一扇门；跨域学习与可靠自主决定它能走多远。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编码，是把理解变成行动的通用接口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同一种能力，可以调用已有工具，也可以为当前任务制造新工具。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3544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自然语言目标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23544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把账对清楚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找出原因、验证假设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7848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19600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9912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9912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可执行代码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629912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清洗 · 匹配 · 统计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 · 调用 · 验证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24216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125968" y="2743200"/>
            <a:ext cx="3377184" cy="21488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6280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36280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数字世界结果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336280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表格与报告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业务系统与实验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77240" y="5340096"/>
            <a:ext cx="10725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不是让人类记住每个按钮，而是让模型把任务翻译成可执行过程。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能编程的模型，不只是在生产软件，也是在使用整个软件世界。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从软件世界，到物理世界：代码搭起最后一段桥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机制示意：模型写程序，不等于它已经安全掌握所有设备。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3544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模型与代码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23544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理解目标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制定操作逻辑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7848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19600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9912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9912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接口与控制系统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629912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仿真器 · 设备 API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机器人与实验平台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24216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125968" y="2743200"/>
            <a:ext cx="3377184" cy="21488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6280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36280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物理反馈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336280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传感器与测量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真实环境中的约束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31520" y="5266944"/>
            <a:ext cx="10735056" cy="438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8408" y="53035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设备授权 + 安全保护 + 仿真验证 + 现场反馈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编码提供连接能力；物理世界把可靠性与安全要求抬高了一个数量级。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AGI 还有多远？先看它是否开始参与自己的研发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R&amp;D Automation Index · 2026 年 8 月快照。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14016"/>
            <a:ext cx="3346704" cy="23042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64261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26%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41832" y="3602736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主导研发工作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1832" y="4178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AL4 · 人类监督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17136" y="2414016"/>
            <a:ext cx="3346704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27448" y="264261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&gt;90%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727448" y="3602736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 AI 协作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27448" y="4178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AL3+ · 包含 AL4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21040" y="2414016"/>
            <a:ext cx="317296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67928" y="2715768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尚未报告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567928" y="3584448"/>
            <a:ext cx="26791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AL5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完全自主研发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77240" y="5202936"/>
            <a:ext cx="10725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已经从研究成果，变成了研发过程中的生产要素。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这比“模型更会答题”更重要：智能正在参与制造下一代智能。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下一轮智能，开始吃到上一轮智能的红利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递归改进路径：AI 参与研发 → 改进后继系统 → 更强 AI 参与研发。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3544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当前智能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23544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写代码、跑实验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分析失败、构建评测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7848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19600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9912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9912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研发能力放大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629912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减少工程等待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增加可检验的尝试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24216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125968" y="2743200"/>
            <a:ext cx="3377184" cy="21488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6280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36280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后继智能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336280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训练、评测、部署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进入下一轮研发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866376" y="5010912"/>
            <a:ext cx="0" cy="384048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>
            <a:off x="2276856" y="5394960"/>
            <a:ext cx="758952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编码模型之所以通向 AGI，是因为它能改进“产生智能的工作”。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编码模型与 AGI / 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距离 AGI，剩下的是哪些可观察的门槛？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不猜一个日期：看系统是否跨过学习、可靠性、科研与现实世界的边界。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3500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能力门槛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880360" y="235000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今天已经看到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23500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真正需要跨过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916936"/>
            <a:ext cx="10698480" cy="59436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916936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持续学习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880360" y="2916936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记忆文件、Skills、状态恢复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78040" y="291693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稳定吸收新经验并迁移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584448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5844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长期自主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880360" y="358444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多步执行、测试、自我纠错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78040" y="358444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少接管、可恢复、长期可靠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4251960"/>
            <a:ext cx="10698480" cy="59436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519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研究迭代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2880360" y="42519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协作与主导部分研发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178040" y="425196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新方法的创造、复现与独立验证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1520" y="4919472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91947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物理连接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2880360" y="491947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代码与接口可以接设备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178040" y="491947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开放环境中的可靠行动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通道已打开；从强大的数字工作者，到可靠的通用智能，仍有硬门槛。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结尾 / 回到两万亿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两万亿押注的，不是一个更好的代码补全工具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从付费产品，到智能劳动，再到参与生产下一代智能。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3544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第一层：已被证明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23544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开发者与企业付费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收入快速扩张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7848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19600" y="2743200"/>
            <a:ext cx="3377184" cy="21488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9912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9912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第二层：正在发生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629912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编码能力外溢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跨领域数字工作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24216" y="3813048"/>
            <a:ext cx="25603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125968" y="2743200"/>
            <a:ext cx="3377184" cy="21488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6280" y="2944368"/>
            <a:ext cx="2956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36280" y="34747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第三层：未来溢价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336280" y="4142232"/>
            <a:ext cx="295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参与 AI 研发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智能的代际反馈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的故事：把“会编码的模型”，变成“会工作的智能”。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结尾 / 对我们意味着什么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岗位不会只剩“会不会写代码”这一条分界线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新的分界线：谁能定义目标、沉淀规则、委托执行，并判断结果。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4505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108960" y="24505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把经验变成什么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52360" y="24505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继续握住什么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017520"/>
            <a:ext cx="10698480" cy="72237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017520"/>
            <a:ext cx="2011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普通员工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108960" y="3017520"/>
            <a:ext cx="4114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规则、样本、模板、可复用 Skills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52360" y="3017520"/>
            <a:ext cx="3886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业务判断、例外与结果验收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813048"/>
            <a:ext cx="10698480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813048"/>
            <a:ext cx="2011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 / 产品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108960" y="3813048"/>
            <a:ext cx="4114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可运行原型、补丁、测试与评测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52360" y="3813048"/>
            <a:ext cx="3886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架构、需求价值与上线责任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4608576"/>
            <a:ext cx="10698480" cy="72237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608576"/>
            <a:ext cx="2011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公司 / 管理者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108960" y="4608576"/>
            <a:ext cx="4114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可连接系统、任务闭环、共享能力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52360" y="4608576"/>
            <a:ext cx="38862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权限、激励、组织流程与风险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7240" y="5458968"/>
            <a:ext cx="10753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我们要升级的，不只是工具，而是“工作如何被完成”。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2万亿IPO的背后：编码模型与AGI</dc:title>
  <dc:subject>IPO与收入增长、Agentic范式、编码模型与AGI</dc:subject>
  <dc:creator>Internal Learning</dc:creator>
  <cp:lastModifiedBy>Internal Learning</cp:lastModifiedBy>
  <cp:revision>1</cp:revision>
  <dcterms:created xsi:type="dcterms:W3CDTF">2026-10-05T03:04:56Z</dcterms:created>
  <dcterms:modified xsi:type="dcterms:W3CDTF">2026-10-05T03:04:56Z</dcterms:modified>
</cp:coreProperties>
</file>