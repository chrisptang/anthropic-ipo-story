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【演说备注】欢迎各位读者。本份研报将彻底撕下大模型只是“程序员补全插件”的肤浅认知，系统剖析为什么代码能力是通向通用人工智能 (AGI) 的唯一物理跳板，深度复盘谷歌 Gemini 在真实工程中的滑铁卢与 OpenAI 的自救反攻。</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演说备注】本页开宗明义确立全篇论点：代码绝不是程序员的专用技能，而是通用智能与真实世界交互的“操作系统”。没有代码作为无歧义的动作语言和确定性反馈机制，大模型就只能停留在自然语言的概率幻觉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【演说备注】本页通过结构化对照矩阵展示了 AI 编码的三代进化轨迹。从辅助补全，到聊天问答，再到今天由 Claude Code 开启的 Autonomous Harness 无人值守接管。单任务 Token 消耗从百级别膨胀到百万级别，标志着软件研发真正跨入自动化工业时代。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【演说备注】本页为整场报告的完整路线图。从第一章双雄争霸（Gemini 溃败与 OpenAI 反扑），到第二章 Claude 护城河揭秘，再到第三章 AGI 理论基座与第四章 RSI 终极自举，层层递进。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【演说备注】进入第一篇章。2024至2025年，全球大模型格局发生了剧烈震荡。谷歌携 Gemini 1.5/2.0/3.0 系列以两百万超长上下文和浩瀚算力高调入场，却在真实工程师终端中遭遇滑铁卢；而遭遇偷袭的 OpenAI 彻底拉响 Code Red，展开惨烈的自救反攻。</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【演说备注】深入复盘 Gemini 的工程败局。宣传材料上的多模态与长上下文跑分，在进入真实生产研发时全面崩塌。格式错乱让 Agent 无法执行，偷懒代码破坏仓库完整性，过度安全阻碍合法维护，2M 窗口在复杂交叉引用中失准。这四个致命伤彻底宣判了 Gemini 在专业开发者心智中的死刑。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【演说备注】本页深度剖析谷歌的制度性悲剧。Google 是典型的“大公司病”牺牲品：战略上将大模型视作搜索外延，技术上误以为算力堆叠即可解决智能，组织上深陷内部政治与产品割裂。反观 Anthropic 目标纯粹，全员聚焦于代码与终端闭环，最终以小博大。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【演说备注】本页用真实市场数据展现惨烈的开发者大迁徙。在最严苛的 AI IDE 和终端工具中，Claude 凭借近乎 70% 的市占率碾压全场。即便谷歌倒贴算力，也无法扭转开发者对劣质代码生成的时间惩罚。程序员的肌肉记忆与企业研发流已全面向 Anthropic 靠拢。</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【演说备注】本页刻画了 OpenAI 充满耻感与血性的反击。被 Anthropic 夺走开发者王座是 OpenAI 创立以来最大的战略耳光。Altman 的 Code Red 备忘录彻底纠正了沉迷消费娱乐 Demo 的偏航，直接催生了强化学习驱动的 o-系列与 Codex 架构重生。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【演说备注】本页总结第一篇章。大模型从战国群雄争霸最终收敛为 Anthropic 与 OpenAI 的双雄对决。谷歌由于战略错位与大企业病而在真实的软件工程一线彻底掉队。接下来，我们将深入解密：Claude 究竟凭什么建立起如此坚不可摧的技术护城河？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【演说备注】进入第二篇章。我们将从工程和数学底层彻底揭开 Claude 的核心秘密。为什么微小的单步概率差异会在 50 步长程任务中演变成生与死的差距？为什么 Sonnet 5.5 凭速度反超了更昂贵的 Opus？Claude Code 是如何通过自愈闭环统治终端的？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【演说备注】本页揭示了长程软件工程的硬核数学本质。单步 99.5% 与 95.7% 在日常使用中貌似区别不大，但在 50 步的长链条任务中，0.995 的 50 次方仍有 77.8%，而 0.957 的 50 次方仅剩 10.9%。这就是为什么在真实复杂项目中，开发者感觉 Gemini 总是跑着跑着就死机，而 Claude 能一条龙搞定。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【演说备注】本页拆解了 Claude 的终端自愈五步法。传统 Chatbot 面对报错只会让人类去改；而 Claude Code 形成了一个严密的物理闭环：探测、拦截、假设、最小打补丁、回归测试。没有这套闭环，任何声称具备自主能力的智能体都是空中楼阁。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【演说备注】本页揭示了颠覆性的工程经济学常识：为什么更小、更快的 Sonnet 5.5 居然在实际工程中战胜了更大、更贵的 Opus 4.5？因为工程不是静态做题，而是高频试错。3 次快速尝试 100 秒搞定，胜过沉思 3 分钟一枪未中。这个发现彻底重塑了 Anthropic 的模型迭代路线。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【演说备注】本页深度解构了 Claude Code 这一划时代产品的内部设计。很多人以为 Claude 强只是因为基座模型好，其实不然——Claude Code 的 Harness（装甲控制层）凝聚了极高的工程智慧：符号树过滤、Diff 压缩、轻量沙箱子智能体以及与 Git 深度咬合的回滚保障，共同构成了这款无敌利器。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【演说备注】本页正面回应了业界关于“MCP 是否进入黄昏期”的激烈讨论。我们的结论是清晰的：MCP 并没有消亡，它在企业级数据连接（外环）依然是事实标准；但在核心代码开发与排错（内环），开发者和智能体最终都会降维回归到最朴素、最强悍的 Bash CLI 终端命令。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【演说备注】进入第三篇章。我们将上升到哲学与认知科学高度，解答核心追问：为什么 AGI 的突破口一定是编码模型，而不是聊天、画画或多模态娱乐？代码究竟如何重构了人类认知与软件生产力的底层范式？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演说备注】本页构建了代码作为“认知操作系统”的四层全景架构。从最底层的确定性物理反馈，到动作执行、记忆压缩，直至顶层的元认知反思。代码不仅是人机沟通的语法，更是大模型演化出高阶智能的完整认知支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【演说备注】本页有力反驳了“编码模型只能写代码”的偏见。我们通过 Instinct 哲学思辨与 Meta Muse 结构化艺术创作两个极致案例证明：精通代码的模型在严密逻辑推演、长程记忆组织以及消除语义模糊上具有无可比拟的泛化优势。代码能力是全域认知的发动机。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【演说备注】本页阐明了 Andrej Karpathy 提出的软件三代范式进化。在 Software 3.0 时代，代码不再是需要人类永久存储、维护的静态祖传资产，而是变成了智能体在沙箱中动态编译、执行一次即刻销毁的“思维中间态”。代码成了机器自己的原生肌肉。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【演说备注】本页梳理了代码评测的四代演进史。传统的 HumanEval 已经彻底沦为玩具题刷榜；而 Terminal-Bench 4.0 真正把大模型扔进了残酷的真实生产容器。在这里，Claude 5.5 Sonnet 以 70.6% 傲视群雄，展现出跨越工程临界点的绝对统治力。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【演说备注】本页完成了第三篇章的理论升华。做题家模型擅长在无摩擦的纯文本中编织幻觉，但这绝不是 AGI。通用智能必须建立在可证伪、有碰撞的物理硬反馈之上。Exit Code 0 是不可贿赂的裁判，代码为大模型提供了通向客观真理的唯一现实锚点。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【演说备注】进入第四篇章。这是全篇研报最惊心动魄的部分。我们将深入 Dario Amodei 的生物物理世界观，拆解 Claude 是如何通过代码飞轮一步步接管自身模型的训练、评测与内核优化，揭开 26.4% 内部自主提交背后的智能奇点真相。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【演说备注】本页深度解析 Dario Amodei 的学术渊源与《仁慈的机器》一书的核心洞见。作为普林斯顿生物物理博士，Amodei 从信息热力学和生物演化视角透视智能。他预言的 50 年医学大爆发并非空谈，其底层驱动力正是高精度代码模型对机器人和实验模拟的全面掌控。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【演说备注】本页披露了 Anthropic 内部神秘的 RSI（递归自我改进）四大飞轮。从用例合成、轨迹挖掘，到编译器硬奖励以及底层 Triton 算子优化，Claude 已经深度卷入了生产下一代 Claude 的每一个关键技术节点。递归自举不再是科幻设定，而是真实的工业管线。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【演说备注】本页以确凿的 Git 提交审计数据揭示了 26.4% 内部代码自研的真相。在基础设施和测试领域，AI 自主编写比例已越过 60%。Anthropic 正在亲身验证智能自举的临界点：当模型写代码训练自身，人类工程师正式退居二线成为架构审判官，组织人效实现了 20 倍的指数跃升。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【演说备注】本页展现了 Anthropic 业界标杆级的安全治理体系。负责任扩展策略（RSP）明确划定了 ASL-1 到 ASL-4 的安全红线；而 SAE 稀疏自编码器技术打破了黑盒迷雾，实现了对危险行为的神经级钳夹抑制。正是因为安全底座足够坚固，Claude 才敢在生产终端中全面释放自愈与执行能力。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【演说备注】全场演讲结束语。各位读者，回顾全篇，Anthropic 的登顶绝不是偶然的商业奇迹，而是代码工程物理主义的伟大胜利。代码是人类赋予机器最神圣的契约——它既是机器认知的骨骼，也是人类守护自身主权的终极缰绳。感谢各位！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9F5"/>
        </a:solidFill>
      </p:bgPr>
    </p:bg>
    <p:spTree>
      <p:nvGrpSpPr>
        <p:cNvPr id="1" name=""/>
        <p:cNvGrpSpPr/>
        <p:nvPr/>
      </p:nvGrpSpPr>
      <p:grpSpPr>
        <a:xfrm>
          <a:off x="0" y="0"/>
          <a:ext cx="0" cy="0"/>
          <a:chOff x="0" y="0"/>
          <a:chExt cx="0" cy="0"/>
        </a:xfrm>
      </p:grpSpPr>
      <p:sp>
        <p:nvSpPr>
          <p:cNvPr id="2" name="Shape 0"/>
          <p:cNvSpPr/>
          <p:nvPr/>
        </p:nvSpPr>
        <p:spPr>
          <a:xfrm>
            <a:off x="731520" y="1005840"/>
            <a:ext cx="4389120" cy="347472"/>
          </a:xfrm>
          <a:prstGeom prst="rect">
            <a:avLst/>
          </a:prstGeom>
          <a:solidFill>
            <a:srgbClr val="FBF0EB"/>
          </a:solidFill>
          <a:ln w="12700">
            <a:solidFill>
              <a:srgbClr val="F0C2B2"/>
            </a:solidFill>
            <a:prstDash val="solid"/>
          </a:ln>
        </p:spPr>
      </p:sp>
      <p:sp>
        <p:nvSpPr>
          <p:cNvPr id="3" name="Text 1"/>
          <p:cNvSpPr/>
          <p:nvPr/>
        </p:nvSpPr>
        <p:spPr>
          <a:xfrm>
            <a:off x="731520" y="1005840"/>
            <a:ext cx="4389120" cy="347472"/>
          </a:xfrm>
          <a:prstGeom prst="rect">
            <a:avLst/>
          </a:prstGeom>
          <a:noFill/>
          <a:ln/>
        </p:spPr>
        <p:txBody>
          <a:bodyPr wrap="square" rtlCol="0" anchor="ctr"/>
          <a:lstStyle/>
          <a:p>
            <a:pPr algn="ctr" indent="0" marL="0">
              <a:buNone/>
            </a:pPr>
            <a:r>
              <a:rPr lang="en-US" sz="950" b="1" spc="150" kern="0" dirty="0">
                <a:solidFill>
                  <a:srgbClr val="D97757"/>
                </a:solidFill>
                <a:latin typeface="Arial" pitchFamily="34" charset="0"/>
                <a:ea typeface="Arial" pitchFamily="34" charset="-122"/>
                <a:cs typeface="Arial" pitchFamily="34" charset="-120"/>
              </a:rPr>
              <a:t>FRONTIER AI RESEARCH | 人机演化深度研报</a:t>
            </a:r>
            <a:endParaRPr lang="en-US" sz="950" dirty="0"/>
          </a:p>
        </p:txBody>
      </p:sp>
      <p:sp>
        <p:nvSpPr>
          <p:cNvPr id="4" name="Text 2"/>
          <p:cNvSpPr/>
          <p:nvPr/>
        </p:nvSpPr>
        <p:spPr>
          <a:xfrm>
            <a:off x="731520" y="1600200"/>
            <a:ext cx="10515600" cy="777240"/>
          </a:xfrm>
          <a:prstGeom prst="rect">
            <a:avLst/>
          </a:prstGeom>
          <a:noFill/>
          <a:ln/>
        </p:spPr>
        <p:txBody>
          <a:bodyPr wrap="square" lIns="0" tIns="0" rIns="0" bIns="0" rtlCol="0" anchor="ctr"/>
          <a:lstStyle/>
          <a:p>
            <a:pPr indent="0" marL="0">
              <a:buNone/>
            </a:pPr>
            <a:r>
              <a:rPr lang="en-US" sz="3800" b="1" dirty="0">
                <a:solidFill>
                  <a:srgbClr val="1C1917"/>
                </a:solidFill>
                <a:latin typeface="Arial" pitchFamily="34" charset="0"/>
                <a:ea typeface="Arial" pitchFamily="34" charset="-122"/>
                <a:cs typeface="Arial" pitchFamily="34" charset="-120"/>
              </a:rPr>
              <a:t>编码模型与 AGI：</a:t>
            </a:r>
            <a:endParaRPr lang="en-US" sz="3800" dirty="0"/>
          </a:p>
        </p:txBody>
      </p:sp>
      <p:sp>
        <p:nvSpPr>
          <p:cNvPr id="5" name="Text 3"/>
          <p:cNvSpPr/>
          <p:nvPr/>
        </p:nvSpPr>
        <p:spPr>
          <a:xfrm>
            <a:off x="731520" y="2377440"/>
            <a:ext cx="10515600" cy="777240"/>
          </a:xfrm>
          <a:prstGeom prst="rect">
            <a:avLst/>
          </a:prstGeom>
          <a:noFill/>
          <a:ln/>
        </p:spPr>
        <p:txBody>
          <a:bodyPr wrap="square" lIns="0" tIns="0" rIns="0" bIns="0" rtlCol="0" anchor="ctr"/>
          <a:lstStyle/>
          <a:p>
            <a:pPr indent="0" marL="0">
              <a:buNone/>
            </a:pPr>
            <a:r>
              <a:rPr lang="en-US" sz="3800" b="1" dirty="0">
                <a:solidFill>
                  <a:srgbClr val="D97757"/>
                </a:solidFill>
                <a:latin typeface="Arial" pitchFamily="34" charset="0"/>
                <a:ea typeface="Arial" pitchFamily="34" charset="-122"/>
                <a:cs typeface="Arial" pitchFamily="34" charset="-120"/>
              </a:rPr>
              <a:t>Claude 登顶背后的人机演化史</a:t>
            </a:r>
            <a:endParaRPr lang="en-US" sz="3800" dirty="0"/>
          </a:p>
        </p:txBody>
      </p:sp>
      <p:sp>
        <p:nvSpPr>
          <p:cNvPr id="6" name="Text 4"/>
          <p:cNvSpPr/>
          <p:nvPr/>
        </p:nvSpPr>
        <p:spPr>
          <a:xfrm>
            <a:off x="731520" y="3291840"/>
            <a:ext cx="10058400" cy="411480"/>
          </a:xfrm>
          <a:prstGeom prst="rect">
            <a:avLst/>
          </a:prstGeom>
          <a:noFill/>
          <a:ln/>
        </p:spPr>
        <p:txBody>
          <a:bodyPr wrap="square" rtlCol="0" anchor="ctr"/>
          <a:lstStyle/>
          <a:p>
            <a:pPr indent="0" marL="0">
              <a:buNone/>
            </a:pPr>
            <a:r>
              <a:rPr lang="en-US" sz="1700" dirty="0">
                <a:solidFill>
                  <a:srgbClr val="57534E"/>
                </a:solidFill>
                <a:latin typeface="Arial" pitchFamily="34" charset="0"/>
                <a:ea typeface="Arial" pitchFamily="34" charset="-122"/>
                <a:cs typeface="Arial" pitchFamily="34" charset="-120"/>
              </a:rPr>
              <a:t>从辅助编程到通用智能的物理跳板，兼论 OpenAI 的反击与 Gemini 的溃败</a:t>
            </a:r>
            <a:endParaRPr lang="en-US" sz="1700" dirty="0"/>
          </a:p>
        </p:txBody>
      </p:sp>
      <p:sp>
        <p:nvSpPr>
          <p:cNvPr id="7" name="Shape 5"/>
          <p:cNvSpPr/>
          <p:nvPr/>
        </p:nvSpPr>
        <p:spPr>
          <a:xfrm>
            <a:off x="731520" y="4069080"/>
            <a:ext cx="3429000" cy="1737360"/>
          </a:xfrm>
          <a:prstGeom prst="rect">
            <a:avLst/>
          </a:prstGeom>
          <a:solidFill>
            <a:srgbClr val="FFFFFF"/>
          </a:solidFill>
          <a:ln w="12700">
            <a:solidFill>
              <a:srgbClr val="E2DCD2"/>
            </a:solidFill>
            <a:prstDash val="solid"/>
          </a:ln>
        </p:spPr>
      </p:sp>
      <p:sp>
        <p:nvSpPr>
          <p:cNvPr id="8" name="Shape 6"/>
          <p:cNvSpPr/>
          <p:nvPr/>
        </p:nvSpPr>
        <p:spPr>
          <a:xfrm>
            <a:off x="960120" y="4251960"/>
            <a:ext cx="1280160" cy="219456"/>
          </a:xfrm>
          <a:prstGeom prst="rect">
            <a:avLst/>
          </a:prstGeom>
          <a:solidFill>
            <a:srgbClr val="F5F2EB"/>
          </a:solidFill>
          <a:ln w="12700">
            <a:solidFill>
              <a:srgbClr val="D97757"/>
            </a:solidFill>
            <a:prstDash val="solid"/>
          </a:ln>
        </p:spPr>
      </p:sp>
      <p:sp>
        <p:nvSpPr>
          <p:cNvPr id="9" name="Text 7"/>
          <p:cNvSpPr/>
          <p:nvPr/>
        </p:nvSpPr>
        <p:spPr>
          <a:xfrm>
            <a:off x="960120" y="4251960"/>
            <a:ext cx="1280160" cy="219456"/>
          </a:xfrm>
          <a:prstGeom prst="rect">
            <a:avLst/>
          </a:prstGeom>
          <a:noFill/>
          <a:ln/>
        </p:spPr>
        <p:txBody>
          <a:bodyPr wrap="square" rtlCol="0" anchor="ctr"/>
          <a:lstStyle/>
          <a:p>
            <a:pPr algn="ctr" indent="0" marL="0">
              <a:buNone/>
            </a:pPr>
            <a:r>
              <a:rPr lang="en-US" sz="850" b="1" dirty="0">
                <a:solidFill>
                  <a:srgbClr val="D97757"/>
                </a:solidFill>
                <a:latin typeface="Arial" pitchFamily="34" charset="0"/>
                <a:ea typeface="Arial" pitchFamily="34" charset="-122"/>
                <a:cs typeface="Arial" pitchFamily="34" charset="-120"/>
              </a:rPr>
              <a:t>自愈临界点</a:t>
            </a:r>
            <a:endParaRPr lang="en-US" sz="850" dirty="0"/>
          </a:p>
        </p:txBody>
      </p:sp>
      <p:sp>
        <p:nvSpPr>
          <p:cNvPr id="10" name="Text 8"/>
          <p:cNvSpPr/>
          <p:nvPr/>
        </p:nvSpPr>
        <p:spPr>
          <a:xfrm>
            <a:off x="960120" y="4526280"/>
            <a:ext cx="2971800" cy="502920"/>
          </a:xfrm>
          <a:prstGeom prst="rect">
            <a:avLst/>
          </a:prstGeom>
          <a:noFill/>
          <a:ln/>
        </p:spPr>
        <p:txBody>
          <a:bodyPr wrap="square" lIns="0" tIns="0" rIns="0" bIns="0" rtlCol="0" anchor="ctr"/>
          <a:lstStyle/>
          <a:p>
            <a:pPr indent="0" marL="0">
              <a:buNone/>
            </a:pPr>
            <a:r>
              <a:rPr lang="en-US" sz="2400" b="1" dirty="0">
                <a:solidFill>
                  <a:srgbClr val="D97757"/>
                </a:solidFill>
                <a:latin typeface="Arial" pitchFamily="34" charset="0"/>
                <a:ea typeface="Arial" pitchFamily="34" charset="-122"/>
                <a:cs typeface="Arial" pitchFamily="34" charset="-120"/>
              </a:rPr>
              <a:t>70.6%</a:t>
            </a:r>
            <a:endParaRPr lang="en-US" sz="2400" dirty="0"/>
          </a:p>
        </p:txBody>
      </p:sp>
      <p:sp>
        <p:nvSpPr>
          <p:cNvPr id="11" name="Text 9"/>
          <p:cNvSpPr/>
          <p:nvPr/>
        </p:nvSpPr>
        <p:spPr>
          <a:xfrm>
            <a:off x="960120" y="5029200"/>
            <a:ext cx="2971800" cy="274320"/>
          </a:xfrm>
          <a:prstGeom prst="rect">
            <a:avLst/>
          </a:prstGeom>
          <a:noFill/>
          <a:ln/>
        </p:spPr>
        <p:txBody>
          <a:bodyPr wrap="square" lIns="0" tIns="0" rIns="0" bIns="0" rtlCol="0" anchor="ctr"/>
          <a:lstStyle/>
          <a:p>
            <a:pPr indent="0" marL="0">
              <a:buNone/>
            </a:pPr>
            <a:r>
              <a:rPr lang="en-US" sz="1250" b="1" dirty="0">
                <a:solidFill>
                  <a:srgbClr val="1C1917"/>
                </a:solidFill>
                <a:latin typeface="Arial" pitchFamily="34" charset="0"/>
                <a:ea typeface="Arial" pitchFamily="34" charset="-122"/>
                <a:cs typeface="Arial" pitchFamily="34" charset="-120"/>
              </a:rPr>
              <a:t>Terminal-Bench 4.0 登顶</a:t>
            </a:r>
            <a:endParaRPr lang="en-US" sz="1250" dirty="0"/>
          </a:p>
        </p:txBody>
      </p:sp>
      <p:sp>
        <p:nvSpPr>
          <p:cNvPr id="12" name="Text 10"/>
          <p:cNvSpPr/>
          <p:nvPr/>
        </p:nvSpPr>
        <p:spPr>
          <a:xfrm>
            <a:off x="960120" y="5303520"/>
            <a:ext cx="2971800" cy="411480"/>
          </a:xfrm>
          <a:prstGeom prst="rect">
            <a:avLst/>
          </a:prstGeom>
          <a:noFill/>
          <a:ln/>
        </p:spPr>
        <p:txBody>
          <a:bodyPr wrap="square" lIns="0" tIns="0" rIns="0" bIns="0" rtlCol="0" anchor="ctr"/>
          <a:lstStyle/>
          <a:p>
            <a:pPr indent="0" marL="0">
              <a:buNone/>
            </a:pPr>
            <a:r>
              <a:rPr lang="en-US" sz="950" dirty="0">
                <a:solidFill>
                  <a:srgbClr val="57534E"/>
                </a:solidFill>
                <a:latin typeface="Arial" pitchFamily="34" charset="0"/>
                <a:ea typeface="Arial" pitchFamily="34" charset="-122"/>
                <a:cs typeface="Arial" pitchFamily="34" charset="-120"/>
              </a:rPr>
              <a:t>复杂工业级系统自主排错与终端自愈</a:t>
            </a:r>
            <a:endParaRPr lang="en-US" sz="950" dirty="0"/>
          </a:p>
        </p:txBody>
      </p:sp>
      <p:sp>
        <p:nvSpPr>
          <p:cNvPr id="13" name="Shape 11"/>
          <p:cNvSpPr/>
          <p:nvPr/>
        </p:nvSpPr>
        <p:spPr>
          <a:xfrm>
            <a:off x="4343400" y="4069080"/>
            <a:ext cx="3429000" cy="1737360"/>
          </a:xfrm>
          <a:prstGeom prst="rect">
            <a:avLst/>
          </a:prstGeom>
          <a:solidFill>
            <a:srgbClr val="FFFFFF"/>
          </a:solidFill>
          <a:ln w="12700">
            <a:solidFill>
              <a:srgbClr val="E2DCD2"/>
            </a:solidFill>
            <a:prstDash val="solid"/>
          </a:ln>
        </p:spPr>
      </p:sp>
      <p:sp>
        <p:nvSpPr>
          <p:cNvPr id="14" name="Shape 12"/>
          <p:cNvSpPr/>
          <p:nvPr/>
        </p:nvSpPr>
        <p:spPr>
          <a:xfrm>
            <a:off x="4572000" y="4251960"/>
            <a:ext cx="1280160" cy="219456"/>
          </a:xfrm>
          <a:prstGeom prst="rect">
            <a:avLst/>
          </a:prstGeom>
          <a:solidFill>
            <a:srgbClr val="F5F2EB"/>
          </a:solidFill>
          <a:ln w="12700">
            <a:solidFill>
              <a:srgbClr val="D97706"/>
            </a:solidFill>
            <a:prstDash val="solid"/>
          </a:ln>
        </p:spPr>
      </p:sp>
      <p:sp>
        <p:nvSpPr>
          <p:cNvPr id="15" name="Text 13"/>
          <p:cNvSpPr/>
          <p:nvPr/>
        </p:nvSpPr>
        <p:spPr>
          <a:xfrm>
            <a:off x="4572000" y="4251960"/>
            <a:ext cx="1280160" cy="219456"/>
          </a:xfrm>
          <a:prstGeom prst="rect">
            <a:avLst/>
          </a:prstGeom>
          <a:noFill/>
          <a:ln/>
        </p:spPr>
        <p:txBody>
          <a:bodyPr wrap="square" rtlCol="0" anchor="ctr"/>
          <a:lstStyle/>
          <a:p>
            <a:pPr algn="ctr" indent="0" marL="0">
              <a:buNone/>
            </a:pPr>
            <a:r>
              <a:rPr lang="en-US" sz="850" b="1" dirty="0">
                <a:solidFill>
                  <a:srgbClr val="D97706"/>
                </a:solidFill>
                <a:latin typeface="Arial" pitchFamily="34" charset="0"/>
                <a:ea typeface="Arial" pitchFamily="34" charset="-122"/>
                <a:cs typeface="Arial" pitchFamily="34" charset="-120"/>
              </a:rPr>
              <a:t>数学护城河</a:t>
            </a:r>
            <a:endParaRPr lang="en-US" sz="850" dirty="0"/>
          </a:p>
        </p:txBody>
      </p:sp>
      <p:sp>
        <p:nvSpPr>
          <p:cNvPr id="16" name="Text 14"/>
          <p:cNvSpPr/>
          <p:nvPr/>
        </p:nvSpPr>
        <p:spPr>
          <a:xfrm>
            <a:off x="4572000" y="4526280"/>
            <a:ext cx="2971800" cy="502920"/>
          </a:xfrm>
          <a:prstGeom prst="rect">
            <a:avLst/>
          </a:prstGeom>
          <a:noFill/>
          <a:ln/>
        </p:spPr>
        <p:txBody>
          <a:bodyPr wrap="square" lIns="0" tIns="0" rIns="0" bIns="0" rtlCol="0" anchor="ctr"/>
          <a:lstStyle/>
          <a:p>
            <a:pPr indent="0" marL="0">
              <a:buNone/>
            </a:pPr>
            <a:r>
              <a:rPr lang="en-US" sz="2400" b="1" dirty="0">
                <a:solidFill>
                  <a:srgbClr val="D97706"/>
                </a:solidFill>
                <a:latin typeface="Arial" pitchFamily="34" charset="0"/>
                <a:ea typeface="Arial" pitchFamily="34" charset="-122"/>
                <a:cs typeface="Arial" pitchFamily="34" charset="-120"/>
              </a:rPr>
              <a:t>0.995⁵⁰ = 77.8%</a:t>
            </a:r>
            <a:endParaRPr lang="en-US" sz="2400" dirty="0"/>
          </a:p>
        </p:txBody>
      </p:sp>
      <p:sp>
        <p:nvSpPr>
          <p:cNvPr id="17" name="Text 15"/>
          <p:cNvSpPr/>
          <p:nvPr/>
        </p:nvSpPr>
        <p:spPr>
          <a:xfrm>
            <a:off x="4572000" y="5029200"/>
            <a:ext cx="2971800" cy="274320"/>
          </a:xfrm>
          <a:prstGeom prst="rect">
            <a:avLst/>
          </a:prstGeom>
          <a:noFill/>
          <a:ln/>
        </p:spPr>
        <p:txBody>
          <a:bodyPr wrap="square" lIns="0" tIns="0" rIns="0" bIns="0" rtlCol="0" anchor="ctr"/>
          <a:lstStyle/>
          <a:p>
            <a:pPr indent="0" marL="0">
              <a:buNone/>
            </a:pPr>
            <a:r>
              <a:rPr lang="en-US" sz="1250" b="1" dirty="0">
                <a:solidFill>
                  <a:srgbClr val="1C1917"/>
                </a:solidFill>
                <a:latin typeface="Arial" pitchFamily="34" charset="0"/>
                <a:ea typeface="Arial" pitchFamily="34" charset="-122"/>
                <a:cs typeface="Arial" pitchFamily="34" charset="-120"/>
              </a:rPr>
              <a:t>单步可靠性复利税壁垒</a:t>
            </a:r>
            <a:endParaRPr lang="en-US" sz="1250" dirty="0"/>
          </a:p>
        </p:txBody>
      </p:sp>
      <p:sp>
        <p:nvSpPr>
          <p:cNvPr id="18" name="Text 16"/>
          <p:cNvSpPr/>
          <p:nvPr/>
        </p:nvSpPr>
        <p:spPr>
          <a:xfrm>
            <a:off x="4572000" y="5303520"/>
            <a:ext cx="2971800" cy="411480"/>
          </a:xfrm>
          <a:prstGeom prst="rect">
            <a:avLst/>
          </a:prstGeom>
          <a:noFill/>
          <a:ln/>
        </p:spPr>
        <p:txBody>
          <a:bodyPr wrap="square" lIns="0" tIns="0" rIns="0" bIns="0" rtlCol="0" anchor="ctr"/>
          <a:lstStyle/>
          <a:p>
            <a:pPr indent="0" marL="0">
              <a:buNone/>
            </a:pPr>
            <a:r>
              <a:rPr lang="en-US" sz="950" dirty="0">
                <a:solidFill>
                  <a:srgbClr val="57534E"/>
                </a:solidFill>
                <a:latin typeface="Arial" pitchFamily="34" charset="0"/>
                <a:ea typeface="Arial" pitchFamily="34" charset="-122"/>
                <a:cs typeface="Arial" pitchFamily="34" charset="-120"/>
              </a:rPr>
              <a:t>长程工程任务对平庸模型的指数级绞杀</a:t>
            </a:r>
            <a:endParaRPr lang="en-US" sz="950" dirty="0"/>
          </a:p>
        </p:txBody>
      </p:sp>
      <p:sp>
        <p:nvSpPr>
          <p:cNvPr id="19" name="Shape 17"/>
          <p:cNvSpPr/>
          <p:nvPr/>
        </p:nvSpPr>
        <p:spPr>
          <a:xfrm>
            <a:off x="7955280" y="4069080"/>
            <a:ext cx="3429000" cy="1737360"/>
          </a:xfrm>
          <a:prstGeom prst="rect">
            <a:avLst/>
          </a:prstGeom>
          <a:solidFill>
            <a:srgbClr val="FFFFFF"/>
          </a:solidFill>
          <a:ln w="12700">
            <a:solidFill>
              <a:srgbClr val="E2DCD2"/>
            </a:solidFill>
            <a:prstDash val="solid"/>
          </a:ln>
        </p:spPr>
      </p:sp>
      <p:sp>
        <p:nvSpPr>
          <p:cNvPr id="20" name="Shape 18"/>
          <p:cNvSpPr/>
          <p:nvPr/>
        </p:nvSpPr>
        <p:spPr>
          <a:xfrm>
            <a:off x="8183880" y="4251960"/>
            <a:ext cx="1280160" cy="219456"/>
          </a:xfrm>
          <a:prstGeom prst="rect">
            <a:avLst/>
          </a:prstGeom>
          <a:solidFill>
            <a:srgbClr val="F5F2EB"/>
          </a:solidFill>
          <a:ln w="12700">
            <a:solidFill>
              <a:srgbClr val="16A34A"/>
            </a:solidFill>
            <a:prstDash val="solid"/>
          </a:ln>
        </p:spPr>
      </p:sp>
      <p:sp>
        <p:nvSpPr>
          <p:cNvPr id="21" name="Text 19"/>
          <p:cNvSpPr/>
          <p:nvPr/>
        </p:nvSpPr>
        <p:spPr>
          <a:xfrm>
            <a:off x="8183880" y="4251960"/>
            <a:ext cx="1280160" cy="219456"/>
          </a:xfrm>
          <a:prstGeom prst="rect">
            <a:avLst/>
          </a:prstGeom>
          <a:noFill/>
          <a:ln/>
        </p:spPr>
        <p:txBody>
          <a:bodyPr wrap="square" rtlCol="0" anchor="ctr"/>
          <a:lstStyle/>
          <a:p>
            <a:pPr algn="ctr" indent="0" marL="0">
              <a:buNone/>
            </a:pPr>
            <a:r>
              <a:rPr lang="en-US" sz="850" b="1" dirty="0">
                <a:solidFill>
                  <a:srgbClr val="16A34A"/>
                </a:solidFill>
                <a:latin typeface="Arial" pitchFamily="34" charset="0"/>
                <a:ea typeface="Arial" pitchFamily="34" charset="-122"/>
                <a:cs typeface="Arial" pitchFamily="34" charset="-120"/>
              </a:rPr>
              <a:t>RSI 递归演化</a:t>
            </a:r>
            <a:endParaRPr lang="en-US" sz="850" dirty="0"/>
          </a:p>
        </p:txBody>
      </p:sp>
      <p:sp>
        <p:nvSpPr>
          <p:cNvPr id="22" name="Text 20"/>
          <p:cNvSpPr/>
          <p:nvPr/>
        </p:nvSpPr>
        <p:spPr>
          <a:xfrm>
            <a:off x="8183880" y="4526280"/>
            <a:ext cx="2971800" cy="502920"/>
          </a:xfrm>
          <a:prstGeom prst="rect">
            <a:avLst/>
          </a:prstGeom>
          <a:noFill/>
          <a:ln/>
        </p:spPr>
        <p:txBody>
          <a:bodyPr wrap="square" lIns="0" tIns="0" rIns="0" bIns="0" rtlCol="0" anchor="ctr"/>
          <a:lstStyle/>
          <a:p>
            <a:pPr indent="0" marL="0">
              <a:buNone/>
            </a:pPr>
            <a:r>
              <a:rPr lang="en-US" sz="2400" b="1" dirty="0">
                <a:solidFill>
                  <a:srgbClr val="16A34A"/>
                </a:solidFill>
                <a:latin typeface="Arial" pitchFamily="34" charset="0"/>
                <a:ea typeface="Arial" pitchFamily="34" charset="-122"/>
                <a:cs typeface="Arial" pitchFamily="34" charset="-120"/>
              </a:rPr>
              <a:t>26.4%</a:t>
            </a:r>
            <a:endParaRPr lang="en-US" sz="2400" dirty="0"/>
          </a:p>
        </p:txBody>
      </p:sp>
      <p:sp>
        <p:nvSpPr>
          <p:cNvPr id="23" name="Text 21"/>
          <p:cNvSpPr/>
          <p:nvPr/>
        </p:nvSpPr>
        <p:spPr>
          <a:xfrm>
            <a:off x="8183880" y="5029200"/>
            <a:ext cx="2971800" cy="274320"/>
          </a:xfrm>
          <a:prstGeom prst="rect">
            <a:avLst/>
          </a:prstGeom>
          <a:noFill/>
          <a:ln/>
        </p:spPr>
        <p:txBody>
          <a:bodyPr wrap="square" lIns="0" tIns="0" rIns="0" bIns="0" rtlCol="0" anchor="ctr"/>
          <a:lstStyle/>
          <a:p>
            <a:pPr indent="0" marL="0">
              <a:buNone/>
            </a:pPr>
            <a:r>
              <a:rPr lang="en-US" sz="1250" b="1" dirty="0">
                <a:solidFill>
                  <a:srgbClr val="1C1917"/>
                </a:solidFill>
                <a:latin typeface="Arial" pitchFamily="34" charset="0"/>
                <a:ea typeface="Arial" pitchFamily="34" charset="-122"/>
                <a:cs typeface="Arial" pitchFamily="34" charset="-120"/>
              </a:rPr>
              <a:t>Anthropic 内部研发自主化</a:t>
            </a:r>
            <a:endParaRPr lang="en-US" sz="1250" dirty="0"/>
          </a:p>
        </p:txBody>
      </p:sp>
      <p:sp>
        <p:nvSpPr>
          <p:cNvPr id="24" name="Text 22"/>
          <p:cNvSpPr/>
          <p:nvPr/>
        </p:nvSpPr>
        <p:spPr>
          <a:xfrm>
            <a:off x="8183880" y="5303520"/>
            <a:ext cx="2971800" cy="411480"/>
          </a:xfrm>
          <a:prstGeom prst="rect">
            <a:avLst/>
          </a:prstGeom>
          <a:noFill/>
          <a:ln/>
        </p:spPr>
        <p:txBody>
          <a:bodyPr wrap="square" lIns="0" tIns="0" rIns="0" bIns="0" rtlCol="0" anchor="ctr"/>
          <a:lstStyle/>
          <a:p>
            <a:pPr indent="0" marL="0">
              <a:buNone/>
            </a:pPr>
            <a:r>
              <a:rPr lang="en-US" sz="950" dirty="0">
                <a:solidFill>
                  <a:srgbClr val="57534E"/>
                </a:solidFill>
                <a:latin typeface="Arial" pitchFamily="34" charset="0"/>
                <a:ea typeface="Arial" pitchFamily="34" charset="-122"/>
                <a:cs typeface="Arial" pitchFamily="34" charset="-120"/>
              </a:rPr>
              <a:t>Claude 参与训练下一代 Claude 的自举飞轮</a:t>
            </a:r>
            <a:endParaRPr lang="en-US" sz="950" dirty="0"/>
          </a:p>
        </p:txBody>
      </p:sp>
      <p:sp>
        <p:nvSpPr>
          <p:cNvPr id="25" name="Text 23"/>
          <p:cNvSpPr/>
          <p:nvPr/>
        </p:nvSpPr>
        <p:spPr>
          <a:xfrm>
            <a:off x="731520" y="6172200"/>
            <a:ext cx="10515600" cy="320040"/>
          </a:xfrm>
          <a:prstGeom prst="rect">
            <a:avLst/>
          </a:prstGeom>
          <a:noFill/>
          <a:ln/>
        </p:spPr>
        <p:txBody>
          <a:bodyPr wrap="square" rtlCol="0" anchor="ctr"/>
          <a:lstStyle/>
          <a:p>
            <a:pPr indent="0" marL="0">
              <a:buNone/>
            </a:pPr>
            <a:r>
              <a:rPr lang="en-US" sz="1000" dirty="0">
                <a:solidFill>
                  <a:srgbClr val="8C857B"/>
                </a:solidFill>
                <a:latin typeface="Arial" pitchFamily="34" charset="0"/>
                <a:ea typeface="Arial" pitchFamily="34" charset="-122"/>
                <a:cs typeface="Arial" pitchFamily="34" charset="-120"/>
              </a:rPr>
              <a:t>深度研报 · 2026 年 10 月  |  核心标的：Anthropic (Claude) vs OpenAI vs Google Gemini</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9F5"/>
        </a:solidFill>
      </p:bgPr>
    </p:bg>
    <p:spTree>
      <p:nvGrpSpPr>
        <p:cNvPr id="1" name=""/>
        <p:cNvGrpSpPr/>
        <p:nvPr/>
      </p:nvGrpSpPr>
      <p:grpSpPr>
        <a:xfrm>
          <a:off x="0" y="0"/>
          <a:ext cx="0" cy="0"/>
          <a:chOff x="0" y="0"/>
          <a:chExt cx="0" cy="0"/>
        </a:xfrm>
      </p:grpSpPr>
      <p:sp>
        <p:nvSpPr>
          <p:cNvPr id="2" name="Shape 0"/>
          <p:cNvSpPr/>
          <p:nvPr/>
        </p:nvSpPr>
        <p:spPr>
          <a:xfrm>
            <a:off x="731520" y="384048"/>
            <a:ext cx="2560320" cy="256032"/>
          </a:xfrm>
          <a:prstGeom prst="rect">
            <a:avLst/>
          </a:prstGeom>
          <a:solidFill>
            <a:srgbClr val="FBF0EB"/>
          </a:solidFill>
          <a:ln w="12700">
            <a:solidFill>
              <a:srgbClr val="F0C2B2"/>
            </a:solidFill>
            <a:prstDash val="solid"/>
          </a:ln>
        </p:spPr>
      </p:sp>
      <p:sp>
        <p:nvSpPr>
          <p:cNvPr id="3" name="Text 1"/>
          <p:cNvSpPr/>
          <p:nvPr/>
        </p:nvSpPr>
        <p:spPr>
          <a:xfrm>
            <a:off x="731520" y="384048"/>
            <a:ext cx="2560320" cy="256032"/>
          </a:xfrm>
          <a:prstGeom prst="rect">
            <a:avLst/>
          </a:prstGeom>
          <a:noFill/>
          <a:ln/>
        </p:spPr>
        <p:txBody>
          <a:bodyPr wrap="square" rtlCol="0" anchor="ctr"/>
          <a:lstStyle/>
          <a:p>
            <a:pPr algn="ctr" indent="0" marL="0">
              <a:buNone/>
            </a:pPr>
            <a:r>
              <a:rPr lang="en-US" sz="900" b="1" spc="120" kern="0" dirty="0">
                <a:solidFill>
                  <a:srgbClr val="D97757"/>
                </a:solidFill>
                <a:latin typeface="Arial" pitchFamily="34" charset="0"/>
                <a:ea typeface="Arial" pitchFamily="34" charset="-122"/>
                <a:cs typeface="Arial" pitchFamily="34" charset="-120"/>
              </a:rPr>
              <a:t>CORE THESIS</a:t>
            </a:r>
            <a:endParaRPr lang="en-US" sz="900" dirty="0"/>
          </a:p>
        </p:txBody>
      </p:sp>
      <p:sp>
        <p:nvSpPr>
          <p:cNvPr id="4" name="Text 2"/>
          <p:cNvSpPr/>
          <p:nvPr/>
        </p:nvSpPr>
        <p:spPr>
          <a:xfrm>
            <a:off x="731520" y="676656"/>
            <a:ext cx="9875520" cy="475488"/>
          </a:xfrm>
          <a:prstGeom prst="rect">
            <a:avLst/>
          </a:prstGeom>
          <a:noFill/>
          <a:ln/>
        </p:spPr>
        <p:txBody>
          <a:bodyPr wrap="square" lIns="0" tIns="0" rIns="0" bIns="0" rtlCol="0" anchor="ctr"/>
          <a:lstStyle/>
          <a:p>
            <a:pPr indent="0" marL="0">
              <a:buNone/>
            </a:pPr>
            <a:r>
              <a:rPr lang="en-US" sz="2100" b="1" dirty="0">
                <a:solidFill>
                  <a:srgbClr val="1C1917"/>
                </a:solidFill>
                <a:latin typeface="Arial" pitchFamily="34" charset="0"/>
                <a:ea typeface="Arial" pitchFamily="34" charset="-122"/>
                <a:cs typeface="Arial" pitchFamily="34" charset="-120"/>
              </a:rPr>
              <a:t>核心立论：为什么 AGI 必须通过编码模型实现？</a:t>
            </a:r>
            <a:endParaRPr lang="en-US" sz="2100" dirty="0"/>
          </a:p>
        </p:txBody>
      </p:sp>
      <p:sp>
        <p:nvSpPr>
          <p:cNvPr id="5" name="Text 3"/>
          <p:cNvSpPr/>
          <p:nvPr/>
        </p:nvSpPr>
        <p:spPr>
          <a:xfrm>
            <a:off x="10972800" y="384048"/>
            <a:ext cx="731520" cy="320040"/>
          </a:xfrm>
          <a:prstGeom prst="rect">
            <a:avLst/>
          </a:prstGeom>
          <a:noFill/>
          <a:ln/>
        </p:spPr>
        <p:txBody>
          <a:bodyPr wrap="square" rtlCol="0" anchor="ctr"/>
          <a:lstStyle/>
          <a:p>
            <a:pPr algn="r" indent="0" marL="0">
              <a:buNone/>
            </a:pPr>
            <a:r>
              <a:rPr lang="en-US" sz="1300" b="1" dirty="0">
                <a:solidFill>
                  <a:srgbClr val="8C857B"/>
                </a:solidFill>
                <a:latin typeface="Arial" pitchFamily="34" charset="0"/>
                <a:ea typeface="Arial" pitchFamily="34" charset="-122"/>
                <a:cs typeface="Arial" pitchFamily="34" charset="-120"/>
              </a:rPr>
              <a:t>02</a:t>
            </a:r>
            <a:endParaRPr lang="en-US" sz="1300" dirty="0"/>
          </a:p>
        </p:txBody>
      </p:sp>
      <p:sp>
        <p:nvSpPr>
          <p:cNvPr id="6" name="Shape 4"/>
          <p:cNvSpPr/>
          <p:nvPr/>
        </p:nvSpPr>
        <p:spPr>
          <a:xfrm>
            <a:off x="731520" y="1325880"/>
            <a:ext cx="2560320" cy="4892040"/>
          </a:xfrm>
          <a:prstGeom prst="rect">
            <a:avLst/>
          </a:prstGeom>
          <a:solidFill>
            <a:srgbClr val="FFFFFF"/>
          </a:solidFill>
          <a:ln w="12700">
            <a:solidFill>
              <a:srgbClr val="E2DCD2"/>
            </a:solidFill>
            <a:prstDash val="solid"/>
          </a:ln>
        </p:spPr>
      </p:sp>
      <p:sp>
        <p:nvSpPr>
          <p:cNvPr id="7" name="Shape 5"/>
          <p:cNvSpPr/>
          <p:nvPr/>
        </p:nvSpPr>
        <p:spPr>
          <a:xfrm>
            <a:off x="731520" y="1325880"/>
            <a:ext cx="2560320" cy="960120"/>
          </a:xfrm>
          <a:prstGeom prst="rect">
            <a:avLst/>
          </a:prstGeom>
          <a:solidFill>
            <a:srgbClr val="D97757"/>
          </a:solidFill>
          <a:ln/>
        </p:spPr>
      </p:sp>
      <p:sp>
        <p:nvSpPr>
          <p:cNvPr id="8" name="Text 6"/>
          <p:cNvSpPr/>
          <p:nvPr/>
        </p:nvSpPr>
        <p:spPr>
          <a:xfrm>
            <a:off x="868680" y="1417320"/>
            <a:ext cx="2286000" cy="201168"/>
          </a:xfrm>
          <a:prstGeom prst="rect">
            <a:avLst/>
          </a:prstGeom>
          <a:noFill/>
          <a:ln/>
        </p:spPr>
        <p:txBody>
          <a:bodyPr wrap="square" rtlCol="0" anchor="ctr"/>
          <a:lstStyle/>
          <a:p>
            <a:pPr indent="0" marL="0">
              <a:buNone/>
            </a:pPr>
            <a:r>
              <a:rPr lang="en-US" sz="800" b="1" spc="120" kern="0" dirty="0">
                <a:solidFill>
                  <a:srgbClr val="FFFFFF"/>
                </a:solidFill>
                <a:latin typeface="Arial" pitchFamily="34" charset="0"/>
                <a:ea typeface="Arial" pitchFamily="34" charset="-122"/>
                <a:cs typeface="Arial" pitchFamily="34" charset="-120"/>
              </a:rPr>
              <a:t>01 · ACTION LANGUAGE</a:t>
            </a:r>
            <a:endParaRPr lang="en-US" sz="800" dirty="0"/>
          </a:p>
        </p:txBody>
      </p:sp>
      <p:sp>
        <p:nvSpPr>
          <p:cNvPr id="9" name="Text 7"/>
          <p:cNvSpPr/>
          <p:nvPr/>
        </p:nvSpPr>
        <p:spPr>
          <a:xfrm>
            <a:off x="868680" y="1645920"/>
            <a:ext cx="2286000" cy="502920"/>
          </a:xfrm>
          <a:prstGeom prst="rect">
            <a:avLst/>
          </a:prstGeom>
          <a:noFill/>
          <a:ln/>
        </p:spPr>
        <p:txBody>
          <a:bodyPr wrap="square" rtlCol="0" anchor="ctr"/>
          <a:lstStyle/>
          <a:p>
            <a:pPr indent="0" marL="0">
              <a:lnSpc>
                <a:spcPts val="1600"/>
              </a:lnSpc>
              <a:buNone/>
            </a:pPr>
            <a:r>
              <a:rPr lang="en-US" sz="1350" b="1" dirty="0">
                <a:solidFill>
                  <a:srgbClr val="FFFFFF"/>
                </a:solidFill>
                <a:latin typeface="Arial" pitchFamily="34" charset="0"/>
                <a:ea typeface="Arial" pitchFamily="34" charset="-122"/>
                <a:cs typeface="Arial" pitchFamily="34" charset="-120"/>
              </a:rPr>
              <a:t>机器世界的动作语言</a:t>
            </a:r>
            <a:endParaRPr lang="en-US" sz="1350" dirty="0"/>
          </a:p>
        </p:txBody>
      </p:sp>
      <p:sp>
        <p:nvSpPr>
          <p:cNvPr id="10" name="Shape 8"/>
          <p:cNvSpPr/>
          <p:nvPr/>
        </p:nvSpPr>
        <p:spPr>
          <a:xfrm>
            <a:off x="868680" y="2395728"/>
            <a:ext cx="2286000" cy="438912"/>
          </a:xfrm>
          <a:prstGeom prst="rect">
            <a:avLst/>
          </a:prstGeom>
          <a:solidFill>
            <a:srgbClr val="F5F2EB"/>
          </a:solidFill>
          <a:ln w="12700">
            <a:solidFill>
              <a:srgbClr val="E2DCD2"/>
            </a:solidFill>
            <a:prstDash val="solid"/>
          </a:ln>
        </p:spPr>
      </p:sp>
      <p:sp>
        <p:nvSpPr>
          <p:cNvPr id="11" name="Text 9"/>
          <p:cNvSpPr/>
          <p:nvPr/>
        </p:nvSpPr>
        <p:spPr>
          <a:xfrm>
            <a:off x="932688" y="2450592"/>
            <a:ext cx="2157984" cy="347472"/>
          </a:xfrm>
          <a:prstGeom prst="rect">
            <a:avLst/>
          </a:prstGeom>
          <a:noFill/>
          <a:ln/>
        </p:spPr>
        <p:txBody>
          <a:bodyPr wrap="square" rtlCol="0" anchor="ctr"/>
          <a:lstStyle/>
          <a:p>
            <a:pPr indent="0" marL="0">
              <a:lnSpc>
                <a:spcPts val="1200"/>
              </a:lnSpc>
              <a:buNone/>
            </a:pPr>
            <a:r>
              <a:rPr lang="en-US" sz="850" b="1" dirty="0">
                <a:solidFill>
                  <a:srgbClr val="1C1917"/>
                </a:solidFill>
                <a:latin typeface="Arial" pitchFamily="34" charset="0"/>
                <a:ea typeface="Arial" pitchFamily="34" charset="-122"/>
                <a:cs typeface="Arial" pitchFamily="34" charset="-120"/>
              </a:rPr>
              <a:t>公理：自然语言 = 模糊意图 | 代码 = 确定性执行</a:t>
            </a:r>
            <a:endParaRPr lang="en-US" sz="850" dirty="0"/>
          </a:p>
        </p:txBody>
      </p:sp>
      <p:sp>
        <p:nvSpPr>
          <p:cNvPr id="12" name="Shape 10"/>
          <p:cNvSpPr/>
          <p:nvPr/>
        </p:nvSpPr>
        <p:spPr>
          <a:xfrm>
            <a:off x="914400" y="2980944"/>
            <a:ext cx="201168" cy="201168"/>
          </a:xfrm>
          <a:prstGeom prst="ellipse">
            <a:avLst/>
          </a:prstGeom>
          <a:solidFill>
            <a:srgbClr val="D97757"/>
          </a:solidFill>
          <a:ln/>
        </p:spPr>
      </p:sp>
      <p:sp>
        <p:nvSpPr>
          <p:cNvPr id="13" name="Text 11"/>
          <p:cNvSpPr/>
          <p:nvPr/>
        </p:nvSpPr>
        <p:spPr>
          <a:xfrm>
            <a:off x="914400" y="2980944"/>
            <a:ext cx="201168" cy="201168"/>
          </a:xfrm>
          <a:prstGeom prst="rect">
            <a:avLst/>
          </a:prstGeom>
          <a:noFill/>
          <a:ln/>
        </p:spPr>
        <p:txBody>
          <a:bodyPr wrap="square"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1</a:t>
            </a:r>
            <a:endParaRPr lang="en-US" sz="750" dirty="0"/>
          </a:p>
        </p:txBody>
      </p:sp>
      <p:sp>
        <p:nvSpPr>
          <p:cNvPr id="14" name="Text 12"/>
          <p:cNvSpPr/>
          <p:nvPr/>
        </p:nvSpPr>
        <p:spPr>
          <a:xfrm>
            <a:off x="1170432" y="2944368"/>
            <a:ext cx="1965960" cy="228600"/>
          </a:xfrm>
          <a:prstGeom prst="rect">
            <a:avLst/>
          </a:prstGeom>
          <a:noFill/>
          <a:ln/>
        </p:spPr>
        <p:txBody>
          <a:bodyPr wrap="square" rtlCol="0" anchor="ctr"/>
          <a:lstStyle/>
          <a:p>
            <a:pPr indent="0" marL="0">
              <a:buNone/>
            </a:pPr>
            <a:r>
              <a:rPr lang="en-US" sz="1000" b="1" dirty="0">
                <a:solidFill>
                  <a:srgbClr val="1C1917"/>
                </a:solidFill>
                <a:latin typeface="Arial" pitchFamily="34" charset="0"/>
                <a:ea typeface="Arial" pitchFamily="34" charset="-122"/>
                <a:cs typeface="Arial" pitchFamily="34" charset="-120"/>
              </a:rPr>
              <a:t>控制流唯一性</a:t>
            </a:r>
            <a:endParaRPr lang="en-US" sz="1000" dirty="0"/>
          </a:p>
        </p:txBody>
      </p:sp>
      <p:sp>
        <p:nvSpPr>
          <p:cNvPr id="15" name="Text 13"/>
          <p:cNvSpPr/>
          <p:nvPr/>
        </p:nvSpPr>
        <p:spPr>
          <a:xfrm>
            <a:off x="1170432" y="3182112"/>
            <a:ext cx="1965960" cy="548640"/>
          </a:xfrm>
          <a:prstGeom prst="rect">
            <a:avLst/>
          </a:prstGeom>
          <a:noFill/>
          <a:ln/>
        </p:spPr>
        <p:txBody>
          <a:bodyPr wrap="square" rtlCol="0" anchor="ctr"/>
          <a:lstStyle/>
          <a:p>
            <a:pPr indent="0" marL="0">
              <a:lnSpc>
                <a:spcPts val="1250"/>
              </a:lnSpc>
              <a:buNone/>
            </a:pPr>
            <a:r>
              <a:rPr lang="en-US" sz="880" dirty="0">
                <a:solidFill>
                  <a:srgbClr val="57534E"/>
                </a:solidFill>
                <a:latin typeface="Arial" pitchFamily="34" charset="0"/>
                <a:ea typeface="Arial" pitchFamily="34" charset="-122"/>
                <a:cs typeface="Arial" pitchFamily="34" charset="-120"/>
              </a:rPr>
              <a:t>自然语言充满多义与歧义，代码是机器唯一能严格解释执行的精确控制流。</a:t>
            </a:r>
            <a:endParaRPr lang="en-US" sz="880" dirty="0"/>
          </a:p>
        </p:txBody>
      </p:sp>
      <p:sp>
        <p:nvSpPr>
          <p:cNvPr id="16" name="Shape 14"/>
          <p:cNvSpPr/>
          <p:nvPr/>
        </p:nvSpPr>
        <p:spPr>
          <a:xfrm>
            <a:off x="914400" y="3749040"/>
            <a:ext cx="2194560" cy="0"/>
          </a:xfrm>
          <a:prstGeom prst="line">
            <a:avLst/>
          </a:prstGeom>
          <a:noFill/>
          <a:ln w="9525">
            <a:solidFill>
              <a:srgbClr val="E2DCD2"/>
            </a:solidFill>
            <a:prstDash val="solid"/>
          </a:ln>
        </p:spPr>
      </p:sp>
      <p:sp>
        <p:nvSpPr>
          <p:cNvPr id="17" name="Shape 15"/>
          <p:cNvSpPr/>
          <p:nvPr/>
        </p:nvSpPr>
        <p:spPr>
          <a:xfrm>
            <a:off x="914400" y="3849624"/>
            <a:ext cx="201168" cy="201168"/>
          </a:xfrm>
          <a:prstGeom prst="ellipse">
            <a:avLst/>
          </a:prstGeom>
          <a:solidFill>
            <a:srgbClr val="D97757"/>
          </a:solidFill>
          <a:ln/>
        </p:spPr>
      </p:sp>
      <p:sp>
        <p:nvSpPr>
          <p:cNvPr id="18" name="Text 16"/>
          <p:cNvSpPr/>
          <p:nvPr/>
        </p:nvSpPr>
        <p:spPr>
          <a:xfrm>
            <a:off x="914400" y="3849624"/>
            <a:ext cx="201168" cy="201168"/>
          </a:xfrm>
          <a:prstGeom prst="rect">
            <a:avLst/>
          </a:prstGeom>
          <a:noFill/>
          <a:ln/>
        </p:spPr>
        <p:txBody>
          <a:bodyPr wrap="square"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2</a:t>
            </a:r>
            <a:endParaRPr lang="en-US" sz="750" dirty="0"/>
          </a:p>
        </p:txBody>
      </p:sp>
      <p:sp>
        <p:nvSpPr>
          <p:cNvPr id="19" name="Text 17"/>
          <p:cNvSpPr/>
          <p:nvPr/>
        </p:nvSpPr>
        <p:spPr>
          <a:xfrm>
            <a:off x="1170432" y="3813048"/>
            <a:ext cx="1965960" cy="228600"/>
          </a:xfrm>
          <a:prstGeom prst="rect">
            <a:avLst/>
          </a:prstGeom>
          <a:noFill/>
          <a:ln/>
        </p:spPr>
        <p:txBody>
          <a:bodyPr wrap="square" rtlCol="0" anchor="ctr"/>
          <a:lstStyle/>
          <a:p>
            <a:pPr indent="0" marL="0">
              <a:buNone/>
            </a:pPr>
            <a:r>
              <a:rPr lang="en-US" sz="1000" b="1" dirty="0">
                <a:solidFill>
                  <a:srgbClr val="1C1917"/>
                </a:solidFill>
                <a:latin typeface="Arial" pitchFamily="34" charset="0"/>
                <a:ea typeface="Arial" pitchFamily="34" charset="-122"/>
                <a:cs typeface="Arial" pitchFamily="34" charset="-120"/>
              </a:rPr>
              <a:t>系统级动作调度</a:t>
            </a:r>
            <a:endParaRPr lang="en-US" sz="1000" dirty="0"/>
          </a:p>
        </p:txBody>
      </p:sp>
      <p:sp>
        <p:nvSpPr>
          <p:cNvPr id="20" name="Text 18"/>
          <p:cNvSpPr/>
          <p:nvPr/>
        </p:nvSpPr>
        <p:spPr>
          <a:xfrm>
            <a:off x="1170432" y="4050792"/>
            <a:ext cx="1965960" cy="548640"/>
          </a:xfrm>
          <a:prstGeom prst="rect">
            <a:avLst/>
          </a:prstGeom>
          <a:noFill/>
          <a:ln/>
        </p:spPr>
        <p:txBody>
          <a:bodyPr wrap="square" rtlCol="0" anchor="ctr"/>
          <a:lstStyle/>
          <a:p>
            <a:pPr indent="0" marL="0">
              <a:lnSpc>
                <a:spcPts val="1250"/>
              </a:lnSpc>
              <a:buNone/>
            </a:pPr>
            <a:r>
              <a:rPr lang="en-US" sz="880" dirty="0">
                <a:solidFill>
                  <a:srgbClr val="57534E"/>
                </a:solidFill>
                <a:latin typeface="Arial" pitchFamily="34" charset="0"/>
                <a:ea typeface="Arial" pitchFamily="34" charset="-122"/>
                <a:cs typeface="Arial" pitchFamily="34" charset="-120"/>
              </a:rPr>
              <a:t>API 调用、进程启动、网络通信全由代码精确驱动，脱离代码智能体即失去动作。</a:t>
            </a:r>
            <a:endParaRPr lang="en-US" sz="880" dirty="0"/>
          </a:p>
        </p:txBody>
      </p:sp>
      <p:sp>
        <p:nvSpPr>
          <p:cNvPr id="21" name="Shape 19"/>
          <p:cNvSpPr/>
          <p:nvPr/>
        </p:nvSpPr>
        <p:spPr>
          <a:xfrm>
            <a:off x="914400" y="4617720"/>
            <a:ext cx="2194560" cy="0"/>
          </a:xfrm>
          <a:prstGeom prst="line">
            <a:avLst/>
          </a:prstGeom>
          <a:noFill/>
          <a:ln w="9525">
            <a:solidFill>
              <a:srgbClr val="E2DCD2"/>
            </a:solidFill>
            <a:prstDash val="solid"/>
          </a:ln>
        </p:spPr>
      </p:sp>
      <p:sp>
        <p:nvSpPr>
          <p:cNvPr id="22" name="Shape 20"/>
          <p:cNvSpPr/>
          <p:nvPr/>
        </p:nvSpPr>
        <p:spPr>
          <a:xfrm>
            <a:off x="914400" y="4718304"/>
            <a:ext cx="201168" cy="201168"/>
          </a:xfrm>
          <a:prstGeom prst="ellipse">
            <a:avLst/>
          </a:prstGeom>
          <a:solidFill>
            <a:srgbClr val="D97757"/>
          </a:solidFill>
          <a:ln/>
        </p:spPr>
      </p:sp>
      <p:sp>
        <p:nvSpPr>
          <p:cNvPr id="23" name="Text 21"/>
          <p:cNvSpPr/>
          <p:nvPr/>
        </p:nvSpPr>
        <p:spPr>
          <a:xfrm>
            <a:off x="914400" y="4718304"/>
            <a:ext cx="201168" cy="201168"/>
          </a:xfrm>
          <a:prstGeom prst="rect">
            <a:avLst/>
          </a:prstGeom>
          <a:noFill/>
          <a:ln/>
        </p:spPr>
        <p:txBody>
          <a:bodyPr wrap="square"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3</a:t>
            </a:r>
            <a:endParaRPr lang="en-US" sz="750" dirty="0"/>
          </a:p>
        </p:txBody>
      </p:sp>
      <p:sp>
        <p:nvSpPr>
          <p:cNvPr id="24" name="Text 22"/>
          <p:cNvSpPr/>
          <p:nvPr/>
        </p:nvSpPr>
        <p:spPr>
          <a:xfrm>
            <a:off x="1170432" y="4681728"/>
            <a:ext cx="1965960" cy="228600"/>
          </a:xfrm>
          <a:prstGeom prst="rect">
            <a:avLst/>
          </a:prstGeom>
          <a:noFill/>
          <a:ln/>
        </p:spPr>
        <p:txBody>
          <a:bodyPr wrap="square" rtlCol="0" anchor="ctr"/>
          <a:lstStyle/>
          <a:p>
            <a:pPr indent="0" marL="0">
              <a:buNone/>
            </a:pPr>
            <a:r>
              <a:rPr lang="en-US" sz="1000" b="1" dirty="0">
                <a:solidFill>
                  <a:srgbClr val="1C1917"/>
                </a:solidFill>
                <a:latin typeface="Arial" pitchFamily="34" charset="0"/>
                <a:ea typeface="Arial" pitchFamily="34" charset="-122"/>
                <a:cs typeface="Arial" pitchFamily="34" charset="-120"/>
              </a:rPr>
              <a:t>接管文明软件</a:t>
            </a:r>
            <a:endParaRPr lang="en-US" sz="1000" dirty="0"/>
          </a:p>
        </p:txBody>
      </p:sp>
      <p:sp>
        <p:nvSpPr>
          <p:cNvPr id="25" name="Text 23"/>
          <p:cNvSpPr/>
          <p:nvPr/>
        </p:nvSpPr>
        <p:spPr>
          <a:xfrm>
            <a:off x="1170432" y="4919472"/>
            <a:ext cx="1965960" cy="548640"/>
          </a:xfrm>
          <a:prstGeom prst="rect">
            <a:avLst/>
          </a:prstGeom>
          <a:noFill/>
          <a:ln/>
        </p:spPr>
        <p:txBody>
          <a:bodyPr wrap="square" rtlCol="0" anchor="ctr"/>
          <a:lstStyle/>
          <a:p>
            <a:pPr indent="0" marL="0">
              <a:lnSpc>
                <a:spcPts val="1250"/>
              </a:lnSpc>
              <a:buNone/>
            </a:pPr>
            <a:r>
              <a:rPr lang="en-US" sz="880" dirty="0">
                <a:solidFill>
                  <a:srgbClr val="57534E"/>
                </a:solidFill>
                <a:latin typeface="Arial" pitchFamily="34" charset="0"/>
                <a:ea typeface="Arial" pitchFamily="34" charset="-122"/>
                <a:cs typeface="Arial" pitchFamily="34" charset="-120"/>
              </a:rPr>
              <a:t>代码赋予智能体直接操作现代文明全部软件基础设施与云平台的物理双手。</a:t>
            </a:r>
            <a:endParaRPr lang="en-US" sz="880" dirty="0"/>
          </a:p>
        </p:txBody>
      </p:sp>
      <p:sp>
        <p:nvSpPr>
          <p:cNvPr id="26" name="Shape 24"/>
          <p:cNvSpPr/>
          <p:nvPr/>
        </p:nvSpPr>
        <p:spPr>
          <a:xfrm>
            <a:off x="868680" y="5650992"/>
            <a:ext cx="2286000" cy="438912"/>
          </a:xfrm>
          <a:prstGeom prst="rect">
            <a:avLst/>
          </a:prstGeom>
          <a:solidFill>
            <a:srgbClr val="EFEBE1"/>
          </a:solidFill>
          <a:ln w="12700">
            <a:solidFill>
              <a:srgbClr val="E2DCD2"/>
            </a:solidFill>
            <a:prstDash val="solid"/>
          </a:ln>
        </p:spPr>
      </p:sp>
      <p:sp>
        <p:nvSpPr>
          <p:cNvPr id="27" name="Text 25"/>
          <p:cNvSpPr/>
          <p:nvPr/>
        </p:nvSpPr>
        <p:spPr>
          <a:xfrm>
            <a:off x="914400" y="5705856"/>
            <a:ext cx="2194560" cy="329184"/>
          </a:xfrm>
          <a:prstGeom prst="rect">
            <a:avLst/>
          </a:prstGeom>
          <a:noFill/>
          <a:ln/>
        </p:spPr>
        <p:txBody>
          <a:bodyPr wrap="square" rtlCol="0" anchor="ctr"/>
          <a:lstStyle/>
          <a:p>
            <a:pPr algn="ctr" indent="0" marL="0">
              <a:buNone/>
            </a:pPr>
            <a:r>
              <a:rPr lang="en-US" sz="850" b="1" dirty="0">
                <a:solidFill>
                  <a:srgbClr val="D97757"/>
                </a:solidFill>
                <a:latin typeface="Arial" pitchFamily="34" charset="0"/>
                <a:ea typeface="Arial" pitchFamily="34" charset="-122"/>
                <a:cs typeface="Arial" pitchFamily="34" charset="-120"/>
              </a:rPr>
              <a:t>▸ 赋予模型操作物理数字世界的肢体</a:t>
            </a:r>
            <a:endParaRPr lang="en-US" sz="850" dirty="0"/>
          </a:p>
        </p:txBody>
      </p:sp>
      <p:sp>
        <p:nvSpPr>
          <p:cNvPr id="28" name="Shape 26"/>
          <p:cNvSpPr/>
          <p:nvPr/>
        </p:nvSpPr>
        <p:spPr>
          <a:xfrm>
            <a:off x="3429000" y="1325880"/>
            <a:ext cx="2560320" cy="4892040"/>
          </a:xfrm>
          <a:prstGeom prst="rect">
            <a:avLst/>
          </a:prstGeom>
          <a:solidFill>
            <a:srgbClr val="FFFFFF"/>
          </a:solidFill>
          <a:ln w="12700">
            <a:solidFill>
              <a:srgbClr val="E2DCD2"/>
            </a:solidFill>
            <a:prstDash val="solid"/>
          </a:ln>
        </p:spPr>
      </p:sp>
      <p:sp>
        <p:nvSpPr>
          <p:cNvPr id="29" name="Shape 27"/>
          <p:cNvSpPr/>
          <p:nvPr/>
        </p:nvSpPr>
        <p:spPr>
          <a:xfrm>
            <a:off x="3429000" y="1325880"/>
            <a:ext cx="2560320" cy="960120"/>
          </a:xfrm>
          <a:prstGeom prst="rect">
            <a:avLst/>
          </a:prstGeom>
          <a:solidFill>
            <a:srgbClr val="D97706"/>
          </a:solidFill>
          <a:ln/>
        </p:spPr>
      </p:sp>
      <p:sp>
        <p:nvSpPr>
          <p:cNvPr id="30" name="Text 28"/>
          <p:cNvSpPr/>
          <p:nvPr/>
        </p:nvSpPr>
        <p:spPr>
          <a:xfrm>
            <a:off x="3566160" y="1417320"/>
            <a:ext cx="2286000" cy="201168"/>
          </a:xfrm>
          <a:prstGeom prst="rect">
            <a:avLst/>
          </a:prstGeom>
          <a:noFill/>
          <a:ln/>
        </p:spPr>
        <p:txBody>
          <a:bodyPr wrap="square" rtlCol="0" anchor="ctr"/>
          <a:lstStyle/>
          <a:p>
            <a:pPr indent="0" marL="0">
              <a:buNone/>
            </a:pPr>
            <a:r>
              <a:rPr lang="en-US" sz="800" b="1" spc="120" kern="0" dirty="0">
                <a:solidFill>
                  <a:srgbClr val="FFFFFF"/>
                </a:solidFill>
                <a:latin typeface="Arial" pitchFamily="34" charset="0"/>
                <a:ea typeface="Arial" pitchFamily="34" charset="-122"/>
                <a:cs typeface="Arial" pitchFamily="34" charset="-120"/>
              </a:rPr>
              <a:t>02 · GROUND TRUTH</a:t>
            </a:r>
            <a:endParaRPr lang="en-US" sz="800" dirty="0"/>
          </a:p>
        </p:txBody>
      </p:sp>
      <p:sp>
        <p:nvSpPr>
          <p:cNvPr id="31" name="Text 29"/>
          <p:cNvSpPr/>
          <p:nvPr/>
        </p:nvSpPr>
        <p:spPr>
          <a:xfrm>
            <a:off x="3566160" y="1645920"/>
            <a:ext cx="2286000" cy="502920"/>
          </a:xfrm>
          <a:prstGeom prst="rect">
            <a:avLst/>
          </a:prstGeom>
          <a:noFill/>
          <a:ln/>
        </p:spPr>
        <p:txBody>
          <a:bodyPr wrap="square" rtlCol="0" anchor="ctr"/>
          <a:lstStyle/>
          <a:p>
            <a:pPr indent="0" marL="0">
              <a:lnSpc>
                <a:spcPts val="1600"/>
              </a:lnSpc>
              <a:buNone/>
            </a:pPr>
            <a:r>
              <a:rPr lang="en-US" sz="1350" b="1" dirty="0">
                <a:solidFill>
                  <a:srgbClr val="FFFFFF"/>
                </a:solidFill>
                <a:latin typeface="Arial" pitchFamily="34" charset="0"/>
                <a:ea typeface="Arial" pitchFamily="34" charset="-122"/>
                <a:cs typeface="Arial" pitchFamily="34" charset="-120"/>
              </a:rPr>
              <a:t>确定性物理硬反馈</a:t>
            </a:r>
            <a:endParaRPr lang="en-US" sz="1350" dirty="0"/>
          </a:p>
        </p:txBody>
      </p:sp>
      <p:sp>
        <p:nvSpPr>
          <p:cNvPr id="32" name="Shape 30"/>
          <p:cNvSpPr/>
          <p:nvPr/>
        </p:nvSpPr>
        <p:spPr>
          <a:xfrm>
            <a:off x="3566160" y="2395728"/>
            <a:ext cx="2286000" cy="438912"/>
          </a:xfrm>
          <a:prstGeom prst="rect">
            <a:avLst/>
          </a:prstGeom>
          <a:solidFill>
            <a:srgbClr val="F5F2EB"/>
          </a:solidFill>
          <a:ln w="12700">
            <a:solidFill>
              <a:srgbClr val="E2DCD2"/>
            </a:solidFill>
            <a:prstDash val="solid"/>
          </a:ln>
        </p:spPr>
      </p:sp>
      <p:sp>
        <p:nvSpPr>
          <p:cNvPr id="33" name="Text 31"/>
          <p:cNvSpPr/>
          <p:nvPr/>
        </p:nvSpPr>
        <p:spPr>
          <a:xfrm>
            <a:off x="3630168" y="2450592"/>
            <a:ext cx="2157984" cy="347472"/>
          </a:xfrm>
          <a:prstGeom prst="rect">
            <a:avLst/>
          </a:prstGeom>
          <a:noFill/>
          <a:ln/>
        </p:spPr>
        <p:txBody>
          <a:bodyPr wrap="square" rtlCol="0" anchor="ctr"/>
          <a:lstStyle/>
          <a:p>
            <a:pPr indent="0" marL="0">
              <a:lnSpc>
                <a:spcPts val="1200"/>
              </a:lnSpc>
              <a:buNone/>
            </a:pPr>
            <a:r>
              <a:rPr lang="en-US" sz="850" b="1" dirty="0">
                <a:solidFill>
                  <a:srgbClr val="1C1917"/>
                </a:solidFill>
                <a:latin typeface="Arial" pitchFamily="34" charset="0"/>
                <a:ea typeface="Arial" pitchFamily="34" charset="-122"/>
                <a:cs typeface="Arial" pitchFamily="34" charset="-120"/>
              </a:rPr>
              <a:t>公理：Exit Code 0 vs 1 构成不可收买的物理裁判</a:t>
            </a:r>
            <a:endParaRPr lang="en-US" sz="850" dirty="0"/>
          </a:p>
        </p:txBody>
      </p:sp>
      <p:sp>
        <p:nvSpPr>
          <p:cNvPr id="34" name="Shape 32"/>
          <p:cNvSpPr/>
          <p:nvPr/>
        </p:nvSpPr>
        <p:spPr>
          <a:xfrm>
            <a:off x="3611880" y="2980944"/>
            <a:ext cx="201168" cy="201168"/>
          </a:xfrm>
          <a:prstGeom prst="ellipse">
            <a:avLst/>
          </a:prstGeom>
          <a:solidFill>
            <a:srgbClr val="D97706"/>
          </a:solidFill>
          <a:ln/>
        </p:spPr>
      </p:sp>
      <p:sp>
        <p:nvSpPr>
          <p:cNvPr id="35" name="Text 33"/>
          <p:cNvSpPr/>
          <p:nvPr/>
        </p:nvSpPr>
        <p:spPr>
          <a:xfrm>
            <a:off x="3611880" y="2980944"/>
            <a:ext cx="201168" cy="201168"/>
          </a:xfrm>
          <a:prstGeom prst="rect">
            <a:avLst/>
          </a:prstGeom>
          <a:noFill/>
          <a:ln/>
        </p:spPr>
        <p:txBody>
          <a:bodyPr wrap="square"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1</a:t>
            </a:r>
            <a:endParaRPr lang="en-US" sz="750" dirty="0"/>
          </a:p>
        </p:txBody>
      </p:sp>
      <p:sp>
        <p:nvSpPr>
          <p:cNvPr id="36" name="Text 34"/>
          <p:cNvSpPr/>
          <p:nvPr/>
        </p:nvSpPr>
        <p:spPr>
          <a:xfrm>
            <a:off x="3867912" y="2944368"/>
            <a:ext cx="1965960" cy="228600"/>
          </a:xfrm>
          <a:prstGeom prst="rect">
            <a:avLst/>
          </a:prstGeom>
          <a:noFill/>
          <a:ln/>
        </p:spPr>
        <p:txBody>
          <a:bodyPr wrap="square" rtlCol="0" anchor="ctr"/>
          <a:lstStyle/>
          <a:p>
            <a:pPr indent="0" marL="0">
              <a:buNone/>
            </a:pPr>
            <a:r>
              <a:rPr lang="en-US" sz="1000" b="1" dirty="0">
                <a:solidFill>
                  <a:srgbClr val="1C1917"/>
                </a:solidFill>
                <a:latin typeface="Arial" pitchFamily="34" charset="0"/>
                <a:ea typeface="Arial" pitchFamily="34" charset="-122"/>
                <a:cs typeface="Arial" pitchFamily="34" charset="-120"/>
              </a:rPr>
              <a:t>终结语言幻觉</a:t>
            </a:r>
            <a:endParaRPr lang="en-US" sz="1000" dirty="0"/>
          </a:p>
        </p:txBody>
      </p:sp>
      <p:sp>
        <p:nvSpPr>
          <p:cNvPr id="37" name="Text 35"/>
          <p:cNvSpPr/>
          <p:nvPr/>
        </p:nvSpPr>
        <p:spPr>
          <a:xfrm>
            <a:off x="3867912" y="3182112"/>
            <a:ext cx="1965960" cy="548640"/>
          </a:xfrm>
          <a:prstGeom prst="rect">
            <a:avLst/>
          </a:prstGeom>
          <a:noFill/>
          <a:ln/>
        </p:spPr>
        <p:txBody>
          <a:bodyPr wrap="square" rtlCol="0" anchor="ctr"/>
          <a:lstStyle/>
          <a:p>
            <a:pPr indent="0" marL="0">
              <a:lnSpc>
                <a:spcPts val="1250"/>
              </a:lnSpc>
              <a:buNone/>
            </a:pPr>
            <a:r>
              <a:rPr lang="en-US" sz="880" dirty="0">
                <a:solidFill>
                  <a:srgbClr val="57534E"/>
                </a:solidFill>
                <a:latin typeface="Arial" pitchFamily="34" charset="0"/>
                <a:ea typeface="Arial" pitchFamily="34" charset="-122"/>
                <a:cs typeface="Arial" pitchFamily="34" charset="-120"/>
              </a:rPr>
              <a:t>自然语言推理缺乏摩擦阻力，编译器断言与单测通过率形成无可辩驳的真理边界。</a:t>
            </a:r>
            <a:endParaRPr lang="en-US" sz="880" dirty="0"/>
          </a:p>
        </p:txBody>
      </p:sp>
      <p:sp>
        <p:nvSpPr>
          <p:cNvPr id="38" name="Shape 36"/>
          <p:cNvSpPr/>
          <p:nvPr/>
        </p:nvSpPr>
        <p:spPr>
          <a:xfrm>
            <a:off x="3611880" y="3749040"/>
            <a:ext cx="2194560" cy="0"/>
          </a:xfrm>
          <a:prstGeom prst="line">
            <a:avLst/>
          </a:prstGeom>
          <a:noFill/>
          <a:ln w="9525">
            <a:solidFill>
              <a:srgbClr val="E2DCD2"/>
            </a:solidFill>
            <a:prstDash val="solid"/>
          </a:ln>
        </p:spPr>
      </p:sp>
      <p:sp>
        <p:nvSpPr>
          <p:cNvPr id="39" name="Shape 37"/>
          <p:cNvSpPr/>
          <p:nvPr/>
        </p:nvSpPr>
        <p:spPr>
          <a:xfrm>
            <a:off x="3611880" y="3849624"/>
            <a:ext cx="201168" cy="201168"/>
          </a:xfrm>
          <a:prstGeom prst="ellipse">
            <a:avLst/>
          </a:prstGeom>
          <a:solidFill>
            <a:srgbClr val="D97706"/>
          </a:solidFill>
          <a:ln/>
        </p:spPr>
      </p:sp>
      <p:sp>
        <p:nvSpPr>
          <p:cNvPr id="40" name="Text 38"/>
          <p:cNvSpPr/>
          <p:nvPr/>
        </p:nvSpPr>
        <p:spPr>
          <a:xfrm>
            <a:off x="3611880" y="3849624"/>
            <a:ext cx="201168" cy="201168"/>
          </a:xfrm>
          <a:prstGeom prst="rect">
            <a:avLst/>
          </a:prstGeom>
          <a:noFill/>
          <a:ln/>
        </p:spPr>
        <p:txBody>
          <a:bodyPr wrap="square"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2</a:t>
            </a:r>
            <a:endParaRPr lang="en-US" sz="750" dirty="0"/>
          </a:p>
        </p:txBody>
      </p:sp>
      <p:sp>
        <p:nvSpPr>
          <p:cNvPr id="41" name="Text 39"/>
          <p:cNvSpPr/>
          <p:nvPr/>
        </p:nvSpPr>
        <p:spPr>
          <a:xfrm>
            <a:off x="3867912" y="3813048"/>
            <a:ext cx="1965960" cy="228600"/>
          </a:xfrm>
          <a:prstGeom prst="rect">
            <a:avLst/>
          </a:prstGeom>
          <a:noFill/>
          <a:ln/>
        </p:spPr>
        <p:txBody>
          <a:bodyPr wrap="square" rtlCol="0" anchor="ctr"/>
          <a:lstStyle/>
          <a:p>
            <a:pPr indent="0" marL="0">
              <a:buNone/>
            </a:pPr>
            <a:r>
              <a:rPr lang="en-US" sz="1000" b="1" dirty="0">
                <a:solidFill>
                  <a:srgbClr val="1C1917"/>
                </a:solidFill>
                <a:latin typeface="Arial" pitchFamily="34" charset="0"/>
                <a:ea typeface="Arial" pitchFamily="34" charset="-122"/>
                <a:cs typeface="Arial" pitchFamily="34" charset="-120"/>
              </a:rPr>
              <a:t>STDERR 现实撞击</a:t>
            </a:r>
            <a:endParaRPr lang="en-US" sz="1000" dirty="0"/>
          </a:p>
        </p:txBody>
      </p:sp>
      <p:sp>
        <p:nvSpPr>
          <p:cNvPr id="42" name="Text 40"/>
          <p:cNvSpPr/>
          <p:nvPr/>
        </p:nvSpPr>
        <p:spPr>
          <a:xfrm>
            <a:off x="3867912" y="4050792"/>
            <a:ext cx="1965960" cy="548640"/>
          </a:xfrm>
          <a:prstGeom prst="rect">
            <a:avLst/>
          </a:prstGeom>
          <a:noFill/>
          <a:ln/>
        </p:spPr>
        <p:txBody>
          <a:bodyPr wrap="square" rtlCol="0" anchor="ctr"/>
          <a:lstStyle/>
          <a:p>
            <a:pPr indent="0" marL="0">
              <a:lnSpc>
                <a:spcPts val="1250"/>
              </a:lnSpc>
              <a:buNone/>
            </a:pPr>
            <a:r>
              <a:rPr lang="en-US" sz="880" dirty="0">
                <a:solidFill>
                  <a:srgbClr val="57534E"/>
                </a:solidFill>
                <a:latin typeface="Arial" pitchFamily="34" charset="0"/>
                <a:ea typeface="Arial" pitchFamily="34" charset="-122"/>
                <a:cs typeface="Arial" pitchFamily="34" charset="-120"/>
              </a:rPr>
              <a:t>真实的退出码与堆栈报错直接将智能体从主观自欺拉回客观现实。</a:t>
            </a:r>
            <a:endParaRPr lang="en-US" sz="880" dirty="0"/>
          </a:p>
        </p:txBody>
      </p:sp>
      <p:sp>
        <p:nvSpPr>
          <p:cNvPr id="43" name="Shape 41"/>
          <p:cNvSpPr/>
          <p:nvPr/>
        </p:nvSpPr>
        <p:spPr>
          <a:xfrm>
            <a:off x="3611880" y="4617720"/>
            <a:ext cx="2194560" cy="0"/>
          </a:xfrm>
          <a:prstGeom prst="line">
            <a:avLst/>
          </a:prstGeom>
          <a:noFill/>
          <a:ln w="9525">
            <a:solidFill>
              <a:srgbClr val="E2DCD2"/>
            </a:solidFill>
            <a:prstDash val="solid"/>
          </a:ln>
        </p:spPr>
      </p:sp>
      <p:sp>
        <p:nvSpPr>
          <p:cNvPr id="44" name="Shape 42"/>
          <p:cNvSpPr/>
          <p:nvPr/>
        </p:nvSpPr>
        <p:spPr>
          <a:xfrm>
            <a:off x="3611880" y="4718304"/>
            <a:ext cx="201168" cy="201168"/>
          </a:xfrm>
          <a:prstGeom prst="ellipse">
            <a:avLst/>
          </a:prstGeom>
          <a:solidFill>
            <a:srgbClr val="D97706"/>
          </a:solidFill>
          <a:ln/>
        </p:spPr>
      </p:sp>
      <p:sp>
        <p:nvSpPr>
          <p:cNvPr id="45" name="Text 43"/>
          <p:cNvSpPr/>
          <p:nvPr/>
        </p:nvSpPr>
        <p:spPr>
          <a:xfrm>
            <a:off x="3611880" y="4718304"/>
            <a:ext cx="201168" cy="201168"/>
          </a:xfrm>
          <a:prstGeom prst="rect">
            <a:avLst/>
          </a:prstGeom>
          <a:noFill/>
          <a:ln/>
        </p:spPr>
        <p:txBody>
          <a:bodyPr wrap="square"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3</a:t>
            </a:r>
            <a:endParaRPr lang="en-US" sz="750" dirty="0"/>
          </a:p>
        </p:txBody>
      </p:sp>
      <p:sp>
        <p:nvSpPr>
          <p:cNvPr id="46" name="Text 44"/>
          <p:cNvSpPr/>
          <p:nvPr/>
        </p:nvSpPr>
        <p:spPr>
          <a:xfrm>
            <a:off x="3867912" y="4681728"/>
            <a:ext cx="1965960" cy="228600"/>
          </a:xfrm>
          <a:prstGeom prst="rect">
            <a:avLst/>
          </a:prstGeom>
          <a:noFill/>
          <a:ln/>
        </p:spPr>
        <p:txBody>
          <a:bodyPr wrap="square" rtlCol="0" anchor="ctr"/>
          <a:lstStyle/>
          <a:p>
            <a:pPr indent="0" marL="0">
              <a:buNone/>
            </a:pPr>
            <a:r>
              <a:rPr lang="en-US" sz="1000" b="1" dirty="0">
                <a:solidFill>
                  <a:srgbClr val="1C1917"/>
                </a:solidFill>
                <a:latin typeface="Arial" pitchFamily="34" charset="0"/>
                <a:ea typeface="Arial" pitchFamily="34" charset="-122"/>
                <a:cs typeface="Arial" pitchFamily="34" charset="-120"/>
              </a:rPr>
              <a:t>客观奖惩函数</a:t>
            </a:r>
            <a:endParaRPr lang="en-US" sz="1000" dirty="0"/>
          </a:p>
        </p:txBody>
      </p:sp>
      <p:sp>
        <p:nvSpPr>
          <p:cNvPr id="47" name="Text 45"/>
          <p:cNvSpPr/>
          <p:nvPr/>
        </p:nvSpPr>
        <p:spPr>
          <a:xfrm>
            <a:off x="3867912" y="4919472"/>
            <a:ext cx="1965960" cy="548640"/>
          </a:xfrm>
          <a:prstGeom prst="rect">
            <a:avLst/>
          </a:prstGeom>
          <a:noFill/>
          <a:ln/>
        </p:spPr>
        <p:txBody>
          <a:bodyPr wrap="square" rtlCol="0" anchor="ctr"/>
          <a:lstStyle/>
          <a:p>
            <a:pPr indent="0" marL="0">
              <a:lnSpc>
                <a:spcPts val="1250"/>
              </a:lnSpc>
              <a:buNone/>
            </a:pPr>
            <a:r>
              <a:rPr lang="en-US" sz="880" dirty="0">
                <a:solidFill>
                  <a:srgbClr val="57534E"/>
                </a:solidFill>
                <a:latin typeface="Arial" pitchFamily="34" charset="0"/>
                <a:ea typeface="Arial" pitchFamily="34" charset="-122"/>
                <a:cs typeface="Arial" pitchFamily="34" charset="-120"/>
              </a:rPr>
              <a:t>机器在不可收买的编译器环境下才能真正完成有效强化学习收敛。</a:t>
            </a:r>
            <a:endParaRPr lang="en-US" sz="880" dirty="0"/>
          </a:p>
        </p:txBody>
      </p:sp>
      <p:sp>
        <p:nvSpPr>
          <p:cNvPr id="48" name="Shape 46"/>
          <p:cNvSpPr/>
          <p:nvPr/>
        </p:nvSpPr>
        <p:spPr>
          <a:xfrm>
            <a:off x="3566160" y="5650992"/>
            <a:ext cx="2286000" cy="438912"/>
          </a:xfrm>
          <a:prstGeom prst="rect">
            <a:avLst/>
          </a:prstGeom>
          <a:solidFill>
            <a:srgbClr val="EFEBE1"/>
          </a:solidFill>
          <a:ln w="12700">
            <a:solidFill>
              <a:srgbClr val="E2DCD2"/>
            </a:solidFill>
            <a:prstDash val="solid"/>
          </a:ln>
        </p:spPr>
      </p:sp>
      <p:sp>
        <p:nvSpPr>
          <p:cNvPr id="49" name="Text 47"/>
          <p:cNvSpPr/>
          <p:nvPr/>
        </p:nvSpPr>
        <p:spPr>
          <a:xfrm>
            <a:off x="3611880" y="5705856"/>
            <a:ext cx="2194560" cy="329184"/>
          </a:xfrm>
          <a:prstGeom prst="rect">
            <a:avLst/>
          </a:prstGeom>
          <a:noFill/>
          <a:ln/>
        </p:spPr>
        <p:txBody>
          <a:bodyPr wrap="square" rtlCol="0" anchor="ctr"/>
          <a:lstStyle/>
          <a:p>
            <a:pPr algn="ctr" indent="0" marL="0">
              <a:buNone/>
            </a:pPr>
            <a:r>
              <a:rPr lang="en-US" sz="850" b="1" dirty="0">
                <a:solidFill>
                  <a:srgbClr val="D97706"/>
                </a:solidFill>
                <a:latin typeface="Arial" pitchFamily="34" charset="0"/>
                <a:ea typeface="Arial" pitchFamily="34" charset="-122"/>
                <a:cs typeface="Arial" pitchFamily="34" charset="-120"/>
              </a:rPr>
              <a:t>▸ 终结大模型无休止的概率自欺与幻觉</a:t>
            </a:r>
            <a:endParaRPr lang="en-US" sz="850" dirty="0"/>
          </a:p>
        </p:txBody>
      </p:sp>
      <p:sp>
        <p:nvSpPr>
          <p:cNvPr id="50" name="Shape 48"/>
          <p:cNvSpPr/>
          <p:nvPr/>
        </p:nvSpPr>
        <p:spPr>
          <a:xfrm>
            <a:off x="6126480" y="1325880"/>
            <a:ext cx="2560320" cy="4892040"/>
          </a:xfrm>
          <a:prstGeom prst="rect">
            <a:avLst/>
          </a:prstGeom>
          <a:solidFill>
            <a:srgbClr val="FFFFFF"/>
          </a:solidFill>
          <a:ln w="12700">
            <a:solidFill>
              <a:srgbClr val="E2DCD2"/>
            </a:solidFill>
            <a:prstDash val="solid"/>
          </a:ln>
        </p:spPr>
      </p:sp>
      <p:sp>
        <p:nvSpPr>
          <p:cNvPr id="51" name="Shape 49"/>
          <p:cNvSpPr/>
          <p:nvPr/>
        </p:nvSpPr>
        <p:spPr>
          <a:xfrm>
            <a:off x="6126480" y="1325880"/>
            <a:ext cx="2560320" cy="960120"/>
          </a:xfrm>
          <a:prstGeom prst="rect">
            <a:avLst/>
          </a:prstGeom>
          <a:solidFill>
            <a:srgbClr val="16A34A"/>
          </a:solidFill>
          <a:ln/>
        </p:spPr>
      </p:sp>
      <p:sp>
        <p:nvSpPr>
          <p:cNvPr id="52" name="Text 50"/>
          <p:cNvSpPr/>
          <p:nvPr/>
        </p:nvSpPr>
        <p:spPr>
          <a:xfrm>
            <a:off x="6263640" y="1417320"/>
            <a:ext cx="2286000" cy="201168"/>
          </a:xfrm>
          <a:prstGeom prst="rect">
            <a:avLst/>
          </a:prstGeom>
          <a:noFill/>
          <a:ln/>
        </p:spPr>
        <p:txBody>
          <a:bodyPr wrap="square" rtlCol="0" anchor="ctr"/>
          <a:lstStyle/>
          <a:p>
            <a:pPr indent="0" marL="0">
              <a:buNone/>
            </a:pPr>
            <a:r>
              <a:rPr lang="en-US" sz="800" b="1" spc="120" kern="0" dirty="0">
                <a:solidFill>
                  <a:srgbClr val="FFFFFF"/>
                </a:solidFill>
                <a:latin typeface="Arial" pitchFamily="34" charset="0"/>
                <a:ea typeface="Arial" pitchFamily="34" charset="-122"/>
                <a:cs typeface="Arial" pitchFamily="34" charset="-120"/>
              </a:rPr>
              <a:t>03 · SELF-HEALING LOOP</a:t>
            </a:r>
            <a:endParaRPr lang="en-US" sz="800" dirty="0"/>
          </a:p>
        </p:txBody>
      </p:sp>
      <p:sp>
        <p:nvSpPr>
          <p:cNvPr id="53" name="Text 51"/>
          <p:cNvSpPr/>
          <p:nvPr/>
        </p:nvSpPr>
        <p:spPr>
          <a:xfrm>
            <a:off x="6263640" y="1645920"/>
            <a:ext cx="2286000" cy="502920"/>
          </a:xfrm>
          <a:prstGeom prst="rect">
            <a:avLst/>
          </a:prstGeom>
          <a:noFill/>
          <a:ln/>
        </p:spPr>
        <p:txBody>
          <a:bodyPr wrap="square" rtlCol="0" anchor="ctr"/>
          <a:lstStyle/>
          <a:p>
            <a:pPr indent="0" marL="0">
              <a:lnSpc>
                <a:spcPts val="1600"/>
              </a:lnSpc>
              <a:buNone/>
            </a:pPr>
            <a:r>
              <a:rPr lang="en-US" sz="1350" b="1" dirty="0">
                <a:solidFill>
                  <a:srgbClr val="FFFFFF"/>
                </a:solidFill>
                <a:latin typeface="Arial" pitchFamily="34" charset="0"/>
                <a:ea typeface="Arial" pitchFamily="34" charset="-122"/>
                <a:cs typeface="Arial" pitchFamily="34" charset="-120"/>
              </a:rPr>
              <a:t>自愈闭环与纠错机制</a:t>
            </a:r>
            <a:endParaRPr lang="en-US" sz="1350" dirty="0"/>
          </a:p>
        </p:txBody>
      </p:sp>
      <p:sp>
        <p:nvSpPr>
          <p:cNvPr id="54" name="Shape 52"/>
          <p:cNvSpPr/>
          <p:nvPr/>
        </p:nvSpPr>
        <p:spPr>
          <a:xfrm>
            <a:off x="6263640" y="2395728"/>
            <a:ext cx="2286000" cy="438912"/>
          </a:xfrm>
          <a:prstGeom prst="rect">
            <a:avLst/>
          </a:prstGeom>
          <a:solidFill>
            <a:srgbClr val="F5F2EB"/>
          </a:solidFill>
          <a:ln w="12700">
            <a:solidFill>
              <a:srgbClr val="E2DCD2"/>
            </a:solidFill>
            <a:prstDash val="solid"/>
          </a:ln>
        </p:spPr>
      </p:sp>
      <p:sp>
        <p:nvSpPr>
          <p:cNvPr id="55" name="Text 53"/>
          <p:cNvSpPr/>
          <p:nvPr/>
        </p:nvSpPr>
        <p:spPr>
          <a:xfrm>
            <a:off x="6327648" y="2450592"/>
            <a:ext cx="2157984" cy="347472"/>
          </a:xfrm>
          <a:prstGeom prst="rect">
            <a:avLst/>
          </a:prstGeom>
          <a:noFill/>
          <a:ln/>
        </p:spPr>
        <p:txBody>
          <a:bodyPr wrap="square" rtlCol="0" anchor="ctr"/>
          <a:lstStyle/>
          <a:p>
            <a:pPr indent="0" marL="0">
              <a:lnSpc>
                <a:spcPts val="1200"/>
              </a:lnSpc>
              <a:buNone/>
            </a:pPr>
            <a:r>
              <a:rPr lang="en-US" sz="850" b="1" dirty="0">
                <a:solidFill>
                  <a:srgbClr val="1C1917"/>
                </a:solidFill>
                <a:latin typeface="Arial" pitchFamily="34" charset="0"/>
                <a:ea typeface="Arial" pitchFamily="34" charset="-122"/>
                <a:cs typeface="Arial" pitchFamily="34" charset="-120"/>
              </a:rPr>
              <a:t>公理：报错信息 = 下一步高密推理的最优物理上下文</a:t>
            </a:r>
            <a:endParaRPr lang="en-US" sz="850" dirty="0"/>
          </a:p>
        </p:txBody>
      </p:sp>
      <p:sp>
        <p:nvSpPr>
          <p:cNvPr id="56" name="Shape 54"/>
          <p:cNvSpPr/>
          <p:nvPr/>
        </p:nvSpPr>
        <p:spPr>
          <a:xfrm>
            <a:off x="6309360" y="2980944"/>
            <a:ext cx="201168" cy="201168"/>
          </a:xfrm>
          <a:prstGeom prst="ellipse">
            <a:avLst/>
          </a:prstGeom>
          <a:solidFill>
            <a:srgbClr val="16A34A"/>
          </a:solidFill>
          <a:ln/>
        </p:spPr>
      </p:sp>
      <p:sp>
        <p:nvSpPr>
          <p:cNvPr id="57" name="Text 55"/>
          <p:cNvSpPr/>
          <p:nvPr/>
        </p:nvSpPr>
        <p:spPr>
          <a:xfrm>
            <a:off x="6309360" y="2980944"/>
            <a:ext cx="201168" cy="201168"/>
          </a:xfrm>
          <a:prstGeom prst="rect">
            <a:avLst/>
          </a:prstGeom>
          <a:noFill/>
          <a:ln/>
        </p:spPr>
        <p:txBody>
          <a:bodyPr wrap="square"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1</a:t>
            </a:r>
            <a:endParaRPr lang="en-US" sz="750" dirty="0"/>
          </a:p>
        </p:txBody>
      </p:sp>
      <p:sp>
        <p:nvSpPr>
          <p:cNvPr id="58" name="Text 56"/>
          <p:cNvSpPr/>
          <p:nvPr/>
        </p:nvSpPr>
        <p:spPr>
          <a:xfrm>
            <a:off x="6565392" y="2944368"/>
            <a:ext cx="1965960" cy="228600"/>
          </a:xfrm>
          <a:prstGeom prst="rect">
            <a:avLst/>
          </a:prstGeom>
          <a:noFill/>
          <a:ln/>
        </p:spPr>
        <p:txBody>
          <a:bodyPr wrap="square" rtlCol="0" anchor="ctr"/>
          <a:lstStyle/>
          <a:p>
            <a:pPr indent="0" marL="0">
              <a:buNone/>
            </a:pPr>
            <a:r>
              <a:rPr lang="en-US" sz="1000" b="1" dirty="0">
                <a:solidFill>
                  <a:srgbClr val="1C1917"/>
                </a:solidFill>
                <a:latin typeface="Arial" pitchFamily="34" charset="0"/>
                <a:ea typeface="Arial" pitchFamily="34" charset="-122"/>
                <a:cs typeface="Arial" pitchFamily="34" charset="-120"/>
              </a:rPr>
              <a:t>动态探针自愈</a:t>
            </a:r>
            <a:endParaRPr lang="en-US" sz="1000" dirty="0"/>
          </a:p>
        </p:txBody>
      </p:sp>
      <p:sp>
        <p:nvSpPr>
          <p:cNvPr id="59" name="Text 57"/>
          <p:cNvSpPr/>
          <p:nvPr/>
        </p:nvSpPr>
        <p:spPr>
          <a:xfrm>
            <a:off x="6565392" y="3182112"/>
            <a:ext cx="1965960" cy="548640"/>
          </a:xfrm>
          <a:prstGeom prst="rect">
            <a:avLst/>
          </a:prstGeom>
          <a:noFill/>
          <a:ln/>
        </p:spPr>
        <p:txBody>
          <a:bodyPr wrap="square" rtlCol="0" anchor="ctr"/>
          <a:lstStyle/>
          <a:p>
            <a:pPr indent="0" marL="0">
              <a:lnSpc>
                <a:spcPts val="1250"/>
              </a:lnSpc>
              <a:buNone/>
            </a:pPr>
            <a:r>
              <a:rPr lang="en-US" sz="880" dirty="0">
                <a:solidFill>
                  <a:srgbClr val="57534E"/>
                </a:solidFill>
                <a:latin typeface="Arial" pitchFamily="34" charset="0"/>
                <a:ea typeface="Arial" pitchFamily="34" charset="-122"/>
                <a:cs typeface="Arial" pitchFamily="34" charset="-120"/>
              </a:rPr>
              <a:t>从“盲猜祈祷正确”跃迁为“执行探针 ➔ 捕获错误 ➔ 假设归因 ➔ 最小修补”。</a:t>
            </a:r>
            <a:endParaRPr lang="en-US" sz="880" dirty="0"/>
          </a:p>
        </p:txBody>
      </p:sp>
      <p:sp>
        <p:nvSpPr>
          <p:cNvPr id="60" name="Shape 58"/>
          <p:cNvSpPr/>
          <p:nvPr/>
        </p:nvSpPr>
        <p:spPr>
          <a:xfrm>
            <a:off x="6309360" y="3749040"/>
            <a:ext cx="2194560" cy="0"/>
          </a:xfrm>
          <a:prstGeom prst="line">
            <a:avLst/>
          </a:prstGeom>
          <a:noFill/>
          <a:ln w="9525">
            <a:solidFill>
              <a:srgbClr val="E2DCD2"/>
            </a:solidFill>
            <a:prstDash val="solid"/>
          </a:ln>
        </p:spPr>
      </p:sp>
      <p:sp>
        <p:nvSpPr>
          <p:cNvPr id="61" name="Shape 59"/>
          <p:cNvSpPr/>
          <p:nvPr/>
        </p:nvSpPr>
        <p:spPr>
          <a:xfrm>
            <a:off x="6309360" y="3849624"/>
            <a:ext cx="201168" cy="201168"/>
          </a:xfrm>
          <a:prstGeom prst="ellipse">
            <a:avLst/>
          </a:prstGeom>
          <a:solidFill>
            <a:srgbClr val="16A34A"/>
          </a:solidFill>
          <a:ln/>
        </p:spPr>
      </p:sp>
      <p:sp>
        <p:nvSpPr>
          <p:cNvPr id="62" name="Text 60"/>
          <p:cNvSpPr/>
          <p:nvPr/>
        </p:nvSpPr>
        <p:spPr>
          <a:xfrm>
            <a:off x="6309360" y="3849624"/>
            <a:ext cx="201168" cy="201168"/>
          </a:xfrm>
          <a:prstGeom prst="rect">
            <a:avLst/>
          </a:prstGeom>
          <a:noFill/>
          <a:ln/>
        </p:spPr>
        <p:txBody>
          <a:bodyPr wrap="square"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2</a:t>
            </a:r>
            <a:endParaRPr lang="en-US" sz="750" dirty="0"/>
          </a:p>
        </p:txBody>
      </p:sp>
      <p:sp>
        <p:nvSpPr>
          <p:cNvPr id="63" name="Text 61"/>
          <p:cNvSpPr/>
          <p:nvPr/>
        </p:nvSpPr>
        <p:spPr>
          <a:xfrm>
            <a:off x="6565392" y="3813048"/>
            <a:ext cx="1965960" cy="228600"/>
          </a:xfrm>
          <a:prstGeom prst="rect">
            <a:avLst/>
          </a:prstGeom>
          <a:noFill/>
          <a:ln/>
        </p:spPr>
        <p:txBody>
          <a:bodyPr wrap="square" rtlCol="0" anchor="ctr"/>
          <a:lstStyle/>
          <a:p>
            <a:pPr indent="0" marL="0">
              <a:buNone/>
            </a:pPr>
            <a:r>
              <a:rPr lang="en-US" sz="1000" b="1" dirty="0">
                <a:solidFill>
                  <a:srgbClr val="1C1917"/>
                </a:solidFill>
                <a:latin typeface="Arial" pitchFamily="34" charset="0"/>
                <a:ea typeface="Arial" pitchFamily="34" charset="-122"/>
                <a:cs typeface="Arial" pitchFamily="34" charset="-120"/>
              </a:rPr>
              <a:t>试错逼近真理</a:t>
            </a:r>
            <a:endParaRPr lang="en-US" sz="1000" dirty="0"/>
          </a:p>
        </p:txBody>
      </p:sp>
      <p:sp>
        <p:nvSpPr>
          <p:cNvPr id="64" name="Text 62"/>
          <p:cNvSpPr/>
          <p:nvPr/>
        </p:nvSpPr>
        <p:spPr>
          <a:xfrm>
            <a:off x="6565392" y="4050792"/>
            <a:ext cx="1965960" cy="548640"/>
          </a:xfrm>
          <a:prstGeom prst="rect">
            <a:avLst/>
          </a:prstGeom>
          <a:noFill/>
          <a:ln/>
        </p:spPr>
        <p:txBody>
          <a:bodyPr wrap="square" rtlCol="0" anchor="ctr"/>
          <a:lstStyle/>
          <a:p>
            <a:pPr indent="0" marL="0">
              <a:lnSpc>
                <a:spcPts val="1250"/>
              </a:lnSpc>
              <a:buNone/>
            </a:pPr>
            <a:r>
              <a:rPr lang="en-US" sz="880" dirty="0">
                <a:solidFill>
                  <a:srgbClr val="57534E"/>
                </a:solidFill>
                <a:latin typeface="Arial" pitchFamily="34" charset="0"/>
                <a:ea typeface="Arial" pitchFamily="34" charset="-122"/>
                <a:cs typeface="Arial" pitchFamily="34" charset="-120"/>
              </a:rPr>
              <a:t>智能本质不是首次命中，而是在与环境的反复试错碰撞中动态逼近唯一正解。</a:t>
            </a:r>
            <a:endParaRPr lang="en-US" sz="880" dirty="0"/>
          </a:p>
        </p:txBody>
      </p:sp>
      <p:sp>
        <p:nvSpPr>
          <p:cNvPr id="65" name="Shape 63"/>
          <p:cNvSpPr/>
          <p:nvPr/>
        </p:nvSpPr>
        <p:spPr>
          <a:xfrm>
            <a:off x="6309360" y="4617720"/>
            <a:ext cx="2194560" cy="0"/>
          </a:xfrm>
          <a:prstGeom prst="line">
            <a:avLst/>
          </a:prstGeom>
          <a:noFill/>
          <a:ln w="9525">
            <a:solidFill>
              <a:srgbClr val="E2DCD2"/>
            </a:solidFill>
            <a:prstDash val="solid"/>
          </a:ln>
        </p:spPr>
      </p:sp>
      <p:sp>
        <p:nvSpPr>
          <p:cNvPr id="66" name="Shape 64"/>
          <p:cNvSpPr/>
          <p:nvPr/>
        </p:nvSpPr>
        <p:spPr>
          <a:xfrm>
            <a:off x="6309360" y="4718304"/>
            <a:ext cx="201168" cy="201168"/>
          </a:xfrm>
          <a:prstGeom prst="ellipse">
            <a:avLst/>
          </a:prstGeom>
          <a:solidFill>
            <a:srgbClr val="16A34A"/>
          </a:solidFill>
          <a:ln/>
        </p:spPr>
      </p:sp>
      <p:sp>
        <p:nvSpPr>
          <p:cNvPr id="67" name="Text 65"/>
          <p:cNvSpPr/>
          <p:nvPr/>
        </p:nvSpPr>
        <p:spPr>
          <a:xfrm>
            <a:off x="6309360" y="4718304"/>
            <a:ext cx="201168" cy="201168"/>
          </a:xfrm>
          <a:prstGeom prst="rect">
            <a:avLst/>
          </a:prstGeom>
          <a:noFill/>
          <a:ln/>
        </p:spPr>
        <p:txBody>
          <a:bodyPr wrap="square"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3</a:t>
            </a:r>
            <a:endParaRPr lang="en-US" sz="750" dirty="0"/>
          </a:p>
        </p:txBody>
      </p:sp>
      <p:sp>
        <p:nvSpPr>
          <p:cNvPr id="68" name="Text 66"/>
          <p:cNvSpPr/>
          <p:nvPr/>
        </p:nvSpPr>
        <p:spPr>
          <a:xfrm>
            <a:off x="6565392" y="4681728"/>
            <a:ext cx="1965960" cy="228600"/>
          </a:xfrm>
          <a:prstGeom prst="rect">
            <a:avLst/>
          </a:prstGeom>
          <a:noFill/>
          <a:ln/>
        </p:spPr>
        <p:txBody>
          <a:bodyPr wrap="square" rtlCol="0" anchor="ctr"/>
          <a:lstStyle/>
          <a:p>
            <a:pPr indent="0" marL="0">
              <a:buNone/>
            </a:pPr>
            <a:r>
              <a:rPr lang="en-US" sz="1000" b="1" dirty="0">
                <a:solidFill>
                  <a:srgbClr val="1C1917"/>
                </a:solidFill>
                <a:latin typeface="Arial" pitchFamily="34" charset="0"/>
                <a:ea typeface="Arial" pitchFamily="34" charset="-122"/>
                <a:cs typeface="Arial" pitchFamily="34" charset="-120"/>
              </a:rPr>
              <a:t>自主排障飞轮</a:t>
            </a:r>
            <a:endParaRPr lang="en-US" sz="1000" dirty="0"/>
          </a:p>
        </p:txBody>
      </p:sp>
      <p:sp>
        <p:nvSpPr>
          <p:cNvPr id="69" name="Text 67"/>
          <p:cNvSpPr/>
          <p:nvPr/>
        </p:nvSpPr>
        <p:spPr>
          <a:xfrm>
            <a:off x="6565392" y="4919472"/>
            <a:ext cx="1965960" cy="548640"/>
          </a:xfrm>
          <a:prstGeom prst="rect">
            <a:avLst/>
          </a:prstGeom>
          <a:noFill/>
          <a:ln/>
        </p:spPr>
        <p:txBody>
          <a:bodyPr wrap="square" rtlCol="0" anchor="ctr"/>
          <a:lstStyle/>
          <a:p>
            <a:pPr indent="0" marL="0">
              <a:lnSpc>
                <a:spcPts val="1250"/>
              </a:lnSpc>
              <a:buNone/>
            </a:pPr>
            <a:r>
              <a:rPr lang="en-US" sz="880" dirty="0">
                <a:solidFill>
                  <a:srgbClr val="57534E"/>
                </a:solidFill>
                <a:latin typeface="Arial" pitchFamily="34" charset="0"/>
                <a:ea typeface="Arial" pitchFamily="34" charset="-122"/>
                <a:cs typeface="Arial" pitchFamily="34" charset="-120"/>
              </a:rPr>
              <a:t>端到端自愈闭环使智能体首次具备独立交付完整工程项目的工业可行性。</a:t>
            </a:r>
            <a:endParaRPr lang="en-US" sz="880" dirty="0"/>
          </a:p>
        </p:txBody>
      </p:sp>
      <p:sp>
        <p:nvSpPr>
          <p:cNvPr id="70" name="Shape 68"/>
          <p:cNvSpPr/>
          <p:nvPr/>
        </p:nvSpPr>
        <p:spPr>
          <a:xfrm>
            <a:off x="6263640" y="5650992"/>
            <a:ext cx="2286000" cy="438912"/>
          </a:xfrm>
          <a:prstGeom prst="rect">
            <a:avLst/>
          </a:prstGeom>
          <a:solidFill>
            <a:srgbClr val="EFEBE1"/>
          </a:solidFill>
          <a:ln w="12700">
            <a:solidFill>
              <a:srgbClr val="E2DCD2"/>
            </a:solidFill>
            <a:prstDash val="solid"/>
          </a:ln>
        </p:spPr>
      </p:sp>
      <p:sp>
        <p:nvSpPr>
          <p:cNvPr id="71" name="Text 69"/>
          <p:cNvSpPr/>
          <p:nvPr/>
        </p:nvSpPr>
        <p:spPr>
          <a:xfrm>
            <a:off x="6309360" y="5705856"/>
            <a:ext cx="2194560" cy="329184"/>
          </a:xfrm>
          <a:prstGeom prst="rect">
            <a:avLst/>
          </a:prstGeom>
          <a:noFill/>
          <a:ln/>
        </p:spPr>
        <p:txBody>
          <a:bodyPr wrap="square" rtlCol="0" anchor="ctr"/>
          <a:lstStyle/>
          <a:p>
            <a:pPr algn="ctr" indent="0" marL="0">
              <a:buNone/>
            </a:pPr>
            <a:r>
              <a:rPr lang="en-US" sz="850" b="1" dirty="0">
                <a:solidFill>
                  <a:srgbClr val="16A34A"/>
                </a:solidFill>
                <a:latin typeface="Arial" pitchFamily="34" charset="0"/>
                <a:ea typeface="Arial" pitchFamily="34" charset="-122"/>
                <a:cs typeface="Arial" pitchFamily="34" charset="-120"/>
              </a:rPr>
              <a:t>▸ 从静态文本生成跃迁为动态控制闭环</a:t>
            </a:r>
            <a:endParaRPr lang="en-US" sz="850" dirty="0"/>
          </a:p>
        </p:txBody>
      </p:sp>
      <p:sp>
        <p:nvSpPr>
          <p:cNvPr id="72" name="Shape 70"/>
          <p:cNvSpPr/>
          <p:nvPr/>
        </p:nvSpPr>
        <p:spPr>
          <a:xfrm>
            <a:off x="8823960" y="1325880"/>
            <a:ext cx="2560320" cy="4892040"/>
          </a:xfrm>
          <a:prstGeom prst="rect">
            <a:avLst/>
          </a:prstGeom>
          <a:solidFill>
            <a:srgbClr val="FFFFFF"/>
          </a:solidFill>
          <a:ln w="12700">
            <a:solidFill>
              <a:srgbClr val="E2DCD2"/>
            </a:solidFill>
            <a:prstDash val="solid"/>
          </a:ln>
        </p:spPr>
      </p:sp>
      <p:sp>
        <p:nvSpPr>
          <p:cNvPr id="73" name="Shape 71"/>
          <p:cNvSpPr/>
          <p:nvPr/>
        </p:nvSpPr>
        <p:spPr>
          <a:xfrm>
            <a:off x="8823960" y="1325880"/>
            <a:ext cx="2560320" cy="960120"/>
          </a:xfrm>
          <a:prstGeom prst="rect">
            <a:avLst/>
          </a:prstGeom>
          <a:solidFill>
            <a:srgbClr val="475569"/>
          </a:solidFill>
          <a:ln/>
        </p:spPr>
      </p:sp>
      <p:sp>
        <p:nvSpPr>
          <p:cNvPr id="74" name="Text 72"/>
          <p:cNvSpPr/>
          <p:nvPr/>
        </p:nvSpPr>
        <p:spPr>
          <a:xfrm>
            <a:off x="8961120" y="1417320"/>
            <a:ext cx="2286000" cy="201168"/>
          </a:xfrm>
          <a:prstGeom prst="rect">
            <a:avLst/>
          </a:prstGeom>
          <a:noFill/>
          <a:ln/>
        </p:spPr>
        <p:txBody>
          <a:bodyPr wrap="square" rtlCol="0" anchor="ctr"/>
          <a:lstStyle/>
          <a:p>
            <a:pPr indent="0" marL="0">
              <a:buNone/>
            </a:pPr>
            <a:r>
              <a:rPr lang="en-US" sz="800" b="1" spc="120" kern="0" dirty="0">
                <a:solidFill>
                  <a:srgbClr val="FFFFFF"/>
                </a:solidFill>
                <a:latin typeface="Arial" pitchFamily="34" charset="0"/>
                <a:ea typeface="Arial" pitchFamily="34" charset="-122"/>
                <a:cs typeface="Arial" pitchFamily="34" charset="-120"/>
              </a:rPr>
              <a:t>04 · RSI VEHICLE</a:t>
            </a:r>
            <a:endParaRPr lang="en-US" sz="800" dirty="0"/>
          </a:p>
        </p:txBody>
      </p:sp>
      <p:sp>
        <p:nvSpPr>
          <p:cNvPr id="75" name="Text 73"/>
          <p:cNvSpPr/>
          <p:nvPr/>
        </p:nvSpPr>
        <p:spPr>
          <a:xfrm>
            <a:off x="8961120" y="1645920"/>
            <a:ext cx="2286000" cy="502920"/>
          </a:xfrm>
          <a:prstGeom prst="rect">
            <a:avLst/>
          </a:prstGeom>
          <a:noFill/>
          <a:ln/>
        </p:spPr>
        <p:txBody>
          <a:bodyPr wrap="square" rtlCol="0" anchor="ctr"/>
          <a:lstStyle/>
          <a:p>
            <a:pPr indent="0" marL="0">
              <a:lnSpc>
                <a:spcPts val="1600"/>
              </a:lnSpc>
              <a:buNone/>
            </a:pPr>
            <a:r>
              <a:rPr lang="en-US" sz="1350" b="1" dirty="0">
                <a:solidFill>
                  <a:srgbClr val="FFFFFF"/>
                </a:solidFill>
                <a:latin typeface="Arial" pitchFamily="34" charset="0"/>
                <a:ea typeface="Arial" pitchFamily="34" charset="-122"/>
                <a:cs typeface="Arial" pitchFamily="34" charset="-120"/>
              </a:rPr>
              <a:t>递归演化的唯一载体</a:t>
            </a:r>
            <a:endParaRPr lang="en-US" sz="1350" dirty="0"/>
          </a:p>
        </p:txBody>
      </p:sp>
      <p:sp>
        <p:nvSpPr>
          <p:cNvPr id="76" name="Shape 74"/>
          <p:cNvSpPr/>
          <p:nvPr/>
        </p:nvSpPr>
        <p:spPr>
          <a:xfrm>
            <a:off x="8961120" y="2395728"/>
            <a:ext cx="2286000" cy="438912"/>
          </a:xfrm>
          <a:prstGeom prst="rect">
            <a:avLst/>
          </a:prstGeom>
          <a:solidFill>
            <a:srgbClr val="F5F2EB"/>
          </a:solidFill>
          <a:ln w="12700">
            <a:solidFill>
              <a:srgbClr val="E2DCD2"/>
            </a:solidFill>
            <a:prstDash val="solid"/>
          </a:ln>
        </p:spPr>
      </p:sp>
      <p:sp>
        <p:nvSpPr>
          <p:cNvPr id="77" name="Text 75"/>
          <p:cNvSpPr/>
          <p:nvPr/>
        </p:nvSpPr>
        <p:spPr>
          <a:xfrm>
            <a:off x="9025128" y="2450592"/>
            <a:ext cx="2157984" cy="347472"/>
          </a:xfrm>
          <a:prstGeom prst="rect">
            <a:avLst/>
          </a:prstGeom>
          <a:noFill/>
          <a:ln/>
        </p:spPr>
        <p:txBody>
          <a:bodyPr wrap="square" rtlCol="0" anchor="ctr"/>
          <a:lstStyle/>
          <a:p>
            <a:pPr indent="0" marL="0">
              <a:lnSpc>
                <a:spcPts val="1200"/>
              </a:lnSpc>
              <a:buNone/>
            </a:pPr>
            <a:r>
              <a:rPr lang="en-US" sz="850" b="1" dirty="0">
                <a:solidFill>
                  <a:srgbClr val="1C1917"/>
                </a:solidFill>
                <a:latin typeface="Arial" pitchFamily="34" charset="0"/>
                <a:ea typeface="Arial" pitchFamily="34" charset="-122"/>
                <a:cs typeface="Arial" pitchFamily="34" charset="-120"/>
              </a:rPr>
              <a:t>公理：修改自身沙箱与训练算子必须依赖高精度代码</a:t>
            </a:r>
            <a:endParaRPr lang="en-US" sz="850" dirty="0"/>
          </a:p>
        </p:txBody>
      </p:sp>
      <p:sp>
        <p:nvSpPr>
          <p:cNvPr id="78" name="Shape 76"/>
          <p:cNvSpPr/>
          <p:nvPr/>
        </p:nvSpPr>
        <p:spPr>
          <a:xfrm>
            <a:off x="9006840" y="2980944"/>
            <a:ext cx="201168" cy="201168"/>
          </a:xfrm>
          <a:prstGeom prst="ellipse">
            <a:avLst/>
          </a:prstGeom>
          <a:solidFill>
            <a:srgbClr val="475569"/>
          </a:solidFill>
          <a:ln/>
        </p:spPr>
      </p:sp>
      <p:sp>
        <p:nvSpPr>
          <p:cNvPr id="79" name="Text 77"/>
          <p:cNvSpPr/>
          <p:nvPr/>
        </p:nvSpPr>
        <p:spPr>
          <a:xfrm>
            <a:off x="9006840" y="2980944"/>
            <a:ext cx="201168" cy="201168"/>
          </a:xfrm>
          <a:prstGeom prst="rect">
            <a:avLst/>
          </a:prstGeom>
          <a:noFill/>
          <a:ln/>
        </p:spPr>
        <p:txBody>
          <a:bodyPr wrap="square"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1</a:t>
            </a:r>
            <a:endParaRPr lang="en-US" sz="750" dirty="0"/>
          </a:p>
        </p:txBody>
      </p:sp>
      <p:sp>
        <p:nvSpPr>
          <p:cNvPr id="80" name="Text 78"/>
          <p:cNvSpPr/>
          <p:nvPr/>
        </p:nvSpPr>
        <p:spPr>
          <a:xfrm>
            <a:off x="9262872" y="2944368"/>
            <a:ext cx="1965960" cy="228600"/>
          </a:xfrm>
          <a:prstGeom prst="rect">
            <a:avLst/>
          </a:prstGeom>
          <a:noFill/>
          <a:ln/>
        </p:spPr>
        <p:txBody>
          <a:bodyPr wrap="square" rtlCol="0" anchor="ctr"/>
          <a:lstStyle/>
          <a:p>
            <a:pPr indent="0" marL="0">
              <a:buNone/>
            </a:pPr>
            <a:r>
              <a:rPr lang="en-US" sz="1000" b="1" dirty="0">
                <a:solidFill>
                  <a:srgbClr val="1C1917"/>
                </a:solidFill>
                <a:latin typeface="Arial" pitchFamily="34" charset="0"/>
                <a:ea typeface="Arial" pitchFamily="34" charset="-122"/>
                <a:cs typeface="Arial" pitchFamily="34" charset="-120"/>
              </a:rPr>
              <a:t>跨越文本空想</a:t>
            </a:r>
            <a:endParaRPr lang="en-US" sz="1000" dirty="0"/>
          </a:p>
        </p:txBody>
      </p:sp>
      <p:sp>
        <p:nvSpPr>
          <p:cNvPr id="81" name="Text 79"/>
          <p:cNvSpPr/>
          <p:nvPr/>
        </p:nvSpPr>
        <p:spPr>
          <a:xfrm>
            <a:off x="9262872" y="3182112"/>
            <a:ext cx="1965960" cy="548640"/>
          </a:xfrm>
          <a:prstGeom prst="rect">
            <a:avLst/>
          </a:prstGeom>
          <a:noFill/>
          <a:ln/>
        </p:spPr>
        <p:txBody>
          <a:bodyPr wrap="square" rtlCol="0" anchor="ctr"/>
          <a:lstStyle/>
          <a:p>
            <a:pPr indent="0" marL="0">
              <a:lnSpc>
                <a:spcPts val="1250"/>
              </a:lnSpc>
              <a:buNone/>
            </a:pPr>
            <a:r>
              <a:rPr lang="en-US" sz="880" dirty="0">
                <a:solidFill>
                  <a:srgbClr val="57534E"/>
                </a:solidFill>
                <a:latin typeface="Arial" pitchFamily="34" charset="0"/>
                <a:ea typeface="Arial" pitchFamily="34" charset="-122"/>
                <a:cs typeface="Arial" pitchFamily="34" charset="-120"/>
              </a:rPr>
              <a:t>通用智能无法通过自然语言空想来改进自身权重与超参数。</a:t>
            </a:r>
            <a:endParaRPr lang="en-US" sz="880" dirty="0"/>
          </a:p>
        </p:txBody>
      </p:sp>
      <p:sp>
        <p:nvSpPr>
          <p:cNvPr id="82" name="Shape 80"/>
          <p:cNvSpPr/>
          <p:nvPr/>
        </p:nvSpPr>
        <p:spPr>
          <a:xfrm>
            <a:off x="9006840" y="3749040"/>
            <a:ext cx="2194560" cy="0"/>
          </a:xfrm>
          <a:prstGeom prst="line">
            <a:avLst/>
          </a:prstGeom>
          <a:noFill/>
          <a:ln w="9525">
            <a:solidFill>
              <a:srgbClr val="E2DCD2"/>
            </a:solidFill>
            <a:prstDash val="solid"/>
          </a:ln>
        </p:spPr>
      </p:sp>
      <p:sp>
        <p:nvSpPr>
          <p:cNvPr id="83" name="Shape 81"/>
          <p:cNvSpPr/>
          <p:nvPr/>
        </p:nvSpPr>
        <p:spPr>
          <a:xfrm>
            <a:off x="9006840" y="3849624"/>
            <a:ext cx="201168" cy="201168"/>
          </a:xfrm>
          <a:prstGeom prst="ellipse">
            <a:avLst/>
          </a:prstGeom>
          <a:solidFill>
            <a:srgbClr val="475569"/>
          </a:solidFill>
          <a:ln/>
        </p:spPr>
      </p:sp>
      <p:sp>
        <p:nvSpPr>
          <p:cNvPr id="84" name="Text 82"/>
          <p:cNvSpPr/>
          <p:nvPr/>
        </p:nvSpPr>
        <p:spPr>
          <a:xfrm>
            <a:off x="9006840" y="3849624"/>
            <a:ext cx="201168" cy="201168"/>
          </a:xfrm>
          <a:prstGeom prst="rect">
            <a:avLst/>
          </a:prstGeom>
          <a:noFill/>
          <a:ln/>
        </p:spPr>
        <p:txBody>
          <a:bodyPr wrap="square"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2</a:t>
            </a:r>
            <a:endParaRPr lang="en-US" sz="750" dirty="0"/>
          </a:p>
        </p:txBody>
      </p:sp>
      <p:sp>
        <p:nvSpPr>
          <p:cNvPr id="85" name="Text 83"/>
          <p:cNvSpPr/>
          <p:nvPr/>
        </p:nvSpPr>
        <p:spPr>
          <a:xfrm>
            <a:off x="9262872" y="3813048"/>
            <a:ext cx="1965960" cy="228600"/>
          </a:xfrm>
          <a:prstGeom prst="rect">
            <a:avLst/>
          </a:prstGeom>
          <a:noFill/>
          <a:ln/>
        </p:spPr>
        <p:txBody>
          <a:bodyPr wrap="square" rtlCol="0" anchor="ctr"/>
          <a:lstStyle/>
          <a:p>
            <a:pPr indent="0" marL="0">
              <a:buNone/>
            </a:pPr>
            <a:r>
              <a:rPr lang="en-US" sz="1000" b="1" dirty="0">
                <a:solidFill>
                  <a:srgbClr val="1C1917"/>
                </a:solidFill>
                <a:latin typeface="Arial" pitchFamily="34" charset="0"/>
                <a:ea typeface="Arial" pitchFamily="34" charset="-122"/>
                <a:cs typeface="Arial" pitchFamily="34" charset="-120"/>
              </a:rPr>
              <a:t>重写训练基建</a:t>
            </a:r>
            <a:endParaRPr lang="en-US" sz="1000" dirty="0"/>
          </a:p>
        </p:txBody>
      </p:sp>
      <p:sp>
        <p:nvSpPr>
          <p:cNvPr id="86" name="Text 84"/>
          <p:cNvSpPr/>
          <p:nvPr/>
        </p:nvSpPr>
        <p:spPr>
          <a:xfrm>
            <a:off x="9262872" y="4050792"/>
            <a:ext cx="1965960" cy="548640"/>
          </a:xfrm>
          <a:prstGeom prst="rect">
            <a:avLst/>
          </a:prstGeom>
          <a:noFill/>
          <a:ln/>
        </p:spPr>
        <p:txBody>
          <a:bodyPr wrap="square" rtlCol="0" anchor="ctr"/>
          <a:lstStyle/>
          <a:p>
            <a:pPr indent="0" marL="0">
              <a:lnSpc>
                <a:spcPts val="1250"/>
              </a:lnSpc>
              <a:buNone/>
            </a:pPr>
            <a:r>
              <a:rPr lang="en-US" sz="880" dirty="0">
                <a:solidFill>
                  <a:srgbClr val="57534E"/>
                </a:solidFill>
                <a:latin typeface="Arial" pitchFamily="34" charset="0"/>
                <a:ea typeface="Arial" pitchFamily="34" charset="-122"/>
                <a:cs typeface="Arial" pitchFamily="34" charset="-120"/>
              </a:rPr>
              <a:t>编写测试套件、提炼训练轨迹、优化 GPU 底层算子均由代码完全承载。</a:t>
            </a:r>
            <a:endParaRPr lang="en-US" sz="880" dirty="0"/>
          </a:p>
        </p:txBody>
      </p:sp>
      <p:sp>
        <p:nvSpPr>
          <p:cNvPr id="87" name="Shape 85"/>
          <p:cNvSpPr/>
          <p:nvPr/>
        </p:nvSpPr>
        <p:spPr>
          <a:xfrm>
            <a:off x="9006840" y="4617720"/>
            <a:ext cx="2194560" cy="0"/>
          </a:xfrm>
          <a:prstGeom prst="line">
            <a:avLst/>
          </a:prstGeom>
          <a:noFill/>
          <a:ln w="9525">
            <a:solidFill>
              <a:srgbClr val="E2DCD2"/>
            </a:solidFill>
            <a:prstDash val="solid"/>
          </a:ln>
        </p:spPr>
      </p:sp>
      <p:sp>
        <p:nvSpPr>
          <p:cNvPr id="88" name="Shape 86"/>
          <p:cNvSpPr/>
          <p:nvPr/>
        </p:nvSpPr>
        <p:spPr>
          <a:xfrm>
            <a:off x="9006840" y="4718304"/>
            <a:ext cx="201168" cy="201168"/>
          </a:xfrm>
          <a:prstGeom prst="ellipse">
            <a:avLst/>
          </a:prstGeom>
          <a:solidFill>
            <a:srgbClr val="475569"/>
          </a:solidFill>
          <a:ln/>
        </p:spPr>
      </p:sp>
      <p:sp>
        <p:nvSpPr>
          <p:cNvPr id="89" name="Text 87"/>
          <p:cNvSpPr/>
          <p:nvPr/>
        </p:nvSpPr>
        <p:spPr>
          <a:xfrm>
            <a:off x="9006840" y="4718304"/>
            <a:ext cx="201168" cy="201168"/>
          </a:xfrm>
          <a:prstGeom prst="rect">
            <a:avLst/>
          </a:prstGeom>
          <a:noFill/>
          <a:ln/>
        </p:spPr>
        <p:txBody>
          <a:bodyPr wrap="square"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3</a:t>
            </a:r>
            <a:endParaRPr lang="en-US" sz="750" dirty="0"/>
          </a:p>
        </p:txBody>
      </p:sp>
      <p:sp>
        <p:nvSpPr>
          <p:cNvPr id="90" name="Text 88"/>
          <p:cNvSpPr/>
          <p:nvPr/>
        </p:nvSpPr>
        <p:spPr>
          <a:xfrm>
            <a:off x="9262872" y="4681728"/>
            <a:ext cx="1965960" cy="228600"/>
          </a:xfrm>
          <a:prstGeom prst="rect">
            <a:avLst/>
          </a:prstGeom>
          <a:noFill/>
          <a:ln/>
        </p:spPr>
        <p:txBody>
          <a:bodyPr wrap="square" rtlCol="0" anchor="ctr"/>
          <a:lstStyle/>
          <a:p>
            <a:pPr indent="0" marL="0">
              <a:buNone/>
            </a:pPr>
            <a:r>
              <a:rPr lang="en-US" sz="1000" b="1" dirty="0">
                <a:solidFill>
                  <a:srgbClr val="1C1917"/>
                </a:solidFill>
                <a:latin typeface="Arial" pitchFamily="34" charset="0"/>
                <a:ea typeface="Arial" pitchFamily="34" charset="-122"/>
                <a:cs typeface="Arial" pitchFamily="34" charset="-120"/>
              </a:rPr>
              <a:t>自举奇点杠杆</a:t>
            </a:r>
            <a:endParaRPr lang="en-US" sz="1000" dirty="0"/>
          </a:p>
        </p:txBody>
      </p:sp>
      <p:sp>
        <p:nvSpPr>
          <p:cNvPr id="91" name="Text 89"/>
          <p:cNvSpPr/>
          <p:nvPr/>
        </p:nvSpPr>
        <p:spPr>
          <a:xfrm>
            <a:off x="9262872" y="4919472"/>
            <a:ext cx="1965960" cy="548640"/>
          </a:xfrm>
          <a:prstGeom prst="rect">
            <a:avLst/>
          </a:prstGeom>
          <a:noFill/>
          <a:ln/>
        </p:spPr>
        <p:txBody>
          <a:bodyPr wrap="square" rtlCol="0" anchor="ctr"/>
          <a:lstStyle/>
          <a:p>
            <a:pPr indent="0" marL="0">
              <a:lnSpc>
                <a:spcPts val="1250"/>
              </a:lnSpc>
              <a:buNone/>
            </a:pPr>
            <a:r>
              <a:rPr lang="en-US" sz="880" dirty="0">
                <a:solidFill>
                  <a:srgbClr val="57534E"/>
                </a:solidFill>
                <a:latin typeface="Arial" pitchFamily="34" charset="0"/>
                <a:ea typeface="Arial" pitchFamily="34" charset="-122"/>
                <a:cs typeface="Arial" pitchFamily="34" charset="-120"/>
              </a:rPr>
              <a:t>代码是实现系统递归自我改进 (RSI) 的唯一数学工具与物理杠杆。</a:t>
            </a:r>
            <a:endParaRPr lang="en-US" sz="880" dirty="0"/>
          </a:p>
        </p:txBody>
      </p:sp>
      <p:sp>
        <p:nvSpPr>
          <p:cNvPr id="92" name="Shape 90"/>
          <p:cNvSpPr/>
          <p:nvPr/>
        </p:nvSpPr>
        <p:spPr>
          <a:xfrm>
            <a:off x="8961120" y="5650992"/>
            <a:ext cx="2286000" cy="438912"/>
          </a:xfrm>
          <a:prstGeom prst="rect">
            <a:avLst/>
          </a:prstGeom>
          <a:solidFill>
            <a:srgbClr val="EFEBE1"/>
          </a:solidFill>
          <a:ln w="12700">
            <a:solidFill>
              <a:srgbClr val="E2DCD2"/>
            </a:solidFill>
            <a:prstDash val="solid"/>
          </a:ln>
        </p:spPr>
      </p:sp>
      <p:sp>
        <p:nvSpPr>
          <p:cNvPr id="93" name="Text 91"/>
          <p:cNvSpPr/>
          <p:nvPr/>
        </p:nvSpPr>
        <p:spPr>
          <a:xfrm>
            <a:off x="9006840" y="5705856"/>
            <a:ext cx="2194560" cy="329184"/>
          </a:xfrm>
          <a:prstGeom prst="rect">
            <a:avLst/>
          </a:prstGeom>
          <a:noFill/>
          <a:ln/>
        </p:spPr>
        <p:txBody>
          <a:bodyPr wrap="square" rtlCol="0" anchor="ctr"/>
          <a:lstStyle/>
          <a:p>
            <a:pPr algn="ctr" indent="0" marL="0">
              <a:buNone/>
            </a:pPr>
            <a:r>
              <a:rPr lang="en-US" sz="850" b="1" dirty="0">
                <a:solidFill>
                  <a:srgbClr val="475569"/>
                </a:solidFill>
                <a:latin typeface="Arial" pitchFamily="34" charset="0"/>
                <a:ea typeface="Arial" pitchFamily="34" charset="-122"/>
                <a:cs typeface="Arial" pitchFamily="34" charset="-120"/>
              </a:rPr>
              <a:t>▸ 撬动超级智能递归自举进化的关键杠杆</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9F5"/>
        </a:solidFill>
      </p:bgPr>
    </p:bg>
    <p:spTree>
      <p:nvGrpSpPr>
        <p:cNvPr id="1" name=""/>
        <p:cNvGrpSpPr/>
        <p:nvPr/>
      </p:nvGrpSpPr>
      <p:grpSpPr>
        <a:xfrm>
          <a:off x="0" y="0"/>
          <a:ext cx="0" cy="0"/>
          <a:chOff x="0" y="0"/>
          <a:chExt cx="0" cy="0"/>
        </a:xfrm>
      </p:grpSpPr>
      <p:sp>
        <p:nvSpPr>
          <p:cNvPr id="2" name="Shape 0"/>
          <p:cNvSpPr/>
          <p:nvPr/>
        </p:nvSpPr>
        <p:spPr>
          <a:xfrm>
            <a:off x="731520" y="384048"/>
            <a:ext cx="2560320" cy="256032"/>
          </a:xfrm>
          <a:prstGeom prst="rect">
            <a:avLst/>
          </a:prstGeom>
          <a:solidFill>
            <a:srgbClr val="FBF0EB"/>
          </a:solidFill>
          <a:ln w="12700">
            <a:solidFill>
              <a:srgbClr val="F0C2B2"/>
            </a:solidFill>
            <a:prstDash val="solid"/>
          </a:ln>
        </p:spPr>
      </p:sp>
      <p:sp>
        <p:nvSpPr>
          <p:cNvPr id="3" name="Text 1"/>
          <p:cNvSpPr/>
          <p:nvPr/>
        </p:nvSpPr>
        <p:spPr>
          <a:xfrm>
            <a:off x="731520" y="384048"/>
            <a:ext cx="2560320" cy="256032"/>
          </a:xfrm>
          <a:prstGeom prst="rect">
            <a:avLst/>
          </a:prstGeom>
          <a:noFill/>
          <a:ln/>
        </p:spPr>
        <p:txBody>
          <a:bodyPr wrap="square" rtlCol="0" anchor="ctr"/>
          <a:lstStyle/>
          <a:p>
            <a:pPr algn="ctr" indent="0" marL="0">
              <a:buNone/>
            </a:pPr>
            <a:r>
              <a:rPr lang="en-US" sz="900" b="1" spc="120" kern="0" dirty="0">
                <a:solidFill>
                  <a:srgbClr val="D97757"/>
                </a:solidFill>
                <a:latin typeface="Arial" pitchFamily="34" charset="0"/>
                <a:ea typeface="Arial" pitchFamily="34" charset="-122"/>
                <a:cs typeface="Arial" pitchFamily="34" charset="-120"/>
              </a:rPr>
              <a:t>PARADIGM SHIFT MATRIX</a:t>
            </a:r>
            <a:endParaRPr lang="en-US" sz="900" dirty="0"/>
          </a:p>
        </p:txBody>
      </p:sp>
      <p:sp>
        <p:nvSpPr>
          <p:cNvPr id="4" name="Text 2"/>
          <p:cNvSpPr/>
          <p:nvPr/>
        </p:nvSpPr>
        <p:spPr>
          <a:xfrm>
            <a:off x="731520" y="676656"/>
            <a:ext cx="9875520" cy="475488"/>
          </a:xfrm>
          <a:prstGeom prst="rect">
            <a:avLst/>
          </a:prstGeom>
          <a:noFill/>
          <a:ln/>
        </p:spPr>
        <p:txBody>
          <a:bodyPr wrap="square" lIns="0" tIns="0" rIns="0" bIns="0" rtlCol="0" anchor="ctr"/>
          <a:lstStyle/>
          <a:p>
            <a:pPr indent="0" marL="0">
              <a:buNone/>
            </a:pPr>
            <a:r>
              <a:rPr lang="en-US" sz="2100" b="1" dirty="0">
                <a:solidFill>
                  <a:srgbClr val="1C1917"/>
                </a:solidFill>
                <a:latin typeface="Arial" pitchFamily="34" charset="0"/>
                <a:ea typeface="Arial" pitchFamily="34" charset="-122"/>
                <a:cs typeface="Arial" pitchFamily="34" charset="-120"/>
              </a:rPr>
              <a:t>范式大跃迁：从“代码补全”到“自主智能体”</a:t>
            </a:r>
            <a:endParaRPr lang="en-US" sz="2100" dirty="0"/>
          </a:p>
        </p:txBody>
      </p:sp>
      <p:sp>
        <p:nvSpPr>
          <p:cNvPr id="5" name="Text 3"/>
          <p:cNvSpPr/>
          <p:nvPr/>
        </p:nvSpPr>
        <p:spPr>
          <a:xfrm>
            <a:off x="10972800" y="384048"/>
            <a:ext cx="731520" cy="320040"/>
          </a:xfrm>
          <a:prstGeom prst="rect">
            <a:avLst/>
          </a:prstGeom>
          <a:noFill/>
          <a:ln/>
        </p:spPr>
        <p:txBody>
          <a:bodyPr wrap="square" rtlCol="0" anchor="ctr"/>
          <a:lstStyle/>
          <a:p>
            <a:pPr algn="r" indent="0" marL="0">
              <a:buNone/>
            </a:pPr>
            <a:r>
              <a:rPr lang="en-US" sz="1300" b="1" dirty="0">
                <a:solidFill>
                  <a:srgbClr val="8C857B"/>
                </a:solidFill>
                <a:latin typeface="Arial" pitchFamily="34" charset="0"/>
                <a:ea typeface="Arial" pitchFamily="34" charset="-122"/>
                <a:cs typeface="Arial" pitchFamily="34" charset="-120"/>
              </a:rPr>
              <a:t>03</a:t>
            </a:r>
            <a:endParaRPr lang="en-US" sz="1300" dirty="0"/>
          </a:p>
        </p:txBody>
      </p:sp>
      <p:sp>
        <p:nvSpPr>
          <p:cNvPr id="6" name="Shape 4"/>
          <p:cNvSpPr/>
          <p:nvPr/>
        </p:nvSpPr>
        <p:spPr>
          <a:xfrm>
            <a:off x="731520" y="1325880"/>
            <a:ext cx="2011680" cy="658368"/>
          </a:xfrm>
          <a:prstGeom prst="rect">
            <a:avLst/>
          </a:prstGeom>
          <a:solidFill>
            <a:srgbClr val="F5F2EB"/>
          </a:solidFill>
          <a:ln w="12700">
            <a:solidFill>
              <a:srgbClr val="E2DCD2"/>
            </a:solidFill>
            <a:prstDash val="solid"/>
          </a:ln>
        </p:spPr>
      </p:sp>
      <p:sp>
        <p:nvSpPr>
          <p:cNvPr id="7" name="Text 5"/>
          <p:cNvSpPr/>
          <p:nvPr/>
        </p:nvSpPr>
        <p:spPr>
          <a:xfrm>
            <a:off x="822960" y="1481328"/>
            <a:ext cx="1828800" cy="347472"/>
          </a:xfrm>
          <a:prstGeom prst="rect">
            <a:avLst/>
          </a:prstGeom>
          <a:noFill/>
          <a:ln/>
        </p:spPr>
        <p:txBody>
          <a:bodyPr wrap="square" rtlCol="0" anchor="ctr"/>
          <a:lstStyle/>
          <a:p>
            <a:pPr algn="ctr" indent="0" marL="0">
              <a:buNone/>
            </a:pPr>
            <a:r>
              <a:rPr lang="en-US" sz="1050" b="1" dirty="0">
                <a:solidFill>
                  <a:srgbClr val="1C1917"/>
                </a:solidFill>
                <a:latin typeface="Arial" pitchFamily="34" charset="0"/>
                <a:ea typeface="Arial" pitchFamily="34" charset="-122"/>
                <a:cs typeface="Arial" pitchFamily="34" charset="-120"/>
              </a:rPr>
              <a:t>演进阶段 / 核心维度</a:t>
            </a:r>
            <a:endParaRPr lang="en-US" sz="1050" dirty="0"/>
          </a:p>
        </p:txBody>
      </p:sp>
      <p:sp>
        <p:nvSpPr>
          <p:cNvPr id="8" name="Shape 6"/>
          <p:cNvSpPr/>
          <p:nvPr/>
        </p:nvSpPr>
        <p:spPr>
          <a:xfrm>
            <a:off x="2880360" y="1325880"/>
            <a:ext cx="2606040" cy="658368"/>
          </a:xfrm>
          <a:prstGeom prst="rect">
            <a:avLst/>
          </a:prstGeom>
          <a:solidFill>
            <a:srgbClr val="475569"/>
          </a:solidFill>
          <a:ln/>
        </p:spPr>
      </p:sp>
      <p:sp>
        <p:nvSpPr>
          <p:cNvPr id="9" name="Text 7"/>
          <p:cNvSpPr/>
          <p:nvPr/>
        </p:nvSpPr>
        <p:spPr>
          <a:xfrm>
            <a:off x="2971800" y="1408176"/>
            <a:ext cx="2423160" cy="256032"/>
          </a:xfrm>
          <a:prstGeom prst="rect">
            <a:avLst/>
          </a:prstGeom>
          <a:noFill/>
          <a:ln/>
        </p:spPr>
        <p:txBody>
          <a:bodyPr wrap="square"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1.0 辅助时代 (2021–2023)</a:t>
            </a:r>
            <a:endParaRPr lang="en-US" sz="1050" dirty="0"/>
          </a:p>
        </p:txBody>
      </p:sp>
      <p:sp>
        <p:nvSpPr>
          <p:cNvPr id="10" name="Text 8"/>
          <p:cNvSpPr/>
          <p:nvPr/>
        </p:nvSpPr>
        <p:spPr>
          <a:xfrm>
            <a:off x="2971800" y="1664208"/>
            <a:ext cx="2423160" cy="228600"/>
          </a:xfrm>
          <a:prstGeom prst="rect">
            <a:avLst/>
          </a:prstGeom>
          <a:noFill/>
          <a:ln/>
        </p:spPr>
        <p:txBody>
          <a:bodyPr wrap="square" rtlCol="0" anchor="ctr"/>
          <a:lstStyle/>
          <a:p>
            <a:pPr algn="ctr" indent="0" marL="0">
              <a:buNone/>
            </a:pPr>
            <a:r>
              <a:rPr lang="en-US" sz="850" dirty="0">
                <a:solidFill>
                  <a:srgbClr val="FFFFFF"/>
                </a:solidFill>
                <a:latin typeface="Arial" pitchFamily="34" charset="0"/>
                <a:ea typeface="Arial" pitchFamily="34" charset="-122"/>
                <a:cs typeface="Arial" pitchFamily="34" charset="-120"/>
              </a:rPr>
              <a:t>GitHub Copilot 局部联想</a:t>
            </a:r>
            <a:endParaRPr lang="en-US" sz="850" dirty="0"/>
          </a:p>
        </p:txBody>
      </p:sp>
      <p:sp>
        <p:nvSpPr>
          <p:cNvPr id="11" name="Shape 9"/>
          <p:cNvSpPr/>
          <p:nvPr/>
        </p:nvSpPr>
        <p:spPr>
          <a:xfrm>
            <a:off x="5623560" y="1325880"/>
            <a:ext cx="2606040" cy="658368"/>
          </a:xfrm>
          <a:prstGeom prst="rect">
            <a:avLst/>
          </a:prstGeom>
          <a:solidFill>
            <a:srgbClr val="D97706"/>
          </a:solidFill>
          <a:ln/>
        </p:spPr>
      </p:sp>
      <p:sp>
        <p:nvSpPr>
          <p:cNvPr id="12" name="Text 10"/>
          <p:cNvSpPr/>
          <p:nvPr/>
        </p:nvSpPr>
        <p:spPr>
          <a:xfrm>
            <a:off x="5715000" y="1408176"/>
            <a:ext cx="2423160" cy="256032"/>
          </a:xfrm>
          <a:prstGeom prst="rect">
            <a:avLst/>
          </a:prstGeom>
          <a:noFill/>
          <a:ln/>
        </p:spPr>
        <p:txBody>
          <a:bodyPr wrap="square"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2.0 对话时代 (2023–2024)</a:t>
            </a:r>
            <a:endParaRPr lang="en-US" sz="1050" dirty="0"/>
          </a:p>
        </p:txBody>
      </p:sp>
      <p:sp>
        <p:nvSpPr>
          <p:cNvPr id="13" name="Text 11"/>
          <p:cNvSpPr/>
          <p:nvPr/>
        </p:nvSpPr>
        <p:spPr>
          <a:xfrm>
            <a:off x="5715000" y="1664208"/>
            <a:ext cx="2423160" cy="228600"/>
          </a:xfrm>
          <a:prstGeom prst="rect">
            <a:avLst/>
          </a:prstGeom>
          <a:noFill/>
          <a:ln/>
        </p:spPr>
        <p:txBody>
          <a:bodyPr wrap="square" rtlCol="0" anchor="ctr"/>
          <a:lstStyle/>
          <a:p>
            <a:pPr algn="ctr" indent="0" marL="0">
              <a:buNone/>
            </a:pPr>
            <a:r>
              <a:rPr lang="en-US" sz="850" dirty="0">
                <a:solidFill>
                  <a:srgbClr val="FFFFFF"/>
                </a:solidFill>
                <a:latin typeface="Arial" pitchFamily="34" charset="0"/>
                <a:ea typeface="Arial" pitchFamily="34" charset="-122"/>
                <a:cs typeface="Arial" pitchFamily="34" charset="-120"/>
              </a:rPr>
              <a:t>ChatGPT / Web 代码答疑</a:t>
            </a:r>
            <a:endParaRPr lang="en-US" sz="850" dirty="0"/>
          </a:p>
        </p:txBody>
      </p:sp>
      <p:sp>
        <p:nvSpPr>
          <p:cNvPr id="14" name="Shape 12"/>
          <p:cNvSpPr/>
          <p:nvPr/>
        </p:nvSpPr>
        <p:spPr>
          <a:xfrm>
            <a:off x="8366760" y="1325880"/>
            <a:ext cx="3090672" cy="658368"/>
          </a:xfrm>
          <a:prstGeom prst="rect">
            <a:avLst/>
          </a:prstGeom>
          <a:solidFill>
            <a:srgbClr val="D97757"/>
          </a:solidFill>
          <a:ln/>
        </p:spPr>
      </p:sp>
      <p:sp>
        <p:nvSpPr>
          <p:cNvPr id="15" name="Text 13"/>
          <p:cNvSpPr/>
          <p:nvPr/>
        </p:nvSpPr>
        <p:spPr>
          <a:xfrm>
            <a:off x="8458200" y="1408176"/>
            <a:ext cx="2907792" cy="256032"/>
          </a:xfrm>
          <a:prstGeom prst="rect">
            <a:avLst/>
          </a:prstGeom>
          <a:noFill/>
          <a:ln/>
        </p:spPr>
        <p:txBody>
          <a:bodyPr wrap="square"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3.0 代理时代 (2025–2026)</a:t>
            </a:r>
            <a:endParaRPr lang="en-US" sz="1050" dirty="0"/>
          </a:p>
        </p:txBody>
      </p:sp>
      <p:sp>
        <p:nvSpPr>
          <p:cNvPr id="16" name="Text 14"/>
          <p:cNvSpPr/>
          <p:nvPr/>
        </p:nvSpPr>
        <p:spPr>
          <a:xfrm>
            <a:off x="8458200" y="1664208"/>
            <a:ext cx="2907792" cy="228600"/>
          </a:xfrm>
          <a:prstGeom prst="rect">
            <a:avLst/>
          </a:prstGeom>
          <a:noFill/>
          <a:ln/>
        </p:spPr>
        <p:txBody>
          <a:bodyPr wrap="square" rtlCol="0" anchor="ctr"/>
          <a:lstStyle/>
          <a:p>
            <a:pPr algn="ctr" indent="0" marL="0">
              <a:buNone/>
            </a:pPr>
            <a:r>
              <a:rPr lang="en-US" sz="850" dirty="0">
                <a:solidFill>
                  <a:srgbClr val="FFFFFF"/>
                </a:solidFill>
                <a:latin typeface="Arial" pitchFamily="34" charset="0"/>
                <a:ea typeface="Arial" pitchFamily="34" charset="-122"/>
                <a:cs typeface="Arial" pitchFamily="34" charset="-120"/>
              </a:rPr>
              <a:t>Claude Code 终端自主接管 ★</a:t>
            </a:r>
            <a:endParaRPr lang="en-US" sz="850" dirty="0"/>
          </a:p>
        </p:txBody>
      </p:sp>
      <p:sp>
        <p:nvSpPr>
          <p:cNvPr id="17" name="Shape 15"/>
          <p:cNvSpPr/>
          <p:nvPr/>
        </p:nvSpPr>
        <p:spPr>
          <a:xfrm>
            <a:off x="731520" y="2084832"/>
            <a:ext cx="2011680" cy="731520"/>
          </a:xfrm>
          <a:prstGeom prst="rect">
            <a:avLst/>
          </a:prstGeom>
          <a:solidFill>
            <a:srgbClr val="EFEBE1"/>
          </a:solidFill>
          <a:ln w="12700">
            <a:solidFill>
              <a:srgbClr val="E2DCD2"/>
            </a:solidFill>
            <a:prstDash val="solid"/>
          </a:ln>
        </p:spPr>
      </p:sp>
      <p:sp>
        <p:nvSpPr>
          <p:cNvPr id="18" name="Text 16"/>
          <p:cNvSpPr/>
          <p:nvPr/>
        </p:nvSpPr>
        <p:spPr>
          <a:xfrm>
            <a:off x="822960" y="2212848"/>
            <a:ext cx="1828800" cy="256032"/>
          </a:xfrm>
          <a:prstGeom prst="rect">
            <a:avLst/>
          </a:prstGeom>
          <a:noFill/>
          <a:ln/>
        </p:spPr>
        <p:txBody>
          <a:bodyPr wrap="square" rtlCol="0" anchor="ctr"/>
          <a:lstStyle/>
          <a:p>
            <a:pPr indent="0" marL="0">
              <a:buNone/>
            </a:pPr>
            <a:r>
              <a:rPr lang="en-US" sz="1000" b="1" dirty="0">
                <a:solidFill>
                  <a:srgbClr val="1C1917"/>
                </a:solidFill>
                <a:latin typeface="Arial" pitchFamily="34" charset="0"/>
                <a:ea typeface="Arial" pitchFamily="34" charset="-122"/>
                <a:cs typeface="Arial" pitchFamily="34" charset="-120"/>
              </a:rPr>
              <a:t>单任务 Token 消耗</a:t>
            </a:r>
            <a:endParaRPr lang="en-US" sz="1000" dirty="0"/>
          </a:p>
        </p:txBody>
      </p:sp>
      <p:sp>
        <p:nvSpPr>
          <p:cNvPr id="19" name="Text 17"/>
          <p:cNvSpPr/>
          <p:nvPr/>
        </p:nvSpPr>
        <p:spPr>
          <a:xfrm>
            <a:off x="822960" y="2468880"/>
            <a:ext cx="1828800" cy="228600"/>
          </a:xfrm>
          <a:prstGeom prst="rect">
            <a:avLst/>
          </a:prstGeom>
          <a:noFill/>
          <a:ln/>
        </p:spPr>
        <p:txBody>
          <a:bodyPr wrap="square" rtlCol="0" anchor="ctr"/>
          <a:lstStyle/>
          <a:p>
            <a:pPr indent="0" marL="0">
              <a:buNone/>
            </a:pPr>
            <a:r>
              <a:rPr lang="en-US" sz="850" dirty="0">
                <a:solidFill>
                  <a:srgbClr val="57534E"/>
                </a:solidFill>
                <a:latin typeface="Arial" pitchFamily="34" charset="0"/>
                <a:ea typeface="Arial" pitchFamily="34" charset="-122"/>
                <a:cs typeface="Arial" pitchFamily="34" charset="-120"/>
              </a:rPr>
              <a:t>算力吞吐与思考深度</a:t>
            </a:r>
            <a:endParaRPr lang="en-US" sz="850" dirty="0"/>
          </a:p>
        </p:txBody>
      </p:sp>
      <p:sp>
        <p:nvSpPr>
          <p:cNvPr id="20" name="Shape 18"/>
          <p:cNvSpPr/>
          <p:nvPr/>
        </p:nvSpPr>
        <p:spPr>
          <a:xfrm>
            <a:off x="2880360" y="2084832"/>
            <a:ext cx="2606040" cy="731520"/>
          </a:xfrm>
          <a:prstGeom prst="rect">
            <a:avLst/>
          </a:prstGeom>
          <a:solidFill>
            <a:srgbClr val="FFFFFF"/>
          </a:solidFill>
          <a:ln w="12700">
            <a:solidFill>
              <a:srgbClr val="E2DCD2"/>
            </a:solidFill>
            <a:prstDash val="solid"/>
          </a:ln>
        </p:spPr>
      </p:sp>
      <p:sp>
        <p:nvSpPr>
          <p:cNvPr id="21" name="Text 19"/>
          <p:cNvSpPr/>
          <p:nvPr/>
        </p:nvSpPr>
        <p:spPr>
          <a:xfrm>
            <a:off x="2971800" y="2194560"/>
            <a:ext cx="2423160" cy="512064"/>
          </a:xfrm>
          <a:prstGeom prst="rect">
            <a:avLst/>
          </a:prstGeom>
          <a:noFill/>
          <a:ln/>
        </p:spPr>
        <p:txBody>
          <a:bodyPr wrap="square" rtlCol="0" anchor="ctr"/>
          <a:lstStyle/>
          <a:p>
            <a:pPr algn="ctr" indent="0" marL="0">
              <a:lnSpc>
                <a:spcPts val="1300"/>
              </a:lnSpc>
              <a:buNone/>
            </a:pPr>
            <a:r>
              <a:rPr lang="en-US" sz="900" dirty="0">
                <a:solidFill>
                  <a:srgbClr val="57534E"/>
                </a:solidFill>
                <a:latin typeface="Arial" pitchFamily="34" charset="0"/>
                <a:ea typeface="Arial" pitchFamily="34" charset="-122"/>
                <a:cs typeface="Arial" pitchFamily="34" charset="-120"/>
              </a:rPr>
              <a:t>~100 Tokens</a:t>
            </a:r>
            <a:endParaRPr lang="en-US" sz="900" dirty="0"/>
          </a:p>
          <a:p>
            <a:pPr algn="ctr" indent="0" marL="0">
              <a:lnSpc>
                <a:spcPts val="1300"/>
              </a:lnSpc>
              <a:buNone/>
            </a:pPr>
            <a:r>
              <a:rPr lang="en-US" sz="900" dirty="0">
                <a:solidFill>
                  <a:srgbClr val="57534E"/>
                </a:solidFill>
                <a:latin typeface="Arial" pitchFamily="34" charset="0"/>
                <a:ea typeface="Arial" pitchFamily="34" charset="-122"/>
                <a:cs typeface="Arial" pitchFamily="34" charset="-120"/>
              </a:rPr>
              <a:t>(局部单行概率联想)</a:t>
            </a:r>
            <a:endParaRPr lang="en-US" sz="900" dirty="0"/>
          </a:p>
        </p:txBody>
      </p:sp>
      <p:sp>
        <p:nvSpPr>
          <p:cNvPr id="22" name="Shape 20"/>
          <p:cNvSpPr/>
          <p:nvPr/>
        </p:nvSpPr>
        <p:spPr>
          <a:xfrm>
            <a:off x="5623560" y="2084832"/>
            <a:ext cx="2606040" cy="731520"/>
          </a:xfrm>
          <a:prstGeom prst="rect">
            <a:avLst/>
          </a:prstGeom>
          <a:solidFill>
            <a:srgbClr val="FFFFFF"/>
          </a:solidFill>
          <a:ln w="12700">
            <a:solidFill>
              <a:srgbClr val="E2DCD2"/>
            </a:solidFill>
            <a:prstDash val="solid"/>
          </a:ln>
        </p:spPr>
      </p:sp>
      <p:sp>
        <p:nvSpPr>
          <p:cNvPr id="23" name="Text 21"/>
          <p:cNvSpPr/>
          <p:nvPr/>
        </p:nvSpPr>
        <p:spPr>
          <a:xfrm>
            <a:off x="5715000" y="2194560"/>
            <a:ext cx="2423160" cy="512064"/>
          </a:xfrm>
          <a:prstGeom prst="rect">
            <a:avLst/>
          </a:prstGeom>
          <a:noFill/>
          <a:ln/>
        </p:spPr>
        <p:txBody>
          <a:bodyPr wrap="square" rtlCol="0" anchor="ctr"/>
          <a:lstStyle/>
          <a:p>
            <a:pPr algn="ctr" indent="0" marL="0">
              <a:lnSpc>
                <a:spcPts val="1300"/>
              </a:lnSpc>
              <a:buNone/>
            </a:pPr>
            <a:r>
              <a:rPr lang="en-US" sz="900" dirty="0">
                <a:solidFill>
                  <a:srgbClr val="1C1917"/>
                </a:solidFill>
                <a:latin typeface="Arial" pitchFamily="34" charset="0"/>
                <a:ea typeface="Arial" pitchFamily="34" charset="-122"/>
                <a:cs typeface="Arial" pitchFamily="34" charset="-120"/>
              </a:rPr>
              <a:t>~3,000 Tokens</a:t>
            </a:r>
            <a:endParaRPr lang="en-US" sz="900" dirty="0"/>
          </a:p>
          <a:p>
            <a:pPr algn="ctr" indent="0" marL="0">
              <a:lnSpc>
                <a:spcPts val="1300"/>
              </a:lnSpc>
              <a:buNone/>
            </a:pPr>
            <a:r>
              <a:rPr lang="en-US" sz="900" dirty="0">
                <a:solidFill>
                  <a:srgbClr val="1C1917"/>
                </a:solidFill>
                <a:latin typeface="Arial" pitchFamily="34" charset="0"/>
                <a:ea typeface="Arial" pitchFamily="34" charset="-122"/>
                <a:cs typeface="Arial" pitchFamily="34" charset="-120"/>
              </a:rPr>
              <a:t>(单函数问答与解释)</a:t>
            </a:r>
            <a:endParaRPr lang="en-US" sz="900" dirty="0"/>
          </a:p>
        </p:txBody>
      </p:sp>
      <p:sp>
        <p:nvSpPr>
          <p:cNvPr id="24" name="Shape 22"/>
          <p:cNvSpPr/>
          <p:nvPr/>
        </p:nvSpPr>
        <p:spPr>
          <a:xfrm>
            <a:off x="8366760" y="2084832"/>
            <a:ext cx="3090672" cy="731520"/>
          </a:xfrm>
          <a:prstGeom prst="rect">
            <a:avLst/>
          </a:prstGeom>
          <a:solidFill>
            <a:srgbClr val="FBF0EB"/>
          </a:solidFill>
          <a:ln w="12700">
            <a:solidFill>
              <a:srgbClr val="F0C2B2"/>
            </a:solidFill>
            <a:prstDash val="solid"/>
          </a:ln>
        </p:spPr>
      </p:sp>
      <p:sp>
        <p:nvSpPr>
          <p:cNvPr id="25" name="Text 23"/>
          <p:cNvSpPr/>
          <p:nvPr/>
        </p:nvSpPr>
        <p:spPr>
          <a:xfrm>
            <a:off x="8458200" y="2176272"/>
            <a:ext cx="2907792" cy="530352"/>
          </a:xfrm>
          <a:prstGeom prst="rect">
            <a:avLst/>
          </a:prstGeom>
          <a:noFill/>
          <a:ln/>
        </p:spPr>
        <p:txBody>
          <a:bodyPr wrap="square" rtlCol="0" anchor="ctr"/>
          <a:lstStyle/>
          <a:p>
            <a:pPr algn="ctr" indent="0" marL="0">
              <a:lnSpc>
                <a:spcPts val="1300"/>
              </a:lnSpc>
              <a:buNone/>
            </a:pPr>
            <a:r>
              <a:rPr lang="en-US" sz="920" b="1" dirty="0">
                <a:solidFill>
                  <a:srgbClr val="D97757"/>
                </a:solidFill>
                <a:latin typeface="Arial" pitchFamily="34" charset="0"/>
                <a:ea typeface="Arial" pitchFamily="34" charset="-122"/>
                <a:cs typeface="Arial" pitchFamily="34" charset="-120"/>
              </a:rPr>
              <a:t>500k – 1.5M Tokens</a:t>
            </a:r>
            <a:endParaRPr lang="en-US" sz="920" dirty="0"/>
          </a:p>
          <a:p>
            <a:pPr algn="ctr" indent="0" marL="0">
              <a:lnSpc>
                <a:spcPts val="1300"/>
              </a:lnSpc>
              <a:buNone/>
            </a:pPr>
            <a:r>
              <a:rPr lang="en-US" sz="920" b="1" dirty="0">
                <a:solidFill>
                  <a:srgbClr val="D97757"/>
                </a:solidFill>
                <a:latin typeface="Arial" pitchFamily="34" charset="0"/>
                <a:ea typeface="Arial" pitchFamily="34" charset="-122"/>
                <a:cs typeface="Arial" pitchFamily="34" charset="-120"/>
              </a:rPr>
              <a:t>(跨大仓深思自愈 · 暴涨万倍)</a:t>
            </a:r>
            <a:endParaRPr lang="en-US" sz="920" dirty="0"/>
          </a:p>
        </p:txBody>
      </p:sp>
      <p:sp>
        <p:nvSpPr>
          <p:cNvPr id="26" name="Shape 24"/>
          <p:cNvSpPr/>
          <p:nvPr/>
        </p:nvSpPr>
        <p:spPr>
          <a:xfrm>
            <a:off x="731520" y="2871216"/>
            <a:ext cx="2011680" cy="731520"/>
          </a:xfrm>
          <a:prstGeom prst="rect">
            <a:avLst/>
          </a:prstGeom>
          <a:solidFill>
            <a:srgbClr val="EFEBE1"/>
          </a:solidFill>
          <a:ln w="12700">
            <a:solidFill>
              <a:srgbClr val="E2DCD2"/>
            </a:solidFill>
            <a:prstDash val="solid"/>
          </a:ln>
        </p:spPr>
      </p:sp>
      <p:sp>
        <p:nvSpPr>
          <p:cNvPr id="27" name="Text 25"/>
          <p:cNvSpPr/>
          <p:nvPr/>
        </p:nvSpPr>
        <p:spPr>
          <a:xfrm>
            <a:off x="822960" y="2999232"/>
            <a:ext cx="1828800" cy="256032"/>
          </a:xfrm>
          <a:prstGeom prst="rect">
            <a:avLst/>
          </a:prstGeom>
          <a:noFill/>
          <a:ln/>
        </p:spPr>
        <p:txBody>
          <a:bodyPr wrap="square" rtlCol="0" anchor="ctr"/>
          <a:lstStyle/>
          <a:p>
            <a:pPr indent="0" marL="0">
              <a:buNone/>
            </a:pPr>
            <a:r>
              <a:rPr lang="en-US" sz="1000" b="1" dirty="0">
                <a:solidFill>
                  <a:srgbClr val="1C1917"/>
                </a:solidFill>
                <a:latin typeface="Arial" pitchFamily="34" charset="0"/>
                <a:ea typeface="Arial" pitchFamily="34" charset="-122"/>
                <a:cs typeface="Arial" pitchFamily="34" charset="-120"/>
              </a:rPr>
              <a:t>人机控制权分配</a:t>
            </a:r>
            <a:endParaRPr lang="en-US" sz="1000" dirty="0"/>
          </a:p>
        </p:txBody>
      </p:sp>
      <p:sp>
        <p:nvSpPr>
          <p:cNvPr id="28" name="Text 26"/>
          <p:cNvSpPr/>
          <p:nvPr/>
        </p:nvSpPr>
        <p:spPr>
          <a:xfrm>
            <a:off x="822960" y="3255264"/>
            <a:ext cx="1828800" cy="228600"/>
          </a:xfrm>
          <a:prstGeom prst="rect">
            <a:avLst/>
          </a:prstGeom>
          <a:noFill/>
          <a:ln/>
        </p:spPr>
        <p:txBody>
          <a:bodyPr wrap="square" rtlCol="0" anchor="ctr"/>
          <a:lstStyle/>
          <a:p>
            <a:pPr indent="0" marL="0">
              <a:buNone/>
            </a:pPr>
            <a:r>
              <a:rPr lang="en-US" sz="850" dirty="0">
                <a:solidFill>
                  <a:srgbClr val="57534E"/>
                </a:solidFill>
                <a:latin typeface="Arial" pitchFamily="34" charset="0"/>
                <a:ea typeface="Arial" pitchFamily="34" charset="-122"/>
                <a:cs typeface="Arial" pitchFamily="34" charset="-120"/>
              </a:rPr>
              <a:t>研发主次分工演进</a:t>
            </a:r>
            <a:endParaRPr lang="en-US" sz="850" dirty="0"/>
          </a:p>
        </p:txBody>
      </p:sp>
      <p:sp>
        <p:nvSpPr>
          <p:cNvPr id="29" name="Shape 27"/>
          <p:cNvSpPr/>
          <p:nvPr/>
        </p:nvSpPr>
        <p:spPr>
          <a:xfrm>
            <a:off x="2880360" y="2871216"/>
            <a:ext cx="2606040" cy="731520"/>
          </a:xfrm>
          <a:prstGeom prst="rect">
            <a:avLst/>
          </a:prstGeom>
          <a:solidFill>
            <a:srgbClr val="F5F2EB"/>
          </a:solidFill>
          <a:ln w="12700">
            <a:solidFill>
              <a:srgbClr val="E2DCD2"/>
            </a:solidFill>
            <a:prstDash val="solid"/>
          </a:ln>
        </p:spPr>
      </p:sp>
      <p:sp>
        <p:nvSpPr>
          <p:cNvPr id="30" name="Text 28"/>
          <p:cNvSpPr/>
          <p:nvPr/>
        </p:nvSpPr>
        <p:spPr>
          <a:xfrm>
            <a:off x="2971800" y="2980944"/>
            <a:ext cx="2423160" cy="512064"/>
          </a:xfrm>
          <a:prstGeom prst="rect">
            <a:avLst/>
          </a:prstGeom>
          <a:noFill/>
          <a:ln/>
        </p:spPr>
        <p:txBody>
          <a:bodyPr wrap="square" rtlCol="0" anchor="ctr"/>
          <a:lstStyle/>
          <a:p>
            <a:pPr algn="ctr" indent="0" marL="0">
              <a:lnSpc>
                <a:spcPts val="1300"/>
              </a:lnSpc>
              <a:buNone/>
            </a:pPr>
            <a:r>
              <a:rPr lang="en-US" sz="900" dirty="0">
                <a:solidFill>
                  <a:srgbClr val="57534E"/>
                </a:solidFill>
                <a:latin typeface="Arial" pitchFamily="34" charset="0"/>
                <a:ea typeface="Arial" pitchFamily="34" charset="-122"/>
                <a:cs typeface="Arial" pitchFamily="34" charset="-120"/>
              </a:rPr>
              <a:t>人类 95% 主导</a:t>
            </a:r>
            <a:endParaRPr lang="en-US" sz="900" dirty="0"/>
          </a:p>
          <a:p>
            <a:pPr algn="ctr" indent="0" marL="0">
              <a:lnSpc>
                <a:spcPts val="1300"/>
              </a:lnSpc>
              <a:buNone/>
            </a:pPr>
            <a:r>
              <a:rPr lang="en-US" sz="900" dirty="0">
                <a:solidFill>
                  <a:srgbClr val="57534E"/>
                </a:solidFill>
                <a:latin typeface="Arial" pitchFamily="34" charset="0"/>
                <a:ea typeface="Arial" pitchFamily="34" charset="-122"/>
                <a:cs typeface="Arial" pitchFamily="34" charset="-120"/>
              </a:rPr>
              <a:t>(AI 仅负责敲 Tab 补全)</a:t>
            </a:r>
            <a:endParaRPr lang="en-US" sz="900" dirty="0"/>
          </a:p>
        </p:txBody>
      </p:sp>
      <p:sp>
        <p:nvSpPr>
          <p:cNvPr id="31" name="Shape 29"/>
          <p:cNvSpPr/>
          <p:nvPr/>
        </p:nvSpPr>
        <p:spPr>
          <a:xfrm>
            <a:off x="5623560" y="2871216"/>
            <a:ext cx="2606040" cy="731520"/>
          </a:xfrm>
          <a:prstGeom prst="rect">
            <a:avLst/>
          </a:prstGeom>
          <a:solidFill>
            <a:srgbClr val="F5F2EB"/>
          </a:solidFill>
          <a:ln w="12700">
            <a:solidFill>
              <a:srgbClr val="E2DCD2"/>
            </a:solidFill>
            <a:prstDash val="solid"/>
          </a:ln>
        </p:spPr>
      </p:sp>
      <p:sp>
        <p:nvSpPr>
          <p:cNvPr id="32" name="Text 30"/>
          <p:cNvSpPr/>
          <p:nvPr/>
        </p:nvSpPr>
        <p:spPr>
          <a:xfrm>
            <a:off x="5715000" y="2980944"/>
            <a:ext cx="2423160" cy="512064"/>
          </a:xfrm>
          <a:prstGeom prst="rect">
            <a:avLst/>
          </a:prstGeom>
          <a:noFill/>
          <a:ln/>
        </p:spPr>
        <p:txBody>
          <a:bodyPr wrap="square" rtlCol="0" anchor="ctr"/>
          <a:lstStyle/>
          <a:p>
            <a:pPr algn="ctr" indent="0" marL="0">
              <a:lnSpc>
                <a:spcPts val="1300"/>
              </a:lnSpc>
              <a:buNone/>
            </a:pPr>
            <a:r>
              <a:rPr lang="en-US" sz="900" dirty="0">
                <a:solidFill>
                  <a:srgbClr val="1C1917"/>
                </a:solidFill>
                <a:latin typeface="Arial" pitchFamily="34" charset="0"/>
                <a:ea typeface="Arial" pitchFamily="34" charset="-122"/>
                <a:cs typeface="Arial" pitchFamily="34" charset="-120"/>
              </a:rPr>
              <a:t>人机对半 (50% / 50%)</a:t>
            </a:r>
            <a:endParaRPr lang="en-US" sz="900" dirty="0"/>
          </a:p>
          <a:p>
            <a:pPr algn="ctr" indent="0" marL="0">
              <a:lnSpc>
                <a:spcPts val="1300"/>
              </a:lnSpc>
              <a:buNone/>
            </a:pPr>
            <a:r>
              <a:rPr lang="en-US" sz="900" dirty="0">
                <a:solidFill>
                  <a:srgbClr val="1C1917"/>
                </a:solidFill>
                <a:latin typeface="Arial" pitchFamily="34" charset="0"/>
                <a:ea typeface="Arial" pitchFamily="34" charset="-122"/>
                <a:cs typeface="Arial" pitchFamily="34" charset="-120"/>
              </a:rPr>
              <a:t>(频繁复制粘贴、人工调试)</a:t>
            </a:r>
            <a:endParaRPr lang="en-US" sz="900" dirty="0"/>
          </a:p>
        </p:txBody>
      </p:sp>
      <p:sp>
        <p:nvSpPr>
          <p:cNvPr id="33" name="Shape 31"/>
          <p:cNvSpPr/>
          <p:nvPr/>
        </p:nvSpPr>
        <p:spPr>
          <a:xfrm>
            <a:off x="8366760" y="2871216"/>
            <a:ext cx="3090672" cy="731520"/>
          </a:xfrm>
          <a:prstGeom prst="rect">
            <a:avLst/>
          </a:prstGeom>
          <a:solidFill>
            <a:srgbClr val="FBF0EB"/>
          </a:solidFill>
          <a:ln w="12700">
            <a:solidFill>
              <a:srgbClr val="F0C2B2"/>
            </a:solidFill>
            <a:prstDash val="solid"/>
          </a:ln>
        </p:spPr>
      </p:sp>
      <p:sp>
        <p:nvSpPr>
          <p:cNvPr id="34" name="Text 32"/>
          <p:cNvSpPr/>
          <p:nvPr/>
        </p:nvSpPr>
        <p:spPr>
          <a:xfrm>
            <a:off x="8458200" y="2962656"/>
            <a:ext cx="2907792" cy="530352"/>
          </a:xfrm>
          <a:prstGeom prst="rect">
            <a:avLst/>
          </a:prstGeom>
          <a:noFill/>
          <a:ln/>
        </p:spPr>
        <p:txBody>
          <a:bodyPr wrap="square" rtlCol="0" anchor="ctr"/>
          <a:lstStyle/>
          <a:p>
            <a:pPr algn="ctr" indent="0" marL="0">
              <a:lnSpc>
                <a:spcPts val="1300"/>
              </a:lnSpc>
              <a:buNone/>
            </a:pPr>
            <a:r>
              <a:rPr lang="en-US" sz="920" b="1" dirty="0">
                <a:solidFill>
                  <a:srgbClr val="D97757"/>
                </a:solidFill>
                <a:latin typeface="Arial" pitchFamily="34" charset="0"/>
                <a:ea typeface="Arial" pitchFamily="34" charset="-122"/>
                <a:cs typeface="Arial" pitchFamily="34" charset="-120"/>
              </a:rPr>
              <a:t>智能体 85% 自主接管</a:t>
            </a:r>
            <a:endParaRPr lang="en-US" sz="920" dirty="0"/>
          </a:p>
          <a:p>
            <a:pPr algn="ctr" indent="0" marL="0">
              <a:lnSpc>
                <a:spcPts val="1300"/>
              </a:lnSpc>
              <a:buNone/>
            </a:pPr>
            <a:r>
              <a:rPr lang="en-US" sz="920" b="1" dirty="0">
                <a:solidFill>
                  <a:srgbClr val="D97757"/>
                </a:solidFill>
                <a:latin typeface="Arial" pitchFamily="34" charset="0"/>
                <a:ea typeface="Arial" pitchFamily="34" charset="-122"/>
                <a:cs typeface="Arial" pitchFamily="34" charset="-120"/>
              </a:rPr>
              <a:t>(人类定目标，Agent 自愈交付)</a:t>
            </a:r>
            <a:endParaRPr lang="en-US" sz="920" dirty="0"/>
          </a:p>
        </p:txBody>
      </p:sp>
      <p:sp>
        <p:nvSpPr>
          <p:cNvPr id="35" name="Shape 33"/>
          <p:cNvSpPr/>
          <p:nvPr/>
        </p:nvSpPr>
        <p:spPr>
          <a:xfrm>
            <a:off x="731520" y="3657600"/>
            <a:ext cx="2011680" cy="731520"/>
          </a:xfrm>
          <a:prstGeom prst="rect">
            <a:avLst/>
          </a:prstGeom>
          <a:solidFill>
            <a:srgbClr val="EFEBE1"/>
          </a:solidFill>
          <a:ln w="12700">
            <a:solidFill>
              <a:srgbClr val="E2DCD2"/>
            </a:solidFill>
            <a:prstDash val="solid"/>
          </a:ln>
        </p:spPr>
      </p:sp>
      <p:sp>
        <p:nvSpPr>
          <p:cNvPr id="36" name="Text 34"/>
          <p:cNvSpPr/>
          <p:nvPr/>
        </p:nvSpPr>
        <p:spPr>
          <a:xfrm>
            <a:off x="822960" y="3785616"/>
            <a:ext cx="1828800" cy="256032"/>
          </a:xfrm>
          <a:prstGeom prst="rect">
            <a:avLst/>
          </a:prstGeom>
          <a:noFill/>
          <a:ln/>
        </p:spPr>
        <p:txBody>
          <a:bodyPr wrap="square" rtlCol="0" anchor="ctr"/>
          <a:lstStyle/>
          <a:p>
            <a:pPr indent="0" marL="0">
              <a:buNone/>
            </a:pPr>
            <a:r>
              <a:rPr lang="en-US" sz="1000" b="1" dirty="0">
                <a:solidFill>
                  <a:srgbClr val="1C1917"/>
                </a:solidFill>
                <a:latin typeface="Arial" pitchFamily="34" charset="0"/>
                <a:ea typeface="Arial" pitchFamily="34" charset="-122"/>
                <a:cs typeface="Arial" pitchFamily="34" charset="-120"/>
              </a:rPr>
              <a:t>执行环境与反馈</a:t>
            </a:r>
            <a:endParaRPr lang="en-US" sz="1000" dirty="0"/>
          </a:p>
        </p:txBody>
      </p:sp>
      <p:sp>
        <p:nvSpPr>
          <p:cNvPr id="37" name="Text 35"/>
          <p:cNvSpPr/>
          <p:nvPr/>
        </p:nvSpPr>
        <p:spPr>
          <a:xfrm>
            <a:off x="822960" y="4041648"/>
            <a:ext cx="1828800" cy="228600"/>
          </a:xfrm>
          <a:prstGeom prst="rect">
            <a:avLst/>
          </a:prstGeom>
          <a:noFill/>
          <a:ln/>
        </p:spPr>
        <p:txBody>
          <a:bodyPr wrap="square" rtlCol="0" anchor="ctr"/>
          <a:lstStyle/>
          <a:p>
            <a:pPr indent="0" marL="0">
              <a:buNone/>
            </a:pPr>
            <a:r>
              <a:rPr lang="en-US" sz="850" dirty="0">
                <a:solidFill>
                  <a:srgbClr val="57534E"/>
                </a:solidFill>
                <a:latin typeface="Arial" pitchFamily="34" charset="0"/>
                <a:ea typeface="Arial" pitchFamily="34" charset="-122"/>
                <a:cs typeface="Arial" pitchFamily="34" charset="-120"/>
              </a:rPr>
              <a:t>物理世界真实感知</a:t>
            </a:r>
            <a:endParaRPr lang="en-US" sz="850" dirty="0"/>
          </a:p>
        </p:txBody>
      </p:sp>
      <p:sp>
        <p:nvSpPr>
          <p:cNvPr id="38" name="Shape 36"/>
          <p:cNvSpPr/>
          <p:nvPr/>
        </p:nvSpPr>
        <p:spPr>
          <a:xfrm>
            <a:off x="2880360" y="3657600"/>
            <a:ext cx="2606040" cy="731520"/>
          </a:xfrm>
          <a:prstGeom prst="rect">
            <a:avLst/>
          </a:prstGeom>
          <a:solidFill>
            <a:srgbClr val="FFFFFF"/>
          </a:solidFill>
          <a:ln w="12700">
            <a:solidFill>
              <a:srgbClr val="E2DCD2"/>
            </a:solidFill>
            <a:prstDash val="solid"/>
          </a:ln>
        </p:spPr>
      </p:sp>
      <p:sp>
        <p:nvSpPr>
          <p:cNvPr id="39" name="Text 37"/>
          <p:cNvSpPr/>
          <p:nvPr/>
        </p:nvSpPr>
        <p:spPr>
          <a:xfrm>
            <a:off x="2971800" y="3767328"/>
            <a:ext cx="2423160" cy="512064"/>
          </a:xfrm>
          <a:prstGeom prst="rect">
            <a:avLst/>
          </a:prstGeom>
          <a:noFill/>
          <a:ln/>
        </p:spPr>
        <p:txBody>
          <a:bodyPr wrap="square" rtlCol="0" anchor="ctr"/>
          <a:lstStyle/>
          <a:p>
            <a:pPr algn="ctr" indent="0" marL="0">
              <a:lnSpc>
                <a:spcPts val="1300"/>
              </a:lnSpc>
              <a:buNone/>
            </a:pPr>
            <a:r>
              <a:rPr lang="en-US" sz="900" dirty="0">
                <a:solidFill>
                  <a:srgbClr val="57534E"/>
                </a:solidFill>
                <a:latin typeface="Arial" pitchFamily="34" charset="0"/>
                <a:ea typeface="Arial" pitchFamily="34" charset="-122"/>
                <a:cs typeface="Arial" pitchFamily="34" charset="-120"/>
              </a:rPr>
              <a:t>零环境感知</a:t>
            </a:r>
            <a:endParaRPr lang="en-US" sz="900" dirty="0"/>
          </a:p>
          <a:p>
            <a:pPr algn="ctr" indent="0" marL="0">
              <a:lnSpc>
                <a:spcPts val="1300"/>
              </a:lnSpc>
              <a:buNone/>
            </a:pPr>
            <a:r>
              <a:rPr lang="en-US" sz="900" dirty="0">
                <a:solidFill>
                  <a:srgbClr val="57534E"/>
                </a:solidFill>
                <a:latin typeface="Arial" pitchFamily="34" charset="0"/>
                <a:ea typeface="Arial" pitchFamily="34" charset="-122"/>
                <a:cs typeface="Arial" pitchFamily="34" charset="-120"/>
              </a:rPr>
              <a:t>(仅限编辑器单文件光标)</a:t>
            </a:r>
            <a:endParaRPr lang="en-US" sz="900" dirty="0"/>
          </a:p>
        </p:txBody>
      </p:sp>
      <p:sp>
        <p:nvSpPr>
          <p:cNvPr id="40" name="Shape 38"/>
          <p:cNvSpPr/>
          <p:nvPr/>
        </p:nvSpPr>
        <p:spPr>
          <a:xfrm>
            <a:off x="5623560" y="3657600"/>
            <a:ext cx="2606040" cy="731520"/>
          </a:xfrm>
          <a:prstGeom prst="rect">
            <a:avLst/>
          </a:prstGeom>
          <a:solidFill>
            <a:srgbClr val="FFFFFF"/>
          </a:solidFill>
          <a:ln w="12700">
            <a:solidFill>
              <a:srgbClr val="E2DCD2"/>
            </a:solidFill>
            <a:prstDash val="solid"/>
          </a:ln>
        </p:spPr>
      </p:sp>
      <p:sp>
        <p:nvSpPr>
          <p:cNvPr id="41" name="Text 39"/>
          <p:cNvSpPr/>
          <p:nvPr/>
        </p:nvSpPr>
        <p:spPr>
          <a:xfrm>
            <a:off x="5715000" y="3767328"/>
            <a:ext cx="2423160" cy="512064"/>
          </a:xfrm>
          <a:prstGeom prst="rect">
            <a:avLst/>
          </a:prstGeom>
          <a:noFill/>
          <a:ln/>
        </p:spPr>
        <p:txBody>
          <a:bodyPr wrap="square" rtlCol="0" anchor="ctr"/>
          <a:lstStyle/>
          <a:p>
            <a:pPr algn="ctr" indent="0" marL="0">
              <a:lnSpc>
                <a:spcPts val="1300"/>
              </a:lnSpc>
              <a:buNone/>
            </a:pPr>
            <a:r>
              <a:rPr lang="en-US" sz="900" dirty="0">
                <a:solidFill>
                  <a:srgbClr val="1C1917"/>
                </a:solidFill>
                <a:latin typeface="Arial" pitchFamily="34" charset="0"/>
                <a:ea typeface="Arial" pitchFamily="34" charset="-122"/>
                <a:cs typeface="Arial" pitchFamily="34" charset="-120"/>
              </a:rPr>
              <a:t>弱环境感知</a:t>
            </a:r>
            <a:endParaRPr lang="en-US" sz="900" dirty="0"/>
          </a:p>
          <a:p>
            <a:pPr algn="ctr" indent="0" marL="0">
              <a:lnSpc>
                <a:spcPts val="1300"/>
              </a:lnSpc>
              <a:buNone/>
            </a:pPr>
            <a:r>
              <a:rPr lang="en-US" sz="900" dirty="0">
                <a:solidFill>
                  <a:srgbClr val="1C1917"/>
                </a:solidFill>
                <a:latin typeface="Arial" pitchFamily="34" charset="0"/>
                <a:ea typeface="Arial" pitchFamily="34" charset="-122"/>
                <a:cs typeface="Arial" pitchFamily="34" charset="-120"/>
              </a:rPr>
              <a:t>(脱离实际终端与编译器运行)</a:t>
            </a:r>
            <a:endParaRPr lang="en-US" sz="900" dirty="0"/>
          </a:p>
        </p:txBody>
      </p:sp>
      <p:sp>
        <p:nvSpPr>
          <p:cNvPr id="42" name="Shape 40"/>
          <p:cNvSpPr/>
          <p:nvPr/>
        </p:nvSpPr>
        <p:spPr>
          <a:xfrm>
            <a:off x="8366760" y="3657600"/>
            <a:ext cx="3090672" cy="731520"/>
          </a:xfrm>
          <a:prstGeom prst="rect">
            <a:avLst/>
          </a:prstGeom>
          <a:solidFill>
            <a:srgbClr val="FBF0EB"/>
          </a:solidFill>
          <a:ln w="12700">
            <a:solidFill>
              <a:srgbClr val="F0C2B2"/>
            </a:solidFill>
            <a:prstDash val="solid"/>
          </a:ln>
        </p:spPr>
      </p:sp>
      <p:sp>
        <p:nvSpPr>
          <p:cNvPr id="43" name="Text 41"/>
          <p:cNvSpPr/>
          <p:nvPr/>
        </p:nvSpPr>
        <p:spPr>
          <a:xfrm>
            <a:off x="8458200" y="3749040"/>
            <a:ext cx="2907792" cy="530352"/>
          </a:xfrm>
          <a:prstGeom prst="rect">
            <a:avLst/>
          </a:prstGeom>
          <a:noFill/>
          <a:ln/>
        </p:spPr>
        <p:txBody>
          <a:bodyPr wrap="square" rtlCol="0" anchor="ctr"/>
          <a:lstStyle/>
          <a:p>
            <a:pPr algn="ctr" indent="0" marL="0">
              <a:lnSpc>
                <a:spcPts val="1300"/>
              </a:lnSpc>
              <a:buNone/>
            </a:pPr>
            <a:r>
              <a:rPr lang="en-US" sz="920" b="1" dirty="0">
                <a:solidFill>
                  <a:srgbClr val="D97757"/>
                </a:solidFill>
                <a:latin typeface="Arial" pitchFamily="34" charset="0"/>
                <a:ea typeface="Arial" pitchFamily="34" charset="-122"/>
                <a:cs typeface="Arial" pitchFamily="34" charset="-120"/>
              </a:rPr>
              <a:t>原生宿主终端接管</a:t>
            </a:r>
            <a:endParaRPr lang="en-US" sz="920" dirty="0"/>
          </a:p>
          <a:p>
            <a:pPr algn="ctr" indent="0" marL="0">
              <a:lnSpc>
                <a:spcPts val="1300"/>
              </a:lnSpc>
              <a:buNone/>
            </a:pPr>
            <a:r>
              <a:rPr lang="en-US" sz="920" b="1" dirty="0">
                <a:solidFill>
                  <a:srgbClr val="D97757"/>
                </a:solidFill>
                <a:latin typeface="Arial" pitchFamily="34" charset="0"/>
                <a:ea typeface="Arial" pitchFamily="34" charset="-122"/>
                <a:cs typeface="Arial" pitchFamily="34" charset="-120"/>
              </a:rPr>
              <a:t>(直接操作 Bash/Git/自测自愈)</a:t>
            </a:r>
            <a:endParaRPr lang="en-US" sz="920" dirty="0"/>
          </a:p>
        </p:txBody>
      </p:sp>
      <p:sp>
        <p:nvSpPr>
          <p:cNvPr id="44" name="Shape 42"/>
          <p:cNvSpPr/>
          <p:nvPr/>
        </p:nvSpPr>
        <p:spPr>
          <a:xfrm>
            <a:off x="731520" y="4443984"/>
            <a:ext cx="2011680" cy="731520"/>
          </a:xfrm>
          <a:prstGeom prst="rect">
            <a:avLst/>
          </a:prstGeom>
          <a:solidFill>
            <a:srgbClr val="EFEBE1"/>
          </a:solidFill>
          <a:ln w="12700">
            <a:solidFill>
              <a:srgbClr val="E2DCD2"/>
            </a:solidFill>
            <a:prstDash val="solid"/>
          </a:ln>
        </p:spPr>
      </p:sp>
      <p:sp>
        <p:nvSpPr>
          <p:cNvPr id="45" name="Text 43"/>
          <p:cNvSpPr/>
          <p:nvPr/>
        </p:nvSpPr>
        <p:spPr>
          <a:xfrm>
            <a:off x="822960" y="4572000"/>
            <a:ext cx="1828800" cy="256032"/>
          </a:xfrm>
          <a:prstGeom prst="rect">
            <a:avLst/>
          </a:prstGeom>
          <a:noFill/>
          <a:ln/>
        </p:spPr>
        <p:txBody>
          <a:bodyPr wrap="square" rtlCol="0" anchor="ctr"/>
          <a:lstStyle/>
          <a:p>
            <a:pPr indent="0" marL="0">
              <a:buNone/>
            </a:pPr>
            <a:r>
              <a:rPr lang="en-US" sz="1000" b="1" dirty="0">
                <a:solidFill>
                  <a:srgbClr val="1C1917"/>
                </a:solidFill>
                <a:latin typeface="Arial" pitchFamily="34" charset="0"/>
                <a:ea typeface="Arial" pitchFamily="34" charset="-122"/>
                <a:cs typeface="Arial" pitchFamily="34" charset="-120"/>
              </a:rPr>
              <a:t>工程交付最终成果</a:t>
            </a:r>
            <a:endParaRPr lang="en-US" sz="1000" dirty="0"/>
          </a:p>
        </p:txBody>
      </p:sp>
      <p:sp>
        <p:nvSpPr>
          <p:cNvPr id="46" name="Text 44"/>
          <p:cNvSpPr/>
          <p:nvPr/>
        </p:nvSpPr>
        <p:spPr>
          <a:xfrm>
            <a:off x="822960" y="4828032"/>
            <a:ext cx="1828800" cy="228600"/>
          </a:xfrm>
          <a:prstGeom prst="rect">
            <a:avLst/>
          </a:prstGeom>
          <a:noFill/>
          <a:ln/>
        </p:spPr>
        <p:txBody>
          <a:bodyPr wrap="square" rtlCol="0" anchor="ctr"/>
          <a:lstStyle/>
          <a:p>
            <a:pPr indent="0" marL="0">
              <a:buNone/>
            </a:pPr>
            <a:r>
              <a:rPr lang="en-US" sz="850" dirty="0">
                <a:solidFill>
                  <a:srgbClr val="57534E"/>
                </a:solidFill>
                <a:latin typeface="Arial" pitchFamily="34" charset="0"/>
                <a:ea typeface="Arial" pitchFamily="34" charset="-122"/>
                <a:cs typeface="Arial" pitchFamily="34" charset="-120"/>
              </a:rPr>
              <a:t>资产形态与生命周期</a:t>
            </a:r>
            <a:endParaRPr lang="en-US" sz="850" dirty="0"/>
          </a:p>
        </p:txBody>
      </p:sp>
      <p:sp>
        <p:nvSpPr>
          <p:cNvPr id="47" name="Shape 45"/>
          <p:cNvSpPr/>
          <p:nvPr/>
        </p:nvSpPr>
        <p:spPr>
          <a:xfrm>
            <a:off x="2880360" y="4443984"/>
            <a:ext cx="2606040" cy="731520"/>
          </a:xfrm>
          <a:prstGeom prst="rect">
            <a:avLst/>
          </a:prstGeom>
          <a:solidFill>
            <a:srgbClr val="F5F2EB"/>
          </a:solidFill>
          <a:ln w="12700">
            <a:solidFill>
              <a:srgbClr val="E2DCD2"/>
            </a:solidFill>
            <a:prstDash val="solid"/>
          </a:ln>
        </p:spPr>
      </p:sp>
      <p:sp>
        <p:nvSpPr>
          <p:cNvPr id="48" name="Text 46"/>
          <p:cNvSpPr/>
          <p:nvPr/>
        </p:nvSpPr>
        <p:spPr>
          <a:xfrm>
            <a:off x="2971800" y="4553712"/>
            <a:ext cx="2423160" cy="512064"/>
          </a:xfrm>
          <a:prstGeom prst="rect">
            <a:avLst/>
          </a:prstGeom>
          <a:noFill/>
          <a:ln/>
        </p:spPr>
        <p:txBody>
          <a:bodyPr wrap="square" rtlCol="0" anchor="ctr"/>
          <a:lstStyle/>
          <a:p>
            <a:pPr algn="ctr" indent="0" marL="0">
              <a:lnSpc>
                <a:spcPts val="1300"/>
              </a:lnSpc>
              <a:buNone/>
            </a:pPr>
            <a:r>
              <a:rPr lang="en-US" sz="900" dirty="0">
                <a:solidFill>
                  <a:srgbClr val="57534E"/>
                </a:solidFill>
                <a:latin typeface="Arial" pitchFamily="34" charset="0"/>
                <a:ea typeface="Arial" pitchFamily="34" charset="-122"/>
                <a:cs typeface="Arial" pitchFamily="34" charset="-120"/>
              </a:rPr>
              <a:t>单行代码补全</a:t>
            </a:r>
            <a:endParaRPr lang="en-US" sz="900" dirty="0"/>
          </a:p>
          <a:p>
            <a:pPr algn="ctr" indent="0" marL="0">
              <a:lnSpc>
                <a:spcPts val="1300"/>
              </a:lnSpc>
              <a:buNone/>
            </a:pPr>
            <a:r>
              <a:rPr lang="en-US" sz="900" dirty="0">
                <a:solidFill>
                  <a:srgbClr val="57534E"/>
                </a:solidFill>
                <a:latin typeface="Arial" pitchFamily="34" charset="0"/>
                <a:ea typeface="Arial" pitchFamily="34" charset="-122"/>
                <a:cs typeface="Arial" pitchFamily="34" charset="-120"/>
              </a:rPr>
              <a:t>(容易产生语法幻觉)</a:t>
            </a:r>
            <a:endParaRPr lang="en-US" sz="900" dirty="0"/>
          </a:p>
        </p:txBody>
      </p:sp>
      <p:sp>
        <p:nvSpPr>
          <p:cNvPr id="49" name="Shape 47"/>
          <p:cNvSpPr/>
          <p:nvPr/>
        </p:nvSpPr>
        <p:spPr>
          <a:xfrm>
            <a:off x="5623560" y="4443984"/>
            <a:ext cx="2606040" cy="731520"/>
          </a:xfrm>
          <a:prstGeom prst="rect">
            <a:avLst/>
          </a:prstGeom>
          <a:solidFill>
            <a:srgbClr val="F5F2EB"/>
          </a:solidFill>
          <a:ln w="12700">
            <a:solidFill>
              <a:srgbClr val="E2DCD2"/>
            </a:solidFill>
            <a:prstDash val="solid"/>
          </a:ln>
        </p:spPr>
      </p:sp>
      <p:sp>
        <p:nvSpPr>
          <p:cNvPr id="50" name="Text 48"/>
          <p:cNvSpPr/>
          <p:nvPr/>
        </p:nvSpPr>
        <p:spPr>
          <a:xfrm>
            <a:off x="5715000" y="4553712"/>
            <a:ext cx="2423160" cy="512064"/>
          </a:xfrm>
          <a:prstGeom prst="rect">
            <a:avLst/>
          </a:prstGeom>
          <a:noFill/>
          <a:ln/>
        </p:spPr>
        <p:txBody>
          <a:bodyPr wrap="square" rtlCol="0" anchor="ctr"/>
          <a:lstStyle/>
          <a:p>
            <a:pPr algn="ctr" indent="0" marL="0">
              <a:lnSpc>
                <a:spcPts val="1300"/>
              </a:lnSpc>
              <a:buNone/>
            </a:pPr>
            <a:r>
              <a:rPr lang="en-US" sz="900" dirty="0">
                <a:solidFill>
                  <a:srgbClr val="1C1917"/>
                </a:solidFill>
                <a:latin typeface="Arial" pitchFamily="34" charset="0"/>
                <a:ea typeface="Arial" pitchFamily="34" charset="-122"/>
                <a:cs typeface="Arial" pitchFamily="34" charset="-120"/>
              </a:rPr>
              <a:t>孤立代码片段</a:t>
            </a:r>
            <a:endParaRPr lang="en-US" sz="900" dirty="0"/>
          </a:p>
          <a:p>
            <a:pPr algn="ctr" indent="0" marL="0">
              <a:lnSpc>
                <a:spcPts val="1300"/>
              </a:lnSpc>
              <a:buNone/>
            </a:pPr>
            <a:r>
              <a:rPr lang="en-US" sz="900" dirty="0">
                <a:solidFill>
                  <a:srgbClr val="1C1917"/>
                </a:solidFill>
                <a:latin typeface="Arial" pitchFamily="34" charset="0"/>
                <a:ea typeface="Arial" pitchFamily="34" charset="-122"/>
                <a:cs typeface="Arial" pitchFamily="34" charset="-120"/>
              </a:rPr>
              <a:t>(易脱节导致业务逻辑损坏)</a:t>
            </a:r>
            <a:endParaRPr lang="en-US" sz="900" dirty="0"/>
          </a:p>
        </p:txBody>
      </p:sp>
      <p:sp>
        <p:nvSpPr>
          <p:cNvPr id="51" name="Shape 49"/>
          <p:cNvSpPr/>
          <p:nvPr/>
        </p:nvSpPr>
        <p:spPr>
          <a:xfrm>
            <a:off x="8366760" y="4443984"/>
            <a:ext cx="3090672" cy="731520"/>
          </a:xfrm>
          <a:prstGeom prst="rect">
            <a:avLst/>
          </a:prstGeom>
          <a:solidFill>
            <a:srgbClr val="FBF0EB"/>
          </a:solidFill>
          <a:ln w="12700">
            <a:solidFill>
              <a:srgbClr val="F0C2B2"/>
            </a:solidFill>
            <a:prstDash val="solid"/>
          </a:ln>
        </p:spPr>
      </p:sp>
      <p:sp>
        <p:nvSpPr>
          <p:cNvPr id="52" name="Text 50"/>
          <p:cNvSpPr/>
          <p:nvPr/>
        </p:nvSpPr>
        <p:spPr>
          <a:xfrm>
            <a:off x="8458200" y="4535424"/>
            <a:ext cx="2907792" cy="530352"/>
          </a:xfrm>
          <a:prstGeom prst="rect">
            <a:avLst/>
          </a:prstGeom>
          <a:noFill/>
          <a:ln/>
        </p:spPr>
        <p:txBody>
          <a:bodyPr wrap="square" rtlCol="0" anchor="ctr"/>
          <a:lstStyle/>
          <a:p>
            <a:pPr algn="ctr" indent="0" marL="0">
              <a:lnSpc>
                <a:spcPts val="1300"/>
              </a:lnSpc>
              <a:buNone/>
            </a:pPr>
            <a:r>
              <a:rPr lang="en-US" sz="920" b="1" dirty="0">
                <a:solidFill>
                  <a:srgbClr val="D97757"/>
                </a:solidFill>
                <a:latin typeface="Arial" pitchFamily="34" charset="0"/>
                <a:ea typeface="Arial" pitchFamily="34" charset="-122"/>
                <a:cs typeface="Arial" pitchFamily="34" charset="-120"/>
              </a:rPr>
              <a:t>生产级完整 PR</a:t>
            </a:r>
            <a:endParaRPr lang="en-US" sz="920" dirty="0"/>
          </a:p>
          <a:p>
            <a:pPr algn="ctr" indent="0" marL="0">
              <a:lnSpc>
                <a:spcPts val="1300"/>
              </a:lnSpc>
              <a:buNone/>
            </a:pPr>
            <a:r>
              <a:rPr lang="en-US" sz="920" b="1" dirty="0">
                <a:solidFill>
                  <a:srgbClr val="D97757"/>
                </a:solidFill>
                <a:latin typeface="Arial" pitchFamily="34" charset="0"/>
                <a:ea typeface="Arial" pitchFamily="34" charset="-122"/>
                <a:cs typeface="Arial" pitchFamily="34" charset="-120"/>
              </a:rPr>
              <a:t>(跨多文件重构 + 全量回归跑通)</a:t>
            </a:r>
            <a:endParaRPr lang="en-US" sz="920" dirty="0"/>
          </a:p>
        </p:txBody>
      </p:sp>
      <p:sp>
        <p:nvSpPr>
          <p:cNvPr id="53" name="Shape 51"/>
          <p:cNvSpPr/>
          <p:nvPr/>
        </p:nvSpPr>
        <p:spPr>
          <a:xfrm>
            <a:off x="731520" y="5358384"/>
            <a:ext cx="10725912" cy="868680"/>
          </a:xfrm>
          <a:prstGeom prst="rect">
            <a:avLst/>
          </a:prstGeom>
          <a:solidFill>
            <a:srgbClr val="FFFFFF"/>
          </a:solidFill>
          <a:ln w="12700">
            <a:solidFill>
              <a:srgbClr val="F0C2B2"/>
            </a:solidFill>
            <a:prstDash val="solid"/>
          </a:ln>
        </p:spPr>
      </p:sp>
      <p:sp>
        <p:nvSpPr>
          <p:cNvPr id="54" name="Shape 52"/>
          <p:cNvSpPr/>
          <p:nvPr/>
        </p:nvSpPr>
        <p:spPr>
          <a:xfrm>
            <a:off x="960120" y="5532120"/>
            <a:ext cx="1645920" cy="502920"/>
          </a:xfrm>
          <a:prstGeom prst="rect">
            <a:avLst/>
          </a:prstGeom>
          <a:solidFill>
            <a:srgbClr val="D97757"/>
          </a:solidFill>
          <a:ln/>
        </p:spPr>
      </p:sp>
      <p:sp>
        <p:nvSpPr>
          <p:cNvPr id="55" name="Text 53"/>
          <p:cNvSpPr/>
          <p:nvPr/>
        </p:nvSpPr>
        <p:spPr>
          <a:xfrm>
            <a:off x="960120" y="5596128"/>
            <a:ext cx="1645920" cy="384048"/>
          </a:xfrm>
          <a:prstGeom prst="rect">
            <a:avLst/>
          </a:prstGeom>
          <a:noFill/>
          <a:ln/>
        </p:spPr>
        <p:txBody>
          <a:bodyPr wrap="square" rtlCol="0" anchor="ctr"/>
          <a:lstStyle/>
          <a:p>
            <a:pPr algn="ctr" indent="0" marL="0">
              <a:lnSpc>
                <a:spcPts val="1100"/>
              </a:lnSpc>
              <a:buNone/>
            </a:pPr>
            <a:r>
              <a:rPr lang="en-US" sz="850" b="1" dirty="0">
                <a:solidFill>
                  <a:srgbClr val="FFFFFF"/>
                </a:solidFill>
                <a:latin typeface="Arial" pitchFamily="34" charset="0"/>
                <a:ea typeface="Arial" pitchFamily="34" charset="-122"/>
                <a:cs typeface="Arial" pitchFamily="34" charset="-120"/>
              </a:rPr>
              <a:t>范式质变定论</a:t>
            </a:r>
            <a:endParaRPr lang="en-US" sz="850" dirty="0"/>
          </a:p>
          <a:p>
            <a:pPr algn="ctr" indent="0" marL="0">
              <a:lnSpc>
                <a:spcPts val="1100"/>
              </a:lnSpc>
              <a:buNone/>
            </a:pPr>
            <a:r>
              <a:rPr lang="en-US" sz="850" b="1" dirty="0">
                <a:solidFill>
                  <a:srgbClr val="FFFFFF"/>
                </a:solidFill>
                <a:latin typeface="Arial" pitchFamily="34" charset="0"/>
                <a:ea typeface="Arial" pitchFamily="34" charset="-122"/>
                <a:cs typeface="Arial" pitchFamily="34" charset="-120"/>
              </a:rPr>
              <a:t>PARADIGM SHIFT</a:t>
            </a:r>
            <a:endParaRPr lang="en-US" sz="850" dirty="0"/>
          </a:p>
        </p:txBody>
      </p:sp>
      <p:sp>
        <p:nvSpPr>
          <p:cNvPr id="56" name="Text 54"/>
          <p:cNvSpPr/>
          <p:nvPr/>
        </p:nvSpPr>
        <p:spPr>
          <a:xfrm>
            <a:off x="2788920" y="5504688"/>
            <a:ext cx="8458200" cy="594360"/>
          </a:xfrm>
          <a:prstGeom prst="rect">
            <a:avLst/>
          </a:prstGeom>
          <a:noFill/>
          <a:ln/>
        </p:spPr>
        <p:txBody>
          <a:bodyPr wrap="square" rtlCol="0" anchor="ctr"/>
          <a:lstStyle/>
          <a:p>
            <a:pPr indent="0" marL="0">
              <a:lnSpc>
                <a:spcPts val="1500"/>
              </a:lnSpc>
              <a:buNone/>
            </a:pPr>
            <a:r>
              <a:rPr lang="en-US" sz="950" b="1" dirty="0">
                <a:solidFill>
                  <a:srgbClr val="1C1917"/>
                </a:solidFill>
                <a:latin typeface="Arial" pitchFamily="34" charset="0"/>
                <a:ea typeface="Arial" pitchFamily="34" charset="-122"/>
                <a:cs typeface="Arial" pitchFamily="34" charset="-120"/>
              </a:rPr>
              <a:t>单任务 Token 消耗从百级向百万级的万倍跃迁，标志着 AI 已从“程序员语法外挂”彻底蜕变为“拥有物理终端执行权与独立排障能力的数字工程师”。人类角色全面从手动打字编写跃迁为目标架构定义与 PR 验收。</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9F5"/>
        </a:solidFill>
      </p:bgPr>
    </p:bg>
    <p:spTree>
      <p:nvGrpSpPr>
        <p:cNvPr id="1" name=""/>
        <p:cNvGrpSpPr/>
        <p:nvPr/>
      </p:nvGrpSpPr>
      <p:grpSpPr>
        <a:xfrm>
          <a:off x="0" y="0"/>
          <a:ext cx="0" cy="0"/>
          <a:chOff x="0" y="0"/>
          <a:chExt cx="0" cy="0"/>
        </a:xfrm>
      </p:grpSpPr>
      <p:sp>
        <p:nvSpPr>
          <p:cNvPr id="2" name="Shape 0"/>
          <p:cNvSpPr/>
          <p:nvPr/>
        </p:nvSpPr>
        <p:spPr>
          <a:xfrm>
            <a:off x="731520" y="384048"/>
            <a:ext cx="2560320" cy="256032"/>
          </a:xfrm>
          <a:prstGeom prst="rect">
            <a:avLst/>
          </a:prstGeom>
          <a:solidFill>
            <a:srgbClr val="FBF0EB"/>
          </a:solidFill>
          <a:ln w="12700">
            <a:solidFill>
              <a:srgbClr val="F0C2B2"/>
            </a:solidFill>
            <a:prstDash val="solid"/>
          </a:ln>
        </p:spPr>
      </p:sp>
      <p:sp>
        <p:nvSpPr>
          <p:cNvPr id="3" name="Text 1"/>
          <p:cNvSpPr/>
          <p:nvPr/>
        </p:nvSpPr>
        <p:spPr>
          <a:xfrm>
            <a:off x="731520" y="384048"/>
            <a:ext cx="2560320" cy="256032"/>
          </a:xfrm>
          <a:prstGeom prst="rect">
            <a:avLst/>
          </a:prstGeom>
          <a:noFill/>
          <a:ln/>
        </p:spPr>
        <p:txBody>
          <a:bodyPr wrap="square" rtlCol="0" anchor="ctr"/>
          <a:lstStyle/>
          <a:p>
            <a:pPr algn="ctr" indent="0" marL="0">
              <a:buNone/>
            </a:pPr>
            <a:r>
              <a:rPr lang="en-US" sz="900" b="1" spc="120" kern="0" dirty="0">
                <a:solidFill>
                  <a:srgbClr val="D97757"/>
                </a:solidFill>
                <a:latin typeface="Arial" pitchFamily="34" charset="0"/>
                <a:ea typeface="Arial" pitchFamily="34" charset="-122"/>
                <a:cs typeface="Arial" pitchFamily="34" charset="-120"/>
              </a:rPr>
              <a:t>MASTER AGENDA</a:t>
            </a:r>
            <a:endParaRPr lang="en-US" sz="900" dirty="0"/>
          </a:p>
        </p:txBody>
      </p:sp>
      <p:sp>
        <p:nvSpPr>
          <p:cNvPr id="4" name="Text 2"/>
          <p:cNvSpPr/>
          <p:nvPr/>
        </p:nvSpPr>
        <p:spPr>
          <a:xfrm>
            <a:off x="731520" y="676656"/>
            <a:ext cx="9875520" cy="475488"/>
          </a:xfrm>
          <a:prstGeom prst="rect">
            <a:avLst/>
          </a:prstGeom>
          <a:noFill/>
          <a:ln/>
        </p:spPr>
        <p:txBody>
          <a:bodyPr wrap="square" lIns="0" tIns="0" rIns="0" bIns="0" rtlCol="0" anchor="ctr"/>
          <a:lstStyle/>
          <a:p>
            <a:pPr indent="0" marL="0">
              <a:buNone/>
            </a:pPr>
            <a:r>
              <a:rPr lang="en-US" sz="2100" b="1" dirty="0">
                <a:solidFill>
                  <a:srgbClr val="1C1917"/>
                </a:solidFill>
                <a:latin typeface="Arial" pitchFamily="34" charset="0"/>
                <a:ea typeface="Arial" pitchFamily="34" charset="-122"/>
                <a:cs typeface="Arial" pitchFamily="34" charset="-120"/>
              </a:rPr>
              <a:t>研报全景架构导航：五大核心篇章</a:t>
            </a:r>
            <a:endParaRPr lang="en-US" sz="2100" dirty="0"/>
          </a:p>
        </p:txBody>
      </p:sp>
      <p:sp>
        <p:nvSpPr>
          <p:cNvPr id="5" name="Text 3"/>
          <p:cNvSpPr/>
          <p:nvPr/>
        </p:nvSpPr>
        <p:spPr>
          <a:xfrm>
            <a:off x="10972800" y="384048"/>
            <a:ext cx="731520" cy="320040"/>
          </a:xfrm>
          <a:prstGeom prst="rect">
            <a:avLst/>
          </a:prstGeom>
          <a:noFill/>
          <a:ln/>
        </p:spPr>
        <p:txBody>
          <a:bodyPr wrap="square" rtlCol="0" anchor="ctr"/>
          <a:lstStyle/>
          <a:p>
            <a:pPr algn="r" indent="0" marL="0">
              <a:buNone/>
            </a:pPr>
            <a:r>
              <a:rPr lang="en-US" sz="1300" b="1" dirty="0">
                <a:solidFill>
                  <a:srgbClr val="8C857B"/>
                </a:solidFill>
                <a:latin typeface="Arial" pitchFamily="34" charset="0"/>
                <a:ea typeface="Arial" pitchFamily="34" charset="-122"/>
                <a:cs typeface="Arial" pitchFamily="34" charset="-120"/>
              </a:rPr>
              <a:t>04</a:t>
            </a:r>
            <a:endParaRPr lang="en-US" sz="1300" dirty="0"/>
          </a:p>
        </p:txBody>
      </p:sp>
      <p:sp>
        <p:nvSpPr>
          <p:cNvPr id="6" name="Shape 4"/>
          <p:cNvSpPr/>
          <p:nvPr/>
        </p:nvSpPr>
        <p:spPr>
          <a:xfrm>
            <a:off x="731520" y="1325880"/>
            <a:ext cx="2048256" cy="4892040"/>
          </a:xfrm>
          <a:prstGeom prst="rect">
            <a:avLst/>
          </a:prstGeom>
          <a:solidFill>
            <a:srgbClr val="FFFFFF"/>
          </a:solidFill>
          <a:ln w="12700">
            <a:solidFill>
              <a:srgbClr val="E2DCD2"/>
            </a:solidFill>
            <a:prstDash val="solid"/>
          </a:ln>
        </p:spPr>
      </p:sp>
      <p:sp>
        <p:nvSpPr>
          <p:cNvPr id="7" name="Shape 5"/>
          <p:cNvSpPr/>
          <p:nvPr/>
        </p:nvSpPr>
        <p:spPr>
          <a:xfrm>
            <a:off x="731520" y="1325880"/>
            <a:ext cx="2048256" cy="868680"/>
          </a:xfrm>
          <a:prstGeom prst="rect">
            <a:avLst/>
          </a:prstGeom>
          <a:solidFill>
            <a:srgbClr val="DC2626"/>
          </a:solidFill>
          <a:ln/>
        </p:spPr>
      </p:sp>
      <p:sp>
        <p:nvSpPr>
          <p:cNvPr id="8" name="Text 6"/>
          <p:cNvSpPr/>
          <p:nvPr/>
        </p:nvSpPr>
        <p:spPr>
          <a:xfrm>
            <a:off x="822960" y="1408176"/>
            <a:ext cx="1865376" cy="201168"/>
          </a:xfrm>
          <a:prstGeom prst="rect">
            <a:avLst/>
          </a:prstGeom>
          <a:noFill/>
          <a:ln/>
        </p:spPr>
        <p:txBody>
          <a:bodyPr wrap="square" rtlCol="0" anchor="ctr"/>
          <a:lstStyle/>
          <a:p>
            <a:pPr indent="0" marL="0">
              <a:buNone/>
            </a:pPr>
            <a:r>
              <a:rPr lang="en-US" sz="850" b="1" spc="120" kern="0" dirty="0">
                <a:solidFill>
                  <a:srgbClr val="FFFFFF"/>
                </a:solidFill>
                <a:latin typeface="Arial" pitchFamily="34" charset="0"/>
                <a:ea typeface="Arial" pitchFamily="34" charset="-122"/>
                <a:cs typeface="Arial" pitchFamily="34" charset="-120"/>
              </a:rPr>
              <a:t>PART 01</a:t>
            </a:r>
            <a:endParaRPr lang="en-US" sz="850" dirty="0"/>
          </a:p>
        </p:txBody>
      </p:sp>
      <p:sp>
        <p:nvSpPr>
          <p:cNvPr id="9" name="Text 7"/>
          <p:cNvSpPr/>
          <p:nvPr/>
        </p:nvSpPr>
        <p:spPr>
          <a:xfrm>
            <a:off x="822960" y="1609344"/>
            <a:ext cx="1865376" cy="228600"/>
          </a:xfrm>
          <a:prstGeom prst="rect">
            <a:avLst/>
          </a:prstGeom>
          <a:noFill/>
          <a:ln/>
        </p:spPr>
        <p:txBody>
          <a:bodyPr wrap="square" rtlCol="0" anchor="ctr"/>
          <a:lstStyle/>
          <a:p>
            <a:pPr indent="0" marL="0">
              <a:buNone/>
            </a:pPr>
            <a:r>
              <a:rPr lang="en-US" sz="950" b="1" dirty="0">
                <a:solidFill>
                  <a:srgbClr val="FFFFFF"/>
                </a:solidFill>
                <a:latin typeface="Arial" pitchFamily="34" charset="0"/>
                <a:ea typeface="Arial" pitchFamily="34" charset="-122"/>
                <a:cs typeface="Arial" pitchFamily="34" charset="-120"/>
              </a:rPr>
              <a:t>P.05 – 10</a:t>
            </a:r>
            <a:endParaRPr lang="en-US" sz="950" dirty="0"/>
          </a:p>
        </p:txBody>
      </p:sp>
      <p:sp>
        <p:nvSpPr>
          <p:cNvPr id="10" name="Shape 8"/>
          <p:cNvSpPr/>
          <p:nvPr/>
        </p:nvSpPr>
        <p:spPr>
          <a:xfrm>
            <a:off x="2002536" y="1408176"/>
            <a:ext cx="658368" cy="201168"/>
          </a:xfrm>
          <a:prstGeom prst="rect">
            <a:avLst/>
          </a:prstGeom>
          <a:solidFill>
            <a:srgbClr val="FFFFFF"/>
          </a:solidFill>
          <a:ln/>
        </p:spPr>
      </p:sp>
      <p:sp>
        <p:nvSpPr>
          <p:cNvPr id="11" name="Text 9"/>
          <p:cNvSpPr/>
          <p:nvPr/>
        </p:nvSpPr>
        <p:spPr>
          <a:xfrm>
            <a:off x="2002536" y="1408176"/>
            <a:ext cx="658368" cy="201168"/>
          </a:xfrm>
          <a:prstGeom prst="rect">
            <a:avLst/>
          </a:prstGeom>
          <a:noFill/>
          <a:ln/>
        </p:spPr>
        <p:txBody>
          <a:bodyPr wrap="square" rtlCol="0" anchor="ctr"/>
          <a:lstStyle/>
          <a:p>
            <a:pPr algn="ctr" indent="0" marL="0">
              <a:buNone/>
            </a:pPr>
            <a:r>
              <a:rPr lang="en-US" sz="750" b="1" dirty="0">
                <a:solidFill>
                  <a:srgbClr val="DC2626"/>
                </a:solidFill>
                <a:latin typeface="Arial" pitchFamily="34" charset="0"/>
                <a:ea typeface="Arial" pitchFamily="34" charset="-122"/>
                <a:cs typeface="Arial" pitchFamily="34" charset="-120"/>
              </a:rPr>
              <a:t>权力更迭</a:t>
            </a:r>
            <a:endParaRPr lang="en-US" sz="750" dirty="0"/>
          </a:p>
        </p:txBody>
      </p:sp>
      <p:sp>
        <p:nvSpPr>
          <p:cNvPr id="12" name="Text 10"/>
          <p:cNvSpPr/>
          <p:nvPr/>
        </p:nvSpPr>
        <p:spPr>
          <a:xfrm>
            <a:off x="841248" y="2286000"/>
            <a:ext cx="1828800" cy="594360"/>
          </a:xfrm>
          <a:prstGeom prst="rect">
            <a:avLst/>
          </a:prstGeom>
          <a:noFill/>
          <a:ln/>
        </p:spPr>
        <p:txBody>
          <a:bodyPr wrap="square" rtlCol="0" anchor="ctr"/>
          <a:lstStyle/>
          <a:p>
            <a:pPr indent="0" marL="0">
              <a:lnSpc>
                <a:spcPts val="1500"/>
              </a:lnSpc>
              <a:buNone/>
            </a:pPr>
            <a:r>
              <a:rPr lang="en-US" sz="1150" b="1" dirty="0">
                <a:solidFill>
                  <a:srgbClr val="1C1917"/>
                </a:solidFill>
                <a:latin typeface="Arial" pitchFamily="34" charset="0"/>
                <a:ea typeface="Arial" pitchFamily="34" charset="-122"/>
                <a:cs typeface="Arial" pitchFamily="34" charset="-120"/>
              </a:rPr>
              <a:t>王权易主：Gemini 溃败与 OpenAI 反攻</a:t>
            </a:r>
            <a:endParaRPr lang="en-US" sz="1150" dirty="0"/>
          </a:p>
        </p:txBody>
      </p:sp>
      <p:sp>
        <p:nvSpPr>
          <p:cNvPr id="13" name="Shape 11"/>
          <p:cNvSpPr/>
          <p:nvPr/>
        </p:nvSpPr>
        <p:spPr>
          <a:xfrm>
            <a:off x="841248" y="2926080"/>
            <a:ext cx="1828800" cy="0"/>
          </a:xfrm>
          <a:prstGeom prst="line">
            <a:avLst/>
          </a:prstGeom>
          <a:noFill/>
          <a:ln w="12700">
            <a:solidFill>
              <a:srgbClr val="E2DCD2"/>
            </a:solidFill>
            <a:prstDash val="solid"/>
          </a:ln>
        </p:spPr>
      </p:sp>
      <p:sp>
        <p:nvSpPr>
          <p:cNvPr id="14" name="Shape 12"/>
          <p:cNvSpPr/>
          <p:nvPr/>
        </p:nvSpPr>
        <p:spPr>
          <a:xfrm>
            <a:off x="841248" y="3072384"/>
            <a:ext cx="182880" cy="182880"/>
          </a:xfrm>
          <a:prstGeom prst="ellipse">
            <a:avLst/>
          </a:prstGeom>
          <a:solidFill>
            <a:srgbClr val="DC2626"/>
          </a:solidFill>
          <a:ln/>
        </p:spPr>
      </p:sp>
      <p:sp>
        <p:nvSpPr>
          <p:cNvPr id="15" name="Text 13"/>
          <p:cNvSpPr/>
          <p:nvPr/>
        </p:nvSpPr>
        <p:spPr>
          <a:xfrm>
            <a:off x="841248" y="3072384"/>
            <a:ext cx="182880" cy="182880"/>
          </a:xfrm>
          <a:prstGeom prst="rect">
            <a:avLst/>
          </a:prstGeom>
          <a:noFill/>
          <a:ln/>
        </p:spPr>
        <p:txBody>
          <a:bodyPr wrap="square"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1</a:t>
            </a:r>
            <a:endParaRPr lang="en-US" sz="750" dirty="0"/>
          </a:p>
        </p:txBody>
      </p:sp>
      <p:sp>
        <p:nvSpPr>
          <p:cNvPr id="16" name="Text 14"/>
          <p:cNvSpPr/>
          <p:nvPr/>
        </p:nvSpPr>
        <p:spPr>
          <a:xfrm>
            <a:off x="1078992" y="3035808"/>
            <a:ext cx="1609344" cy="219456"/>
          </a:xfrm>
          <a:prstGeom prst="rect">
            <a:avLst/>
          </a:prstGeom>
          <a:noFill/>
          <a:ln/>
        </p:spPr>
        <p:txBody>
          <a:bodyPr wrap="square" rtlCol="0" anchor="ctr"/>
          <a:lstStyle/>
          <a:p>
            <a:pPr indent="0" marL="0">
              <a:buNone/>
            </a:pPr>
            <a:r>
              <a:rPr lang="en-US" sz="950" b="1" dirty="0">
                <a:solidFill>
                  <a:srgbClr val="1C1917"/>
                </a:solidFill>
                <a:latin typeface="Arial" pitchFamily="34" charset="0"/>
                <a:ea typeface="Arial" pitchFamily="34" charset="-122"/>
                <a:cs typeface="Arial" pitchFamily="34" charset="-120"/>
              </a:rPr>
              <a:t>Gemini 3.0 尸检</a:t>
            </a:r>
            <a:endParaRPr lang="en-US" sz="950" dirty="0"/>
          </a:p>
        </p:txBody>
      </p:sp>
      <p:sp>
        <p:nvSpPr>
          <p:cNvPr id="17" name="Text 15"/>
          <p:cNvSpPr/>
          <p:nvPr/>
        </p:nvSpPr>
        <p:spPr>
          <a:xfrm>
            <a:off x="1078992" y="3255264"/>
            <a:ext cx="1609344" cy="457200"/>
          </a:xfrm>
          <a:prstGeom prst="rect">
            <a:avLst/>
          </a:prstGeom>
          <a:noFill/>
          <a:ln/>
        </p:spPr>
        <p:txBody>
          <a:bodyPr wrap="square" rtlCol="0" anchor="ctr"/>
          <a:lstStyle/>
          <a:p>
            <a:pPr indent="0" marL="0">
              <a:lnSpc>
                <a:spcPts val="1100"/>
              </a:lnSpc>
              <a:buNone/>
            </a:pPr>
            <a:r>
              <a:rPr lang="en-US" sz="850" dirty="0">
                <a:solidFill>
                  <a:srgbClr val="57534E"/>
                </a:solidFill>
                <a:latin typeface="Arial" pitchFamily="34" charset="0"/>
                <a:ea typeface="Arial" pitchFamily="34" charset="-122"/>
                <a:cs typeface="Arial" pitchFamily="34" charset="-120"/>
              </a:rPr>
              <a:t>四大工程致命死穴</a:t>
            </a:r>
            <a:endParaRPr lang="en-US" sz="850" dirty="0"/>
          </a:p>
        </p:txBody>
      </p:sp>
      <p:sp>
        <p:nvSpPr>
          <p:cNvPr id="18" name="Shape 16"/>
          <p:cNvSpPr/>
          <p:nvPr/>
        </p:nvSpPr>
        <p:spPr>
          <a:xfrm>
            <a:off x="841248" y="3803904"/>
            <a:ext cx="1828800" cy="0"/>
          </a:xfrm>
          <a:prstGeom prst="line">
            <a:avLst/>
          </a:prstGeom>
          <a:noFill/>
          <a:ln w="6350">
            <a:solidFill>
              <a:srgbClr val="E2DCD2"/>
            </a:solidFill>
            <a:prstDash val="solid"/>
          </a:ln>
        </p:spPr>
      </p:sp>
      <p:sp>
        <p:nvSpPr>
          <p:cNvPr id="19" name="Shape 17"/>
          <p:cNvSpPr/>
          <p:nvPr/>
        </p:nvSpPr>
        <p:spPr>
          <a:xfrm>
            <a:off x="841248" y="3913632"/>
            <a:ext cx="182880" cy="182880"/>
          </a:xfrm>
          <a:prstGeom prst="ellipse">
            <a:avLst/>
          </a:prstGeom>
          <a:solidFill>
            <a:srgbClr val="DC2626"/>
          </a:solidFill>
          <a:ln/>
        </p:spPr>
      </p:sp>
      <p:sp>
        <p:nvSpPr>
          <p:cNvPr id="20" name="Text 18"/>
          <p:cNvSpPr/>
          <p:nvPr/>
        </p:nvSpPr>
        <p:spPr>
          <a:xfrm>
            <a:off x="841248" y="3913632"/>
            <a:ext cx="182880" cy="182880"/>
          </a:xfrm>
          <a:prstGeom prst="rect">
            <a:avLst/>
          </a:prstGeom>
          <a:noFill/>
          <a:ln/>
        </p:spPr>
        <p:txBody>
          <a:bodyPr wrap="square"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2</a:t>
            </a:r>
            <a:endParaRPr lang="en-US" sz="750" dirty="0"/>
          </a:p>
        </p:txBody>
      </p:sp>
      <p:sp>
        <p:nvSpPr>
          <p:cNvPr id="21" name="Text 19"/>
          <p:cNvSpPr/>
          <p:nvPr/>
        </p:nvSpPr>
        <p:spPr>
          <a:xfrm>
            <a:off x="1078992" y="3877056"/>
            <a:ext cx="1609344" cy="219456"/>
          </a:xfrm>
          <a:prstGeom prst="rect">
            <a:avLst/>
          </a:prstGeom>
          <a:noFill/>
          <a:ln/>
        </p:spPr>
        <p:txBody>
          <a:bodyPr wrap="square" rtlCol="0" anchor="ctr"/>
          <a:lstStyle/>
          <a:p>
            <a:pPr indent="0" marL="0">
              <a:buNone/>
            </a:pPr>
            <a:r>
              <a:rPr lang="en-US" sz="950" b="1" dirty="0">
                <a:solidFill>
                  <a:srgbClr val="1C1917"/>
                </a:solidFill>
                <a:latin typeface="Arial" pitchFamily="34" charset="0"/>
                <a:ea typeface="Arial" pitchFamily="34" charset="-122"/>
                <a:cs typeface="Arial" pitchFamily="34" charset="-120"/>
              </a:rPr>
              <a:t>Google 执行力赤字</a:t>
            </a:r>
            <a:endParaRPr lang="en-US" sz="950" dirty="0"/>
          </a:p>
        </p:txBody>
      </p:sp>
      <p:sp>
        <p:nvSpPr>
          <p:cNvPr id="22" name="Text 20"/>
          <p:cNvSpPr/>
          <p:nvPr/>
        </p:nvSpPr>
        <p:spPr>
          <a:xfrm>
            <a:off x="1078992" y="4096512"/>
            <a:ext cx="1609344" cy="457200"/>
          </a:xfrm>
          <a:prstGeom prst="rect">
            <a:avLst/>
          </a:prstGeom>
          <a:noFill/>
          <a:ln/>
        </p:spPr>
        <p:txBody>
          <a:bodyPr wrap="square" rtlCol="0" anchor="ctr"/>
          <a:lstStyle/>
          <a:p>
            <a:pPr indent="0" marL="0">
              <a:lnSpc>
                <a:spcPts val="1100"/>
              </a:lnSpc>
              <a:buNone/>
            </a:pPr>
            <a:r>
              <a:rPr lang="en-US" sz="850" dirty="0">
                <a:solidFill>
                  <a:srgbClr val="57534E"/>
                </a:solidFill>
                <a:latin typeface="Arial" pitchFamily="34" charset="0"/>
                <a:ea typeface="Arial" pitchFamily="34" charset="-122"/>
                <a:cs typeface="Arial" pitchFamily="34" charset="-120"/>
              </a:rPr>
              <a:t>搜索基因与组织内耗</a:t>
            </a:r>
            <a:endParaRPr lang="en-US" sz="850" dirty="0"/>
          </a:p>
        </p:txBody>
      </p:sp>
      <p:sp>
        <p:nvSpPr>
          <p:cNvPr id="23" name="Shape 21"/>
          <p:cNvSpPr/>
          <p:nvPr/>
        </p:nvSpPr>
        <p:spPr>
          <a:xfrm>
            <a:off x="841248" y="4645152"/>
            <a:ext cx="1828800" cy="0"/>
          </a:xfrm>
          <a:prstGeom prst="line">
            <a:avLst/>
          </a:prstGeom>
          <a:noFill/>
          <a:ln w="6350">
            <a:solidFill>
              <a:srgbClr val="E2DCD2"/>
            </a:solidFill>
            <a:prstDash val="solid"/>
          </a:ln>
        </p:spPr>
      </p:sp>
      <p:sp>
        <p:nvSpPr>
          <p:cNvPr id="24" name="Shape 22"/>
          <p:cNvSpPr/>
          <p:nvPr/>
        </p:nvSpPr>
        <p:spPr>
          <a:xfrm>
            <a:off x="841248" y="4754880"/>
            <a:ext cx="182880" cy="182880"/>
          </a:xfrm>
          <a:prstGeom prst="ellipse">
            <a:avLst/>
          </a:prstGeom>
          <a:solidFill>
            <a:srgbClr val="DC2626"/>
          </a:solidFill>
          <a:ln/>
        </p:spPr>
      </p:sp>
      <p:sp>
        <p:nvSpPr>
          <p:cNvPr id="25" name="Text 23"/>
          <p:cNvSpPr/>
          <p:nvPr/>
        </p:nvSpPr>
        <p:spPr>
          <a:xfrm>
            <a:off x="841248" y="4754880"/>
            <a:ext cx="182880" cy="182880"/>
          </a:xfrm>
          <a:prstGeom prst="rect">
            <a:avLst/>
          </a:prstGeom>
          <a:noFill/>
          <a:ln/>
        </p:spPr>
        <p:txBody>
          <a:bodyPr wrap="square"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3</a:t>
            </a:r>
            <a:endParaRPr lang="en-US" sz="750" dirty="0"/>
          </a:p>
        </p:txBody>
      </p:sp>
      <p:sp>
        <p:nvSpPr>
          <p:cNvPr id="26" name="Text 24"/>
          <p:cNvSpPr/>
          <p:nvPr/>
        </p:nvSpPr>
        <p:spPr>
          <a:xfrm>
            <a:off x="1078992" y="4718304"/>
            <a:ext cx="1609344" cy="219456"/>
          </a:xfrm>
          <a:prstGeom prst="rect">
            <a:avLst/>
          </a:prstGeom>
          <a:noFill/>
          <a:ln/>
        </p:spPr>
        <p:txBody>
          <a:bodyPr wrap="square" rtlCol="0" anchor="ctr"/>
          <a:lstStyle/>
          <a:p>
            <a:pPr indent="0" marL="0">
              <a:buNone/>
            </a:pPr>
            <a:r>
              <a:rPr lang="en-US" sz="950" b="1" dirty="0">
                <a:solidFill>
                  <a:srgbClr val="1C1917"/>
                </a:solidFill>
                <a:latin typeface="Arial" pitchFamily="34" charset="0"/>
                <a:ea typeface="Arial" pitchFamily="34" charset="-122"/>
                <a:cs typeface="Arial" pitchFamily="34" charset="-120"/>
              </a:rPr>
              <a:t>全球开发者大迁徙</a:t>
            </a:r>
            <a:endParaRPr lang="en-US" sz="950" dirty="0"/>
          </a:p>
        </p:txBody>
      </p:sp>
      <p:sp>
        <p:nvSpPr>
          <p:cNvPr id="27" name="Text 25"/>
          <p:cNvSpPr/>
          <p:nvPr/>
        </p:nvSpPr>
        <p:spPr>
          <a:xfrm>
            <a:off x="1078992" y="4937760"/>
            <a:ext cx="1609344" cy="457200"/>
          </a:xfrm>
          <a:prstGeom prst="rect">
            <a:avLst/>
          </a:prstGeom>
          <a:noFill/>
          <a:ln/>
        </p:spPr>
        <p:txBody>
          <a:bodyPr wrap="square" rtlCol="0" anchor="ctr"/>
          <a:lstStyle/>
          <a:p>
            <a:pPr indent="0" marL="0">
              <a:lnSpc>
                <a:spcPts val="1100"/>
              </a:lnSpc>
              <a:buNone/>
            </a:pPr>
            <a:r>
              <a:rPr lang="en-US" sz="850" dirty="0">
                <a:solidFill>
                  <a:srgbClr val="57534E"/>
                </a:solidFill>
                <a:latin typeface="Arial" pitchFamily="34" charset="0"/>
                <a:ea typeface="Arial" pitchFamily="34" charset="-122"/>
                <a:cs typeface="Arial" pitchFamily="34" charset="-120"/>
              </a:rPr>
              <a:t>Cursor 流量逃亡实录</a:t>
            </a:r>
            <a:endParaRPr lang="en-US" sz="850" dirty="0"/>
          </a:p>
        </p:txBody>
      </p:sp>
      <p:sp>
        <p:nvSpPr>
          <p:cNvPr id="28" name="Shape 26"/>
          <p:cNvSpPr/>
          <p:nvPr/>
        </p:nvSpPr>
        <p:spPr>
          <a:xfrm>
            <a:off x="841248" y="5486400"/>
            <a:ext cx="1828800" cy="0"/>
          </a:xfrm>
          <a:prstGeom prst="line">
            <a:avLst/>
          </a:prstGeom>
          <a:noFill/>
          <a:ln w="6350">
            <a:solidFill>
              <a:srgbClr val="E2DCD2"/>
            </a:solidFill>
            <a:prstDash val="solid"/>
          </a:ln>
        </p:spPr>
      </p:sp>
      <p:sp>
        <p:nvSpPr>
          <p:cNvPr id="29" name="Shape 27"/>
          <p:cNvSpPr/>
          <p:nvPr/>
        </p:nvSpPr>
        <p:spPr>
          <a:xfrm>
            <a:off x="841248" y="5596128"/>
            <a:ext cx="182880" cy="182880"/>
          </a:xfrm>
          <a:prstGeom prst="ellipse">
            <a:avLst/>
          </a:prstGeom>
          <a:solidFill>
            <a:srgbClr val="DC2626"/>
          </a:solidFill>
          <a:ln/>
        </p:spPr>
      </p:sp>
      <p:sp>
        <p:nvSpPr>
          <p:cNvPr id="30" name="Text 28"/>
          <p:cNvSpPr/>
          <p:nvPr/>
        </p:nvSpPr>
        <p:spPr>
          <a:xfrm>
            <a:off x="841248" y="5596128"/>
            <a:ext cx="182880" cy="182880"/>
          </a:xfrm>
          <a:prstGeom prst="rect">
            <a:avLst/>
          </a:prstGeom>
          <a:noFill/>
          <a:ln/>
        </p:spPr>
        <p:txBody>
          <a:bodyPr wrap="square"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4</a:t>
            </a:r>
            <a:endParaRPr lang="en-US" sz="750" dirty="0"/>
          </a:p>
        </p:txBody>
      </p:sp>
      <p:sp>
        <p:nvSpPr>
          <p:cNvPr id="31" name="Text 29"/>
          <p:cNvSpPr/>
          <p:nvPr/>
        </p:nvSpPr>
        <p:spPr>
          <a:xfrm>
            <a:off x="1078992" y="5559552"/>
            <a:ext cx="1609344" cy="219456"/>
          </a:xfrm>
          <a:prstGeom prst="rect">
            <a:avLst/>
          </a:prstGeom>
          <a:noFill/>
          <a:ln/>
        </p:spPr>
        <p:txBody>
          <a:bodyPr wrap="square" rtlCol="0" anchor="ctr"/>
          <a:lstStyle/>
          <a:p>
            <a:pPr indent="0" marL="0">
              <a:buNone/>
            </a:pPr>
            <a:r>
              <a:rPr lang="en-US" sz="950" b="1" dirty="0">
                <a:solidFill>
                  <a:srgbClr val="1C1917"/>
                </a:solidFill>
                <a:latin typeface="Arial" pitchFamily="34" charset="0"/>
                <a:ea typeface="Arial" pitchFamily="34" charset="-122"/>
                <a:cs typeface="Arial" pitchFamily="34" charset="-120"/>
              </a:rPr>
              <a:t>OpenAI Code Red</a:t>
            </a:r>
            <a:endParaRPr lang="en-US" sz="950" dirty="0"/>
          </a:p>
        </p:txBody>
      </p:sp>
      <p:sp>
        <p:nvSpPr>
          <p:cNvPr id="32" name="Text 30"/>
          <p:cNvSpPr/>
          <p:nvPr/>
        </p:nvSpPr>
        <p:spPr>
          <a:xfrm>
            <a:off x="1078992" y="5779008"/>
            <a:ext cx="1609344" cy="457200"/>
          </a:xfrm>
          <a:prstGeom prst="rect">
            <a:avLst/>
          </a:prstGeom>
          <a:noFill/>
          <a:ln/>
        </p:spPr>
        <p:txBody>
          <a:bodyPr wrap="square" rtlCol="0" anchor="ctr"/>
          <a:lstStyle/>
          <a:p>
            <a:pPr indent="0" marL="0">
              <a:lnSpc>
                <a:spcPts val="1100"/>
              </a:lnSpc>
              <a:buNone/>
            </a:pPr>
            <a:r>
              <a:rPr lang="en-US" sz="850" dirty="0">
                <a:solidFill>
                  <a:srgbClr val="57534E"/>
                </a:solidFill>
                <a:latin typeface="Arial" pitchFamily="34" charset="0"/>
                <a:ea typeface="Arial" pitchFamily="34" charset="-122"/>
                <a:cs typeface="Arial" pitchFamily="34" charset="-120"/>
              </a:rPr>
              <a:t>耻感反扑与 o3 动员</a:t>
            </a:r>
            <a:endParaRPr lang="en-US" sz="850" dirty="0"/>
          </a:p>
        </p:txBody>
      </p:sp>
      <p:sp>
        <p:nvSpPr>
          <p:cNvPr id="33" name="Shape 31"/>
          <p:cNvSpPr/>
          <p:nvPr/>
        </p:nvSpPr>
        <p:spPr>
          <a:xfrm>
            <a:off x="841248" y="5687568"/>
            <a:ext cx="1828800" cy="384048"/>
          </a:xfrm>
          <a:prstGeom prst="rect">
            <a:avLst/>
          </a:prstGeom>
          <a:solidFill>
            <a:srgbClr val="EFEBE1"/>
          </a:solidFill>
          <a:ln w="12700">
            <a:solidFill>
              <a:srgbClr val="E2DCD2"/>
            </a:solidFill>
            <a:prstDash val="solid"/>
          </a:ln>
        </p:spPr>
      </p:sp>
      <p:sp>
        <p:nvSpPr>
          <p:cNvPr id="34" name="Text 32"/>
          <p:cNvSpPr/>
          <p:nvPr/>
        </p:nvSpPr>
        <p:spPr>
          <a:xfrm>
            <a:off x="841248" y="5742432"/>
            <a:ext cx="1828800" cy="274320"/>
          </a:xfrm>
          <a:prstGeom prst="rect">
            <a:avLst/>
          </a:prstGeom>
          <a:noFill/>
          <a:ln/>
        </p:spPr>
        <p:txBody>
          <a:bodyPr wrap="square" rtlCol="0" anchor="ctr"/>
          <a:lstStyle/>
          <a:p>
            <a:pPr algn="ctr" indent="0" marL="0">
              <a:buNone/>
            </a:pPr>
            <a:r>
              <a:rPr lang="en-US" sz="850" b="1" dirty="0">
                <a:solidFill>
                  <a:srgbClr val="DC2626"/>
                </a:solidFill>
                <a:latin typeface="Arial" pitchFamily="34" charset="0"/>
                <a:ea typeface="Arial" pitchFamily="34" charset="-122"/>
                <a:cs typeface="Arial" pitchFamily="34" charset="-120"/>
              </a:rPr>
              <a:t>深入 P.05 展开 ▸</a:t>
            </a:r>
            <a:endParaRPr lang="en-US" sz="850" dirty="0"/>
          </a:p>
        </p:txBody>
      </p:sp>
      <p:sp>
        <p:nvSpPr>
          <p:cNvPr id="35" name="Shape 33"/>
          <p:cNvSpPr/>
          <p:nvPr/>
        </p:nvSpPr>
        <p:spPr>
          <a:xfrm>
            <a:off x="2889504" y="1325880"/>
            <a:ext cx="2048256" cy="4892040"/>
          </a:xfrm>
          <a:prstGeom prst="rect">
            <a:avLst/>
          </a:prstGeom>
          <a:solidFill>
            <a:srgbClr val="FFFFFF"/>
          </a:solidFill>
          <a:ln w="12700">
            <a:solidFill>
              <a:srgbClr val="E2DCD2"/>
            </a:solidFill>
            <a:prstDash val="solid"/>
          </a:ln>
        </p:spPr>
      </p:sp>
      <p:sp>
        <p:nvSpPr>
          <p:cNvPr id="36" name="Shape 34"/>
          <p:cNvSpPr/>
          <p:nvPr/>
        </p:nvSpPr>
        <p:spPr>
          <a:xfrm>
            <a:off x="2889504" y="1325880"/>
            <a:ext cx="2048256" cy="868680"/>
          </a:xfrm>
          <a:prstGeom prst="rect">
            <a:avLst/>
          </a:prstGeom>
          <a:solidFill>
            <a:srgbClr val="D97757"/>
          </a:solidFill>
          <a:ln/>
        </p:spPr>
      </p:sp>
      <p:sp>
        <p:nvSpPr>
          <p:cNvPr id="37" name="Text 35"/>
          <p:cNvSpPr/>
          <p:nvPr/>
        </p:nvSpPr>
        <p:spPr>
          <a:xfrm>
            <a:off x="2980944" y="1408176"/>
            <a:ext cx="1865376" cy="201168"/>
          </a:xfrm>
          <a:prstGeom prst="rect">
            <a:avLst/>
          </a:prstGeom>
          <a:noFill/>
          <a:ln/>
        </p:spPr>
        <p:txBody>
          <a:bodyPr wrap="square" rtlCol="0" anchor="ctr"/>
          <a:lstStyle/>
          <a:p>
            <a:pPr indent="0" marL="0">
              <a:buNone/>
            </a:pPr>
            <a:r>
              <a:rPr lang="en-US" sz="850" b="1" spc="120" kern="0" dirty="0">
                <a:solidFill>
                  <a:srgbClr val="FFFFFF"/>
                </a:solidFill>
                <a:latin typeface="Arial" pitchFamily="34" charset="0"/>
                <a:ea typeface="Arial" pitchFamily="34" charset="-122"/>
                <a:cs typeface="Arial" pitchFamily="34" charset="-120"/>
              </a:rPr>
              <a:t>PART 02</a:t>
            </a:r>
            <a:endParaRPr lang="en-US" sz="850" dirty="0"/>
          </a:p>
        </p:txBody>
      </p:sp>
      <p:sp>
        <p:nvSpPr>
          <p:cNvPr id="38" name="Text 36"/>
          <p:cNvSpPr/>
          <p:nvPr/>
        </p:nvSpPr>
        <p:spPr>
          <a:xfrm>
            <a:off x="2980944" y="1609344"/>
            <a:ext cx="1865376" cy="228600"/>
          </a:xfrm>
          <a:prstGeom prst="rect">
            <a:avLst/>
          </a:prstGeom>
          <a:noFill/>
          <a:ln/>
        </p:spPr>
        <p:txBody>
          <a:bodyPr wrap="square" rtlCol="0" anchor="ctr"/>
          <a:lstStyle/>
          <a:p>
            <a:pPr indent="0" marL="0">
              <a:buNone/>
            </a:pPr>
            <a:r>
              <a:rPr lang="en-US" sz="950" b="1" dirty="0">
                <a:solidFill>
                  <a:srgbClr val="FFFFFF"/>
                </a:solidFill>
                <a:latin typeface="Arial" pitchFamily="34" charset="0"/>
                <a:ea typeface="Arial" pitchFamily="34" charset="-122"/>
                <a:cs typeface="Arial" pitchFamily="34" charset="-120"/>
              </a:rPr>
              <a:t>P.11 – 16</a:t>
            </a:r>
            <a:endParaRPr lang="en-US" sz="950" dirty="0"/>
          </a:p>
        </p:txBody>
      </p:sp>
      <p:sp>
        <p:nvSpPr>
          <p:cNvPr id="39" name="Shape 37"/>
          <p:cNvSpPr/>
          <p:nvPr/>
        </p:nvSpPr>
        <p:spPr>
          <a:xfrm>
            <a:off x="4160520" y="1408176"/>
            <a:ext cx="658368" cy="201168"/>
          </a:xfrm>
          <a:prstGeom prst="rect">
            <a:avLst/>
          </a:prstGeom>
          <a:solidFill>
            <a:srgbClr val="FFFFFF"/>
          </a:solidFill>
          <a:ln/>
        </p:spPr>
      </p:sp>
      <p:sp>
        <p:nvSpPr>
          <p:cNvPr id="40" name="Text 38"/>
          <p:cNvSpPr/>
          <p:nvPr/>
        </p:nvSpPr>
        <p:spPr>
          <a:xfrm>
            <a:off x="4160520" y="1408176"/>
            <a:ext cx="658368" cy="201168"/>
          </a:xfrm>
          <a:prstGeom prst="rect">
            <a:avLst/>
          </a:prstGeom>
          <a:noFill/>
          <a:ln/>
        </p:spPr>
        <p:txBody>
          <a:bodyPr wrap="square" rtlCol="0" anchor="ctr"/>
          <a:lstStyle/>
          <a:p>
            <a:pPr algn="ctr" indent="0" marL="0">
              <a:buNone/>
            </a:pPr>
            <a:r>
              <a:rPr lang="en-US" sz="750" b="1" dirty="0">
                <a:solidFill>
                  <a:srgbClr val="D97757"/>
                </a:solidFill>
                <a:latin typeface="Arial" pitchFamily="34" charset="0"/>
                <a:ea typeface="Arial" pitchFamily="34" charset="-122"/>
                <a:cs typeface="Arial" pitchFamily="34" charset="-120"/>
              </a:rPr>
              <a:t>护城河解密</a:t>
            </a:r>
            <a:endParaRPr lang="en-US" sz="750" dirty="0"/>
          </a:p>
        </p:txBody>
      </p:sp>
      <p:sp>
        <p:nvSpPr>
          <p:cNvPr id="41" name="Text 39"/>
          <p:cNvSpPr/>
          <p:nvPr/>
        </p:nvSpPr>
        <p:spPr>
          <a:xfrm>
            <a:off x="2999232" y="2286000"/>
            <a:ext cx="1828800" cy="594360"/>
          </a:xfrm>
          <a:prstGeom prst="rect">
            <a:avLst/>
          </a:prstGeom>
          <a:noFill/>
          <a:ln/>
        </p:spPr>
        <p:txBody>
          <a:bodyPr wrap="square" rtlCol="0" anchor="ctr"/>
          <a:lstStyle/>
          <a:p>
            <a:pPr indent="0" marL="0">
              <a:lnSpc>
                <a:spcPts val="1500"/>
              </a:lnSpc>
              <a:buNone/>
            </a:pPr>
            <a:r>
              <a:rPr lang="en-US" sz="1150" b="1" dirty="0">
                <a:solidFill>
                  <a:srgbClr val="1C1917"/>
                </a:solidFill>
                <a:latin typeface="Arial" pitchFamily="34" charset="0"/>
                <a:ea typeface="Arial" pitchFamily="34" charset="-122"/>
                <a:cs typeface="Arial" pitchFamily="34" charset="-120"/>
              </a:rPr>
              <a:t>终极解密：Claude 的统治级护城河</a:t>
            </a:r>
            <a:endParaRPr lang="en-US" sz="1150" dirty="0"/>
          </a:p>
        </p:txBody>
      </p:sp>
      <p:sp>
        <p:nvSpPr>
          <p:cNvPr id="42" name="Shape 40"/>
          <p:cNvSpPr/>
          <p:nvPr/>
        </p:nvSpPr>
        <p:spPr>
          <a:xfrm>
            <a:off x="2999232" y="2926080"/>
            <a:ext cx="1828800" cy="0"/>
          </a:xfrm>
          <a:prstGeom prst="line">
            <a:avLst/>
          </a:prstGeom>
          <a:noFill/>
          <a:ln w="12700">
            <a:solidFill>
              <a:srgbClr val="E2DCD2"/>
            </a:solidFill>
            <a:prstDash val="solid"/>
          </a:ln>
        </p:spPr>
      </p:sp>
      <p:sp>
        <p:nvSpPr>
          <p:cNvPr id="43" name="Shape 41"/>
          <p:cNvSpPr/>
          <p:nvPr/>
        </p:nvSpPr>
        <p:spPr>
          <a:xfrm>
            <a:off x="2999232" y="3072384"/>
            <a:ext cx="182880" cy="182880"/>
          </a:xfrm>
          <a:prstGeom prst="ellipse">
            <a:avLst/>
          </a:prstGeom>
          <a:solidFill>
            <a:srgbClr val="D97757"/>
          </a:solidFill>
          <a:ln/>
        </p:spPr>
      </p:sp>
      <p:sp>
        <p:nvSpPr>
          <p:cNvPr id="44" name="Text 42"/>
          <p:cNvSpPr/>
          <p:nvPr/>
        </p:nvSpPr>
        <p:spPr>
          <a:xfrm>
            <a:off x="2999232" y="3072384"/>
            <a:ext cx="182880" cy="182880"/>
          </a:xfrm>
          <a:prstGeom prst="rect">
            <a:avLst/>
          </a:prstGeom>
          <a:noFill/>
          <a:ln/>
        </p:spPr>
        <p:txBody>
          <a:bodyPr wrap="square"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1</a:t>
            </a:r>
            <a:endParaRPr lang="en-US" sz="750" dirty="0"/>
          </a:p>
        </p:txBody>
      </p:sp>
      <p:sp>
        <p:nvSpPr>
          <p:cNvPr id="45" name="Text 43"/>
          <p:cNvSpPr/>
          <p:nvPr/>
        </p:nvSpPr>
        <p:spPr>
          <a:xfrm>
            <a:off x="3236976" y="3035808"/>
            <a:ext cx="1609344" cy="219456"/>
          </a:xfrm>
          <a:prstGeom prst="rect">
            <a:avLst/>
          </a:prstGeom>
          <a:noFill/>
          <a:ln/>
        </p:spPr>
        <p:txBody>
          <a:bodyPr wrap="square" rtlCol="0" anchor="ctr"/>
          <a:lstStyle/>
          <a:p>
            <a:pPr indent="0" marL="0">
              <a:buNone/>
            </a:pPr>
            <a:r>
              <a:rPr lang="en-US" sz="950" b="1" dirty="0">
                <a:solidFill>
                  <a:srgbClr val="1C1917"/>
                </a:solidFill>
                <a:latin typeface="Arial" pitchFamily="34" charset="0"/>
                <a:ea typeface="Arial" pitchFamily="34" charset="-122"/>
                <a:cs typeface="Arial" pitchFamily="34" charset="-120"/>
              </a:rPr>
              <a:t>0.995⁵⁰ 复利税</a:t>
            </a:r>
            <a:endParaRPr lang="en-US" sz="950" dirty="0"/>
          </a:p>
        </p:txBody>
      </p:sp>
      <p:sp>
        <p:nvSpPr>
          <p:cNvPr id="46" name="Text 44"/>
          <p:cNvSpPr/>
          <p:nvPr/>
        </p:nvSpPr>
        <p:spPr>
          <a:xfrm>
            <a:off x="3236976" y="3255264"/>
            <a:ext cx="1609344" cy="457200"/>
          </a:xfrm>
          <a:prstGeom prst="rect">
            <a:avLst/>
          </a:prstGeom>
          <a:noFill/>
          <a:ln/>
        </p:spPr>
        <p:txBody>
          <a:bodyPr wrap="square" rtlCol="0" anchor="ctr"/>
          <a:lstStyle/>
          <a:p>
            <a:pPr indent="0" marL="0">
              <a:lnSpc>
                <a:spcPts val="1100"/>
              </a:lnSpc>
              <a:buNone/>
            </a:pPr>
            <a:r>
              <a:rPr lang="en-US" sz="850" dirty="0">
                <a:solidFill>
                  <a:srgbClr val="57534E"/>
                </a:solidFill>
                <a:latin typeface="Arial" pitchFamily="34" charset="0"/>
                <a:ea typeface="Arial" pitchFamily="34" charset="-122"/>
                <a:cs typeface="Arial" pitchFamily="34" charset="-120"/>
              </a:rPr>
              <a:t>长程工程任务数学绞杀</a:t>
            </a:r>
            <a:endParaRPr lang="en-US" sz="850" dirty="0"/>
          </a:p>
        </p:txBody>
      </p:sp>
      <p:sp>
        <p:nvSpPr>
          <p:cNvPr id="47" name="Shape 45"/>
          <p:cNvSpPr/>
          <p:nvPr/>
        </p:nvSpPr>
        <p:spPr>
          <a:xfrm>
            <a:off x="2999232" y="3803904"/>
            <a:ext cx="1828800" cy="0"/>
          </a:xfrm>
          <a:prstGeom prst="line">
            <a:avLst/>
          </a:prstGeom>
          <a:noFill/>
          <a:ln w="6350">
            <a:solidFill>
              <a:srgbClr val="E2DCD2"/>
            </a:solidFill>
            <a:prstDash val="solid"/>
          </a:ln>
        </p:spPr>
      </p:sp>
      <p:sp>
        <p:nvSpPr>
          <p:cNvPr id="48" name="Shape 46"/>
          <p:cNvSpPr/>
          <p:nvPr/>
        </p:nvSpPr>
        <p:spPr>
          <a:xfrm>
            <a:off x="2999232" y="3913632"/>
            <a:ext cx="182880" cy="182880"/>
          </a:xfrm>
          <a:prstGeom prst="ellipse">
            <a:avLst/>
          </a:prstGeom>
          <a:solidFill>
            <a:srgbClr val="D97757"/>
          </a:solidFill>
          <a:ln/>
        </p:spPr>
      </p:sp>
      <p:sp>
        <p:nvSpPr>
          <p:cNvPr id="49" name="Text 47"/>
          <p:cNvSpPr/>
          <p:nvPr/>
        </p:nvSpPr>
        <p:spPr>
          <a:xfrm>
            <a:off x="2999232" y="3913632"/>
            <a:ext cx="182880" cy="182880"/>
          </a:xfrm>
          <a:prstGeom prst="rect">
            <a:avLst/>
          </a:prstGeom>
          <a:noFill/>
          <a:ln/>
        </p:spPr>
        <p:txBody>
          <a:bodyPr wrap="square"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2</a:t>
            </a:r>
            <a:endParaRPr lang="en-US" sz="750" dirty="0"/>
          </a:p>
        </p:txBody>
      </p:sp>
      <p:sp>
        <p:nvSpPr>
          <p:cNvPr id="50" name="Text 48"/>
          <p:cNvSpPr/>
          <p:nvPr/>
        </p:nvSpPr>
        <p:spPr>
          <a:xfrm>
            <a:off x="3236976" y="3877056"/>
            <a:ext cx="1609344" cy="219456"/>
          </a:xfrm>
          <a:prstGeom prst="rect">
            <a:avLst/>
          </a:prstGeom>
          <a:noFill/>
          <a:ln/>
        </p:spPr>
        <p:txBody>
          <a:bodyPr wrap="square" rtlCol="0" anchor="ctr"/>
          <a:lstStyle/>
          <a:p>
            <a:pPr indent="0" marL="0">
              <a:buNone/>
            </a:pPr>
            <a:r>
              <a:rPr lang="en-US" sz="950" b="1" dirty="0">
                <a:solidFill>
                  <a:srgbClr val="1C1917"/>
                </a:solidFill>
                <a:latin typeface="Arial" pitchFamily="34" charset="0"/>
                <a:ea typeface="Arial" pitchFamily="34" charset="-122"/>
                <a:cs typeface="Arial" pitchFamily="34" charset="-120"/>
              </a:rPr>
              <a:t>五步自愈物理闭环</a:t>
            </a:r>
            <a:endParaRPr lang="en-US" sz="950" dirty="0"/>
          </a:p>
        </p:txBody>
      </p:sp>
      <p:sp>
        <p:nvSpPr>
          <p:cNvPr id="51" name="Text 49"/>
          <p:cNvSpPr/>
          <p:nvPr/>
        </p:nvSpPr>
        <p:spPr>
          <a:xfrm>
            <a:off x="3236976" y="4096512"/>
            <a:ext cx="1609344" cy="457200"/>
          </a:xfrm>
          <a:prstGeom prst="rect">
            <a:avLst/>
          </a:prstGeom>
          <a:noFill/>
          <a:ln/>
        </p:spPr>
        <p:txBody>
          <a:bodyPr wrap="square" rtlCol="0" anchor="ctr"/>
          <a:lstStyle/>
          <a:p>
            <a:pPr indent="0" marL="0">
              <a:lnSpc>
                <a:spcPts val="1100"/>
              </a:lnSpc>
              <a:buNone/>
            </a:pPr>
            <a:r>
              <a:rPr lang="en-US" sz="850" dirty="0">
                <a:solidFill>
                  <a:srgbClr val="57534E"/>
                </a:solidFill>
                <a:latin typeface="Arial" pitchFamily="34" charset="0"/>
                <a:ea typeface="Arial" pitchFamily="34" charset="-122"/>
                <a:cs typeface="Arial" pitchFamily="34" charset="-120"/>
              </a:rPr>
              <a:t>从 STDERR 到生产合入</a:t>
            </a:r>
            <a:endParaRPr lang="en-US" sz="850" dirty="0"/>
          </a:p>
        </p:txBody>
      </p:sp>
      <p:sp>
        <p:nvSpPr>
          <p:cNvPr id="52" name="Shape 50"/>
          <p:cNvSpPr/>
          <p:nvPr/>
        </p:nvSpPr>
        <p:spPr>
          <a:xfrm>
            <a:off x="2999232" y="4645152"/>
            <a:ext cx="1828800" cy="0"/>
          </a:xfrm>
          <a:prstGeom prst="line">
            <a:avLst/>
          </a:prstGeom>
          <a:noFill/>
          <a:ln w="6350">
            <a:solidFill>
              <a:srgbClr val="E2DCD2"/>
            </a:solidFill>
            <a:prstDash val="solid"/>
          </a:ln>
        </p:spPr>
      </p:sp>
      <p:sp>
        <p:nvSpPr>
          <p:cNvPr id="53" name="Shape 51"/>
          <p:cNvSpPr/>
          <p:nvPr/>
        </p:nvSpPr>
        <p:spPr>
          <a:xfrm>
            <a:off x="2999232" y="4754880"/>
            <a:ext cx="182880" cy="182880"/>
          </a:xfrm>
          <a:prstGeom prst="ellipse">
            <a:avLst/>
          </a:prstGeom>
          <a:solidFill>
            <a:srgbClr val="D97757"/>
          </a:solidFill>
          <a:ln/>
        </p:spPr>
      </p:sp>
      <p:sp>
        <p:nvSpPr>
          <p:cNvPr id="54" name="Text 52"/>
          <p:cNvSpPr/>
          <p:nvPr/>
        </p:nvSpPr>
        <p:spPr>
          <a:xfrm>
            <a:off x="2999232" y="4754880"/>
            <a:ext cx="182880" cy="182880"/>
          </a:xfrm>
          <a:prstGeom prst="rect">
            <a:avLst/>
          </a:prstGeom>
          <a:noFill/>
          <a:ln/>
        </p:spPr>
        <p:txBody>
          <a:bodyPr wrap="square"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3</a:t>
            </a:r>
            <a:endParaRPr lang="en-US" sz="750" dirty="0"/>
          </a:p>
        </p:txBody>
      </p:sp>
      <p:sp>
        <p:nvSpPr>
          <p:cNvPr id="55" name="Text 53"/>
          <p:cNvSpPr/>
          <p:nvPr/>
        </p:nvSpPr>
        <p:spPr>
          <a:xfrm>
            <a:off x="3236976" y="4718304"/>
            <a:ext cx="1609344" cy="219456"/>
          </a:xfrm>
          <a:prstGeom prst="rect">
            <a:avLst/>
          </a:prstGeom>
          <a:noFill/>
          <a:ln/>
        </p:spPr>
        <p:txBody>
          <a:bodyPr wrap="square" rtlCol="0" anchor="ctr"/>
          <a:lstStyle/>
          <a:p>
            <a:pPr indent="0" marL="0">
              <a:buNone/>
            </a:pPr>
            <a:r>
              <a:rPr lang="en-US" sz="950" b="1" dirty="0">
                <a:solidFill>
                  <a:srgbClr val="1C1917"/>
                </a:solidFill>
                <a:latin typeface="Arial" pitchFamily="34" charset="0"/>
                <a:ea typeface="Arial" pitchFamily="34" charset="-122"/>
                <a:cs typeface="Arial" pitchFamily="34" charset="-120"/>
              </a:rPr>
              <a:t>Sonnet 反超 Opus</a:t>
            </a:r>
            <a:endParaRPr lang="en-US" sz="950" dirty="0"/>
          </a:p>
        </p:txBody>
      </p:sp>
      <p:sp>
        <p:nvSpPr>
          <p:cNvPr id="56" name="Text 54"/>
          <p:cNvSpPr/>
          <p:nvPr/>
        </p:nvSpPr>
        <p:spPr>
          <a:xfrm>
            <a:off x="3236976" y="4937760"/>
            <a:ext cx="1609344" cy="457200"/>
          </a:xfrm>
          <a:prstGeom prst="rect">
            <a:avLst/>
          </a:prstGeom>
          <a:noFill/>
          <a:ln/>
        </p:spPr>
        <p:txBody>
          <a:bodyPr wrap="square" rtlCol="0" anchor="ctr"/>
          <a:lstStyle/>
          <a:p>
            <a:pPr indent="0" marL="0">
              <a:lnSpc>
                <a:spcPts val="1100"/>
              </a:lnSpc>
              <a:buNone/>
            </a:pPr>
            <a:r>
              <a:rPr lang="en-US" sz="850" dirty="0">
                <a:solidFill>
                  <a:srgbClr val="57534E"/>
                </a:solidFill>
                <a:latin typeface="Arial" pitchFamily="34" charset="0"/>
                <a:ea typeface="Arial" pitchFamily="34" charset="-122"/>
                <a:cs typeface="Arial" pitchFamily="34" charset="-120"/>
              </a:rPr>
              <a:t>敏捷试错的工程经济学</a:t>
            </a:r>
            <a:endParaRPr lang="en-US" sz="850" dirty="0"/>
          </a:p>
        </p:txBody>
      </p:sp>
      <p:sp>
        <p:nvSpPr>
          <p:cNvPr id="57" name="Shape 55"/>
          <p:cNvSpPr/>
          <p:nvPr/>
        </p:nvSpPr>
        <p:spPr>
          <a:xfrm>
            <a:off x="2999232" y="5486400"/>
            <a:ext cx="1828800" cy="0"/>
          </a:xfrm>
          <a:prstGeom prst="line">
            <a:avLst/>
          </a:prstGeom>
          <a:noFill/>
          <a:ln w="6350">
            <a:solidFill>
              <a:srgbClr val="E2DCD2"/>
            </a:solidFill>
            <a:prstDash val="solid"/>
          </a:ln>
        </p:spPr>
      </p:sp>
      <p:sp>
        <p:nvSpPr>
          <p:cNvPr id="58" name="Shape 56"/>
          <p:cNvSpPr/>
          <p:nvPr/>
        </p:nvSpPr>
        <p:spPr>
          <a:xfrm>
            <a:off x="2999232" y="5596128"/>
            <a:ext cx="182880" cy="182880"/>
          </a:xfrm>
          <a:prstGeom prst="ellipse">
            <a:avLst/>
          </a:prstGeom>
          <a:solidFill>
            <a:srgbClr val="D97757"/>
          </a:solidFill>
          <a:ln/>
        </p:spPr>
      </p:sp>
      <p:sp>
        <p:nvSpPr>
          <p:cNvPr id="59" name="Text 57"/>
          <p:cNvSpPr/>
          <p:nvPr/>
        </p:nvSpPr>
        <p:spPr>
          <a:xfrm>
            <a:off x="2999232" y="5596128"/>
            <a:ext cx="182880" cy="182880"/>
          </a:xfrm>
          <a:prstGeom prst="rect">
            <a:avLst/>
          </a:prstGeom>
          <a:noFill/>
          <a:ln/>
        </p:spPr>
        <p:txBody>
          <a:bodyPr wrap="square"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4</a:t>
            </a:r>
            <a:endParaRPr lang="en-US" sz="750" dirty="0"/>
          </a:p>
        </p:txBody>
      </p:sp>
      <p:sp>
        <p:nvSpPr>
          <p:cNvPr id="60" name="Text 58"/>
          <p:cNvSpPr/>
          <p:nvPr/>
        </p:nvSpPr>
        <p:spPr>
          <a:xfrm>
            <a:off x="3236976" y="5559552"/>
            <a:ext cx="1609344" cy="219456"/>
          </a:xfrm>
          <a:prstGeom prst="rect">
            <a:avLst/>
          </a:prstGeom>
          <a:noFill/>
          <a:ln/>
        </p:spPr>
        <p:txBody>
          <a:bodyPr wrap="square" rtlCol="0" anchor="ctr"/>
          <a:lstStyle/>
          <a:p>
            <a:pPr indent="0" marL="0">
              <a:buNone/>
            </a:pPr>
            <a:r>
              <a:rPr lang="en-US" sz="950" b="1" dirty="0">
                <a:solidFill>
                  <a:srgbClr val="1C1917"/>
                </a:solidFill>
                <a:latin typeface="Arial" pitchFamily="34" charset="0"/>
                <a:ea typeface="Arial" pitchFamily="34" charset="-122"/>
                <a:cs typeface="Arial" pitchFamily="34" charset="-120"/>
              </a:rPr>
              <a:t>Claude Code 装甲</a:t>
            </a:r>
            <a:endParaRPr lang="en-US" sz="950" dirty="0"/>
          </a:p>
        </p:txBody>
      </p:sp>
      <p:sp>
        <p:nvSpPr>
          <p:cNvPr id="61" name="Text 59"/>
          <p:cNvSpPr/>
          <p:nvPr/>
        </p:nvSpPr>
        <p:spPr>
          <a:xfrm>
            <a:off x="3236976" y="5779008"/>
            <a:ext cx="1609344" cy="457200"/>
          </a:xfrm>
          <a:prstGeom prst="rect">
            <a:avLst/>
          </a:prstGeom>
          <a:noFill/>
          <a:ln/>
        </p:spPr>
        <p:txBody>
          <a:bodyPr wrap="square" rtlCol="0" anchor="ctr"/>
          <a:lstStyle/>
          <a:p>
            <a:pPr indent="0" marL="0">
              <a:lnSpc>
                <a:spcPts val="1100"/>
              </a:lnSpc>
              <a:buNone/>
            </a:pPr>
            <a:r>
              <a:rPr lang="en-US" sz="850" dirty="0">
                <a:solidFill>
                  <a:srgbClr val="57534E"/>
                </a:solidFill>
                <a:latin typeface="Arial" pitchFamily="34" charset="0"/>
                <a:ea typeface="Arial" pitchFamily="34" charset="-122"/>
                <a:cs typeface="Arial" pitchFamily="34" charset="-120"/>
              </a:rPr>
              <a:t>850k 压缩与 CLI 降维</a:t>
            </a:r>
            <a:endParaRPr lang="en-US" sz="850" dirty="0"/>
          </a:p>
        </p:txBody>
      </p:sp>
      <p:sp>
        <p:nvSpPr>
          <p:cNvPr id="62" name="Shape 60"/>
          <p:cNvSpPr/>
          <p:nvPr/>
        </p:nvSpPr>
        <p:spPr>
          <a:xfrm>
            <a:off x="2999232" y="5687568"/>
            <a:ext cx="1828800" cy="384048"/>
          </a:xfrm>
          <a:prstGeom prst="rect">
            <a:avLst/>
          </a:prstGeom>
          <a:solidFill>
            <a:srgbClr val="EFEBE1"/>
          </a:solidFill>
          <a:ln w="12700">
            <a:solidFill>
              <a:srgbClr val="E2DCD2"/>
            </a:solidFill>
            <a:prstDash val="solid"/>
          </a:ln>
        </p:spPr>
      </p:sp>
      <p:sp>
        <p:nvSpPr>
          <p:cNvPr id="63" name="Text 61"/>
          <p:cNvSpPr/>
          <p:nvPr/>
        </p:nvSpPr>
        <p:spPr>
          <a:xfrm>
            <a:off x="2999232" y="5742432"/>
            <a:ext cx="1828800" cy="274320"/>
          </a:xfrm>
          <a:prstGeom prst="rect">
            <a:avLst/>
          </a:prstGeom>
          <a:noFill/>
          <a:ln/>
        </p:spPr>
        <p:txBody>
          <a:bodyPr wrap="square" rtlCol="0" anchor="ctr"/>
          <a:lstStyle/>
          <a:p>
            <a:pPr algn="ctr" indent="0" marL="0">
              <a:buNone/>
            </a:pPr>
            <a:r>
              <a:rPr lang="en-US" sz="850" b="1" dirty="0">
                <a:solidFill>
                  <a:srgbClr val="D97757"/>
                </a:solidFill>
                <a:latin typeface="Arial" pitchFamily="34" charset="0"/>
                <a:ea typeface="Arial" pitchFamily="34" charset="-122"/>
                <a:cs typeface="Arial" pitchFamily="34" charset="-120"/>
              </a:rPr>
              <a:t>深入 P.11 展开 ▸</a:t>
            </a:r>
            <a:endParaRPr lang="en-US" sz="850" dirty="0"/>
          </a:p>
        </p:txBody>
      </p:sp>
      <p:sp>
        <p:nvSpPr>
          <p:cNvPr id="64" name="Shape 62"/>
          <p:cNvSpPr/>
          <p:nvPr/>
        </p:nvSpPr>
        <p:spPr>
          <a:xfrm>
            <a:off x="5047488" y="1325880"/>
            <a:ext cx="2048256" cy="4892040"/>
          </a:xfrm>
          <a:prstGeom prst="rect">
            <a:avLst/>
          </a:prstGeom>
          <a:solidFill>
            <a:srgbClr val="FFFFFF"/>
          </a:solidFill>
          <a:ln w="12700">
            <a:solidFill>
              <a:srgbClr val="E2DCD2"/>
            </a:solidFill>
            <a:prstDash val="solid"/>
          </a:ln>
        </p:spPr>
      </p:sp>
      <p:sp>
        <p:nvSpPr>
          <p:cNvPr id="65" name="Shape 63"/>
          <p:cNvSpPr/>
          <p:nvPr/>
        </p:nvSpPr>
        <p:spPr>
          <a:xfrm>
            <a:off x="5047488" y="1325880"/>
            <a:ext cx="2048256" cy="868680"/>
          </a:xfrm>
          <a:prstGeom prst="rect">
            <a:avLst/>
          </a:prstGeom>
          <a:solidFill>
            <a:srgbClr val="D97706"/>
          </a:solidFill>
          <a:ln/>
        </p:spPr>
      </p:sp>
      <p:sp>
        <p:nvSpPr>
          <p:cNvPr id="66" name="Text 64"/>
          <p:cNvSpPr/>
          <p:nvPr/>
        </p:nvSpPr>
        <p:spPr>
          <a:xfrm>
            <a:off x="5138928" y="1408176"/>
            <a:ext cx="1865376" cy="201168"/>
          </a:xfrm>
          <a:prstGeom prst="rect">
            <a:avLst/>
          </a:prstGeom>
          <a:noFill/>
          <a:ln/>
        </p:spPr>
        <p:txBody>
          <a:bodyPr wrap="square" rtlCol="0" anchor="ctr"/>
          <a:lstStyle/>
          <a:p>
            <a:pPr indent="0" marL="0">
              <a:buNone/>
            </a:pPr>
            <a:r>
              <a:rPr lang="en-US" sz="850" b="1" spc="120" kern="0" dirty="0">
                <a:solidFill>
                  <a:srgbClr val="FFFFFF"/>
                </a:solidFill>
                <a:latin typeface="Arial" pitchFamily="34" charset="0"/>
                <a:ea typeface="Arial" pitchFamily="34" charset="-122"/>
                <a:cs typeface="Arial" pitchFamily="34" charset="-120"/>
              </a:rPr>
              <a:t>PART 03</a:t>
            </a:r>
            <a:endParaRPr lang="en-US" sz="850" dirty="0"/>
          </a:p>
        </p:txBody>
      </p:sp>
      <p:sp>
        <p:nvSpPr>
          <p:cNvPr id="67" name="Text 65"/>
          <p:cNvSpPr/>
          <p:nvPr/>
        </p:nvSpPr>
        <p:spPr>
          <a:xfrm>
            <a:off x="5138928" y="1609344"/>
            <a:ext cx="1865376" cy="228600"/>
          </a:xfrm>
          <a:prstGeom prst="rect">
            <a:avLst/>
          </a:prstGeom>
          <a:noFill/>
          <a:ln/>
        </p:spPr>
        <p:txBody>
          <a:bodyPr wrap="square" rtlCol="0" anchor="ctr"/>
          <a:lstStyle/>
          <a:p>
            <a:pPr indent="0" marL="0">
              <a:buNone/>
            </a:pPr>
            <a:r>
              <a:rPr lang="en-US" sz="950" b="1" dirty="0">
                <a:solidFill>
                  <a:srgbClr val="FFFFFF"/>
                </a:solidFill>
                <a:latin typeface="Arial" pitchFamily="34" charset="0"/>
                <a:ea typeface="Arial" pitchFamily="34" charset="-122"/>
                <a:cs typeface="Arial" pitchFamily="34" charset="-120"/>
              </a:rPr>
              <a:t>P.17 – 22</a:t>
            </a:r>
            <a:endParaRPr lang="en-US" sz="950" dirty="0"/>
          </a:p>
        </p:txBody>
      </p:sp>
      <p:sp>
        <p:nvSpPr>
          <p:cNvPr id="68" name="Shape 66"/>
          <p:cNvSpPr/>
          <p:nvPr/>
        </p:nvSpPr>
        <p:spPr>
          <a:xfrm>
            <a:off x="6318504" y="1408176"/>
            <a:ext cx="658368" cy="201168"/>
          </a:xfrm>
          <a:prstGeom prst="rect">
            <a:avLst/>
          </a:prstGeom>
          <a:solidFill>
            <a:srgbClr val="FFFFFF"/>
          </a:solidFill>
          <a:ln/>
        </p:spPr>
      </p:sp>
      <p:sp>
        <p:nvSpPr>
          <p:cNvPr id="69" name="Text 67"/>
          <p:cNvSpPr/>
          <p:nvPr/>
        </p:nvSpPr>
        <p:spPr>
          <a:xfrm>
            <a:off x="6318504" y="1408176"/>
            <a:ext cx="658368" cy="201168"/>
          </a:xfrm>
          <a:prstGeom prst="rect">
            <a:avLst/>
          </a:prstGeom>
          <a:noFill/>
          <a:ln/>
        </p:spPr>
        <p:txBody>
          <a:bodyPr wrap="square" rtlCol="0" anchor="ctr"/>
          <a:lstStyle/>
          <a:p>
            <a:pPr algn="ctr" indent="0" marL="0">
              <a:buNone/>
            </a:pPr>
            <a:r>
              <a:rPr lang="en-US" sz="750" b="1" dirty="0">
                <a:solidFill>
                  <a:srgbClr val="D97706"/>
                </a:solidFill>
                <a:latin typeface="Arial" pitchFamily="34" charset="0"/>
                <a:ea typeface="Arial" pitchFamily="34" charset="-122"/>
                <a:cs typeface="Arial" pitchFamily="34" charset="-120"/>
              </a:rPr>
              <a:t>认知基座</a:t>
            </a:r>
            <a:endParaRPr lang="en-US" sz="750" dirty="0"/>
          </a:p>
        </p:txBody>
      </p:sp>
      <p:sp>
        <p:nvSpPr>
          <p:cNvPr id="70" name="Text 68"/>
          <p:cNvSpPr/>
          <p:nvPr/>
        </p:nvSpPr>
        <p:spPr>
          <a:xfrm>
            <a:off x="5157216" y="2286000"/>
            <a:ext cx="1828800" cy="594360"/>
          </a:xfrm>
          <a:prstGeom prst="rect">
            <a:avLst/>
          </a:prstGeom>
          <a:noFill/>
          <a:ln/>
        </p:spPr>
        <p:txBody>
          <a:bodyPr wrap="square" rtlCol="0" anchor="ctr"/>
          <a:lstStyle/>
          <a:p>
            <a:pPr indent="0" marL="0">
              <a:lnSpc>
                <a:spcPts val="1500"/>
              </a:lnSpc>
              <a:buNone/>
            </a:pPr>
            <a:r>
              <a:rPr lang="en-US" sz="1150" b="1" dirty="0">
                <a:solidFill>
                  <a:srgbClr val="1C1917"/>
                </a:solidFill>
                <a:latin typeface="Arial" pitchFamily="34" charset="0"/>
                <a:ea typeface="Arial" pitchFamily="34" charset="-122"/>
                <a:cs typeface="Arial" pitchFamily="34" charset="-120"/>
              </a:rPr>
              <a:t>代码即 AGI：通用认知操作系统</a:t>
            </a:r>
            <a:endParaRPr lang="en-US" sz="1150" dirty="0"/>
          </a:p>
        </p:txBody>
      </p:sp>
      <p:sp>
        <p:nvSpPr>
          <p:cNvPr id="71" name="Shape 69"/>
          <p:cNvSpPr/>
          <p:nvPr/>
        </p:nvSpPr>
        <p:spPr>
          <a:xfrm>
            <a:off x="5157216" y="2926080"/>
            <a:ext cx="1828800" cy="0"/>
          </a:xfrm>
          <a:prstGeom prst="line">
            <a:avLst/>
          </a:prstGeom>
          <a:noFill/>
          <a:ln w="12700">
            <a:solidFill>
              <a:srgbClr val="E2DCD2"/>
            </a:solidFill>
            <a:prstDash val="solid"/>
          </a:ln>
        </p:spPr>
      </p:sp>
      <p:sp>
        <p:nvSpPr>
          <p:cNvPr id="72" name="Shape 70"/>
          <p:cNvSpPr/>
          <p:nvPr/>
        </p:nvSpPr>
        <p:spPr>
          <a:xfrm>
            <a:off x="5157216" y="3072384"/>
            <a:ext cx="182880" cy="182880"/>
          </a:xfrm>
          <a:prstGeom prst="ellipse">
            <a:avLst/>
          </a:prstGeom>
          <a:solidFill>
            <a:srgbClr val="D97706"/>
          </a:solidFill>
          <a:ln/>
        </p:spPr>
      </p:sp>
      <p:sp>
        <p:nvSpPr>
          <p:cNvPr id="73" name="Text 71"/>
          <p:cNvSpPr/>
          <p:nvPr/>
        </p:nvSpPr>
        <p:spPr>
          <a:xfrm>
            <a:off x="5157216" y="3072384"/>
            <a:ext cx="182880" cy="182880"/>
          </a:xfrm>
          <a:prstGeom prst="rect">
            <a:avLst/>
          </a:prstGeom>
          <a:noFill/>
          <a:ln/>
        </p:spPr>
        <p:txBody>
          <a:bodyPr wrap="square"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1</a:t>
            </a:r>
            <a:endParaRPr lang="en-US" sz="750" dirty="0"/>
          </a:p>
        </p:txBody>
      </p:sp>
      <p:sp>
        <p:nvSpPr>
          <p:cNvPr id="74" name="Text 72"/>
          <p:cNvSpPr/>
          <p:nvPr/>
        </p:nvSpPr>
        <p:spPr>
          <a:xfrm>
            <a:off x="5394960" y="3035808"/>
            <a:ext cx="1609344" cy="219456"/>
          </a:xfrm>
          <a:prstGeom prst="rect">
            <a:avLst/>
          </a:prstGeom>
          <a:noFill/>
          <a:ln/>
        </p:spPr>
        <p:txBody>
          <a:bodyPr wrap="square" rtlCol="0" anchor="ctr"/>
          <a:lstStyle/>
          <a:p>
            <a:pPr indent="0" marL="0">
              <a:buNone/>
            </a:pPr>
            <a:r>
              <a:rPr lang="en-US" sz="950" b="1" dirty="0">
                <a:solidFill>
                  <a:srgbClr val="1C1917"/>
                </a:solidFill>
                <a:latin typeface="Arial" pitchFamily="34" charset="0"/>
                <a:ea typeface="Arial" pitchFamily="34" charset="-122"/>
                <a:cs typeface="Arial" pitchFamily="34" charset="-120"/>
              </a:rPr>
              <a:t>4 层认知 OS 堆栈</a:t>
            </a:r>
            <a:endParaRPr lang="en-US" sz="950" dirty="0"/>
          </a:p>
        </p:txBody>
      </p:sp>
      <p:sp>
        <p:nvSpPr>
          <p:cNvPr id="75" name="Text 73"/>
          <p:cNvSpPr/>
          <p:nvPr/>
        </p:nvSpPr>
        <p:spPr>
          <a:xfrm>
            <a:off x="5394960" y="3255264"/>
            <a:ext cx="1609344" cy="457200"/>
          </a:xfrm>
          <a:prstGeom prst="rect">
            <a:avLst/>
          </a:prstGeom>
          <a:noFill/>
          <a:ln/>
        </p:spPr>
        <p:txBody>
          <a:bodyPr wrap="square" rtlCol="0" anchor="ctr"/>
          <a:lstStyle/>
          <a:p>
            <a:pPr indent="0" marL="0">
              <a:lnSpc>
                <a:spcPts val="1100"/>
              </a:lnSpc>
              <a:buNone/>
            </a:pPr>
            <a:r>
              <a:rPr lang="en-US" sz="850" dirty="0">
                <a:solidFill>
                  <a:srgbClr val="57534E"/>
                </a:solidFill>
                <a:latin typeface="Arial" pitchFamily="34" charset="0"/>
                <a:ea typeface="Arial" pitchFamily="34" charset="-122"/>
                <a:cs typeface="Arial" pitchFamily="34" charset="-120"/>
              </a:rPr>
              <a:t>真理、调度、记忆、反思</a:t>
            </a:r>
            <a:endParaRPr lang="en-US" sz="850" dirty="0"/>
          </a:p>
        </p:txBody>
      </p:sp>
      <p:sp>
        <p:nvSpPr>
          <p:cNvPr id="76" name="Shape 74"/>
          <p:cNvSpPr/>
          <p:nvPr/>
        </p:nvSpPr>
        <p:spPr>
          <a:xfrm>
            <a:off x="5157216" y="3803904"/>
            <a:ext cx="1828800" cy="0"/>
          </a:xfrm>
          <a:prstGeom prst="line">
            <a:avLst/>
          </a:prstGeom>
          <a:noFill/>
          <a:ln w="6350">
            <a:solidFill>
              <a:srgbClr val="E2DCD2"/>
            </a:solidFill>
            <a:prstDash val="solid"/>
          </a:ln>
        </p:spPr>
      </p:sp>
      <p:sp>
        <p:nvSpPr>
          <p:cNvPr id="77" name="Shape 75"/>
          <p:cNvSpPr/>
          <p:nvPr/>
        </p:nvSpPr>
        <p:spPr>
          <a:xfrm>
            <a:off x="5157216" y="3913632"/>
            <a:ext cx="182880" cy="182880"/>
          </a:xfrm>
          <a:prstGeom prst="ellipse">
            <a:avLst/>
          </a:prstGeom>
          <a:solidFill>
            <a:srgbClr val="D97706"/>
          </a:solidFill>
          <a:ln/>
        </p:spPr>
      </p:sp>
      <p:sp>
        <p:nvSpPr>
          <p:cNvPr id="78" name="Text 76"/>
          <p:cNvSpPr/>
          <p:nvPr/>
        </p:nvSpPr>
        <p:spPr>
          <a:xfrm>
            <a:off x="5157216" y="3913632"/>
            <a:ext cx="182880" cy="182880"/>
          </a:xfrm>
          <a:prstGeom prst="rect">
            <a:avLst/>
          </a:prstGeom>
          <a:noFill/>
          <a:ln/>
        </p:spPr>
        <p:txBody>
          <a:bodyPr wrap="square"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2</a:t>
            </a:r>
            <a:endParaRPr lang="en-US" sz="750" dirty="0"/>
          </a:p>
        </p:txBody>
      </p:sp>
      <p:sp>
        <p:nvSpPr>
          <p:cNvPr id="79" name="Text 77"/>
          <p:cNvSpPr/>
          <p:nvPr/>
        </p:nvSpPr>
        <p:spPr>
          <a:xfrm>
            <a:off x="5394960" y="3877056"/>
            <a:ext cx="1609344" cy="219456"/>
          </a:xfrm>
          <a:prstGeom prst="rect">
            <a:avLst/>
          </a:prstGeom>
          <a:noFill/>
          <a:ln/>
        </p:spPr>
        <p:txBody>
          <a:bodyPr wrap="square" rtlCol="0" anchor="ctr"/>
          <a:lstStyle/>
          <a:p>
            <a:pPr indent="0" marL="0">
              <a:buNone/>
            </a:pPr>
            <a:r>
              <a:rPr lang="en-US" sz="950" b="1" dirty="0">
                <a:solidFill>
                  <a:srgbClr val="1C1917"/>
                </a:solidFill>
                <a:latin typeface="Arial" pitchFamily="34" charset="0"/>
                <a:ea typeface="Arial" pitchFamily="34" charset="-122"/>
                <a:cs typeface="Arial" pitchFamily="34" charset="-120"/>
              </a:rPr>
              <a:t>Instinct 与 Muse</a:t>
            </a:r>
            <a:endParaRPr lang="en-US" sz="950" dirty="0"/>
          </a:p>
        </p:txBody>
      </p:sp>
      <p:sp>
        <p:nvSpPr>
          <p:cNvPr id="80" name="Text 78"/>
          <p:cNvSpPr/>
          <p:nvPr/>
        </p:nvSpPr>
        <p:spPr>
          <a:xfrm>
            <a:off x="5394960" y="4096512"/>
            <a:ext cx="1609344" cy="457200"/>
          </a:xfrm>
          <a:prstGeom prst="rect">
            <a:avLst/>
          </a:prstGeom>
          <a:noFill/>
          <a:ln/>
        </p:spPr>
        <p:txBody>
          <a:bodyPr wrap="square" rtlCol="0" anchor="ctr"/>
          <a:lstStyle/>
          <a:p>
            <a:pPr indent="0" marL="0">
              <a:lnSpc>
                <a:spcPts val="1100"/>
              </a:lnSpc>
              <a:buNone/>
            </a:pPr>
            <a:r>
              <a:rPr lang="en-US" sz="850" dirty="0">
                <a:solidFill>
                  <a:srgbClr val="57534E"/>
                </a:solidFill>
                <a:latin typeface="Arial" pitchFamily="34" charset="0"/>
                <a:ea typeface="Arial" pitchFamily="34" charset="-122"/>
                <a:cs typeface="Arial" pitchFamily="34" charset="-120"/>
              </a:rPr>
              <a:t>哲学与艺术的跨界铁证</a:t>
            </a:r>
            <a:endParaRPr lang="en-US" sz="850" dirty="0"/>
          </a:p>
        </p:txBody>
      </p:sp>
      <p:sp>
        <p:nvSpPr>
          <p:cNvPr id="81" name="Shape 79"/>
          <p:cNvSpPr/>
          <p:nvPr/>
        </p:nvSpPr>
        <p:spPr>
          <a:xfrm>
            <a:off x="5157216" y="4645152"/>
            <a:ext cx="1828800" cy="0"/>
          </a:xfrm>
          <a:prstGeom prst="line">
            <a:avLst/>
          </a:prstGeom>
          <a:noFill/>
          <a:ln w="6350">
            <a:solidFill>
              <a:srgbClr val="E2DCD2"/>
            </a:solidFill>
            <a:prstDash val="solid"/>
          </a:ln>
        </p:spPr>
      </p:sp>
      <p:sp>
        <p:nvSpPr>
          <p:cNvPr id="82" name="Shape 80"/>
          <p:cNvSpPr/>
          <p:nvPr/>
        </p:nvSpPr>
        <p:spPr>
          <a:xfrm>
            <a:off x="5157216" y="4754880"/>
            <a:ext cx="182880" cy="182880"/>
          </a:xfrm>
          <a:prstGeom prst="ellipse">
            <a:avLst/>
          </a:prstGeom>
          <a:solidFill>
            <a:srgbClr val="D97706"/>
          </a:solidFill>
          <a:ln/>
        </p:spPr>
      </p:sp>
      <p:sp>
        <p:nvSpPr>
          <p:cNvPr id="83" name="Text 81"/>
          <p:cNvSpPr/>
          <p:nvPr/>
        </p:nvSpPr>
        <p:spPr>
          <a:xfrm>
            <a:off x="5157216" y="4754880"/>
            <a:ext cx="182880" cy="182880"/>
          </a:xfrm>
          <a:prstGeom prst="rect">
            <a:avLst/>
          </a:prstGeom>
          <a:noFill/>
          <a:ln/>
        </p:spPr>
        <p:txBody>
          <a:bodyPr wrap="square"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3</a:t>
            </a:r>
            <a:endParaRPr lang="en-US" sz="750" dirty="0"/>
          </a:p>
        </p:txBody>
      </p:sp>
      <p:sp>
        <p:nvSpPr>
          <p:cNvPr id="84" name="Text 82"/>
          <p:cNvSpPr/>
          <p:nvPr/>
        </p:nvSpPr>
        <p:spPr>
          <a:xfrm>
            <a:off x="5394960" y="4718304"/>
            <a:ext cx="1609344" cy="219456"/>
          </a:xfrm>
          <a:prstGeom prst="rect">
            <a:avLst/>
          </a:prstGeom>
          <a:noFill/>
          <a:ln/>
        </p:spPr>
        <p:txBody>
          <a:bodyPr wrap="square" rtlCol="0" anchor="ctr"/>
          <a:lstStyle/>
          <a:p>
            <a:pPr indent="0" marL="0">
              <a:buNone/>
            </a:pPr>
            <a:r>
              <a:rPr lang="en-US" sz="950" b="1" dirty="0">
                <a:solidFill>
                  <a:srgbClr val="1C1917"/>
                </a:solidFill>
                <a:latin typeface="Arial" pitchFamily="34" charset="0"/>
                <a:ea typeface="Arial" pitchFamily="34" charset="-122"/>
                <a:cs typeface="Arial" pitchFamily="34" charset="-120"/>
              </a:rPr>
              <a:t>Software 3.0 革命</a:t>
            </a:r>
            <a:endParaRPr lang="en-US" sz="950" dirty="0"/>
          </a:p>
        </p:txBody>
      </p:sp>
      <p:sp>
        <p:nvSpPr>
          <p:cNvPr id="85" name="Text 83"/>
          <p:cNvSpPr/>
          <p:nvPr/>
        </p:nvSpPr>
        <p:spPr>
          <a:xfrm>
            <a:off x="5394960" y="4937760"/>
            <a:ext cx="1609344" cy="457200"/>
          </a:xfrm>
          <a:prstGeom prst="rect">
            <a:avLst/>
          </a:prstGeom>
          <a:noFill/>
          <a:ln/>
        </p:spPr>
        <p:txBody>
          <a:bodyPr wrap="square" rtlCol="0" anchor="ctr"/>
          <a:lstStyle/>
          <a:p>
            <a:pPr indent="0" marL="0">
              <a:lnSpc>
                <a:spcPts val="1100"/>
              </a:lnSpc>
              <a:buNone/>
            </a:pPr>
            <a:r>
              <a:rPr lang="en-US" sz="850" dirty="0">
                <a:solidFill>
                  <a:srgbClr val="57534E"/>
                </a:solidFill>
                <a:latin typeface="Arial" pitchFamily="34" charset="0"/>
                <a:ea typeface="Arial" pitchFamily="34" charset="-122"/>
                <a:cs typeface="Arial" pitchFamily="34" charset="-120"/>
              </a:rPr>
              <a:t>即生即灭的思维中间态</a:t>
            </a:r>
            <a:endParaRPr lang="en-US" sz="850" dirty="0"/>
          </a:p>
        </p:txBody>
      </p:sp>
      <p:sp>
        <p:nvSpPr>
          <p:cNvPr id="86" name="Shape 84"/>
          <p:cNvSpPr/>
          <p:nvPr/>
        </p:nvSpPr>
        <p:spPr>
          <a:xfrm>
            <a:off x="5157216" y="5486400"/>
            <a:ext cx="1828800" cy="0"/>
          </a:xfrm>
          <a:prstGeom prst="line">
            <a:avLst/>
          </a:prstGeom>
          <a:noFill/>
          <a:ln w="6350">
            <a:solidFill>
              <a:srgbClr val="E2DCD2"/>
            </a:solidFill>
            <a:prstDash val="solid"/>
          </a:ln>
        </p:spPr>
      </p:sp>
      <p:sp>
        <p:nvSpPr>
          <p:cNvPr id="87" name="Shape 85"/>
          <p:cNvSpPr/>
          <p:nvPr/>
        </p:nvSpPr>
        <p:spPr>
          <a:xfrm>
            <a:off x="5157216" y="5596128"/>
            <a:ext cx="182880" cy="182880"/>
          </a:xfrm>
          <a:prstGeom prst="ellipse">
            <a:avLst/>
          </a:prstGeom>
          <a:solidFill>
            <a:srgbClr val="D97706"/>
          </a:solidFill>
          <a:ln/>
        </p:spPr>
      </p:sp>
      <p:sp>
        <p:nvSpPr>
          <p:cNvPr id="88" name="Text 86"/>
          <p:cNvSpPr/>
          <p:nvPr/>
        </p:nvSpPr>
        <p:spPr>
          <a:xfrm>
            <a:off x="5157216" y="5596128"/>
            <a:ext cx="182880" cy="182880"/>
          </a:xfrm>
          <a:prstGeom prst="rect">
            <a:avLst/>
          </a:prstGeom>
          <a:noFill/>
          <a:ln/>
        </p:spPr>
        <p:txBody>
          <a:bodyPr wrap="square"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4</a:t>
            </a:r>
            <a:endParaRPr lang="en-US" sz="750" dirty="0"/>
          </a:p>
        </p:txBody>
      </p:sp>
      <p:sp>
        <p:nvSpPr>
          <p:cNvPr id="89" name="Text 87"/>
          <p:cNvSpPr/>
          <p:nvPr/>
        </p:nvSpPr>
        <p:spPr>
          <a:xfrm>
            <a:off x="5394960" y="5559552"/>
            <a:ext cx="1609344" cy="219456"/>
          </a:xfrm>
          <a:prstGeom prst="rect">
            <a:avLst/>
          </a:prstGeom>
          <a:noFill/>
          <a:ln/>
        </p:spPr>
        <p:txBody>
          <a:bodyPr wrap="square" rtlCol="0" anchor="ctr"/>
          <a:lstStyle/>
          <a:p>
            <a:pPr indent="0" marL="0">
              <a:buNone/>
            </a:pPr>
            <a:r>
              <a:rPr lang="en-US" sz="950" b="1" dirty="0">
                <a:solidFill>
                  <a:srgbClr val="1C1917"/>
                </a:solidFill>
                <a:latin typeface="Arial" pitchFamily="34" charset="0"/>
                <a:ea typeface="Arial" pitchFamily="34" charset="-122"/>
                <a:cs typeface="Arial" pitchFamily="34" charset="-120"/>
              </a:rPr>
              <a:t>做题家成不了 AGI</a:t>
            </a:r>
            <a:endParaRPr lang="en-US" sz="950" dirty="0"/>
          </a:p>
        </p:txBody>
      </p:sp>
      <p:sp>
        <p:nvSpPr>
          <p:cNvPr id="90" name="Text 88"/>
          <p:cNvSpPr/>
          <p:nvPr/>
        </p:nvSpPr>
        <p:spPr>
          <a:xfrm>
            <a:off x="5394960" y="5779008"/>
            <a:ext cx="1609344" cy="457200"/>
          </a:xfrm>
          <a:prstGeom prst="rect">
            <a:avLst/>
          </a:prstGeom>
          <a:noFill/>
          <a:ln/>
        </p:spPr>
        <p:txBody>
          <a:bodyPr wrap="square" rtlCol="0" anchor="ctr"/>
          <a:lstStyle/>
          <a:p>
            <a:pPr indent="0" marL="0">
              <a:lnSpc>
                <a:spcPts val="1100"/>
              </a:lnSpc>
              <a:buNone/>
            </a:pPr>
            <a:r>
              <a:rPr lang="en-US" sz="850" dirty="0">
                <a:solidFill>
                  <a:srgbClr val="57534E"/>
                </a:solidFill>
                <a:latin typeface="Arial" pitchFamily="34" charset="0"/>
                <a:ea typeface="Arial" pitchFamily="34" charset="-122"/>
                <a:cs typeface="Arial" pitchFamily="34" charset="-120"/>
              </a:rPr>
              <a:t>物理硬碰撞终结幻觉</a:t>
            </a:r>
            <a:endParaRPr lang="en-US" sz="850" dirty="0"/>
          </a:p>
        </p:txBody>
      </p:sp>
      <p:sp>
        <p:nvSpPr>
          <p:cNvPr id="91" name="Shape 89"/>
          <p:cNvSpPr/>
          <p:nvPr/>
        </p:nvSpPr>
        <p:spPr>
          <a:xfrm>
            <a:off x="5157216" y="5687568"/>
            <a:ext cx="1828800" cy="384048"/>
          </a:xfrm>
          <a:prstGeom prst="rect">
            <a:avLst/>
          </a:prstGeom>
          <a:solidFill>
            <a:srgbClr val="EFEBE1"/>
          </a:solidFill>
          <a:ln w="12700">
            <a:solidFill>
              <a:srgbClr val="E2DCD2"/>
            </a:solidFill>
            <a:prstDash val="solid"/>
          </a:ln>
        </p:spPr>
      </p:sp>
      <p:sp>
        <p:nvSpPr>
          <p:cNvPr id="92" name="Text 90"/>
          <p:cNvSpPr/>
          <p:nvPr/>
        </p:nvSpPr>
        <p:spPr>
          <a:xfrm>
            <a:off x="5157216" y="5742432"/>
            <a:ext cx="1828800" cy="274320"/>
          </a:xfrm>
          <a:prstGeom prst="rect">
            <a:avLst/>
          </a:prstGeom>
          <a:noFill/>
          <a:ln/>
        </p:spPr>
        <p:txBody>
          <a:bodyPr wrap="square" rtlCol="0" anchor="ctr"/>
          <a:lstStyle/>
          <a:p>
            <a:pPr algn="ctr" indent="0" marL="0">
              <a:buNone/>
            </a:pPr>
            <a:r>
              <a:rPr lang="en-US" sz="850" b="1" dirty="0">
                <a:solidFill>
                  <a:srgbClr val="D97706"/>
                </a:solidFill>
                <a:latin typeface="Arial" pitchFamily="34" charset="0"/>
                <a:ea typeface="Arial" pitchFamily="34" charset="-122"/>
                <a:cs typeface="Arial" pitchFamily="34" charset="-120"/>
              </a:rPr>
              <a:t>深入 P.17 展开 ▸</a:t>
            </a:r>
            <a:endParaRPr lang="en-US" sz="850" dirty="0"/>
          </a:p>
        </p:txBody>
      </p:sp>
      <p:sp>
        <p:nvSpPr>
          <p:cNvPr id="93" name="Shape 91"/>
          <p:cNvSpPr/>
          <p:nvPr/>
        </p:nvSpPr>
        <p:spPr>
          <a:xfrm>
            <a:off x="7205472" y="1325880"/>
            <a:ext cx="2048256" cy="4892040"/>
          </a:xfrm>
          <a:prstGeom prst="rect">
            <a:avLst/>
          </a:prstGeom>
          <a:solidFill>
            <a:srgbClr val="FFFFFF"/>
          </a:solidFill>
          <a:ln w="12700">
            <a:solidFill>
              <a:srgbClr val="E2DCD2"/>
            </a:solidFill>
            <a:prstDash val="solid"/>
          </a:ln>
        </p:spPr>
      </p:sp>
      <p:sp>
        <p:nvSpPr>
          <p:cNvPr id="94" name="Shape 92"/>
          <p:cNvSpPr/>
          <p:nvPr/>
        </p:nvSpPr>
        <p:spPr>
          <a:xfrm>
            <a:off x="7205472" y="1325880"/>
            <a:ext cx="2048256" cy="868680"/>
          </a:xfrm>
          <a:prstGeom prst="rect">
            <a:avLst/>
          </a:prstGeom>
          <a:solidFill>
            <a:srgbClr val="16A34A"/>
          </a:solidFill>
          <a:ln/>
        </p:spPr>
      </p:sp>
      <p:sp>
        <p:nvSpPr>
          <p:cNvPr id="95" name="Text 93"/>
          <p:cNvSpPr/>
          <p:nvPr/>
        </p:nvSpPr>
        <p:spPr>
          <a:xfrm>
            <a:off x="7296912" y="1408176"/>
            <a:ext cx="1865376" cy="201168"/>
          </a:xfrm>
          <a:prstGeom prst="rect">
            <a:avLst/>
          </a:prstGeom>
          <a:noFill/>
          <a:ln/>
        </p:spPr>
        <p:txBody>
          <a:bodyPr wrap="square" rtlCol="0" anchor="ctr"/>
          <a:lstStyle/>
          <a:p>
            <a:pPr indent="0" marL="0">
              <a:buNone/>
            </a:pPr>
            <a:r>
              <a:rPr lang="en-US" sz="850" b="1" spc="120" kern="0" dirty="0">
                <a:solidFill>
                  <a:srgbClr val="FFFFFF"/>
                </a:solidFill>
                <a:latin typeface="Arial" pitchFamily="34" charset="0"/>
                <a:ea typeface="Arial" pitchFamily="34" charset="-122"/>
                <a:cs typeface="Arial" pitchFamily="34" charset="-120"/>
              </a:rPr>
              <a:t>PART 04</a:t>
            </a:r>
            <a:endParaRPr lang="en-US" sz="850" dirty="0"/>
          </a:p>
        </p:txBody>
      </p:sp>
      <p:sp>
        <p:nvSpPr>
          <p:cNvPr id="96" name="Text 94"/>
          <p:cNvSpPr/>
          <p:nvPr/>
        </p:nvSpPr>
        <p:spPr>
          <a:xfrm>
            <a:off x="7296912" y="1609344"/>
            <a:ext cx="1865376" cy="228600"/>
          </a:xfrm>
          <a:prstGeom prst="rect">
            <a:avLst/>
          </a:prstGeom>
          <a:noFill/>
          <a:ln/>
        </p:spPr>
        <p:txBody>
          <a:bodyPr wrap="square" rtlCol="0" anchor="ctr"/>
          <a:lstStyle/>
          <a:p>
            <a:pPr indent="0" marL="0">
              <a:buNone/>
            </a:pPr>
            <a:r>
              <a:rPr lang="en-US" sz="950" b="1" dirty="0">
                <a:solidFill>
                  <a:srgbClr val="FFFFFF"/>
                </a:solidFill>
                <a:latin typeface="Arial" pitchFamily="34" charset="0"/>
                <a:ea typeface="Arial" pitchFamily="34" charset="-122"/>
                <a:cs typeface="Arial" pitchFamily="34" charset="-120"/>
              </a:rPr>
              <a:t>P.23 – 26</a:t>
            </a:r>
            <a:endParaRPr lang="en-US" sz="950" dirty="0"/>
          </a:p>
        </p:txBody>
      </p:sp>
      <p:sp>
        <p:nvSpPr>
          <p:cNvPr id="97" name="Shape 95"/>
          <p:cNvSpPr/>
          <p:nvPr/>
        </p:nvSpPr>
        <p:spPr>
          <a:xfrm>
            <a:off x="8476488" y="1408176"/>
            <a:ext cx="658368" cy="201168"/>
          </a:xfrm>
          <a:prstGeom prst="rect">
            <a:avLst/>
          </a:prstGeom>
          <a:solidFill>
            <a:srgbClr val="FFFFFF"/>
          </a:solidFill>
          <a:ln/>
        </p:spPr>
      </p:sp>
      <p:sp>
        <p:nvSpPr>
          <p:cNvPr id="98" name="Text 96"/>
          <p:cNvSpPr/>
          <p:nvPr/>
        </p:nvSpPr>
        <p:spPr>
          <a:xfrm>
            <a:off x="8476488" y="1408176"/>
            <a:ext cx="658368" cy="201168"/>
          </a:xfrm>
          <a:prstGeom prst="rect">
            <a:avLst/>
          </a:prstGeom>
          <a:noFill/>
          <a:ln/>
        </p:spPr>
        <p:txBody>
          <a:bodyPr wrap="square" rtlCol="0" anchor="ctr"/>
          <a:lstStyle/>
          <a:p>
            <a:pPr algn="ctr" indent="0" marL="0">
              <a:buNone/>
            </a:pPr>
            <a:r>
              <a:rPr lang="en-US" sz="750" b="1" dirty="0">
                <a:solidFill>
                  <a:srgbClr val="16A34A"/>
                </a:solidFill>
                <a:latin typeface="Arial" pitchFamily="34" charset="0"/>
                <a:ea typeface="Arial" pitchFamily="34" charset="-122"/>
                <a:cs typeface="Arial" pitchFamily="34" charset="-120"/>
              </a:rPr>
              <a:t>递归自举</a:t>
            </a:r>
            <a:endParaRPr lang="en-US" sz="750" dirty="0"/>
          </a:p>
        </p:txBody>
      </p:sp>
      <p:sp>
        <p:nvSpPr>
          <p:cNvPr id="99" name="Text 97"/>
          <p:cNvSpPr/>
          <p:nvPr/>
        </p:nvSpPr>
        <p:spPr>
          <a:xfrm>
            <a:off x="7315200" y="2286000"/>
            <a:ext cx="1828800" cy="594360"/>
          </a:xfrm>
          <a:prstGeom prst="rect">
            <a:avLst/>
          </a:prstGeom>
          <a:noFill/>
          <a:ln/>
        </p:spPr>
        <p:txBody>
          <a:bodyPr wrap="square" rtlCol="0" anchor="ctr"/>
          <a:lstStyle/>
          <a:p>
            <a:pPr indent="0" marL="0">
              <a:lnSpc>
                <a:spcPts val="1500"/>
              </a:lnSpc>
              <a:buNone/>
            </a:pPr>
            <a:r>
              <a:rPr lang="en-US" sz="1150" b="1" dirty="0">
                <a:solidFill>
                  <a:srgbClr val="1C1917"/>
                </a:solidFill>
                <a:latin typeface="Arial" pitchFamily="34" charset="0"/>
                <a:ea typeface="Arial" pitchFamily="34" charset="-122"/>
                <a:cs typeface="Arial" pitchFamily="34" charset="-120"/>
              </a:rPr>
              <a:t>终极自举：Dario Amodei 哲学与 RSI</a:t>
            </a:r>
            <a:endParaRPr lang="en-US" sz="1150" dirty="0"/>
          </a:p>
        </p:txBody>
      </p:sp>
      <p:sp>
        <p:nvSpPr>
          <p:cNvPr id="100" name="Shape 98"/>
          <p:cNvSpPr/>
          <p:nvPr/>
        </p:nvSpPr>
        <p:spPr>
          <a:xfrm>
            <a:off x="7315200" y="2926080"/>
            <a:ext cx="1828800" cy="0"/>
          </a:xfrm>
          <a:prstGeom prst="line">
            <a:avLst/>
          </a:prstGeom>
          <a:noFill/>
          <a:ln w="12700">
            <a:solidFill>
              <a:srgbClr val="E2DCD2"/>
            </a:solidFill>
            <a:prstDash val="solid"/>
          </a:ln>
        </p:spPr>
      </p:sp>
      <p:sp>
        <p:nvSpPr>
          <p:cNvPr id="101" name="Shape 99"/>
          <p:cNvSpPr/>
          <p:nvPr/>
        </p:nvSpPr>
        <p:spPr>
          <a:xfrm>
            <a:off x="7315200" y="3072384"/>
            <a:ext cx="182880" cy="182880"/>
          </a:xfrm>
          <a:prstGeom prst="ellipse">
            <a:avLst/>
          </a:prstGeom>
          <a:solidFill>
            <a:srgbClr val="16A34A"/>
          </a:solidFill>
          <a:ln/>
        </p:spPr>
      </p:sp>
      <p:sp>
        <p:nvSpPr>
          <p:cNvPr id="102" name="Text 100"/>
          <p:cNvSpPr/>
          <p:nvPr/>
        </p:nvSpPr>
        <p:spPr>
          <a:xfrm>
            <a:off x="7315200" y="3072384"/>
            <a:ext cx="182880" cy="182880"/>
          </a:xfrm>
          <a:prstGeom prst="rect">
            <a:avLst/>
          </a:prstGeom>
          <a:noFill/>
          <a:ln/>
        </p:spPr>
        <p:txBody>
          <a:bodyPr wrap="square"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1</a:t>
            </a:r>
            <a:endParaRPr lang="en-US" sz="750" dirty="0"/>
          </a:p>
        </p:txBody>
      </p:sp>
      <p:sp>
        <p:nvSpPr>
          <p:cNvPr id="103" name="Text 101"/>
          <p:cNvSpPr/>
          <p:nvPr/>
        </p:nvSpPr>
        <p:spPr>
          <a:xfrm>
            <a:off x="7552944" y="3035808"/>
            <a:ext cx="1609344" cy="219456"/>
          </a:xfrm>
          <a:prstGeom prst="rect">
            <a:avLst/>
          </a:prstGeom>
          <a:noFill/>
          <a:ln/>
        </p:spPr>
        <p:txBody>
          <a:bodyPr wrap="square" rtlCol="0" anchor="ctr"/>
          <a:lstStyle/>
          <a:p>
            <a:pPr indent="0" marL="0">
              <a:buNone/>
            </a:pPr>
            <a:r>
              <a:rPr lang="en-US" sz="950" b="1" dirty="0">
                <a:solidFill>
                  <a:srgbClr val="1C1917"/>
                </a:solidFill>
                <a:latin typeface="Arial" pitchFamily="34" charset="0"/>
                <a:ea typeface="Arial" pitchFamily="34" charset="-122"/>
                <a:cs typeface="Arial" pitchFamily="34" charset="-120"/>
              </a:rPr>
              <a:t>生物物理学世界观</a:t>
            </a:r>
            <a:endParaRPr lang="en-US" sz="950" dirty="0"/>
          </a:p>
        </p:txBody>
      </p:sp>
      <p:sp>
        <p:nvSpPr>
          <p:cNvPr id="104" name="Text 102"/>
          <p:cNvSpPr/>
          <p:nvPr/>
        </p:nvSpPr>
        <p:spPr>
          <a:xfrm>
            <a:off x="7552944" y="3255264"/>
            <a:ext cx="1609344" cy="457200"/>
          </a:xfrm>
          <a:prstGeom prst="rect">
            <a:avLst/>
          </a:prstGeom>
          <a:noFill/>
          <a:ln/>
        </p:spPr>
        <p:txBody>
          <a:bodyPr wrap="square" rtlCol="0" anchor="ctr"/>
          <a:lstStyle/>
          <a:p>
            <a:pPr indent="0" marL="0">
              <a:lnSpc>
                <a:spcPts val="1100"/>
              </a:lnSpc>
              <a:buNone/>
            </a:pPr>
            <a:r>
              <a:rPr lang="en-US" sz="850" dirty="0">
                <a:solidFill>
                  <a:srgbClr val="57534E"/>
                </a:solidFill>
                <a:latin typeface="Arial" pitchFamily="34" charset="0"/>
                <a:ea typeface="Arial" pitchFamily="34" charset="-122"/>
                <a:cs typeface="Arial" pitchFamily="34" charset="-120"/>
              </a:rPr>
              <a:t>信息热力学与演化标度律</a:t>
            </a:r>
            <a:endParaRPr lang="en-US" sz="850" dirty="0"/>
          </a:p>
        </p:txBody>
      </p:sp>
      <p:sp>
        <p:nvSpPr>
          <p:cNvPr id="105" name="Shape 103"/>
          <p:cNvSpPr/>
          <p:nvPr/>
        </p:nvSpPr>
        <p:spPr>
          <a:xfrm>
            <a:off x="7315200" y="3803904"/>
            <a:ext cx="1828800" cy="0"/>
          </a:xfrm>
          <a:prstGeom prst="line">
            <a:avLst/>
          </a:prstGeom>
          <a:noFill/>
          <a:ln w="6350">
            <a:solidFill>
              <a:srgbClr val="E2DCD2"/>
            </a:solidFill>
            <a:prstDash val="solid"/>
          </a:ln>
        </p:spPr>
      </p:sp>
      <p:sp>
        <p:nvSpPr>
          <p:cNvPr id="106" name="Shape 104"/>
          <p:cNvSpPr/>
          <p:nvPr/>
        </p:nvSpPr>
        <p:spPr>
          <a:xfrm>
            <a:off x="7315200" y="3913632"/>
            <a:ext cx="182880" cy="182880"/>
          </a:xfrm>
          <a:prstGeom prst="ellipse">
            <a:avLst/>
          </a:prstGeom>
          <a:solidFill>
            <a:srgbClr val="16A34A"/>
          </a:solidFill>
          <a:ln/>
        </p:spPr>
      </p:sp>
      <p:sp>
        <p:nvSpPr>
          <p:cNvPr id="107" name="Text 105"/>
          <p:cNvSpPr/>
          <p:nvPr/>
        </p:nvSpPr>
        <p:spPr>
          <a:xfrm>
            <a:off x="7315200" y="3913632"/>
            <a:ext cx="182880" cy="182880"/>
          </a:xfrm>
          <a:prstGeom prst="rect">
            <a:avLst/>
          </a:prstGeom>
          <a:noFill/>
          <a:ln/>
        </p:spPr>
        <p:txBody>
          <a:bodyPr wrap="square"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2</a:t>
            </a:r>
            <a:endParaRPr lang="en-US" sz="750" dirty="0"/>
          </a:p>
        </p:txBody>
      </p:sp>
      <p:sp>
        <p:nvSpPr>
          <p:cNvPr id="108" name="Text 106"/>
          <p:cNvSpPr/>
          <p:nvPr/>
        </p:nvSpPr>
        <p:spPr>
          <a:xfrm>
            <a:off x="7552944" y="3877056"/>
            <a:ext cx="1609344" cy="219456"/>
          </a:xfrm>
          <a:prstGeom prst="rect">
            <a:avLst/>
          </a:prstGeom>
          <a:noFill/>
          <a:ln/>
        </p:spPr>
        <p:txBody>
          <a:bodyPr wrap="square" rtlCol="0" anchor="ctr"/>
          <a:lstStyle/>
          <a:p>
            <a:pPr indent="0" marL="0">
              <a:buNone/>
            </a:pPr>
            <a:r>
              <a:rPr lang="en-US" sz="950" b="1" dirty="0">
                <a:solidFill>
                  <a:srgbClr val="1C1917"/>
                </a:solidFill>
                <a:latin typeface="Arial" pitchFamily="34" charset="0"/>
                <a:ea typeface="Arial" pitchFamily="34" charset="-122"/>
                <a:cs typeface="Arial" pitchFamily="34" charset="-120"/>
              </a:rPr>
              <a:t>《仁慈的机器》</a:t>
            </a:r>
            <a:endParaRPr lang="en-US" sz="950" dirty="0"/>
          </a:p>
        </p:txBody>
      </p:sp>
      <p:sp>
        <p:nvSpPr>
          <p:cNvPr id="109" name="Text 107"/>
          <p:cNvSpPr/>
          <p:nvPr/>
        </p:nvSpPr>
        <p:spPr>
          <a:xfrm>
            <a:off x="7552944" y="4096512"/>
            <a:ext cx="1609344" cy="457200"/>
          </a:xfrm>
          <a:prstGeom prst="rect">
            <a:avLst/>
          </a:prstGeom>
          <a:noFill/>
          <a:ln/>
        </p:spPr>
        <p:txBody>
          <a:bodyPr wrap="square" rtlCol="0" anchor="ctr"/>
          <a:lstStyle/>
          <a:p>
            <a:pPr indent="0" marL="0">
              <a:lnSpc>
                <a:spcPts val="1100"/>
              </a:lnSpc>
              <a:buNone/>
            </a:pPr>
            <a:r>
              <a:rPr lang="en-US" sz="850" dirty="0">
                <a:solidFill>
                  <a:srgbClr val="57534E"/>
                </a:solidFill>
                <a:latin typeface="Arial" pitchFamily="34" charset="0"/>
                <a:ea typeface="Arial" pitchFamily="34" charset="-122"/>
                <a:cs typeface="Arial" pitchFamily="34" charset="-120"/>
              </a:rPr>
              <a:t>50 年医学进展压缩至 5 年</a:t>
            </a:r>
            <a:endParaRPr lang="en-US" sz="850" dirty="0"/>
          </a:p>
        </p:txBody>
      </p:sp>
      <p:sp>
        <p:nvSpPr>
          <p:cNvPr id="110" name="Shape 108"/>
          <p:cNvSpPr/>
          <p:nvPr/>
        </p:nvSpPr>
        <p:spPr>
          <a:xfrm>
            <a:off x="7315200" y="4645152"/>
            <a:ext cx="1828800" cy="0"/>
          </a:xfrm>
          <a:prstGeom prst="line">
            <a:avLst/>
          </a:prstGeom>
          <a:noFill/>
          <a:ln w="6350">
            <a:solidFill>
              <a:srgbClr val="E2DCD2"/>
            </a:solidFill>
            <a:prstDash val="solid"/>
          </a:ln>
        </p:spPr>
      </p:sp>
      <p:sp>
        <p:nvSpPr>
          <p:cNvPr id="111" name="Shape 109"/>
          <p:cNvSpPr/>
          <p:nvPr/>
        </p:nvSpPr>
        <p:spPr>
          <a:xfrm>
            <a:off x="7315200" y="4754880"/>
            <a:ext cx="182880" cy="182880"/>
          </a:xfrm>
          <a:prstGeom prst="ellipse">
            <a:avLst/>
          </a:prstGeom>
          <a:solidFill>
            <a:srgbClr val="16A34A"/>
          </a:solidFill>
          <a:ln/>
        </p:spPr>
      </p:sp>
      <p:sp>
        <p:nvSpPr>
          <p:cNvPr id="112" name="Text 110"/>
          <p:cNvSpPr/>
          <p:nvPr/>
        </p:nvSpPr>
        <p:spPr>
          <a:xfrm>
            <a:off x="7315200" y="4754880"/>
            <a:ext cx="182880" cy="182880"/>
          </a:xfrm>
          <a:prstGeom prst="rect">
            <a:avLst/>
          </a:prstGeom>
          <a:noFill/>
          <a:ln/>
        </p:spPr>
        <p:txBody>
          <a:bodyPr wrap="square"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3</a:t>
            </a:r>
            <a:endParaRPr lang="en-US" sz="750" dirty="0"/>
          </a:p>
        </p:txBody>
      </p:sp>
      <p:sp>
        <p:nvSpPr>
          <p:cNvPr id="113" name="Text 111"/>
          <p:cNvSpPr/>
          <p:nvPr/>
        </p:nvSpPr>
        <p:spPr>
          <a:xfrm>
            <a:off x="7552944" y="4718304"/>
            <a:ext cx="1609344" cy="219456"/>
          </a:xfrm>
          <a:prstGeom prst="rect">
            <a:avLst/>
          </a:prstGeom>
          <a:noFill/>
          <a:ln/>
        </p:spPr>
        <p:txBody>
          <a:bodyPr wrap="square" rtlCol="0" anchor="ctr"/>
          <a:lstStyle/>
          <a:p>
            <a:pPr indent="0" marL="0">
              <a:buNone/>
            </a:pPr>
            <a:r>
              <a:rPr lang="en-US" sz="950" b="1" dirty="0">
                <a:solidFill>
                  <a:srgbClr val="1C1917"/>
                </a:solidFill>
                <a:latin typeface="Arial" pitchFamily="34" charset="0"/>
                <a:ea typeface="Arial" pitchFamily="34" charset="-122"/>
                <a:cs typeface="Arial" pitchFamily="34" charset="-120"/>
              </a:rPr>
              <a:t>RSI 四大自训练飞轮</a:t>
            </a:r>
            <a:endParaRPr lang="en-US" sz="950" dirty="0"/>
          </a:p>
        </p:txBody>
      </p:sp>
      <p:sp>
        <p:nvSpPr>
          <p:cNvPr id="114" name="Text 112"/>
          <p:cNvSpPr/>
          <p:nvPr/>
        </p:nvSpPr>
        <p:spPr>
          <a:xfrm>
            <a:off x="7552944" y="4937760"/>
            <a:ext cx="1609344" cy="457200"/>
          </a:xfrm>
          <a:prstGeom prst="rect">
            <a:avLst/>
          </a:prstGeom>
          <a:noFill/>
          <a:ln/>
        </p:spPr>
        <p:txBody>
          <a:bodyPr wrap="square" rtlCol="0" anchor="ctr"/>
          <a:lstStyle/>
          <a:p>
            <a:pPr indent="0" marL="0">
              <a:lnSpc>
                <a:spcPts val="1100"/>
              </a:lnSpc>
              <a:buNone/>
            </a:pPr>
            <a:r>
              <a:rPr lang="en-US" sz="850" dirty="0">
                <a:solidFill>
                  <a:srgbClr val="57534E"/>
                </a:solidFill>
                <a:latin typeface="Arial" pitchFamily="34" charset="0"/>
                <a:ea typeface="Arial" pitchFamily="34" charset="-122"/>
                <a:cs typeface="Arial" pitchFamily="34" charset="-120"/>
              </a:rPr>
              <a:t>用例合成到 GPU 算子</a:t>
            </a:r>
            <a:endParaRPr lang="en-US" sz="850" dirty="0"/>
          </a:p>
        </p:txBody>
      </p:sp>
      <p:sp>
        <p:nvSpPr>
          <p:cNvPr id="115" name="Shape 113"/>
          <p:cNvSpPr/>
          <p:nvPr/>
        </p:nvSpPr>
        <p:spPr>
          <a:xfrm>
            <a:off x="7315200" y="5486400"/>
            <a:ext cx="1828800" cy="0"/>
          </a:xfrm>
          <a:prstGeom prst="line">
            <a:avLst/>
          </a:prstGeom>
          <a:noFill/>
          <a:ln w="6350">
            <a:solidFill>
              <a:srgbClr val="E2DCD2"/>
            </a:solidFill>
            <a:prstDash val="solid"/>
          </a:ln>
        </p:spPr>
      </p:sp>
      <p:sp>
        <p:nvSpPr>
          <p:cNvPr id="116" name="Shape 114"/>
          <p:cNvSpPr/>
          <p:nvPr/>
        </p:nvSpPr>
        <p:spPr>
          <a:xfrm>
            <a:off x="7315200" y="5596128"/>
            <a:ext cx="182880" cy="182880"/>
          </a:xfrm>
          <a:prstGeom prst="ellipse">
            <a:avLst/>
          </a:prstGeom>
          <a:solidFill>
            <a:srgbClr val="16A34A"/>
          </a:solidFill>
          <a:ln/>
        </p:spPr>
      </p:sp>
      <p:sp>
        <p:nvSpPr>
          <p:cNvPr id="117" name="Text 115"/>
          <p:cNvSpPr/>
          <p:nvPr/>
        </p:nvSpPr>
        <p:spPr>
          <a:xfrm>
            <a:off x="7315200" y="5596128"/>
            <a:ext cx="182880" cy="182880"/>
          </a:xfrm>
          <a:prstGeom prst="rect">
            <a:avLst/>
          </a:prstGeom>
          <a:noFill/>
          <a:ln/>
        </p:spPr>
        <p:txBody>
          <a:bodyPr wrap="square"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4</a:t>
            </a:r>
            <a:endParaRPr lang="en-US" sz="750" dirty="0"/>
          </a:p>
        </p:txBody>
      </p:sp>
      <p:sp>
        <p:nvSpPr>
          <p:cNvPr id="118" name="Text 116"/>
          <p:cNvSpPr/>
          <p:nvPr/>
        </p:nvSpPr>
        <p:spPr>
          <a:xfrm>
            <a:off x="7552944" y="5559552"/>
            <a:ext cx="1609344" cy="219456"/>
          </a:xfrm>
          <a:prstGeom prst="rect">
            <a:avLst/>
          </a:prstGeom>
          <a:noFill/>
          <a:ln/>
        </p:spPr>
        <p:txBody>
          <a:bodyPr wrap="square" rtlCol="0" anchor="ctr"/>
          <a:lstStyle/>
          <a:p>
            <a:pPr indent="0" marL="0">
              <a:buNone/>
            </a:pPr>
            <a:r>
              <a:rPr lang="en-US" sz="950" b="1" dirty="0">
                <a:solidFill>
                  <a:srgbClr val="1C1917"/>
                </a:solidFill>
                <a:latin typeface="Arial" pitchFamily="34" charset="0"/>
                <a:ea typeface="Arial" pitchFamily="34" charset="-122"/>
                <a:cs typeface="Arial" pitchFamily="34" charset="-120"/>
              </a:rPr>
              <a:t>26.4% 内部代码自研</a:t>
            </a:r>
            <a:endParaRPr lang="en-US" sz="950" dirty="0"/>
          </a:p>
        </p:txBody>
      </p:sp>
      <p:sp>
        <p:nvSpPr>
          <p:cNvPr id="119" name="Text 117"/>
          <p:cNvSpPr/>
          <p:nvPr/>
        </p:nvSpPr>
        <p:spPr>
          <a:xfrm>
            <a:off x="7552944" y="5779008"/>
            <a:ext cx="1609344" cy="457200"/>
          </a:xfrm>
          <a:prstGeom prst="rect">
            <a:avLst/>
          </a:prstGeom>
          <a:noFill/>
          <a:ln/>
        </p:spPr>
        <p:txBody>
          <a:bodyPr wrap="square" rtlCol="0" anchor="ctr"/>
          <a:lstStyle/>
          <a:p>
            <a:pPr indent="0" marL="0">
              <a:lnSpc>
                <a:spcPts val="1100"/>
              </a:lnSpc>
              <a:buNone/>
            </a:pPr>
            <a:r>
              <a:rPr lang="en-US" sz="850" dirty="0">
                <a:solidFill>
                  <a:srgbClr val="57534E"/>
                </a:solidFill>
                <a:latin typeface="Arial" pitchFamily="34" charset="0"/>
                <a:ea typeface="Arial" pitchFamily="34" charset="-122"/>
                <a:cs typeface="Arial" pitchFamily="34" charset="-120"/>
              </a:rPr>
              <a:t>人类工程师退居审判官</a:t>
            </a:r>
            <a:endParaRPr lang="en-US" sz="850" dirty="0"/>
          </a:p>
        </p:txBody>
      </p:sp>
      <p:sp>
        <p:nvSpPr>
          <p:cNvPr id="120" name="Shape 118"/>
          <p:cNvSpPr/>
          <p:nvPr/>
        </p:nvSpPr>
        <p:spPr>
          <a:xfrm>
            <a:off x="7315200" y="5687568"/>
            <a:ext cx="1828800" cy="384048"/>
          </a:xfrm>
          <a:prstGeom prst="rect">
            <a:avLst/>
          </a:prstGeom>
          <a:solidFill>
            <a:srgbClr val="EFEBE1"/>
          </a:solidFill>
          <a:ln w="12700">
            <a:solidFill>
              <a:srgbClr val="E2DCD2"/>
            </a:solidFill>
            <a:prstDash val="solid"/>
          </a:ln>
        </p:spPr>
      </p:sp>
      <p:sp>
        <p:nvSpPr>
          <p:cNvPr id="121" name="Text 119"/>
          <p:cNvSpPr/>
          <p:nvPr/>
        </p:nvSpPr>
        <p:spPr>
          <a:xfrm>
            <a:off x="7315200" y="5742432"/>
            <a:ext cx="1828800" cy="274320"/>
          </a:xfrm>
          <a:prstGeom prst="rect">
            <a:avLst/>
          </a:prstGeom>
          <a:noFill/>
          <a:ln/>
        </p:spPr>
        <p:txBody>
          <a:bodyPr wrap="square" rtlCol="0" anchor="ctr"/>
          <a:lstStyle/>
          <a:p>
            <a:pPr algn="ctr" indent="0" marL="0">
              <a:buNone/>
            </a:pPr>
            <a:r>
              <a:rPr lang="en-US" sz="850" b="1" dirty="0">
                <a:solidFill>
                  <a:srgbClr val="16A34A"/>
                </a:solidFill>
                <a:latin typeface="Arial" pitchFamily="34" charset="0"/>
                <a:ea typeface="Arial" pitchFamily="34" charset="-122"/>
                <a:cs typeface="Arial" pitchFamily="34" charset="-120"/>
              </a:rPr>
              <a:t>深入 P.23 展开 ▸</a:t>
            </a:r>
            <a:endParaRPr lang="en-US" sz="850" dirty="0"/>
          </a:p>
        </p:txBody>
      </p:sp>
      <p:sp>
        <p:nvSpPr>
          <p:cNvPr id="122" name="Shape 120"/>
          <p:cNvSpPr/>
          <p:nvPr/>
        </p:nvSpPr>
        <p:spPr>
          <a:xfrm>
            <a:off x="9363456" y="1325880"/>
            <a:ext cx="2048256" cy="4892040"/>
          </a:xfrm>
          <a:prstGeom prst="rect">
            <a:avLst/>
          </a:prstGeom>
          <a:solidFill>
            <a:srgbClr val="FFFFFF"/>
          </a:solidFill>
          <a:ln w="12700">
            <a:solidFill>
              <a:srgbClr val="E2DCD2"/>
            </a:solidFill>
            <a:prstDash val="solid"/>
          </a:ln>
        </p:spPr>
      </p:sp>
      <p:sp>
        <p:nvSpPr>
          <p:cNvPr id="123" name="Shape 121"/>
          <p:cNvSpPr/>
          <p:nvPr/>
        </p:nvSpPr>
        <p:spPr>
          <a:xfrm>
            <a:off x="9363456" y="1325880"/>
            <a:ext cx="2048256" cy="868680"/>
          </a:xfrm>
          <a:prstGeom prst="rect">
            <a:avLst/>
          </a:prstGeom>
          <a:solidFill>
            <a:srgbClr val="475569"/>
          </a:solidFill>
          <a:ln/>
        </p:spPr>
      </p:sp>
      <p:sp>
        <p:nvSpPr>
          <p:cNvPr id="124" name="Text 122"/>
          <p:cNvSpPr/>
          <p:nvPr/>
        </p:nvSpPr>
        <p:spPr>
          <a:xfrm>
            <a:off x="9454896" y="1408176"/>
            <a:ext cx="1865376" cy="201168"/>
          </a:xfrm>
          <a:prstGeom prst="rect">
            <a:avLst/>
          </a:prstGeom>
          <a:noFill/>
          <a:ln/>
        </p:spPr>
        <p:txBody>
          <a:bodyPr wrap="square" rtlCol="0" anchor="ctr"/>
          <a:lstStyle/>
          <a:p>
            <a:pPr indent="0" marL="0">
              <a:buNone/>
            </a:pPr>
            <a:r>
              <a:rPr lang="en-US" sz="850" b="1" spc="120" kern="0" dirty="0">
                <a:solidFill>
                  <a:srgbClr val="FFFFFF"/>
                </a:solidFill>
                <a:latin typeface="Arial" pitchFamily="34" charset="0"/>
                <a:ea typeface="Arial" pitchFamily="34" charset="-122"/>
                <a:cs typeface="Arial" pitchFamily="34" charset="-120"/>
              </a:rPr>
              <a:t>PART 05</a:t>
            </a:r>
            <a:endParaRPr lang="en-US" sz="850" dirty="0"/>
          </a:p>
        </p:txBody>
      </p:sp>
      <p:sp>
        <p:nvSpPr>
          <p:cNvPr id="125" name="Text 123"/>
          <p:cNvSpPr/>
          <p:nvPr/>
        </p:nvSpPr>
        <p:spPr>
          <a:xfrm>
            <a:off x="9454896" y="1609344"/>
            <a:ext cx="1865376" cy="228600"/>
          </a:xfrm>
          <a:prstGeom prst="rect">
            <a:avLst/>
          </a:prstGeom>
          <a:noFill/>
          <a:ln/>
        </p:spPr>
        <p:txBody>
          <a:bodyPr wrap="square" rtlCol="0" anchor="ctr"/>
          <a:lstStyle/>
          <a:p>
            <a:pPr indent="0" marL="0">
              <a:buNone/>
            </a:pPr>
            <a:r>
              <a:rPr lang="en-US" sz="950" b="1" dirty="0">
                <a:solidFill>
                  <a:srgbClr val="FFFFFF"/>
                </a:solidFill>
                <a:latin typeface="Arial" pitchFamily="34" charset="0"/>
                <a:ea typeface="Arial" pitchFamily="34" charset="-122"/>
                <a:cs typeface="Arial" pitchFamily="34" charset="-120"/>
              </a:rPr>
              <a:t>P.27 – 28</a:t>
            </a:r>
            <a:endParaRPr lang="en-US" sz="950" dirty="0"/>
          </a:p>
        </p:txBody>
      </p:sp>
      <p:sp>
        <p:nvSpPr>
          <p:cNvPr id="126" name="Shape 124"/>
          <p:cNvSpPr/>
          <p:nvPr/>
        </p:nvSpPr>
        <p:spPr>
          <a:xfrm>
            <a:off x="10634472" y="1408176"/>
            <a:ext cx="658368" cy="201168"/>
          </a:xfrm>
          <a:prstGeom prst="rect">
            <a:avLst/>
          </a:prstGeom>
          <a:solidFill>
            <a:srgbClr val="FFFFFF"/>
          </a:solidFill>
          <a:ln/>
        </p:spPr>
      </p:sp>
      <p:sp>
        <p:nvSpPr>
          <p:cNvPr id="127" name="Text 125"/>
          <p:cNvSpPr/>
          <p:nvPr/>
        </p:nvSpPr>
        <p:spPr>
          <a:xfrm>
            <a:off x="10634472" y="1408176"/>
            <a:ext cx="658368" cy="201168"/>
          </a:xfrm>
          <a:prstGeom prst="rect">
            <a:avLst/>
          </a:prstGeom>
          <a:noFill/>
          <a:ln/>
        </p:spPr>
        <p:txBody>
          <a:bodyPr wrap="square" rtlCol="0" anchor="ctr"/>
          <a:lstStyle/>
          <a:p>
            <a:pPr algn="ctr" indent="0" marL="0">
              <a:buNone/>
            </a:pPr>
            <a:r>
              <a:rPr lang="en-US" sz="750" b="1" dirty="0">
                <a:solidFill>
                  <a:srgbClr val="475569"/>
                </a:solidFill>
                <a:latin typeface="Arial" pitchFamily="34" charset="0"/>
                <a:ea typeface="Arial" pitchFamily="34" charset="-122"/>
                <a:cs typeface="Arial" pitchFamily="34" charset="-120"/>
              </a:rPr>
              <a:t>文明定格</a:t>
            </a:r>
            <a:endParaRPr lang="en-US" sz="750" dirty="0"/>
          </a:p>
        </p:txBody>
      </p:sp>
      <p:sp>
        <p:nvSpPr>
          <p:cNvPr id="128" name="Text 126"/>
          <p:cNvSpPr/>
          <p:nvPr/>
        </p:nvSpPr>
        <p:spPr>
          <a:xfrm>
            <a:off x="9473184" y="2286000"/>
            <a:ext cx="1828800" cy="594360"/>
          </a:xfrm>
          <a:prstGeom prst="rect">
            <a:avLst/>
          </a:prstGeom>
          <a:noFill/>
          <a:ln/>
        </p:spPr>
        <p:txBody>
          <a:bodyPr wrap="square" rtlCol="0" anchor="ctr"/>
          <a:lstStyle/>
          <a:p>
            <a:pPr indent="0" marL="0">
              <a:lnSpc>
                <a:spcPts val="1500"/>
              </a:lnSpc>
              <a:buNone/>
            </a:pPr>
            <a:r>
              <a:rPr lang="en-US" sz="1150" b="1" dirty="0">
                <a:solidFill>
                  <a:srgbClr val="1C1917"/>
                </a:solidFill>
                <a:latin typeface="Arial" pitchFamily="34" charset="0"/>
                <a:ea typeface="Arial" pitchFamily="34" charset="-122"/>
                <a:cs typeface="Arial" pitchFamily="34" charset="-120"/>
              </a:rPr>
              <a:t>安全防线与文明定格</a:t>
            </a:r>
            <a:endParaRPr lang="en-US" sz="1150" dirty="0"/>
          </a:p>
        </p:txBody>
      </p:sp>
      <p:sp>
        <p:nvSpPr>
          <p:cNvPr id="129" name="Shape 127"/>
          <p:cNvSpPr/>
          <p:nvPr/>
        </p:nvSpPr>
        <p:spPr>
          <a:xfrm>
            <a:off x="9473184" y="2926080"/>
            <a:ext cx="1828800" cy="0"/>
          </a:xfrm>
          <a:prstGeom prst="line">
            <a:avLst/>
          </a:prstGeom>
          <a:noFill/>
          <a:ln w="12700">
            <a:solidFill>
              <a:srgbClr val="E2DCD2"/>
            </a:solidFill>
            <a:prstDash val="solid"/>
          </a:ln>
        </p:spPr>
      </p:sp>
      <p:sp>
        <p:nvSpPr>
          <p:cNvPr id="130" name="Shape 128"/>
          <p:cNvSpPr/>
          <p:nvPr/>
        </p:nvSpPr>
        <p:spPr>
          <a:xfrm>
            <a:off x="9473184" y="3072384"/>
            <a:ext cx="182880" cy="182880"/>
          </a:xfrm>
          <a:prstGeom prst="ellipse">
            <a:avLst/>
          </a:prstGeom>
          <a:solidFill>
            <a:srgbClr val="475569"/>
          </a:solidFill>
          <a:ln/>
        </p:spPr>
      </p:sp>
      <p:sp>
        <p:nvSpPr>
          <p:cNvPr id="131" name="Text 129"/>
          <p:cNvSpPr/>
          <p:nvPr/>
        </p:nvSpPr>
        <p:spPr>
          <a:xfrm>
            <a:off x="9473184" y="3072384"/>
            <a:ext cx="182880" cy="182880"/>
          </a:xfrm>
          <a:prstGeom prst="rect">
            <a:avLst/>
          </a:prstGeom>
          <a:noFill/>
          <a:ln/>
        </p:spPr>
        <p:txBody>
          <a:bodyPr wrap="square"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1</a:t>
            </a:r>
            <a:endParaRPr lang="en-US" sz="750" dirty="0"/>
          </a:p>
        </p:txBody>
      </p:sp>
      <p:sp>
        <p:nvSpPr>
          <p:cNvPr id="132" name="Text 130"/>
          <p:cNvSpPr/>
          <p:nvPr/>
        </p:nvSpPr>
        <p:spPr>
          <a:xfrm>
            <a:off x="9710928" y="3035808"/>
            <a:ext cx="1609344" cy="219456"/>
          </a:xfrm>
          <a:prstGeom prst="rect">
            <a:avLst/>
          </a:prstGeom>
          <a:noFill/>
          <a:ln/>
        </p:spPr>
        <p:txBody>
          <a:bodyPr wrap="square" rtlCol="0" anchor="ctr"/>
          <a:lstStyle/>
          <a:p>
            <a:pPr indent="0" marL="0">
              <a:buNone/>
            </a:pPr>
            <a:r>
              <a:rPr lang="en-US" sz="950" b="1" dirty="0">
                <a:solidFill>
                  <a:srgbClr val="1C1917"/>
                </a:solidFill>
                <a:latin typeface="Arial" pitchFamily="34" charset="0"/>
                <a:ea typeface="Arial" pitchFamily="34" charset="-122"/>
                <a:cs typeface="Arial" pitchFamily="34" charset="-120"/>
              </a:rPr>
              <a:t>RSP 分级防御金字塔</a:t>
            </a:r>
            <a:endParaRPr lang="en-US" sz="950" dirty="0"/>
          </a:p>
        </p:txBody>
      </p:sp>
      <p:sp>
        <p:nvSpPr>
          <p:cNvPr id="133" name="Text 131"/>
          <p:cNvSpPr/>
          <p:nvPr/>
        </p:nvSpPr>
        <p:spPr>
          <a:xfrm>
            <a:off x="9710928" y="3255264"/>
            <a:ext cx="1609344" cy="457200"/>
          </a:xfrm>
          <a:prstGeom prst="rect">
            <a:avLst/>
          </a:prstGeom>
          <a:noFill/>
          <a:ln/>
        </p:spPr>
        <p:txBody>
          <a:bodyPr wrap="square" rtlCol="0" anchor="ctr"/>
          <a:lstStyle/>
          <a:p>
            <a:pPr indent="0" marL="0">
              <a:lnSpc>
                <a:spcPts val="1100"/>
              </a:lnSpc>
              <a:buNone/>
            </a:pPr>
            <a:r>
              <a:rPr lang="en-US" sz="850" dirty="0">
                <a:solidFill>
                  <a:srgbClr val="57534E"/>
                </a:solidFill>
                <a:latin typeface="Arial" pitchFamily="34" charset="0"/>
                <a:ea typeface="Arial" pitchFamily="34" charset="-122"/>
                <a:cs typeface="Arial" pitchFamily="34" charset="-120"/>
              </a:rPr>
              <a:t>ASL-3 自动化物理熔断</a:t>
            </a:r>
            <a:endParaRPr lang="en-US" sz="850" dirty="0"/>
          </a:p>
        </p:txBody>
      </p:sp>
      <p:sp>
        <p:nvSpPr>
          <p:cNvPr id="134" name="Shape 132"/>
          <p:cNvSpPr/>
          <p:nvPr/>
        </p:nvSpPr>
        <p:spPr>
          <a:xfrm>
            <a:off x="9473184" y="3803904"/>
            <a:ext cx="1828800" cy="0"/>
          </a:xfrm>
          <a:prstGeom prst="line">
            <a:avLst/>
          </a:prstGeom>
          <a:noFill/>
          <a:ln w="6350">
            <a:solidFill>
              <a:srgbClr val="E2DCD2"/>
            </a:solidFill>
            <a:prstDash val="solid"/>
          </a:ln>
        </p:spPr>
      </p:sp>
      <p:sp>
        <p:nvSpPr>
          <p:cNvPr id="135" name="Shape 133"/>
          <p:cNvSpPr/>
          <p:nvPr/>
        </p:nvSpPr>
        <p:spPr>
          <a:xfrm>
            <a:off x="9473184" y="3913632"/>
            <a:ext cx="182880" cy="182880"/>
          </a:xfrm>
          <a:prstGeom prst="ellipse">
            <a:avLst/>
          </a:prstGeom>
          <a:solidFill>
            <a:srgbClr val="475569"/>
          </a:solidFill>
          <a:ln/>
        </p:spPr>
      </p:sp>
      <p:sp>
        <p:nvSpPr>
          <p:cNvPr id="136" name="Text 134"/>
          <p:cNvSpPr/>
          <p:nvPr/>
        </p:nvSpPr>
        <p:spPr>
          <a:xfrm>
            <a:off x="9473184" y="3913632"/>
            <a:ext cx="182880" cy="182880"/>
          </a:xfrm>
          <a:prstGeom prst="rect">
            <a:avLst/>
          </a:prstGeom>
          <a:noFill/>
          <a:ln/>
        </p:spPr>
        <p:txBody>
          <a:bodyPr wrap="square"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2</a:t>
            </a:r>
            <a:endParaRPr lang="en-US" sz="750" dirty="0"/>
          </a:p>
        </p:txBody>
      </p:sp>
      <p:sp>
        <p:nvSpPr>
          <p:cNvPr id="137" name="Text 135"/>
          <p:cNvSpPr/>
          <p:nvPr/>
        </p:nvSpPr>
        <p:spPr>
          <a:xfrm>
            <a:off x="9710928" y="3877056"/>
            <a:ext cx="1609344" cy="219456"/>
          </a:xfrm>
          <a:prstGeom prst="rect">
            <a:avLst/>
          </a:prstGeom>
          <a:noFill/>
          <a:ln/>
        </p:spPr>
        <p:txBody>
          <a:bodyPr wrap="square" rtlCol="0" anchor="ctr"/>
          <a:lstStyle/>
          <a:p>
            <a:pPr indent="0" marL="0">
              <a:buNone/>
            </a:pPr>
            <a:r>
              <a:rPr lang="en-US" sz="950" b="1" dirty="0">
                <a:solidFill>
                  <a:srgbClr val="1C1917"/>
                </a:solidFill>
                <a:latin typeface="Arial" pitchFamily="34" charset="0"/>
                <a:ea typeface="Arial" pitchFamily="34" charset="-122"/>
                <a:cs typeface="Arial" pitchFamily="34" charset="-120"/>
              </a:rPr>
              <a:t>SAE 稀疏自编码器</a:t>
            </a:r>
            <a:endParaRPr lang="en-US" sz="950" dirty="0"/>
          </a:p>
        </p:txBody>
      </p:sp>
      <p:sp>
        <p:nvSpPr>
          <p:cNvPr id="138" name="Text 136"/>
          <p:cNvSpPr/>
          <p:nvPr/>
        </p:nvSpPr>
        <p:spPr>
          <a:xfrm>
            <a:off x="9710928" y="4096512"/>
            <a:ext cx="1609344" cy="457200"/>
          </a:xfrm>
          <a:prstGeom prst="rect">
            <a:avLst/>
          </a:prstGeom>
          <a:noFill/>
          <a:ln/>
        </p:spPr>
        <p:txBody>
          <a:bodyPr wrap="square" rtlCol="0" anchor="ctr"/>
          <a:lstStyle/>
          <a:p>
            <a:pPr indent="0" marL="0">
              <a:lnSpc>
                <a:spcPts val="1100"/>
              </a:lnSpc>
              <a:buNone/>
            </a:pPr>
            <a:r>
              <a:rPr lang="en-US" sz="850" dirty="0">
                <a:solidFill>
                  <a:srgbClr val="57534E"/>
                </a:solidFill>
                <a:latin typeface="Arial" pitchFamily="34" charset="0"/>
                <a:ea typeface="Arial" pitchFamily="34" charset="-122"/>
                <a:cs typeface="Arial" pitchFamily="34" charset="-120"/>
              </a:rPr>
              <a:t>白盒神经元特征精准钳夹</a:t>
            </a:r>
            <a:endParaRPr lang="en-US" sz="850" dirty="0"/>
          </a:p>
        </p:txBody>
      </p:sp>
      <p:sp>
        <p:nvSpPr>
          <p:cNvPr id="139" name="Shape 137"/>
          <p:cNvSpPr/>
          <p:nvPr/>
        </p:nvSpPr>
        <p:spPr>
          <a:xfrm>
            <a:off x="9473184" y="4645152"/>
            <a:ext cx="1828800" cy="0"/>
          </a:xfrm>
          <a:prstGeom prst="line">
            <a:avLst/>
          </a:prstGeom>
          <a:noFill/>
          <a:ln w="6350">
            <a:solidFill>
              <a:srgbClr val="E2DCD2"/>
            </a:solidFill>
            <a:prstDash val="solid"/>
          </a:ln>
        </p:spPr>
      </p:sp>
      <p:sp>
        <p:nvSpPr>
          <p:cNvPr id="140" name="Shape 138"/>
          <p:cNvSpPr/>
          <p:nvPr/>
        </p:nvSpPr>
        <p:spPr>
          <a:xfrm>
            <a:off x="9473184" y="4754880"/>
            <a:ext cx="182880" cy="182880"/>
          </a:xfrm>
          <a:prstGeom prst="ellipse">
            <a:avLst/>
          </a:prstGeom>
          <a:solidFill>
            <a:srgbClr val="475569"/>
          </a:solidFill>
          <a:ln/>
        </p:spPr>
      </p:sp>
      <p:sp>
        <p:nvSpPr>
          <p:cNvPr id="141" name="Text 139"/>
          <p:cNvSpPr/>
          <p:nvPr/>
        </p:nvSpPr>
        <p:spPr>
          <a:xfrm>
            <a:off x="9473184" y="4754880"/>
            <a:ext cx="182880" cy="182880"/>
          </a:xfrm>
          <a:prstGeom prst="rect">
            <a:avLst/>
          </a:prstGeom>
          <a:noFill/>
          <a:ln/>
        </p:spPr>
        <p:txBody>
          <a:bodyPr wrap="square"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3</a:t>
            </a:r>
            <a:endParaRPr lang="en-US" sz="750" dirty="0"/>
          </a:p>
        </p:txBody>
      </p:sp>
      <p:sp>
        <p:nvSpPr>
          <p:cNvPr id="142" name="Text 140"/>
          <p:cNvSpPr/>
          <p:nvPr/>
        </p:nvSpPr>
        <p:spPr>
          <a:xfrm>
            <a:off x="9710928" y="4718304"/>
            <a:ext cx="1609344" cy="219456"/>
          </a:xfrm>
          <a:prstGeom prst="rect">
            <a:avLst/>
          </a:prstGeom>
          <a:noFill/>
          <a:ln/>
        </p:spPr>
        <p:txBody>
          <a:bodyPr wrap="square" rtlCol="0" anchor="ctr"/>
          <a:lstStyle/>
          <a:p>
            <a:pPr indent="0" marL="0">
              <a:buNone/>
            </a:pPr>
            <a:r>
              <a:rPr lang="en-US" sz="950" b="1" dirty="0">
                <a:solidFill>
                  <a:srgbClr val="1C1917"/>
                </a:solidFill>
                <a:latin typeface="Arial" pitchFamily="34" charset="0"/>
                <a:ea typeface="Arial" pitchFamily="34" charset="-122"/>
                <a:cs typeface="Arial" pitchFamily="34" charset="-120"/>
              </a:rPr>
              <a:t>人类与超智能契约</a:t>
            </a:r>
            <a:endParaRPr lang="en-US" sz="950" dirty="0"/>
          </a:p>
        </p:txBody>
      </p:sp>
      <p:sp>
        <p:nvSpPr>
          <p:cNvPr id="143" name="Text 141"/>
          <p:cNvSpPr/>
          <p:nvPr/>
        </p:nvSpPr>
        <p:spPr>
          <a:xfrm>
            <a:off x="9710928" y="4937760"/>
            <a:ext cx="1609344" cy="457200"/>
          </a:xfrm>
          <a:prstGeom prst="rect">
            <a:avLst/>
          </a:prstGeom>
          <a:noFill/>
          <a:ln/>
        </p:spPr>
        <p:txBody>
          <a:bodyPr wrap="square" rtlCol="0" anchor="ctr"/>
          <a:lstStyle/>
          <a:p>
            <a:pPr indent="0" marL="0">
              <a:lnSpc>
                <a:spcPts val="1100"/>
              </a:lnSpc>
              <a:buNone/>
            </a:pPr>
            <a:r>
              <a:rPr lang="en-US" sz="850" dirty="0">
                <a:solidFill>
                  <a:srgbClr val="57534E"/>
                </a:solidFill>
                <a:latin typeface="Arial" pitchFamily="34" charset="0"/>
                <a:ea typeface="Arial" pitchFamily="34" charset="-122"/>
                <a:cs typeface="Arial" pitchFamily="34" charset="-120"/>
              </a:rPr>
              <a:t>代码定盘星与文明跃迁</a:t>
            </a:r>
            <a:endParaRPr lang="en-US" sz="850" dirty="0"/>
          </a:p>
        </p:txBody>
      </p:sp>
      <p:sp>
        <p:nvSpPr>
          <p:cNvPr id="144" name="Shape 142"/>
          <p:cNvSpPr/>
          <p:nvPr/>
        </p:nvSpPr>
        <p:spPr>
          <a:xfrm>
            <a:off x="9473184" y="5486400"/>
            <a:ext cx="1828800" cy="0"/>
          </a:xfrm>
          <a:prstGeom prst="line">
            <a:avLst/>
          </a:prstGeom>
          <a:noFill/>
          <a:ln w="6350">
            <a:solidFill>
              <a:srgbClr val="E2DCD2"/>
            </a:solidFill>
            <a:prstDash val="solid"/>
          </a:ln>
        </p:spPr>
      </p:sp>
      <p:sp>
        <p:nvSpPr>
          <p:cNvPr id="145" name="Shape 143"/>
          <p:cNvSpPr/>
          <p:nvPr/>
        </p:nvSpPr>
        <p:spPr>
          <a:xfrm>
            <a:off x="9473184" y="5596128"/>
            <a:ext cx="182880" cy="182880"/>
          </a:xfrm>
          <a:prstGeom prst="ellipse">
            <a:avLst/>
          </a:prstGeom>
          <a:solidFill>
            <a:srgbClr val="475569"/>
          </a:solidFill>
          <a:ln/>
        </p:spPr>
      </p:sp>
      <p:sp>
        <p:nvSpPr>
          <p:cNvPr id="146" name="Text 144"/>
          <p:cNvSpPr/>
          <p:nvPr/>
        </p:nvSpPr>
        <p:spPr>
          <a:xfrm>
            <a:off x="9473184" y="5596128"/>
            <a:ext cx="182880" cy="182880"/>
          </a:xfrm>
          <a:prstGeom prst="rect">
            <a:avLst/>
          </a:prstGeom>
          <a:noFill/>
          <a:ln/>
        </p:spPr>
        <p:txBody>
          <a:bodyPr wrap="square"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4</a:t>
            </a:r>
            <a:endParaRPr lang="en-US" sz="750" dirty="0"/>
          </a:p>
        </p:txBody>
      </p:sp>
      <p:sp>
        <p:nvSpPr>
          <p:cNvPr id="147" name="Text 145"/>
          <p:cNvSpPr/>
          <p:nvPr/>
        </p:nvSpPr>
        <p:spPr>
          <a:xfrm>
            <a:off x="9710928" y="5559552"/>
            <a:ext cx="1609344" cy="219456"/>
          </a:xfrm>
          <a:prstGeom prst="rect">
            <a:avLst/>
          </a:prstGeom>
          <a:noFill/>
          <a:ln/>
        </p:spPr>
        <p:txBody>
          <a:bodyPr wrap="square" rtlCol="0" anchor="ctr"/>
          <a:lstStyle/>
          <a:p>
            <a:pPr indent="0" marL="0">
              <a:buNone/>
            </a:pPr>
            <a:r>
              <a:rPr lang="en-US" sz="950" b="1" dirty="0">
                <a:solidFill>
                  <a:srgbClr val="1C1917"/>
                </a:solidFill>
                <a:latin typeface="Arial" pitchFamily="34" charset="0"/>
                <a:ea typeface="Arial" pitchFamily="34" charset="-122"/>
                <a:cs typeface="Arial" pitchFamily="34" charset="-120"/>
              </a:rPr>
              <a:t>前沿终局定论</a:t>
            </a:r>
            <a:endParaRPr lang="en-US" sz="950" dirty="0"/>
          </a:p>
        </p:txBody>
      </p:sp>
      <p:sp>
        <p:nvSpPr>
          <p:cNvPr id="148" name="Text 146"/>
          <p:cNvSpPr/>
          <p:nvPr/>
        </p:nvSpPr>
        <p:spPr>
          <a:xfrm>
            <a:off x="9710928" y="5779008"/>
            <a:ext cx="1609344" cy="457200"/>
          </a:xfrm>
          <a:prstGeom prst="rect">
            <a:avLst/>
          </a:prstGeom>
          <a:noFill/>
          <a:ln/>
        </p:spPr>
        <p:txBody>
          <a:bodyPr wrap="square" rtlCol="0" anchor="ctr"/>
          <a:lstStyle/>
          <a:p>
            <a:pPr indent="0" marL="0">
              <a:lnSpc>
                <a:spcPts val="1100"/>
              </a:lnSpc>
              <a:buNone/>
            </a:pPr>
            <a:r>
              <a:rPr lang="en-US" sz="850" dirty="0">
                <a:solidFill>
                  <a:srgbClr val="57534E"/>
                </a:solidFill>
                <a:latin typeface="Arial" pitchFamily="34" charset="0"/>
                <a:ea typeface="Arial" pitchFamily="34" charset="-122"/>
                <a:cs typeface="Arial" pitchFamily="34" charset="-120"/>
              </a:rPr>
              <a:t>超越商业成败的物种跃迁</a:t>
            </a:r>
            <a:endParaRPr lang="en-US" sz="850" dirty="0"/>
          </a:p>
        </p:txBody>
      </p:sp>
      <p:sp>
        <p:nvSpPr>
          <p:cNvPr id="149" name="Shape 147"/>
          <p:cNvSpPr/>
          <p:nvPr/>
        </p:nvSpPr>
        <p:spPr>
          <a:xfrm>
            <a:off x="9473184" y="5687568"/>
            <a:ext cx="1828800" cy="384048"/>
          </a:xfrm>
          <a:prstGeom prst="rect">
            <a:avLst/>
          </a:prstGeom>
          <a:solidFill>
            <a:srgbClr val="EFEBE1"/>
          </a:solidFill>
          <a:ln w="12700">
            <a:solidFill>
              <a:srgbClr val="E2DCD2"/>
            </a:solidFill>
            <a:prstDash val="solid"/>
          </a:ln>
        </p:spPr>
      </p:sp>
      <p:sp>
        <p:nvSpPr>
          <p:cNvPr id="150" name="Text 148"/>
          <p:cNvSpPr/>
          <p:nvPr/>
        </p:nvSpPr>
        <p:spPr>
          <a:xfrm>
            <a:off x="9473184" y="5742432"/>
            <a:ext cx="1828800" cy="274320"/>
          </a:xfrm>
          <a:prstGeom prst="rect">
            <a:avLst/>
          </a:prstGeom>
          <a:noFill/>
          <a:ln/>
        </p:spPr>
        <p:txBody>
          <a:bodyPr wrap="square" rtlCol="0" anchor="ctr"/>
          <a:lstStyle/>
          <a:p>
            <a:pPr algn="ctr" indent="0" marL="0">
              <a:buNone/>
            </a:pPr>
            <a:r>
              <a:rPr lang="en-US" sz="850" b="1" dirty="0">
                <a:solidFill>
                  <a:srgbClr val="475569"/>
                </a:solidFill>
                <a:latin typeface="Arial" pitchFamily="34" charset="0"/>
                <a:ea typeface="Arial" pitchFamily="34" charset="-122"/>
                <a:cs typeface="Arial" pitchFamily="34" charset="-120"/>
              </a:rPr>
              <a:t>深入 P.27 展开 ▸</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1210"/>
        </a:solidFill>
      </p:bgPr>
    </p:bg>
    <p:spTree>
      <p:nvGrpSpPr>
        <p:cNvPr id="1" name=""/>
        <p:cNvGrpSpPr/>
        <p:nvPr/>
      </p:nvGrpSpPr>
      <p:grpSpPr>
        <a:xfrm>
          <a:off x="0" y="0"/>
          <a:ext cx="0" cy="0"/>
          <a:chOff x="0" y="0"/>
          <a:chExt cx="0" cy="0"/>
        </a:xfrm>
      </p:grpSpPr>
      <p:sp>
        <p:nvSpPr>
          <p:cNvPr id="2" name="Shape 0"/>
          <p:cNvSpPr/>
          <p:nvPr/>
        </p:nvSpPr>
        <p:spPr>
          <a:xfrm>
            <a:off x="731520" y="1097280"/>
            <a:ext cx="137160" cy="4663440"/>
          </a:xfrm>
          <a:prstGeom prst="rect">
            <a:avLst/>
          </a:prstGeom>
          <a:solidFill>
            <a:srgbClr val="D97757"/>
          </a:solidFill>
          <a:ln/>
        </p:spPr>
      </p:sp>
      <p:sp>
        <p:nvSpPr>
          <p:cNvPr id="3" name="Shape 1"/>
          <p:cNvSpPr/>
          <p:nvPr/>
        </p:nvSpPr>
        <p:spPr>
          <a:xfrm>
            <a:off x="1188720" y="1097280"/>
            <a:ext cx="10241280" cy="4663440"/>
          </a:xfrm>
          <a:prstGeom prst="rect">
            <a:avLst/>
          </a:prstGeom>
          <a:solidFill>
            <a:srgbClr val="1E1B18"/>
          </a:solidFill>
          <a:ln w="12700">
            <a:solidFill>
              <a:srgbClr val="38332E"/>
            </a:solidFill>
            <a:prstDash val="solid"/>
          </a:ln>
        </p:spPr>
      </p:sp>
      <p:sp>
        <p:nvSpPr>
          <p:cNvPr id="4" name="Shape 2"/>
          <p:cNvSpPr/>
          <p:nvPr/>
        </p:nvSpPr>
        <p:spPr>
          <a:xfrm>
            <a:off x="1737360" y="1554480"/>
            <a:ext cx="3108960" cy="320040"/>
          </a:xfrm>
          <a:prstGeom prst="rect">
            <a:avLst/>
          </a:prstGeom>
          <a:solidFill>
            <a:srgbClr val="261F1A"/>
          </a:solidFill>
          <a:ln w="12700">
            <a:solidFill>
              <a:srgbClr val="D97757"/>
            </a:solidFill>
            <a:prstDash val="solid"/>
          </a:ln>
        </p:spPr>
      </p:sp>
      <p:sp>
        <p:nvSpPr>
          <p:cNvPr id="5" name="Text 3"/>
          <p:cNvSpPr/>
          <p:nvPr/>
        </p:nvSpPr>
        <p:spPr>
          <a:xfrm>
            <a:off x="1737360" y="1554480"/>
            <a:ext cx="3108960" cy="320040"/>
          </a:xfrm>
          <a:prstGeom prst="rect">
            <a:avLst/>
          </a:prstGeom>
          <a:noFill/>
          <a:ln/>
        </p:spPr>
        <p:txBody>
          <a:bodyPr wrap="square" rtlCol="0" anchor="ctr"/>
          <a:lstStyle/>
          <a:p>
            <a:pPr algn="ctr" indent="0" marL="0">
              <a:buNone/>
            </a:pPr>
            <a:r>
              <a:rPr lang="en-US" sz="950" b="1" spc="150" kern="0" dirty="0">
                <a:solidFill>
                  <a:srgbClr val="D97757"/>
                </a:solidFill>
                <a:latin typeface="Arial" pitchFamily="34" charset="0"/>
                <a:ea typeface="Arial" pitchFamily="34" charset="-122"/>
                <a:cs typeface="Arial" pitchFamily="34" charset="-120"/>
              </a:rPr>
              <a:t>PARADIGM IN CRISIS</a:t>
            </a:r>
            <a:endParaRPr lang="en-US" sz="950" dirty="0"/>
          </a:p>
        </p:txBody>
      </p:sp>
      <p:sp>
        <p:nvSpPr>
          <p:cNvPr id="6" name="Text 4"/>
          <p:cNvSpPr/>
          <p:nvPr/>
        </p:nvSpPr>
        <p:spPr>
          <a:xfrm>
            <a:off x="1737360" y="2103120"/>
            <a:ext cx="9144000" cy="685800"/>
          </a:xfrm>
          <a:prstGeom prst="rect">
            <a:avLst/>
          </a:prstGeom>
          <a:noFill/>
          <a:ln/>
        </p:spPr>
        <p:txBody>
          <a:bodyPr wrap="square" lIns="0" tIns="0" rIns="0" bIns="0" rtlCol="0" anchor="ctr"/>
          <a:lstStyle/>
          <a:p>
            <a:pPr indent="0" marL="0">
              <a:buNone/>
            </a:pPr>
            <a:r>
              <a:rPr lang="en-US" sz="3800" b="1" spc="150" kern="0" dirty="0">
                <a:solidFill>
                  <a:srgbClr val="D97757"/>
                </a:solidFill>
                <a:latin typeface="Arial" pitchFamily="34" charset="0"/>
                <a:ea typeface="Arial" pitchFamily="34" charset="-122"/>
                <a:cs typeface="Arial" pitchFamily="34" charset="-120"/>
              </a:rPr>
              <a:t>PART 01</a:t>
            </a:r>
            <a:endParaRPr lang="en-US" sz="3800" dirty="0"/>
          </a:p>
        </p:txBody>
      </p:sp>
      <p:sp>
        <p:nvSpPr>
          <p:cNvPr id="7" name="Text 5"/>
          <p:cNvSpPr/>
          <p:nvPr/>
        </p:nvSpPr>
        <p:spPr>
          <a:xfrm>
            <a:off x="1737360" y="2880360"/>
            <a:ext cx="9144000" cy="77724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王权易主：Gemini 溃败与 OpenAI 反攻</a:t>
            </a:r>
            <a:endParaRPr lang="en-US" sz="3000" dirty="0"/>
          </a:p>
        </p:txBody>
      </p:sp>
      <p:sp>
        <p:nvSpPr>
          <p:cNvPr id="8" name="Shape 6"/>
          <p:cNvSpPr/>
          <p:nvPr/>
        </p:nvSpPr>
        <p:spPr>
          <a:xfrm>
            <a:off x="1737360" y="3794760"/>
            <a:ext cx="8961120" cy="0"/>
          </a:xfrm>
          <a:prstGeom prst="line">
            <a:avLst/>
          </a:prstGeom>
          <a:noFill/>
          <a:ln w="12700">
            <a:solidFill>
              <a:srgbClr val="38332E"/>
            </a:solidFill>
            <a:prstDash val="solid"/>
          </a:ln>
        </p:spPr>
      </p:sp>
      <p:sp>
        <p:nvSpPr>
          <p:cNvPr id="9" name="Text 7"/>
          <p:cNvSpPr/>
          <p:nvPr/>
        </p:nvSpPr>
        <p:spPr>
          <a:xfrm>
            <a:off x="1737360" y="3977640"/>
            <a:ext cx="8961120" cy="777240"/>
          </a:xfrm>
          <a:prstGeom prst="rect">
            <a:avLst/>
          </a:prstGeom>
          <a:noFill/>
          <a:ln/>
        </p:spPr>
        <p:txBody>
          <a:bodyPr wrap="square" lIns="0" tIns="0" rIns="0" bIns="0" rtlCol="0" anchor="ctr"/>
          <a:lstStyle/>
          <a:p>
            <a:pPr indent="0" marL="0">
              <a:lnSpc>
                <a:spcPts val="2200"/>
              </a:lnSpc>
              <a:buNone/>
            </a:pPr>
            <a:r>
              <a:rPr lang="en-US" sz="1500" dirty="0">
                <a:solidFill>
                  <a:srgbClr val="D6D0C7"/>
                </a:solidFill>
                <a:latin typeface="Arial" pitchFamily="34" charset="0"/>
                <a:ea typeface="Arial" pitchFamily="34" charset="-122"/>
                <a:cs typeface="Arial" pitchFamily="34" charset="-120"/>
              </a:rPr>
              <a:t>从千亿算力幻觉到终端工程绝地，复盘真实研发场景中的大模型权力更迭。</a:t>
            </a:r>
            <a:endParaRPr lang="en-US" sz="1500" dirty="0"/>
          </a:p>
        </p:txBody>
      </p:sp>
      <p:sp>
        <p:nvSpPr>
          <p:cNvPr id="10" name="Text 8"/>
          <p:cNvSpPr/>
          <p:nvPr/>
        </p:nvSpPr>
        <p:spPr>
          <a:xfrm>
            <a:off x="10332720" y="1371600"/>
            <a:ext cx="822960" cy="411480"/>
          </a:xfrm>
          <a:prstGeom prst="rect">
            <a:avLst/>
          </a:prstGeom>
          <a:noFill/>
          <a:ln/>
        </p:spPr>
        <p:txBody>
          <a:bodyPr wrap="square" rtlCol="0" anchor="ctr"/>
          <a:lstStyle/>
          <a:p>
            <a:pPr algn="r" indent="0" marL="0">
              <a:buNone/>
            </a:pPr>
            <a:r>
              <a:rPr lang="en-US" sz="1600" b="1" dirty="0">
                <a:solidFill>
                  <a:srgbClr val="666059"/>
                </a:solidFill>
                <a:latin typeface="Arial" pitchFamily="34" charset="0"/>
                <a:ea typeface="Arial" pitchFamily="34" charset="-122"/>
                <a:cs typeface="Arial" pitchFamily="34" charset="-120"/>
              </a:rPr>
              <a:t>05</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9F5"/>
        </a:solidFill>
      </p:bgPr>
    </p:bg>
    <p:spTree>
      <p:nvGrpSpPr>
        <p:cNvPr id="1" name=""/>
        <p:cNvGrpSpPr/>
        <p:nvPr/>
      </p:nvGrpSpPr>
      <p:grpSpPr>
        <a:xfrm>
          <a:off x="0" y="0"/>
          <a:ext cx="0" cy="0"/>
          <a:chOff x="0" y="0"/>
          <a:chExt cx="0" cy="0"/>
        </a:xfrm>
      </p:grpSpPr>
      <p:sp>
        <p:nvSpPr>
          <p:cNvPr id="2" name="Shape 0"/>
          <p:cNvSpPr/>
          <p:nvPr/>
        </p:nvSpPr>
        <p:spPr>
          <a:xfrm>
            <a:off x="731520" y="384048"/>
            <a:ext cx="2560320" cy="256032"/>
          </a:xfrm>
          <a:prstGeom prst="rect">
            <a:avLst/>
          </a:prstGeom>
          <a:solidFill>
            <a:srgbClr val="FBF0EB"/>
          </a:solidFill>
          <a:ln w="12700">
            <a:solidFill>
              <a:srgbClr val="F0C2B2"/>
            </a:solidFill>
            <a:prstDash val="solid"/>
          </a:ln>
        </p:spPr>
      </p:sp>
      <p:sp>
        <p:nvSpPr>
          <p:cNvPr id="3" name="Text 1"/>
          <p:cNvSpPr/>
          <p:nvPr/>
        </p:nvSpPr>
        <p:spPr>
          <a:xfrm>
            <a:off x="731520" y="384048"/>
            <a:ext cx="2560320" cy="256032"/>
          </a:xfrm>
          <a:prstGeom prst="rect">
            <a:avLst/>
          </a:prstGeom>
          <a:noFill/>
          <a:ln/>
        </p:spPr>
        <p:txBody>
          <a:bodyPr wrap="square" rtlCol="0" anchor="ctr"/>
          <a:lstStyle/>
          <a:p>
            <a:pPr algn="ctr" indent="0" marL="0">
              <a:buNone/>
            </a:pPr>
            <a:r>
              <a:rPr lang="en-US" sz="900" b="1" spc="120" kern="0" dirty="0">
                <a:solidFill>
                  <a:srgbClr val="D97757"/>
                </a:solidFill>
                <a:latin typeface="Arial" pitchFamily="34" charset="0"/>
                <a:ea typeface="Arial" pitchFamily="34" charset="-122"/>
                <a:cs typeface="Arial" pitchFamily="34" charset="-120"/>
              </a:rPr>
              <a:t>GEMINI AUTOPSY</a:t>
            </a:r>
            <a:endParaRPr lang="en-US" sz="900" dirty="0"/>
          </a:p>
        </p:txBody>
      </p:sp>
      <p:sp>
        <p:nvSpPr>
          <p:cNvPr id="4" name="Text 2"/>
          <p:cNvSpPr/>
          <p:nvPr/>
        </p:nvSpPr>
        <p:spPr>
          <a:xfrm>
            <a:off x="731520" y="676656"/>
            <a:ext cx="9875520" cy="475488"/>
          </a:xfrm>
          <a:prstGeom prst="rect">
            <a:avLst/>
          </a:prstGeom>
          <a:noFill/>
          <a:ln/>
        </p:spPr>
        <p:txBody>
          <a:bodyPr wrap="square" lIns="0" tIns="0" rIns="0" bIns="0" rtlCol="0" anchor="ctr"/>
          <a:lstStyle/>
          <a:p>
            <a:pPr indent="0" marL="0">
              <a:buNone/>
            </a:pPr>
            <a:r>
              <a:rPr lang="en-US" sz="2100" b="1" dirty="0">
                <a:solidFill>
                  <a:srgbClr val="1C1917"/>
                </a:solidFill>
                <a:latin typeface="Arial" pitchFamily="34" charset="0"/>
                <a:ea typeface="Arial" pitchFamily="34" charset="-122"/>
                <a:cs typeface="Arial" pitchFamily="34" charset="-120"/>
              </a:rPr>
              <a:t>Google Gemini 真实工程滑铁卢：四大致命缺陷尸检</a:t>
            </a:r>
            <a:endParaRPr lang="en-US" sz="2100" dirty="0"/>
          </a:p>
        </p:txBody>
      </p:sp>
      <p:sp>
        <p:nvSpPr>
          <p:cNvPr id="5" name="Text 3"/>
          <p:cNvSpPr/>
          <p:nvPr/>
        </p:nvSpPr>
        <p:spPr>
          <a:xfrm>
            <a:off x="10972800" y="384048"/>
            <a:ext cx="731520" cy="320040"/>
          </a:xfrm>
          <a:prstGeom prst="rect">
            <a:avLst/>
          </a:prstGeom>
          <a:noFill/>
          <a:ln/>
        </p:spPr>
        <p:txBody>
          <a:bodyPr wrap="square" rtlCol="0" anchor="ctr"/>
          <a:lstStyle/>
          <a:p>
            <a:pPr algn="r" indent="0" marL="0">
              <a:buNone/>
            </a:pPr>
            <a:r>
              <a:rPr lang="en-US" sz="1300" b="1" dirty="0">
                <a:solidFill>
                  <a:srgbClr val="8C857B"/>
                </a:solidFill>
                <a:latin typeface="Arial" pitchFamily="34" charset="0"/>
                <a:ea typeface="Arial" pitchFamily="34" charset="-122"/>
                <a:cs typeface="Arial" pitchFamily="34" charset="-120"/>
              </a:rPr>
              <a:t>06</a:t>
            </a:r>
            <a:endParaRPr lang="en-US" sz="1300" dirty="0"/>
          </a:p>
        </p:txBody>
      </p:sp>
      <p:sp>
        <p:nvSpPr>
          <p:cNvPr id="6" name="Shape 4"/>
          <p:cNvSpPr/>
          <p:nvPr/>
        </p:nvSpPr>
        <p:spPr>
          <a:xfrm>
            <a:off x="731520" y="1325880"/>
            <a:ext cx="2560320" cy="4892040"/>
          </a:xfrm>
          <a:prstGeom prst="rect">
            <a:avLst/>
          </a:prstGeom>
          <a:solidFill>
            <a:srgbClr val="FFFFFF"/>
          </a:solidFill>
          <a:ln w="12700">
            <a:solidFill>
              <a:srgbClr val="E2DCD2"/>
            </a:solidFill>
            <a:prstDash val="solid"/>
          </a:ln>
        </p:spPr>
      </p:sp>
      <p:sp>
        <p:nvSpPr>
          <p:cNvPr id="7" name="Shape 5"/>
          <p:cNvSpPr/>
          <p:nvPr/>
        </p:nvSpPr>
        <p:spPr>
          <a:xfrm>
            <a:off x="731520" y="1325880"/>
            <a:ext cx="2560320" cy="841248"/>
          </a:xfrm>
          <a:prstGeom prst="rect">
            <a:avLst/>
          </a:prstGeom>
          <a:solidFill>
            <a:srgbClr val="DC2626"/>
          </a:solidFill>
          <a:ln/>
        </p:spPr>
      </p:sp>
      <p:sp>
        <p:nvSpPr>
          <p:cNvPr id="8" name="Text 6"/>
          <p:cNvSpPr/>
          <p:nvPr/>
        </p:nvSpPr>
        <p:spPr>
          <a:xfrm>
            <a:off x="841248" y="1389888"/>
            <a:ext cx="2340864" cy="182880"/>
          </a:xfrm>
          <a:prstGeom prst="rect">
            <a:avLst/>
          </a:prstGeom>
          <a:noFill/>
          <a:ln/>
        </p:spPr>
        <p:txBody>
          <a:bodyPr wrap="square" rtlCol="0" anchor="ctr"/>
          <a:lstStyle/>
          <a:p>
            <a:pPr indent="0" marL="0">
              <a:buNone/>
            </a:pPr>
            <a:r>
              <a:rPr lang="en-US" sz="800" b="1" spc="110" kern="0" dirty="0">
                <a:solidFill>
                  <a:srgbClr val="FFFFFF"/>
                </a:solidFill>
                <a:latin typeface="Arial" pitchFamily="34" charset="0"/>
                <a:ea typeface="Arial" pitchFamily="34" charset="-122"/>
                <a:cs typeface="Arial" pitchFamily="34" charset="-120"/>
              </a:rPr>
              <a:t>01 · MALFORMED_CALL</a:t>
            </a:r>
            <a:endParaRPr lang="en-US" sz="800" dirty="0"/>
          </a:p>
        </p:txBody>
      </p:sp>
      <p:sp>
        <p:nvSpPr>
          <p:cNvPr id="9" name="Text 7"/>
          <p:cNvSpPr/>
          <p:nvPr/>
        </p:nvSpPr>
        <p:spPr>
          <a:xfrm>
            <a:off x="841248" y="1591056"/>
            <a:ext cx="2340864" cy="475488"/>
          </a:xfrm>
          <a:prstGeom prst="rect">
            <a:avLst/>
          </a:prstGeom>
          <a:noFill/>
          <a:ln/>
        </p:spPr>
        <p:txBody>
          <a:bodyPr wrap="square" rtlCol="0" anchor="ctr"/>
          <a:lstStyle/>
          <a:p>
            <a:pPr indent="0" marL="0">
              <a:lnSpc>
                <a:spcPts val="1500"/>
              </a:lnSpc>
              <a:buNone/>
            </a:pPr>
            <a:r>
              <a:rPr lang="en-US" sz="1250" b="1" dirty="0">
                <a:solidFill>
                  <a:srgbClr val="FFFFFF"/>
                </a:solidFill>
                <a:latin typeface="Arial" pitchFamily="34" charset="0"/>
                <a:ea typeface="Arial" pitchFamily="34" charset="-122"/>
                <a:cs typeface="Arial" pitchFamily="34" charset="-120"/>
              </a:rPr>
              <a:t>协议崩坏与格式漂移</a:t>
            </a:r>
            <a:endParaRPr lang="en-US" sz="1250" dirty="0"/>
          </a:p>
        </p:txBody>
      </p:sp>
      <p:sp>
        <p:nvSpPr>
          <p:cNvPr id="10" name="Shape 8"/>
          <p:cNvSpPr/>
          <p:nvPr/>
        </p:nvSpPr>
        <p:spPr>
          <a:xfrm>
            <a:off x="841248" y="2240280"/>
            <a:ext cx="2340864" cy="402336"/>
          </a:xfrm>
          <a:prstGeom prst="rect">
            <a:avLst/>
          </a:prstGeom>
          <a:solidFill>
            <a:srgbClr val="FEE2E2"/>
          </a:solidFill>
          <a:ln w="12700">
            <a:solidFill>
              <a:srgbClr val="DC2626"/>
            </a:solidFill>
            <a:prstDash val="solid"/>
          </a:ln>
        </p:spPr>
      </p:sp>
      <p:sp>
        <p:nvSpPr>
          <p:cNvPr id="11" name="Text 9"/>
          <p:cNvSpPr/>
          <p:nvPr/>
        </p:nvSpPr>
        <p:spPr>
          <a:xfrm>
            <a:off x="868680" y="2304288"/>
            <a:ext cx="2286000" cy="274320"/>
          </a:xfrm>
          <a:prstGeom prst="rect">
            <a:avLst/>
          </a:prstGeom>
          <a:noFill/>
          <a:ln/>
        </p:spPr>
        <p:txBody>
          <a:bodyPr wrap="square" rtlCol="0" anchor="ctr"/>
          <a:lstStyle/>
          <a:p>
            <a:pPr algn="ctr" indent="0" marL="0">
              <a:buNone/>
            </a:pPr>
            <a:r>
              <a:rPr lang="en-US" sz="1200" b="1" dirty="0">
                <a:solidFill>
                  <a:srgbClr val="DC2626"/>
                </a:solidFill>
                <a:latin typeface="Arial" pitchFamily="34" charset="0"/>
                <a:ea typeface="Arial" pitchFamily="34" charset="-122"/>
                <a:cs typeface="Arial" pitchFamily="34" charset="-120"/>
              </a:rPr>
              <a:t>14.2% 格式崩溃率</a:t>
            </a:r>
            <a:endParaRPr lang="en-US" sz="1200" dirty="0"/>
          </a:p>
        </p:txBody>
      </p:sp>
      <p:sp>
        <p:nvSpPr>
          <p:cNvPr id="12" name="Shape 10"/>
          <p:cNvSpPr/>
          <p:nvPr/>
        </p:nvSpPr>
        <p:spPr>
          <a:xfrm>
            <a:off x="841248" y="2715768"/>
            <a:ext cx="2340864" cy="1600200"/>
          </a:xfrm>
          <a:prstGeom prst="rect">
            <a:avLst/>
          </a:prstGeom>
          <a:solidFill>
            <a:srgbClr val="1E1B18"/>
          </a:solidFill>
          <a:ln w="12700">
            <a:solidFill>
              <a:srgbClr val="38332E"/>
            </a:solidFill>
            <a:prstDash val="solid"/>
          </a:ln>
        </p:spPr>
      </p:sp>
      <p:sp>
        <p:nvSpPr>
          <p:cNvPr id="13" name="Shape 11"/>
          <p:cNvSpPr/>
          <p:nvPr/>
        </p:nvSpPr>
        <p:spPr>
          <a:xfrm>
            <a:off x="841248" y="2715768"/>
            <a:ext cx="2340864" cy="237744"/>
          </a:xfrm>
          <a:prstGeom prst="rect">
            <a:avLst/>
          </a:prstGeom>
          <a:solidFill>
            <a:srgbClr val="2A2622"/>
          </a:solidFill>
          <a:ln/>
        </p:spPr>
      </p:sp>
      <p:sp>
        <p:nvSpPr>
          <p:cNvPr id="14" name="Text 12"/>
          <p:cNvSpPr/>
          <p:nvPr/>
        </p:nvSpPr>
        <p:spPr>
          <a:xfrm>
            <a:off x="868680" y="2761488"/>
            <a:ext cx="2286000" cy="164592"/>
          </a:xfrm>
          <a:prstGeom prst="rect">
            <a:avLst/>
          </a:prstGeom>
          <a:noFill/>
          <a:ln/>
        </p:spPr>
        <p:txBody>
          <a:bodyPr wrap="square" rtlCol="0" anchor="ctr"/>
          <a:lstStyle/>
          <a:p>
            <a:pPr algn="ctr" indent="0" marL="0">
              <a:buNone/>
            </a:pPr>
            <a:r>
              <a:rPr lang="en-US" sz="750" b="1" dirty="0">
                <a:solidFill>
                  <a:srgbClr val="DC2626"/>
                </a:solidFill>
                <a:latin typeface="Courier New" pitchFamily="34" charset="0"/>
                <a:ea typeface="Courier New" pitchFamily="34" charset="-122"/>
                <a:cs typeface="Courier New" pitchFamily="34" charset="-120"/>
              </a:rPr>
              <a:t>TERMINAL CRASH LOG</a:t>
            </a:r>
            <a:endParaRPr lang="en-US" sz="750" dirty="0"/>
          </a:p>
        </p:txBody>
      </p:sp>
      <p:sp>
        <p:nvSpPr>
          <p:cNvPr id="15" name="Text 13"/>
          <p:cNvSpPr/>
          <p:nvPr/>
        </p:nvSpPr>
        <p:spPr>
          <a:xfrm>
            <a:off x="914400" y="2999232"/>
            <a:ext cx="2194560" cy="1234440"/>
          </a:xfrm>
          <a:prstGeom prst="rect">
            <a:avLst/>
          </a:prstGeom>
          <a:noFill/>
          <a:ln/>
        </p:spPr>
        <p:txBody>
          <a:bodyPr wrap="square" rtlCol="0" anchor="ctr"/>
          <a:lstStyle/>
          <a:p>
            <a:pPr indent="0" marL="0">
              <a:lnSpc>
                <a:spcPts val="1100"/>
              </a:lnSpc>
              <a:buNone/>
            </a:pPr>
            <a:r>
              <a:rPr lang="en-US" sz="750" dirty="0">
                <a:solidFill>
                  <a:srgbClr val="E7E5E4"/>
                </a:solidFill>
                <a:latin typeface="Courier New" pitchFamily="34" charset="0"/>
                <a:ea typeface="Courier New" pitchFamily="34" charset="-122"/>
                <a:cs typeface="Courier New" pitchFamily="34" charset="-120"/>
              </a:rPr>
              <a:t>POST /v1/chat</a:t>
            </a:r>
            <a:endParaRPr lang="en-US" sz="750" dirty="0"/>
          </a:p>
          <a:p>
            <a:pPr indent="0" marL="0">
              <a:lnSpc>
                <a:spcPts val="1100"/>
              </a:lnSpc>
              <a:buNone/>
            </a:pPr>
            <a:r>
              <a:rPr lang="en-US" sz="750" dirty="0">
                <a:solidFill>
                  <a:srgbClr val="E7E5E4"/>
                </a:solidFill>
                <a:latin typeface="Courier New" pitchFamily="34" charset="0"/>
                <a:ea typeface="Courier New" pitchFamily="34" charset="-122"/>
                <a:cs typeface="Courier New" pitchFamily="34" charset="-120"/>
              </a:rPr>
              <a:t>➔ {"action": "bash"</a:t>
            </a:r>
            <a:endParaRPr lang="en-US" sz="750" dirty="0"/>
          </a:p>
          <a:p>
            <a:pPr indent="0" marL="0">
              <a:lnSpc>
                <a:spcPts val="1100"/>
              </a:lnSpc>
              <a:buNone/>
            </a:pPr>
            <a:r>
              <a:rPr lang="en-US" sz="750" dirty="0">
                <a:solidFill>
                  <a:srgbClr val="E7E5E4"/>
                </a:solidFill>
                <a:latin typeface="Courier New" pitchFamily="34" charset="0"/>
                <a:ea typeface="Courier New" pitchFamily="34" charset="-122"/>
                <a:cs typeface="Courier New" pitchFamily="34" charset="-120"/>
              </a:rPr>
              <a:t>✖ JSON Parse Error</a:t>
            </a:r>
            <a:endParaRPr lang="en-US" sz="750" dirty="0"/>
          </a:p>
          <a:p>
            <a:pPr indent="0" marL="0">
              <a:lnSpc>
                <a:spcPts val="1100"/>
              </a:lnSpc>
              <a:buNone/>
            </a:pPr>
            <a:r>
              <a:rPr lang="en-US" sz="750" dirty="0">
                <a:solidFill>
                  <a:srgbClr val="E7E5E4"/>
                </a:solidFill>
                <a:latin typeface="Courier New" pitchFamily="34" charset="0"/>
                <a:ea typeface="Courier New" pitchFamily="34" charset="-122"/>
                <a:cs typeface="Courier New" pitchFamily="34" charset="-120"/>
              </a:rPr>
              <a:t>Terminal Parser Aborted</a:t>
            </a:r>
            <a:endParaRPr lang="en-US" sz="750" dirty="0"/>
          </a:p>
        </p:txBody>
      </p:sp>
      <p:sp>
        <p:nvSpPr>
          <p:cNvPr id="16" name="Shape 14"/>
          <p:cNvSpPr/>
          <p:nvPr/>
        </p:nvSpPr>
        <p:spPr>
          <a:xfrm>
            <a:off x="841248" y="4389120"/>
            <a:ext cx="2340864" cy="1719072"/>
          </a:xfrm>
          <a:prstGeom prst="rect">
            <a:avLst/>
          </a:prstGeom>
          <a:solidFill>
            <a:srgbClr val="F5F2EB"/>
          </a:solidFill>
          <a:ln w="12700">
            <a:solidFill>
              <a:srgbClr val="E2DCD2"/>
            </a:solidFill>
            <a:prstDash val="solid"/>
          </a:ln>
        </p:spPr>
      </p:sp>
      <p:sp>
        <p:nvSpPr>
          <p:cNvPr id="17" name="Text 15"/>
          <p:cNvSpPr/>
          <p:nvPr/>
        </p:nvSpPr>
        <p:spPr>
          <a:xfrm>
            <a:off x="914400" y="4480560"/>
            <a:ext cx="2194560" cy="868680"/>
          </a:xfrm>
          <a:prstGeom prst="rect">
            <a:avLst/>
          </a:prstGeom>
          <a:noFill/>
          <a:ln/>
        </p:spPr>
        <p:txBody>
          <a:bodyPr wrap="square" rtlCol="0" anchor="ctr"/>
          <a:lstStyle/>
          <a:p>
            <a:pPr indent="0" marL="0">
              <a:lnSpc>
                <a:spcPts val="1250"/>
              </a:lnSpc>
              <a:buNone/>
            </a:pPr>
            <a:r>
              <a:rPr lang="en-US" sz="880" dirty="0">
                <a:solidFill>
                  <a:srgbClr val="57534E"/>
                </a:solidFill>
                <a:latin typeface="Arial" pitchFamily="34" charset="0"/>
                <a:ea typeface="Arial" pitchFamily="34" charset="-122"/>
                <a:cs typeface="Arial" pitchFamily="34" charset="-120"/>
              </a:rPr>
              <a:t>在长程 Agent 多轮工具调用中，频繁出现非闭合 JSON 或把参数写为 Markdown 散文，直接搞崩终端解析器。</a:t>
            </a:r>
            <a:endParaRPr lang="en-US" sz="880" dirty="0"/>
          </a:p>
        </p:txBody>
      </p:sp>
      <p:sp>
        <p:nvSpPr>
          <p:cNvPr id="18" name="Text 16"/>
          <p:cNvSpPr/>
          <p:nvPr/>
        </p:nvSpPr>
        <p:spPr>
          <a:xfrm>
            <a:off x="914400" y="5413248"/>
            <a:ext cx="2194560" cy="621792"/>
          </a:xfrm>
          <a:prstGeom prst="rect">
            <a:avLst/>
          </a:prstGeom>
          <a:noFill/>
          <a:ln/>
        </p:spPr>
        <p:txBody>
          <a:bodyPr wrap="square" rtlCol="0" anchor="ctr"/>
          <a:lstStyle/>
          <a:p>
            <a:pPr indent="0" marL="0">
              <a:lnSpc>
                <a:spcPts val="1200"/>
              </a:lnSpc>
              <a:buNone/>
            </a:pPr>
            <a:r>
              <a:rPr lang="en-US" sz="850" b="1" dirty="0">
                <a:solidFill>
                  <a:srgbClr val="DC2626"/>
                </a:solidFill>
                <a:latin typeface="Arial" pitchFamily="34" charset="0"/>
                <a:ea typeface="Arial" pitchFamily="34" charset="-122"/>
                <a:cs typeface="Arial" pitchFamily="34" charset="-120"/>
              </a:rPr>
              <a:t>致命后果：自动化流水线彻底中断 (Claude 仅 0.12%)</a:t>
            </a:r>
            <a:endParaRPr lang="en-US" sz="850" dirty="0"/>
          </a:p>
        </p:txBody>
      </p:sp>
      <p:sp>
        <p:nvSpPr>
          <p:cNvPr id="19" name="Shape 17"/>
          <p:cNvSpPr/>
          <p:nvPr/>
        </p:nvSpPr>
        <p:spPr>
          <a:xfrm>
            <a:off x="3429000" y="1325880"/>
            <a:ext cx="2560320" cy="4892040"/>
          </a:xfrm>
          <a:prstGeom prst="rect">
            <a:avLst/>
          </a:prstGeom>
          <a:solidFill>
            <a:srgbClr val="FFFFFF"/>
          </a:solidFill>
          <a:ln w="12700">
            <a:solidFill>
              <a:srgbClr val="E2DCD2"/>
            </a:solidFill>
            <a:prstDash val="solid"/>
          </a:ln>
        </p:spPr>
      </p:sp>
      <p:sp>
        <p:nvSpPr>
          <p:cNvPr id="20" name="Shape 18"/>
          <p:cNvSpPr/>
          <p:nvPr/>
        </p:nvSpPr>
        <p:spPr>
          <a:xfrm>
            <a:off x="3429000" y="1325880"/>
            <a:ext cx="2560320" cy="841248"/>
          </a:xfrm>
          <a:prstGeom prst="rect">
            <a:avLst/>
          </a:prstGeom>
          <a:solidFill>
            <a:srgbClr val="D97706"/>
          </a:solidFill>
          <a:ln/>
        </p:spPr>
      </p:sp>
      <p:sp>
        <p:nvSpPr>
          <p:cNvPr id="21" name="Text 19"/>
          <p:cNvSpPr/>
          <p:nvPr/>
        </p:nvSpPr>
        <p:spPr>
          <a:xfrm>
            <a:off x="3538728" y="1389888"/>
            <a:ext cx="2340864" cy="182880"/>
          </a:xfrm>
          <a:prstGeom prst="rect">
            <a:avLst/>
          </a:prstGeom>
          <a:noFill/>
          <a:ln/>
        </p:spPr>
        <p:txBody>
          <a:bodyPr wrap="square" rtlCol="0" anchor="ctr"/>
          <a:lstStyle/>
          <a:p>
            <a:pPr indent="0" marL="0">
              <a:buNone/>
            </a:pPr>
            <a:r>
              <a:rPr lang="en-US" sz="800" b="1" spc="110" kern="0" dirty="0">
                <a:solidFill>
                  <a:srgbClr val="FFFFFF"/>
                </a:solidFill>
                <a:latin typeface="Arial" pitchFamily="34" charset="0"/>
                <a:ea typeface="Arial" pitchFamily="34" charset="-122"/>
                <a:cs typeface="Arial" pitchFamily="34" charset="-120"/>
              </a:rPr>
              <a:t>02 · LAZY CODE GEN</a:t>
            </a:r>
            <a:endParaRPr lang="en-US" sz="800" dirty="0"/>
          </a:p>
        </p:txBody>
      </p:sp>
      <p:sp>
        <p:nvSpPr>
          <p:cNvPr id="22" name="Text 20"/>
          <p:cNvSpPr/>
          <p:nvPr/>
        </p:nvSpPr>
        <p:spPr>
          <a:xfrm>
            <a:off x="3538728" y="1591056"/>
            <a:ext cx="2340864" cy="475488"/>
          </a:xfrm>
          <a:prstGeom prst="rect">
            <a:avLst/>
          </a:prstGeom>
          <a:noFill/>
          <a:ln/>
        </p:spPr>
        <p:txBody>
          <a:bodyPr wrap="square" rtlCol="0" anchor="ctr"/>
          <a:lstStyle/>
          <a:p>
            <a:pPr indent="0" marL="0">
              <a:lnSpc>
                <a:spcPts val="1500"/>
              </a:lnSpc>
              <a:buNone/>
            </a:pPr>
            <a:r>
              <a:rPr lang="en-US" sz="1250" b="1" dirty="0">
                <a:solidFill>
                  <a:srgbClr val="FFFFFF"/>
                </a:solidFill>
                <a:latin typeface="Arial" pitchFamily="34" charset="0"/>
                <a:ea typeface="Arial" pitchFamily="34" charset="-122"/>
                <a:cs typeface="Arial" pitchFamily="34" charset="-120"/>
              </a:rPr>
              <a:t>偷懒 Diff 与代码截断</a:t>
            </a:r>
            <a:endParaRPr lang="en-US" sz="1250" dirty="0"/>
          </a:p>
        </p:txBody>
      </p:sp>
      <p:sp>
        <p:nvSpPr>
          <p:cNvPr id="23" name="Shape 21"/>
          <p:cNvSpPr/>
          <p:nvPr/>
        </p:nvSpPr>
        <p:spPr>
          <a:xfrm>
            <a:off x="3538728" y="2240280"/>
            <a:ext cx="2340864" cy="402336"/>
          </a:xfrm>
          <a:prstGeom prst="rect">
            <a:avLst/>
          </a:prstGeom>
          <a:solidFill>
            <a:srgbClr val="FEE2E2"/>
          </a:solidFill>
          <a:ln w="12700">
            <a:solidFill>
              <a:srgbClr val="DC2626"/>
            </a:solidFill>
            <a:prstDash val="solid"/>
          </a:ln>
        </p:spPr>
      </p:sp>
      <p:sp>
        <p:nvSpPr>
          <p:cNvPr id="24" name="Text 22"/>
          <p:cNvSpPr/>
          <p:nvPr/>
        </p:nvSpPr>
        <p:spPr>
          <a:xfrm>
            <a:off x="3566160" y="2304288"/>
            <a:ext cx="2286000" cy="274320"/>
          </a:xfrm>
          <a:prstGeom prst="rect">
            <a:avLst/>
          </a:prstGeom>
          <a:noFill/>
          <a:ln/>
        </p:spPr>
        <p:txBody>
          <a:bodyPr wrap="square" rtlCol="0" anchor="ctr"/>
          <a:lstStyle/>
          <a:p>
            <a:pPr algn="ctr" indent="0" marL="0">
              <a:buNone/>
            </a:pPr>
            <a:r>
              <a:rPr lang="en-US" sz="1200" b="1" dirty="0">
                <a:solidFill>
                  <a:srgbClr val="D97706"/>
                </a:solidFill>
                <a:latin typeface="Arial" pitchFamily="34" charset="0"/>
                <a:ea typeface="Arial" pitchFamily="34" charset="-122"/>
                <a:cs typeface="Arial" pitchFamily="34" charset="-120"/>
              </a:rPr>
              <a:t>61.8% 惰性省略率</a:t>
            </a:r>
            <a:endParaRPr lang="en-US" sz="1200" dirty="0"/>
          </a:p>
        </p:txBody>
      </p:sp>
      <p:sp>
        <p:nvSpPr>
          <p:cNvPr id="25" name="Shape 23"/>
          <p:cNvSpPr/>
          <p:nvPr/>
        </p:nvSpPr>
        <p:spPr>
          <a:xfrm>
            <a:off x="3538728" y="2715768"/>
            <a:ext cx="2340864" cy="1600200"/>
          </a:xfrm>
          <a:prstGeom prst="rect">
            <a:avLst/>
          </a:prstGeom>
          <a:solidFill>
            <a:srgbClr val="1E1B18"/>
          </a:solidFill>
          <a:ln w="12700">
            <a:solidFill>
              <a:srgbClr val="38332E"/>
            </a:solidFill>
            <a:prstDash val="solid"/>
          </a:ln>
        </p:spPr>
      </p:sp>
      <p:sp>
        <p:nvSpPr>
          <p:cNvPr id="26" name="Shape 24"/>
          <p:cNvSpPr/>
          <p:nvPr/>
        </p:nvSpPr>
        <p:spPr>
          <a:xfrm>
            <a:off x="3538728" y="2715768"/>
            <a:ext cx="2340864" cy="237744"/>
          </a:xfrm>
          <a:prstGeom prst="rect">
            <a:avLst/>
          </a:prstGeom>
          <a:solidFill>
            <a:srgbClr val="2A2622"/>
          </a:solidFill>
          <a:ln/>
        </p:spPr>
      </p:sp>
      <p:sp>
        <p:nvSpPr>
          <p:cNvPr id="27" name="Text 25"/>
          <p:cNvSpPr/>
          <p:nvPr/>
        </p:nvSpPr>
        <p:spPr>
          <a:xfrm>
            <a:off x="3566160" y="2761488"/>
            <a:ext cx="2286000" cy="164592"/>
          </a:xfrm>
          <a:prstGeom prst="rect">
            <a:avLst/>
          </a:prstGeom>
          <a:noFill/>
          <a:ln/>
        </p:spPr>
        <p:txBody>
          <a:bodyPr wrap="square" rtlCol="0" anchor="ctr"/>
          <a:lstStyle/>
          <a:p>
            <a:pPr algn="ctr" indent="0" marL="0">
              <a:buNone/>
            </a:pPr>
            <a:r>
              <a:rPr lang="en-US" sz="750" b="1" dirty="0">
                <a:solidFill>
                  <a:srgbClr val="D97706"/>
                </a:solidFill>
                <a:latin typeface="Courier New" pitchFamily="34" charset="0"/>
                <a:ea typeface="Courier New" pitchFamily="34" charset="-122"/>
                <a:cs typeface="Courier New" pitchFamily="34" charset="-120"/>
              </a:rPr>
              <a:t>DESTRUCTIVE OVERWRITE</a:t>
            </a:r>
            <a:endParaRPr lang="en-US" sz="750" dirty="0"/>
          </a:p>
        </p:txBody>
      </p:sp>
      <p:sp>
        <p:nvSpPr>
          <p:cNvPr id="28" name="Text 26"/>
          <p:cNvSpPr/>
          <p:nvPr/>
        </p:nvSpPr>
        <p:spPr>
          <a:xfrm>
            <a:off x="3611880" y="2999232"/>
            <a:ext cx="2194560" cy="1234440"/>
          </a:xfrm>
          <a:prstGeom prst="rect">
            <a:avLst/>
          </a:prstGeom>
          <a:noFill/>
          <a:ln/>
        </p:spPr>
        <p:txBody>
          <a:bodyPr wrap="square" rtlCol="0" anchor="ctr"/>
          <a:lstStyle/>
          <a:p>
            <a:pPr indent="0" marL="0">
              <a:lnSpc>
                <a:spcPts val="1100"/>
              </a:lnSpc>
              <a:buNone/>
            </a:pPr>
            <a:r>
              <a:rPr lang="en-US" sz="750" dirty="0">
                <a:solidFill>
                  <a:srgbClr val="E7E5E4"/>
                </a:solidFill>
                <a:latin typeface="Courier New" pitchFamily="34" charset="0"/>
                <a:ea typeface="Courier New" pitchFamily="34" charset="-122"/>
                <a:cs typeface="Courier New" pitchFamily="34" charset="-120"/>
              </a:rPr>
              <a:t>function calcRisk(order) {</a:t>
            </a:r>
            <a:endParaRPr lang="en-US" sz="750" dirty="0"/>
          </a:p>
          <a:p>
            <a:pPr indent="0" marL="0">
              <a:lnSpc>
                <a:spcPts val="1100"/>
              </a:lnSpc>
              <a:buNone/>
            </a:pPr>
            <a:r>
              <a:rPr lang="en-US" sz="750" dirty="0">
                <a:solidFill>
                  <a:srgbClr val="E7E5E4"/>
                </a:solidFill>
                <a:latin typeface="Courier New" pitchFamily="34" charset="0"/>
                <a:ea typeface="Courier New" pitchFamily="34" charset="-122"/>
                <a:cs typeface="Courier New" pitchFamily="34" charset="-120"/>
              </a:rPr>
              <a:t>  // ... keep existing ...</a:t>
            </a:r>
            <a:endParaRPr lang="en-US" sz="750" dirty="0"/>
          </a:p>
          <a:p>
            <a:pPr indent="0" marL="0">
              <a:lnSpc>
                <a:spcPts val="1100"/>
              </a:lnSpc>
              <a:buNone/>
            </a:pPr>
            <a:r>
              <a:rPr lang="en-US" sz="750" dirty="0">
                <a:solidFill>
                  <a:srgbClr val="E7E5E4"/>
                </a:solidFill>
                <a:latin typeface="Courier New" pitchFamily="34" charset="0"/>
                <a:ea typeface="Courier New" pitchFamily="34" charset="-122"/>
                <a:cs typeface="Courier New" pitchFamily="34" charset="-120"/>
              </a:rPr>
              <a:t>  return order.status;</a:t>
            </a:r>
            <a:endParaRPr lang="en-US" sz="750" dirty="0"/>
          </a:p>
          <a:p>
            <a:pPr indent="0" marL="0">
              <a:lnSpc>
                <a:spcPts val="1100"/>
              </a:lnSpc>
              <a:buNone/>
            </a:pPr>
            <a:r>
              <a:rPr lang="en-US" sz="750" dirty="0">
                <a:solidFill>
                  <a:srgbClr val="E7E5E4"/>
                </a:solidFill>
                <a:latin typeface="Courier New" pitchFamily="34" charset="0"/>
                <a:ea typeface="Courier New" pitchFamily="34" charset="-122"/>
                <a:cs typeface="Courier New" pitchFamily="34" charset="-120"/>
              </a:rPr>
              <a:t>}</a:t>
            </a:r>
            <a:endParaRPr lang="en-US" sz="750" dirty="0"/>
          </a:p>
          <a:p>
            <a:pPr indent="0" marL="0">
              <a:lnSpc>
                <a:spcPts val="1100"/>
              </a:lnSpc>
              <a:buNone/>
            </a:pPr>
            <a:r>
              <a:rPr lang="en-US" sz="750" dirty="0">
                <a:solidFill>
                  <a:srgbClr val="E7E5E4"/>
                </a:solidFill>
                <a:latin typeface="Courier New" pitchFamily="34" charset="0"/>
                <a:ea typeface="Courier New" pitchFamily="34" charset="-122"/>
                <a:cs typeface="Courier New" pitchFamily="34" charset="-120"/>
              </a:rPr>
              <a:t>✖ 450 行关键业务被暴力覆盖丢失</a:t>
            </a:r>
            <a:endParaRPr lang="en-US" sz="750" dirty="0"/>
          </a:p>
        </p:txBody>
      </p:sp>
      <p:sp>
        <p:nvSpPr>
          <p:cNvPr id="29" name="Shape 27"/>
          <p:cNvSpPr/>
          <p:nvPr/>
        </p:nvSpPr>
        <p:spPr>
          <a:xfrm>
            <a:off x="3538728" y="4389120"/>
            <a:ext cx="2340864" cy="1719072"/>
          </a:xfrm>
          <a:prstGeom prst="rect">
            <a:avLst/>
          </a:prstGeom>
          <a:solidFill>
            <a:srgbClr val="F5F2EB"/>
          </a:solidFill>
          <a:ln w="12700">
            <a:solidFill>
              <a:srgbClr val="E2DCD2"/>
            </a:solidFill>
            <a:prstDash val="solid"/>
          </a:ln>
        </p:spPr>
      </p:sp>
      <p:sp>
        <p:nvSpPr>
          <p:cNvPr id="30" name="Text 28"/>
          <p:cNvSpPr/>
          <p:nvPr/>
        </p:nvSpPr>
        <p:spPr>
          <a:xfrm>
            <a:off x="3611880" y="4480560"/>
            <a:ext cx="2194560" cy="868680"/>
          </a:xfrm>
          <a:prstGeom prst="rect">
            <a:avLst/>
          </a:prstGeom>
          <a:noFill/>
          <a:ln/>
        </p:spPr>
        <p:txBody>
          <a:bodyPr wrap="square" rtlCol="0" anchor="ctr"/>
          <a:lstStyle/>
          <a:p>
            <a:pPr indent="0" marL="0">
              <a:lnSpc>
                <a:spcPts val="1250"/>
              </a:lnSpc>
              <a:buNone/>
            </a:pPr>
            <a:r>
              <a:rPr lang="en-US" sz="880" dirty="0">
                <a:solidFill>
                  <a:srgbClr val="57534E"/>
                </a:solidFill>
                <a:latin typeface="Arial" pitchFamily="34" charset="0"/>
                <a:ea typeface="Arial" pitchFamily="34" charset="-122"/>
                <a:cs typeface="Arial" pitchFamily="34" charset="-120"/>
              </a:rPr>
              <a:t>重构超 300 行文件时输出 `// ... keep existing code ...` 注释，覆盖原文件导致关键业务逻辑永久丢失。</a:t>
            </a:r>
            <a:endParaRPr lang="en-US" sz="880" dirty="0"/>
          </a:p>
        </p:txBody>
      </p:sp>
      <p:sp>
        <p:nvSpPr>
          <p:cNvPr id="31" name="Text 29"/>
          <p:cNvSpPr/>
          <p:nvPr/>
        </p:nvSpPr>
        <p:spPr>
          <a:xfrm>
            <a:off x="3611880" y="5413248"/>
            <a:ext cx="2194560" cy="621792"/>
          </a:xfrm>
          <a:prstGeom prst="rect">
            <a:avLst/>
          </a:prstGeom>
          <a:noFill/>
          <a:ln/>
        </p:spPr>
        <p:txBody>
          <a:bodyPr wrap="square" rtlCol="0" anchor="ctr"/>
          <a:lstStyle/>
          <a:p>
            <a:pPr indent="0" marL="0">
              <a:lnSpc>
                <a:spcPts val="1200"/>
              </a:lnSpc>
              <a:buNone/>
            </a:pPr>
            <a:r>
              <a:rPr lang="en-US" sz="850" b="1" dirty="0">
                <a:solidFill>
                  <a:srgbClr val="DC2626"/>
                </a:solidFill>
                <a:latin typeface="Arial" pitchFamily="34" charset="0"/>
                <a:ea typeface="Arial" pitchFamily="34" charset="-122"/>
                <a:cs typeface="Arial" pitchFamily="34" charset="-120"/>
              </a:rPr>
              <a:t>致命后果：智能体演变为生产代码破坏者，引发线上事故</a:t>
            </a:r>
            <a:endParaRPr lang="en-US" sz="850" dirty="0"/>
          </a:p>
        </p:txBody>
      </p:sp>
      <p:sp>
        <p:nvSpPr>
          <p:cNvPr id="32" name="Shape 30"/>
          <p:cNvSpPr/>
          <p:nvPr/>
        </p:nvSpPr>
        <p:spPr>
          <a:xfrm>
            <a:off x="6126480" y="1325880"/>
            <a:ext cx="2560320" cy="4892040"/>
          </a:xfrm>
          <a:prstGeom prst="rect">
            <a:avLst/>
          </a:prstGeom>
          <a:solidFill>
            <a:srgbClr val="FFFFFF"/>
          </a:solidFill>
          <a:ln w="12700">
            <a:solidFill>
              <a:srgbClr val="E2DCD2"/>
            </a:solidFill>
            <a:prstDash val="solid"/>
          </a:ln>
        </p:spPr>
      </p:sp>
      <p:sp>
        <p:nvSpPr>
          <p:cNvPr id="33" name="Shape 31"/>
          <p:cNvSpPr/>
          <p:nvPr/>
        </p:nvSpPr>
        <p:spPr>
          <a:xfrm>
            <a:off x="6126480" y="1325880"/>
            <a:ext cx="2560320" cy="841248"/>
          </a:xfrm>
          <a:prstGeom prst="rect">
            <a:avLst/>
          </a:prstGeom>
          <a:solidFill>
            <a:srgbClr val="DC2626"/>
          </a:solidFill>
          <a:ln/>
        </p:spPr>
      </p:sp>
      <p:sp>
        <p:nvSpPr>
          <p:cNvPr id="34" name="Text 32"/>
          <p:cNvSpPr/>
          <p:nvPr/>
        </p:nvSpPr>
        <p:spPr>
          <a:xfrm>
            <a:off x="6236208" y="1389888"/>
            <a:ext cx="2340864" cy="182880"/>
          </a:xfrm>
          <a:prstGeom prst="rect">
            <a:avLst/>
          </a:prstGeom>
          <a:noFill/>
          <a:ln/>
        </p:spPr>
        <p:txBody>
          <a:bodyPr wrap="square" rtlCol="0" anchor="ctr"/>
          <a:lstStyle/>
          <a:p>
            <a:pPr indent="0" marL="0">
              <a:buNone/>
            </a:pPr>
            <a:r>
              <a:rPr lang="en-US" sz="800" b="1" spc="110" kern="0" dirty="0">
                <a:solidFill>
                  <a:srgbClr val="FFFFFF"/>
                </a:solidFill>
                <a:latin typeface="Arial" pitchFamily="34" charset="0"/>
                <a:ea typeface="Arial" pitchFamily="34" charset="-122"/>
                <a:cs typeface="Arial" pitchFamily="34" charset="-120"/>
              </a:rPr>
              <a:t>03 · SAFETY OVERKILL</a:t>
            </a:r>
            <a:endParaRPr lang="en-US" sz="800" dirty="0"/>
          </a:p>
        </p:txBody>
      </p:sp>
      <p:sp>
        <p:nvSpPr>
          <p:cNvPr id="35" name="Text 33"/>
          <p:cNvSpPr/>
          <p:nvPr/>
        </p:nvSpPr>
        <p:spPr>
          <a:xfrm>
            <a:off x="6236208" y="1591056"/>
            <a:ext cx="2340864" cy="475488"/>
          </a:xfrm>
          <a:prstGeom prst="rect">
            <a:avLst/>
          </a:prstGeom>
          <a:noFill/>
          <a:ln/>
        </p:spPr>
        <p:txBody>
          <a:bodyPr wrap="square" rtlCol="0" anchor="ctr"/>
          <a:lstStyle/>
          <a:p>
            <a:pPr indent="0" marL="0">
              <a:lnSpc>
                <a:spcPts val="1500"/>
              </a:lnSpc>
              <a:buNone/>
            </a:pPr>
            <a:r>
              <a:rPr lang="en-US" sz="1250" b="1" dirty="0">
                <a:solidFill>
                  <a:srgbClr val="FFFFFF"/>
                </a:solidFill>
                <a:latin typeface="Arial" pitchFamily="34" charset="0"/>
                <a:ea typeface="Arial" pitchFamily="34" charset="-122"/>
                <a:cs typeface="Arial" pitchFamily="34" charset="-120"/>
              </a:rPr>
              <a:t>过度对齐与安全瘫痪</a:t>
            </a:r>
            <a:endParaRPr lang="en-US" sz="1250" dirty="0"/>
          </a:p>
        </p:txBody>
      </p:sp>
      <p:sp>
        <p:nvSpPr>
          <p:cNvPr id="36" name="Shape 34"/>
          <p:cNvSpPr/>
          <p:nvPr/>
        </p:nvSpPr>
        <p:spPr>
          <a:xfrm>
            <a:off x="6236208" y="2240280"/>
            <a:ext cx="2340864" cy="402336"/>
          </a:xfrm>
          <a:prstGeom prst="rect">
            <a:avLst/>
          </a:prstGeom>
          <a:solidFill>
            <a:srgbClr val="FEE2E2"/>
          </a:solidFill>
          <a:ln w="12700">
            <a:solidFill>
              <a:srgbClr val="DC2626"/>
            </a:solidFill>
            <a:prstDash val="solid"/>
          </a:ln>
        </p:spPr>
      </p:sp>
      <p:sp>
        <p:nvSpPr>
          <p:cNvPr id="37" name="Text 35"/>
          <p:cNvSpPr/>
          <p:nvPr/>
        </p:nvSpPr>
        <p:spPr>
          <a:xfrm>
            <a:off x="6263640" y="2304288"/>
            <a:ext cx="2286000" cy="274320"/>
          </a:xfrm>
          <a:prstGeom prst="rect">
            <a:avLst/>
          </a:prstGeom>
          <a:noFill/>
          <a:ln/>
        </p:spPr>
        <p:txBody>
          <a:bodyPr wrap="square" rtlCol="0" anchor="ctr"/>
          <a:lstStyle/>
          <a:p>
            <a:pPr algn="ctr" indent="0" marL="0">
              <a:buNone/>
            </a:pPr>
            <a:r>
              <a:rPr lang="en-US" sz="1200" b="1" dirty="0">
                <a:solidFill>
                  <a:srgbClr val="DC2626"/>
                </a:solidFill>
                <a:latin typeface="Arial" pitchFamily="34" charset="0"/>
                <a:ea typeface="Arial" pitchFamily="34" charset="-122"/>
                <a:cs typeface="Arial" pitchFamily="34" charset="-120"/>
              </a:rPr>
              <a:t>28.5% 误拒率</a:t>
            </a:r>
            <a:endParaRPr lang="en-US" sz="1200" dirty="0"/>
          </a:p>
        </p:txBody>
      </p:sp>
      <p:sp>
        <p:nvSpPr>
          <p:cNvPr id="38" name="Shape 36"/>
          <p:cNvSpPr/>
          <p:nvPr/>
        </p:nvSpPr>
        <p:spPr>
          <a:xfrm>
            <a:off x="6236208" y="2715768"/>
            <a:ext cx="2340864" cy="1600200"/>
          </a:xfrm>
          <a:prstGeom prst="rect">
            <a:avLst/>
          </a:prstGeom>
          <a:solidFill>
            <a:srgbClr val="1E1B18"/>
          </a:solidFill>
          <a:ln w="12700">
            <a:solidFill>
              <a:srgbClr val="38332E"/>
            </a:solidFill>
            <a:prstDash val="solid"/>
          </a:ln>
        </p:spPr>
      </p:sp>
      <p:sp>
        <p:nvSpPr>
          <p:cNvPr id="39" name="Shape 37"/>
          <p:cNvSpPr/>
          <p:nvPr/>
        </p:nvSpPr>
        <p:spPr>
          <a:xfrm>
            <a:off x="6236208" y="2715768"/>
            <a:ext cx="2340864" cy="237744"/>
          </a:xfrm>
          <a:prstGeom prst="rect">
            <a:avLst/>
          </a:prstGeom>
          <a:solidFill>
            <a:srgbClr val="2A2622"/>
          </a:solidFill>
          <a:ln/>
        </p:spPr>
      </p:sp>
      <p:sp>
        <p:nvSpPr>
          <p:cNvPr id="40" name="Text 38"/>
          <p:cNvSpPr/>
          <p:nvPr/>
        </p:nvSpPr>
        <p:spPr>
          <a:xfrm>
            <a:off x="6263640" y="2761488"/>
            <a:ext cx="2286000" cy="164592"/>
          </a:xfrm>
          <a:prstGeom prst="rect">
            <a:avLst/>
          </a:prstGeom>
          <a:noFill/>
          <a:ln/>
        </p:spPr>
        <p:txBody>
          <a:bodyPr wrap="square" rtlCol="0" anchor="ctr"/>
          <a:lstStyle/>
          <a:p>
            <a:pPr algn="ctr" indent="0" marL="0">
              <a:buNone/>
            </a:pPr>
            <a:r>
              <a:rPr lang="en-US" sz="750" b="1" dirty="0">
                <a:solidFill>
                  <a:srgbClr val="DC2626"/>
                </a:solidFill>
                <a:latin typeface="Courier New" pitchFamily="34" charset="0"/>
                <a:ea typeface="Courier New" pitchFamily="34" charset="-122"/>
                <a:cs typeface="Courier New" pitchFamily="34" charset="-120"/>
              </a:rPr>
              <a:t>FALSE POSITIVE REFUSAL</a:t>
            </a:r>
            <a:endParaRPr lang="en-US" sz="750" dirty="0"/>
          </a:p>
        </p:txBody>
      </p:sp>
      <p:sp>
        <p:nvSpPr>
          <p:cNvPr id="41" name="Text 39"/>
          <p:cNvSpPr/>
          <p:nvPr/>
        </p:nvSpPr>
        <p:spPr>
          <a:xfrm>
            <a:off x="6309360" y="2999232"/>
            <a:ext cx="2194560" cy="1234440"/>
          </a:xfrm>
          <a:prstGeom prst="rect">
            <a:avLst/>
          </a:prstGeom>
          <a:noFill/>
          <a:ln/>
        </p:spPr>
        <p:txBody>
          <a:bodyPr wrap="square" rtlCol="0" anchor="ctr"/>
          <a:lstStyle/>
          <a:p>
            <a:pPr indent="0" marL="0">
              <a:lnSpc>
                <a:spcPts val="1100"/>
              </a:lnSpc>
              <a:buNone/>
            </a:pPr>
            <a:r>
              <a:rPr lang="en-US" sz="750" dirty="0">
                <a:solidFill>
                  <a:srgbClr val="E7E5E4"/>
                </a:solidFill>
                <a:latin typeface="Courier New" pitchFamily="34" charset="0"/>
                <a:ea typeface="Courier New" pitchFamily="34" charset="-122"/>
                <a:cs typeface="Courier New" pitchFamily="34" charset="-120"/>
              </a:rPr>
              <a:t>$ kill -9 4128</a:t>
            </a:r>
            <a:endParaRPr lang="en-US" sz="750" dirty="0"/>
          </a:p>
          <a:p>
            <a:pPr indent="0" marL="0">
              <a:lnSpc>
                <a:spcPts val="1100"/>
              </a:lnSpc>
              <a:buNone/>
            </a:pPr>
            <a:r>
              <a:rPr lang="en-US" sz="750" dirty="0">
                <a:solidFill>
                  <a:srgbClr val="E7E5E4"/>
                </a:solidFill>
                <a:latin typeface="Courier New" pitchFamily="34" charset="0"/>
                <a:ea typeface="Courier New" pitchFamily="34" charset="-122"/>
                <a:cs typeface="Courier New" pitchFamily="34" charset="-120"/>
              </a:rPr>
              <a:t>✖ Refusal: "抱歉，作为安全 AI</a:t>
            </a:r>
            <a:endParaRPr lang="en-US" sz="750" dirty="0"/>
          </a:p>
          <a:p>
            <a:pPr indent="0" marL="0">
              <a:lnSpc>
                <a:spcPts val="1100"/>
              </a:lnSpc>
              <a:buNone/>
            </a:pPr>
            <a:r>
              <a:rPr lang="en-US" sz="750" dirty="0">
                <a:solidFill>
                  <a:srgbClr val="E7E5E4"/>
                </a:solidFill>
                <a:latin typeface="Courier New" pitchFamily="34" charset="0"/>
                <a:ea typeface="Courier New" pitchFamily="34" charset="-122"/>
                <a:cs typeface="Courier New" pitchFamily="34" charset="-120"/>
              </a:rPr>
              <a:t>我无法执行终止系统进程指令"</a:t>
            </a:r>
            <a:endParaRPr lang="en-US" sz="750" dirty="0"/>
          </a:p>
          <a:p>
            <a:pPr indent="0" marL="0">
              <a:lnSpc>
                <a:spcPts val="1100"/>
              </a:lnSpc>
              <a:buNone/>
            </a:pPr>
            <a:r>
              <a:rPr lang="en-US" sz="750" dirty="0">
                <a:solidFill>
                  <a:srgbClr val="E7E5E4"/>
                </a:solidFill>
                <a:latin typeface="Courier New" pitchFamily="34" charset="0"/>
                <a:ea typeface="Courier New" pitchFamily="34" charset="-122"/>
                <a:cs typeface="Courier New" pitchFamily="34" charset="-120"/>
              </a:rPr>
              <a:t>✖ 紧急线上故障排障被强制中断</a:t>
            </a:r>
            <a:endParaRPr lang="en-US" sz="750" dirty="0"/>
          </a:p>
        </p:txBody>
      </p:sp>
      <p:sp>
        <p:nvSpPr>
          <p:cNvPr id="42" name="Shape 40"/>
          <p:cNvSpPr/>
          <p:nvPr/>
        </p:nvSpPr>
        <p:spPr>
          <a:xfrm>
            <a:off x="6236208" y="4389120"/>
            <a:ext cx="2340864" cy="1719072"/>
          </a:xfrm>
          <a:prstGeom prst="rect">
            <a:avLst/>
          </a:prstGeom>
          <a:solidFill>
            <a:srgbClr val="F5F2EB"/>
          </a:solidFill>
          <a:ln w="12700">
            <a:solidFill>
              <a:srgbClr val="E2DCD2"/>
            </a:solidFill>
            <a:prstDash val="solid"/>
          </a:ln>
        </p:spPr>
      </p:sp>
      <p:sp>
        <p:nvSpPr>
          <p:cNvPr id="43" name="Text 41"/>
          <p:cNvSpPr/>
          <p:nvPr/>
        </p:nvSpPr>
        <p:spPr>
          <a:xfrm>
            <a:off x="6309360" y="4480560"/>
            <a:ext cx="2194560" cy="868680"/>
          </a:xfrm>
          <a:prstGeom prst="rect">
            <a:avLst/>
          </a:prstGeom>
          <a:noFill/>
          <a:ln/>
        </p:spPr>
        <p:txBody>
          <a:bodyPr wrap="square" rtlCol="0" anchor="ctr"/>
          <a:lstStyle/>
          <a:p>
            <a:pPr indent="0" marL="0">
              <a:lnSpc>
                <a:spcPts val="1250"/>
              </a:lnSpc>
              <a:buNone/>
            </a:pPr>
            <a:r>
              <a:rPr lang="en-US" sz="880" dirty="0">
                <a:solidFill>
                  <a:srgbClr val="57534E"/>
                </a:solidFill>
                <a:latin typeface="Arial" pitchFamily="34" charset="0"/>
                <a:ea typeface="Arial" pitchFamily="34" charset="-122"/>
                <a:cs typeface="Arial" pitchFamily="34" charset="-120"/>
              </a:rPr>
              <a:t>遭遇合法运维指令（如 `kill -9`、`chown`、排障 SQL 测试用例）时触发安全关键词，直接拒绝执行。</a:t>
            </a:r>
            <a:endParaRPr lang="en-US" sz="880" dirty="0"/>
          </a:p>
        </p:txBody>
      </p:sp>
      <p:sp>
        <p:nvSpPr>
          <p:cNvPr id="44" name="Text 42"/>
          <p:cNvSpPr/>
          <p:nvPr/>
        </p:nvSpPr>
        <p:spPr>
          <a:xfrm>
            <a:off x="6309360" y="5413248"/>
            <a:ext cx="2194560" cy="621792"/>
          </a:xfrm>
          <a:prstGeom prst="rect">
            <a:avLst/>
          </a:prstGeom>
          <a:noFill/>
          <a:ln/>
        </p:spPr>
        <p:txBody>
          <a:bodyPr wrap="square" rtlCol="0" anchor="ctr"/>
          <a:lstStyle/>
          <a:p>
            <a:pPr indent="0" marL="0">
              <a:lnSpc>
                <a:spcPts val="1200"/>
              </a:lnSpc>
              <a:buNone/>
            </a:pPr>
            <a:r>
              <a:rPr lang="en-US" sz="850" b="1" dirty="0">
                <a:solidFill>
                  <a:srgbClr val="DC2626"/>
                </a:solidFill>
                <a:latin typeface="Arial" pitchFamily="34" charset="0"/>
                <a:ea typeface="Arial" pitchFamily="34" charset="-122"/>
                <a:cs typeface="Arial" pitchFamily="34" charset="-120"/>
              </a:rPr>
              <a:t>致命后果：在生死攸关的生产排障中沦为“合规说教机器人”</a:t>
            </a:r>
            <a:endParaRPr lang="en-US" sz="850" dirty="0"/>
          </a:p>
        </p:txBody>
      </p:sp>
      <p:sp>
        <p:nvSpPr>
          <p:cNvPr id="45" name="Shape 43"/>
          <p:cNvSpPr/>
          <p:nvPr/>
        </p:nvSpPr>
        <p:spPr>
          <a:xfrm>
            <a:off x="8823960" y="1325880"/>
            <a:ext cx="2560320" cy="4892040"/>
          </a:xfrm>
          <a:prstGeom prst="rect">
            <a:avLst/>
          </a:prstGeom>
          <a:solidFill>
            <a:srgbClr val="FFFFFF"/>
          </a:solidFill>
          <a:ln w="12700">
            <a:solidFill>
              <a:srgbClr val="E2DCD2"/>
            </a:solidFill>
            <a:prstDash val="solid"/>
          </a:ln>
        </p:spPr>
      </p:sp>
      <p:sp>
        <p:nvSpPr>
          <p:cNvPr id="46" name="Shape 44"/>
          <p:cNvSpPr/>
          <p:nvPr/>
        </p:nvSpPr>
        <p:spPr>
          <a:xfrm>
            <a:off x="8823960" y="1325880"/>
            <a:ext cx="2560320" cy="841248"/>
          </a:xfrm>
          <a:prstGeom prst="rect">
            <a:avLst/>
          </a:prstGeom>
          <a:solidFill>
            <a:srgbClr val="475569"/>
          </a:solidFill>
          <a:ln/>
        </p:spPr>
      </p:sp>
      <p:sp>
        <p:nvSpPr>
          <p:cNvPr id="47" name="Text 45"/>
          <p:cNvSpPr/>
          <p:nvPr/>
        </p:nvSpPr>
        <p:spPr>
          <a:xfrm>
            <a:off x="8933688" y="1389888"/>
            <a:ext cx="2340864" cy="182880"/>
          </a:xfrm>
          <a:prstGeom prst="rect">
            <a:avLst/>
          </a:prstGeom>
          <a:noFill/>
          <a:ln/>
        </p:spPr>
        <p:txBody>
          <a:bodyPr wrap="square" rtlCol="0" anchor="ctr"/>
          <a:lstStyle/>
          <a:p>
            <a:pPr indent="0" marL="0">
              <a:buNone/>
            </a:pPr>
            <a:r>
              <a:rPr lang="en-US" sz="800" b="1" spc="110" kern="0" dirty="0">
                <a:solidFill>
                  <a:srgbClr val="FFFFFF"/>
                </a:solidFill>
                <a:latin typeface="Arial" pitchFamily="34" charset="0"/>
                <a:ea typeface="Arial" pitchFamily="34" charset="-122"/>
                <a:cs typeface="Arial" pitchFamily="34" charset="-120"/>
              </a:rPr>
              <a:t>04 · LOST IN CONTEXT</a:t>
            </a:r>
            <a:endParaRPr lang="en-US" sz="800" dirty="0"/>
          </a:p>
        </p:txBody>
      </p:sp>
      <p:sp>
        <p:nvSpPr>
          <p:cNvPr id="48" name="Text 46"/>
          <p:cNvSpPr/>
          <p:nvPr/>
        </p:nvSpPr>
        <p:spPr>
          <a:xfrm>
            <a:off x="8933688" y="1591056"/>
            <a:ext cx="2340864" cy="475488"/>
          </a:xfrm>
          <a:prstGeom prst="rect">
            <a:avLst/>
          </a:prstGeom>
          <a:noFill/>
          <a:ln/>
        </p:spPr>
        <p:txBody>
          <a:bodyPr wrap="square" rtlCol="0" anchor="ctr"/>
          <a:lstStyle/>
          <a:p>
            <a:pPr indent="0" marL="0">
              <a:lnSpc>
                <a:spcPts val="1500"/>
              </a:lnSpc>
              <a:buNone/>
            </a:pPr>
            <a:r>
              <a:rPr lang="en-US" sz="1250" b="1" dirty="0">
                <a:solidFill>
                  <a:srgbClr val="FFFFFF"/>
                </a:solidFill>
                <a:latin typeface="Arial" pitchFamily="34" charset="0"/>
                <a:ea typeface="Arial" pitchFamily="34" charset="-122"/>
                <a:cs typeface="Arial" pitchFamily="34" charset="-120"/>
              </a:rPr>
              <a:t>虚幻的 2M 针眼盲区</a:t>
            </a:r>
            <a:endParaRPr lang="en-US" sz="1250" dirty="0"/>
          </a:p>
        </p:txBody>
      </p:sp>
      <p:sp>
        <p:nvSpPr>
          <p:cNvPr id="49" name="Shape 47"/>
          <p:cNvSpPr/>
          <p:nvPr/>
        </p:nvSpPr>
        <p:spPr>
          <a:xfrm>
            <a:off x="8933688" y="2240280"/>
            <a:ext cx="2340864" cy="402336"/>
          </a:xfrm>
          <a:prstGeom prst="rect">
            <a:avLst/>
          </a:prstGeom>
          <a:solidFill>
            <a:srgbClr val="FEE2E2"/>
          </a:solidFill>
          <a:ln w="12700">
            <a:solidFill>
              <a:srgbClr val="DC2626"/>
            </a:solidFill>
            <a:prstDash val="solid"/>
          </a:ln>
        </p:spPr>
      </p:sp>
      <p:sp>
        <p:nvSpPr>
          <p:cNvPr id="50" name="Text 48"/>
          <p:cNvSpPr/>
          <p:nvPr/>
        </p:nvSpPr>
        <p:spPr>
          <a:xfrm>
            <a:off x="8961120" y="2304288"/>
            <a:ext cx="2286000" cy="274320"/>
          </a:xfrm>
          <a:prstGeom prst="rect">
            <a:avLst/>
          </a:prstGeom>
          <a:noFill/>
          <a:ln/>
        </p:spPr>
        <p:txBody>
          <a:bodyPr wrap="square" rtlCol="0" anchor="ctr"/>
          <a:lstStyle/>
          <a:p>
            <a:pPr algn="ctr" indent="0" marL="0">
              <a:buNone/>
            </a:pPr>
            <a:r>
              <a:rPr lang="en-US" sz="1200" b="1" dirty="0">
                <a:solidFill>
                  <a:srgbClr val="475569"/>
                </a:solidFill>
                <a:latin typeface="Arial" pitchFamily="34" charset="0"/>
                <a:ea typeface="Arial" pitchFamily="34" charset="-122"/>
                <a:cs typeface="Arial" pitchFamily="34" charset="-120"/>
              </a:rPr>
              <a:t>42.0% 寻址失误率</a:t>
            </a:r>
            <a:endParaRPr lang="en-US" sz="1200" dirty="0"/>
          </a:p>
        </p:txBody>
      </p:sp>
      <p:sp>
        <p:nvSpPr>
          <p:cNvPr id="51" name="Shape 49"/>
          <p:cNvSpPr/>
          <p:nvPr/>
        </p:nvSpPr>
        <p:spPr>
          <a:xfrm>
            <a:off x="8933688" y="2715768"/>
            <a:ext cx="2340864" cy="1600200"/>
          </a:xfrm>
          <a:prstGeom prst="rect">
            <a:avLst/>
          </a:prstGeom>
          <a:solidFill>
            <a:srgbClr val="1E1B18"/>
          </a:solidFill>
          <a:ln w="12700">
            <a:solidFill>
              <a:srgbClr val="38332E"/>
            </a:solidFill>
            <a:prstDash val="solid"/>
          </a:ln>
        </p:spPr>
      </p:sp>
      <p:sp>
        <p:nvSpPr>
          <p:cNvPr id="52" name="Shape 50"/>
          <p:cNvSpPr/>
          <p:nvPr/>
        </p:nvSpPr>
        <p:spPr>
          <a:xfrm>
            <a:off x="8933688" y="2715768"/>
            <a:ext cx="2340864" cy="237744"/>
          </a:xfrm>
          <a:prstGeom prst="rect">
            <a:avLst/>
          </a:prstGeom>
          <a:solidFill>
            <a:srgbClr val="2A2622"/>
          </a:solidFill>
          <a:ln/>
        </p:spPr>
      </p:sp>
      <p:sp>
        <p:nvSpPr>
          <p:cNvPr id="53" name="Text 51"/>
          <p:cNvSpPr/>
          <p:nvPr/>
        </p:nvSpPr>
        <p:spPr>
          <a:xfrm>
            <a:off x="8961120" y="2761488"/>
            <a:ext cx="2286000" cy="164592"/>
          </a:xfrm>
          <a:prstGeom prst="rect">
            <a:avLst/>
          </a:prstGeom>
          <a:noFill/>
          <a:ln/>
        </p:spPr>
        <p:txBody>
          <a:bodyPr wrap="square" rtlCol="0" anchor="ctr"/>
          <a:lstStyle/>
          <a:p>
            <a:pPr algn="ctr" indent="0" marL="0">
              <a:buNone/>
            </a:pPr>
            <a:r>
              <a:rPr lang="en-US" sz="750" b="1" dirty="0">
                <a:solidFill>
                  <a:srgbClr val="475569"/>
                </a:solidFill>
                <a:latin typeface="Courier New" pitchFamily="34" charset="0"/>
                <a:ea typeface="Courier New" pitchFamily="34" charset="-122"/>
                <a:cs typeface="Courier New" pitchFamily="34" charset="-120"/>
              </a:rPr>
              <a:t>ATTENTION COLLAPSE</a:t>
            </a:r>
            <a:endParaRPr lang="en-US" sz="750" dirty="0"/>
          </a:p>
        </p:txBody>
      </p:sp>
      <p:sp>
        <p:nvSpPr>
          <p:cNvPr id="54" name="Text 52"/>
          <p:cNvSpPr/>
          <p:nvPr/>
        </p:nvSpPr>
        <p:spPr>
          <a:xfrm>
            <a:off x="9006840" y="2999232"/>
            <a:ext cx="2194560" cy="1234440"/>
          </a:xfrm>
          <a:prstGeom prst="rect">
            <a:avLst/>
          </a:prstGeom>
          <a:noFill/>
          <a:ln/>
        </p:spPr>
        <p:txBody>
          <a:bodyPr wrap="square" rtlCol="0" anchor="ctr"/>
          <a:lstStyle/>
          <a:p>
            <a:pPr indent="0" marL="0">
              <a:lnSpc>
                <a:spcPts val="1100"/>
              </a:lnSpc>
              <a:buNone/>
            </a:pPr>
            <a:r>
              <a:rPr lang="en-US" sz="750" dirty="0">
                <a:solidFill>
                  <a:srgbClr val="E7E5E4"/>
                </a:solidFill>
                <a:latin typeface="Courier New" pitchFamily="34" charset="0"/>
                <a:ea typeface="Courier New" pitchFamily="34" charset="-122"/>
                <a:cs typeface="Courier New" pitchFamily="34" charset="-120"/>
              </a:rPr>
              <a:t>import { UserToken } from "./auth";</a:t>
            </a:r>
            <a:endParaRPr lang="en-US" sz="750" dirty="0"/>
          </a:p>
          <a:p>
            <a:pPr indent="0" marL="0">
              <a:lnSpc>
                <a:spcPts val="1100"/>
              </a:lnSpc>
              <a:buNone/>
            </a:pPr>
            <a:r>
              <a:rPr lang="en-US" sz="750" dirty="0">
                <a:solidFill>
                  <a:srgbClr val="E7E5E4"/>
                </a:solidFill>
                <a:latin typeface="Courier New" pitchFamily="34" charset="0"/>
                <a:ea typeface="Courier New" pitchFamily="34" charset="-122"/>
                <a:cs typeface="Courier New" pitchFamily="34" charset="-120"/>
              </a:rPr>
              <a:t>✖ Symbol Not Found in 2M ctx</a:t>
            </a:r>
            <a:endParaRPr lang="en-US" sz="750" dirty="0"/>
          </a:p>
          <a:p>
            <a:pPr indent="0" marL="0">
              <a:lnSpc>
                <a:spcPts val="1100"/>
              </a:lnSpc>
              <a:buNone/>
            </a:pPr>
            <a:r>
              <a:rPr lang="en-US" sz="750" dirty="0">
                <a:solidFill>
                  <a:srgbClr val="E7E5E4"/>
                </a:solidFill>
                <a:latin typeface="Courier New" pitchFamily="34" charset="0"/>
                <a:ea typeface="Courier New" pitchFamily="34" charset="-122"/>
                <a:cs typeface="Courier New" pitchFamily="34" charset="-120"/>
              </a:rPr>
              <a:t>➔ Attention degradation at 60%</a:t>
            </a:r>
            <a:endParaRPr lang="en-US" sz="750" dirty="0"/>
          </a:p>
          <a:p>
            <a:pPr indent="0" marL="0">
              <a:lnSpc>
                <a:spcPts val="1100"/>
              </a:lnSpc>
              <a:buNone/>
            </a:pPr>
            <a:r>
              <a:rPr lang="en-US" sz="750" dirty="0">
                <a:solidFill>
                  <a:srgbClr val="E7E5E4"/>
                </a:solidFill>
                <a:latin typeface="Courier New" pitchFamily="34" charset="0"/>
                <a:ea typeface="Courier New" pitchFamily="34" charset="-122"/>
                <a:cs typeface="Courier New" pitchFamily="34" charset="-120"/>
              </a:rPr>
              <a:t>➔ Deadlock in recursive imports</a:t>
            </a:r>
            <a:endParaRPr lang="en-US" sz="750" dirty="0"/>
          </a:p>
        </p:txBody>
      </p:sp>
      <p:sp>
        <p:nvSpPr>
          <p:cNvPr id="55" name="Shape 53"/>
          <p:cNvSpPr/>
          <p:nvPr/>
        </p:nvSpPr>
        <p:spPr>
          <a:xfrm>
            <a:off x="8933688" y="4389120"/>
            <a:ext cx="2340864" cy="1719072"/>
          </a:xfrm>
          <a:prstGeom prst="rect">
            <a:avLst/>
          </a:prstGeom>
          <a:solidFill>
            <a:srgbClr val="F5F2EB"/>
          </a:solidFill>
          <a:ln w="12700">
            <a:solidFill>
              <a:srgbClr val="E2DCD2"/>
            </a:solidFill>
            <a:prstDash val="solid"/>
          </a:ln>
        </p:spPr>
      </p:sp>
      <p:sp>
        <p:nvSpPr>
          <p:cNvPr id="56" name="Text 54"/>
          <p:cNvSpPr/>
          <p:nvPr/>
        </p:nvSpPr>
        <p:spPr>
          <a:xfrm>
            <a:off x="9006840" y="4480560"/>
            <a:ext cx="2194560" cy="868680"/>
          </a:xfrm>
          <a:prstGeom prst="rect">
            <a:avLst/>
          </a:prstGeom>
          <a:noFill/>
          <a:ln/>
        </p:spPr>
        <p:txBody>
          <a:bodyPr wrap="square" rtlCol="0" anchor="ctr"/>
          <a:lstStyle/>
          <a:p>
            <a:pPr indent="0" marL="0">
              <a:lnSpc>
                <a:spcPts val="1250"/>
              </a:lnSpc>
              <a:buNone/>
            </a:pPr>
            <a:r>
              <a:rPr lang="en-US" sz="880" dirty="0">
                <a:solidFill>
                  <a:srgbClr val="57534E"/>
                </a:solidFill>
                <a:latin typeface="Arial" pitchFamily="34" charset="0"/>
                <a:ea typeface="Arial" pitchFamily="34" charset="-122"/>
                <a:cs typeface="Arial" pitchFamily="34" charset="-120"/>
              </a:rPr>
              <a:t>宣称支持 200 万超长窗口，但当跨模块存在同名变量或隐式依赖时，中间注意力塌缩，频繁引发虚假引用死循环。</a:t>
            </a:r>
            <a:endParaRPr lang="en-US" sz="880" dirty="0"/>
          </a:p>
        </p:txBody>
      </p:sp>
      <p:sp>
        <p:nvSpPr>
          <p:cNvPr id="57" name="Text 55"/>
          <p:cNvSpPr/>
          <p:nvPr/>
        </p:nvSpPr>
        <p:spPr>
          <a:xfrm>
            <a:off x="9006840" y="5413248"/>
            <a:ext cx="2194560" cy="621792"/>
          </a:xfrm>
          <a:prstGeom prst="rect">
            <a:avLst/>
          </a:prstGeom>
          <a:noFill/>
          <a:ln/>
        </p:spPr>
        <p:txBody>
          <a:bodyPr wrap="square" rtlCol="0" anchor="ctr"/>
          <a:lstStyle/>
          <a:p>
            <a:pPr indent="0" marL="0">
              <a:lnSpc>
                <a:spcPts val="1200"/>
              </a:lnSpc>
              <a:buNone/>
            </a:pPr>
            <a:r>
              <a:rPr lang="en-US" sz="850" b="1" dirty="0">
                <a:solidFill>
                  <a:srgbClr val="DC2626"/>
                </a:solidFill>
                <a:latin typeface="Arial" pitchFamily="34" charset="0"/>
                <a:ea typeface="Arial" pitchFamily="34" charset="-122"/>
                <a:cs typeface="Arial" pitchFamily="34" charset="-120"/>
              </a:rPr>
              <a:t>致命后果：超大上下文变成海量注意力噪点毒药</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9F5"/>
        </a:solidFill>
      </p:bgPr>
    </p:bg>
    <p:spTree>
      <p:nvGrpSpPr>
        <p:cNvPr id="1" name=""/>
        <p:cNvGrpSpPr/>
        <p:nvPr/>
      </p:nvGrpSpPr>
      <p:grpSpPr>
        <a:xfrm>
          <a:off x="0" y="0"/>
          <a:ext cx="0" cy="0"/>
          <a:chOff x="0" y="0"/>
          <a:chExt cx="0" cy="0"/>
        </a:xfrm>
      </p:grpSpPr>
      <p:sp>
        <p:nvSpPr>
          <p:cNvPr id="2" name="Shape 0"/>
          <p:cNvSpPr/>
          <p:nvPr/>
        </p:nvSpPr>
        <p:spPr>
          <a:xfrm>
            <a:off x="731520" y="384048"/>
            <a:ext cx="2560320" cy="256032"/>
          </a:xfrm>
          <a:prstGeom prst="rect">
            <a:avLst/>
          </a:prstGeom>
          <a:solidFill>
            <a:srgbClr val="FBF0EB"/>
          </a:solidFill>
          <a:ln w="12700">
            <a:solidFill>
              <a:srgbClr val="F0C2B2"/>
            </a:solidFill>
            <a:prstDash val="solid"/>
          </a:ln>
        </p:spPr>
      </p:sp>
      <p:sp>
        <p:nvSpPr>
          <p:cNvPr id="3" name="Text 1"/>
          <p:cNvSpPr/>
          <p:nvPr/>
        </p:nvSpPr>
        <p:spPr>
          <a:xfrm>
            <a:off x="731520" y="384048"/>
            <a:ext cx="2560320" cy="256032"/>
          </a:xfrm>
          <a:prstGeom prst="rect">
            <a:avLst/>
          </a:prstGeom>
          <a:noFill/>
          <a:ln/>
        </p:spPr>
        <p:txBody>
          <a:bodyPr wrap="square" rtlCol="0" anchor="ctr"/>
          <a:lstStyle/>
          <a:p>
            <a:pPr algn="ctr" indent="0" marL="0">
              <a:buNone/>
            </a:pPr>
            <a:r>
              <a:rPr lang="en-US" sz="900" b="1" spc="120" kern="0" dirty="0">
                <a:solidFill>
                  <a:srgbClr val="D97757"/>
                </a:solidFill>
                <a:latin typeface="Arial" pitchFamily="34" charset="0"/>
                <a:ea typeface="Arial" pitchFamily="34" charset="-122"/>
                <a:cs typeface="Arial" pitchFamily="34" charset="-120"/>
              </a:rPr>
              <a:t>GOOGLE PATHOLOGY</a:t>
            </a:r>
            <a:endParaRPr lang="en-US" sz="900" dirty="0"/>
          </a:p>
        </p:txBody>
      </p:sp>
      <p:sp>
        <p:nvSpPr>
          <p:cNvPr id="4" name="Text 2"/>
          <p:cNvSpPr/>
          <p:nvPr/>
        </p:nvSpPr>
        <p:spPr>
          <a:xfrm>
            <a:off x="731520" y="676656"/>
            <a:ext cx="9875520" cy="475488"/>
          </a:xfrm>
          <a:prstGeom prst="rect">
            <a:avLst/>
          </a:prstGeom>
          <a:noFill/>
          <a:ln/>
        </p:spPr>
        <p:txBody>
          <a:bodyPr wrap="square" lIns="0" tIns="0" rIns="0" bIns="0" rtlCol="0" anchor="ctr"/>
          <a:lstStyle/>
          <a:p>
            <a:pPr indent="0" marL="0">
              <a:buNone/>
            </a:pPr>
            <a:r>
              <a:rPr lang="en-US" sz="2100" b="1" dirty="0">
                <a:solidFill>
                  <a:srgbClr val="1C1917"/>
                </a:solidFill>
                <a:latin typeface="Arial" pitchFamily="34" charset="0"/>
                <a:ea typeface="Arial" pitchFamily="34" charset="-122"/>
                <a:cs typeface="Arial" pitchFamily="34" charset="-120"/>
              </a:rPr>
              <a:t>谷歌为何输掉代码王座：战略错位与大企业官僚化剖析</a:t>
            </a:r>
            <a:endParaRPr lang="en-US" sz="2100" dirty="0"/>
          </a:p>
        </p:txBody>
      </p:sp>
      <p:sp>
        <p:nvSpPr>
          <p:cNvPr id="5" name="Text 3"/>
          <p:cNvSpPr/>
          <p:nvPr/>
        </p:nvSpPr>
        <p:spPr>
          <a:xfrm>
            <a:off x="10972800" y="384048"/>
            <a:ext cx="731520" cy="320040"/>
          </a:xfrm>
          <a:prstGeom prst="rect">
            <a:avLst/>
          </a:prstGeom>
          <a:noFill/>
          <a:ln/>
        </p:spPr>
        <p:txBody>
          <a:bodyPr wrap="square" rtlCol="0" anchor="ctr"/>
          <a:lstStyle/>
          <a:p>
            <a:pPr algn="r" indent="0" marL="0">
              <a:buNone/>
            </a:pPr>
            <a:r>
              <a:rPr lang="en-US" sz="1300" b="1" dirty="0">
                <a:solidFill>
                  <a:srgbClr val="8C857B"/>
                </a:solidFill>
                <a:latin typeface="Arial" pitchFamily="34" charset="0"/>
                <a:ea typeface="Arial" pitchFamily="34" charset="-122"/>
                <a:cs typeface="Arial" pitchFamily="34" charset="-120"/>
              </a:rPr>
              <a:t>07</a:t>
            </a:r>
            <a:endParaRPr lang="en-US" sz="1300" dirty="0"/>
          </a:p>
        </p:txBody>
      </p:sp>
      <p:sp>
        <p:nvSpPr>
          <p:cNvPr id="6" name="Shape 4"/>
          <p:cNvSpPr/>
          <p:nvPr/>
        </p:nvSpPr>
        <p:spPr>
          <a:xfrm>
            <a:off x="731520" y="1325880"/>
            <a:ext cx="5257800" cy="4892040"/>
          </a:xfrm>
          <a:prstGeom prst="rect">
            <a:avLst/>
          </a:prstGeom>
          <a:solidFill>
            <a:srgbClr val="FFFFFF"/>
          </a:solidFill>
          <a:ln w="12700">
            <a:solidFill>
              <a:srgbClr val="E2DCD2"/>
            </a:solidFill>
            <a:prstDash val="solid"/>
          </a:ln>
        </p:spPr>
      </p:sp>
      <p:sp>
        <p:nvSpPr>
          <p:cNvPr id="7" name="Shape 5"/>
          <p:cNvSpPr/>
          <p:nvPr/>
        </p:nvSpPr>
        <p:spPr>
          <a:xfrm>
            <a:off x="731520" y="1325880"/>
            <a:ext cx="5257800" cy="594360"/>
          </a:xfrm>
          <a:prstGeom prst="rect">
            <a:avLst/>
          </a:prstGeom>
          <a:solidFill>
            <a:srgbClr val="DC2626"/>
          </a:solidFill>
          <a:ln/>
        </p:spPr>
      </p:sp>
      <p:sp>
        <p:nvSpPr>
          <p:cNvPr id="8" name="Text 6"/>
          <p:cNvSpPr/>
          <p:nvPr/>
        </p:nvSpPr>
        <p:spPr>
          <a:xfrm>
            <a:off x="1005840" y="1481328"/>
            <a:ext cx="4709160" cy="292608"/>
          </a:xfrm>
          <a:prstGeom prst="rect">
            <a:avLst/>
          </a:prstGeom>
          <a:noFill/>
          <a:ln/>
        </p:spPr>
        <p:txBody>
          <a:bodyPr wrap="square" rtlCol="0" anchor="ctr"/>
          <a:lstStyle/>
          <a:p>
            <a:pPr indent="0" marL="0">
              <a:buNone/>
            </a:pPr>
            <a:r>
              <a:rPr lang="en-US" sz="1150" b="1" dirty="0">
                <a:solidFill>
                  <a:srgbClr val="FFFFFF"/>
                </a:solidFill>
                <a:latin typeface="Arial" pitchFamily="34" charset="0"/>
                <a:ea typeface="Arial" pitchFamily="34" charset="-122"/>
                <a:cs typeface="Arial" pitchFamily="34" charset="-120"/>
              </a:rPr>
              <a:t>战略根源：搜索基因与工具执行的本质冲突</a:t>
            </a:r>
            <a:endParaRPr lang="en-US" sz="1150" dirty="0"/>
          </a:p>
        </p:txBody>
      </p:sp>
      <p:sp>
        <p:nvSpPr>
          <p:cNvPr id="9" name="Shape 7"/>
          <p:cNvSpPr/>
          <p:nvPr/>
        </p:nvSpPr>
        <p:spPr>
          <a:xfrm>
            <a:off x="1005840" y="2029968"/>
            <a:ext cx="73152" cy="1207008"/>
          </a:xfrm>
          <a:prstGeom prst="rect">
            <a:avLst/>
          </a:prstGeom>
          <a:solidFill>
            <a:srgbClr val="DC2626"/>
          </a:solidFill>
          <a:ln/>
        </p:spPr>
      </p:sp>
      <p:sp>
        <p:nvSpPr>
          <p:cNvPr id="10" name="Shape 8"/>
          <p:cNvSpPr/>
          <p:nvPr/>
        </p:nvSpPr>
        <p:spPr>
          <a:xfrm>
            <a:off x="1078992" y="2029968"/>
            <a:ext cx="4636008" cy="1207008"/>
          </a:xfrm>
          <a:prstGeom prst="rect">
            <a:avLst/>
          </a:prstGeom>
          <a:solidFill>
            <a:srgbClr val="F5F2EB"/>
          </a:solidFill>
          <a:ln w="12700">
            <a:solidFill>
              <a:srgbClr val="E2DCD2"/>
            </a:solidFill>
            <a:prstDash val="solid"/>
          </a:ln>
        </p:spPr>
      </p:sp>
      <p:sp>
        <p:nvSpPr>
          <p:cNvPr id="11" name="Text 9"/>
          <p:cNvSpPr/>
          <p:nvPr/>
        </p:nvSpPr>
        <p:spPr>
          <a:xfrm>
            <a:off x="1207008" y="2121408"/>
            <a:ext cx="4389120" cy="201168"/>
          </a:xfrm>
          <a:prstGeom prst="rect">
            <a:avLst/>
          </a:prstGeom>
          <a:noFill/>
          <a:ln/>
        </p:spPr>
        <p:txBody>
          <a:bodyPr wrap="square" rtlCol="0" anchor="ctr"/>
          <a:lstStyle/>
          <a:p>
            <a:pPr indent="0" marL="0">
              <a:buNone/>
            </a:pPr>
            <a:r>
              <a:rPr lang="en-US" sz="850" b="1" dirty="0">
                <a:solidFill>
                  <a:srgbClr val="DC2626"/>
                </a:solidFill>
                <a:latin typeface="Arial" pitchFamily="34" charset="0"/>
                <a:ea typeface="Arial" pitchFamily="34" charset="-122"/>
                <a:cs typeface="Arial" pitchFamily="34" charset="-120"/>
              </a:rPr>
              <a:t>01 · 目标错位</a:t>
            </a:r>
            <a:endParaRPr lang="en-US" sz="850" dirty="0"/>
          </a:p>
        </p:txBody>
      </p:sp>
      <p:sp>
        <p:nvSpPr>
          <p:cNvPr id="12" name="Text 10"/>
          <p:cNvSpPr/>
          <p:nvPr/>
        </p:nvSpPr>
        <p:spPr>
          <a:xfrm>
            <a:off x="1207008" y="2340864"/>
            <a:ext cx="4389120" cy="256032"/>
          </a:xfrm>
          <a:prstGeom prst="rect">
            <a:avLst/>
          </a:prstGeom>
          <a:noFill/>
          <a:ln/>
        </p:spPr>
        <p:txBody>
          <a:bodyPr wrap="square" rtlCol="0" anchor="ctr"/>
          <a:lstStyle/>
          <a:p>
            <a:pPr indent="0" marL="0">
              <a:buNone/>
            </a:pPr>
            <a:r>
              <a:rPr lang="en-US" sz="1050" b="1" dirty="0">
                <a:solidFill>
                  <a:srgbClr val="1C1917"/>
                </a:solidFill>
                <a:latin typeface="Arial" pitchFamily="34" charset="0"/>
                <a:ea typeface="Arial" pitchFamily="34" charset="-122"/>
                <a:cs typeface="Arial" pitchFamily="34" charset="-120"/>
              </a:rPr>
              <a:t>检索导向 vs 终端执行导向</a:t>
            </a:r>
            <a:endParaRPr lang="en-US" sz="1050" dirty="0"/>
          </a:p>
        </p:txBody>
      </p:sp>
      <p:sp>
        <p:nvSpPr>
          <p:cNvPr id="13" name="Text 11"/>
          <p:cNvSpPr/>
          <p:nvPr/>
        </p:nvSpPr>
        <p:spPr>
          <a:xfrm>
            <a:off x="1207008" y="2596896"/>
            <a:ext cx="4389120" cy="594360"/>
          </a:xfrm>
          <a:prstGeom prst="rect">
            <a:avLst/>
          </a:prstGeom>
          <a:noFill/>
          <a:ln/>
        </p:spPr>
        <p:txBody>
          <a:bodyPr wrap="square" rtlCol="0" anchor="ctr"/>
          <a:lstStyle/>
          <a:p>
            <a:pPr indent="0" marL="0">
              <a:lnSpc>
                <a:spcPts val="1250"/>
              </a:lnSpc>
              <a:buNone/>
            </a:pPr>
            <a:r>
              <a:rPr lang="en-US" sz="880" dirty="0">
                <a:solidFill>
                  <a:srgbClr val="57534E"/>
                </a:solidFill>
                <a:latin typeface="Arial" pitchFamily="34" charset="0"/>
                <a:ea typeface="Arial" pitchFamily="34" charset="-122"/>
                <a:cs typeface="Arial" pitchFamily="34" charset="-120"/>
              </a:rPr>
              <a:t>Google 核心商业利益是保护其搜索护城河，大模型设计理念偏向“生成看起来完美的维基百科答案”，而非在终端环境下承受 Exit Code 0 的严苛物理测试。</a:t>
            </a:r>
            <a:endParaRPr lang="en-US" sz="880" dirty="0"/>
          </a:p>
        </p:txBody>
      </p:sp>
      <p:sp>
        <p:nvSpPr>
          <p:cNvPr id="14" name="Shape 12"/>
          <p:cNvSpPr/>
          <p:nvPr/>
        </p:nvSpPr>
        <p:spPr>
          <a:xfrm>
            <a:off x="1005840" y="3383280"/>
            <a:ext cx="73152" cy="1207008"/>
          </a:xfrm>
          <a:prstGeom prst="rect">
            <a:avLst/>
          </a:prstGeom>
          <a:solidFill>
            <a:srgbClr val="DC2626"/>
          </a:solidFill>
          <a:ln/>
        </p:spPr>
      </p:sp>
      <p:sp>
        <p:nvSpPr>
          <p:cNvPr id="15" name="Shape 13"/>
          <p:cNvSpPr/>
          <p:nvPr/>
        </p:nvSpPr>
        <p:spPr>
          <a:xfrm>
            <a:off x="1078992" y="3383280"/>
            <a:ext cx="4636008" cy="1207008"/>
          </a:xfrm>
          <a:prstGeom prst="rect">
            <a:avLst/>
          </a:prstGeom>
          <a:solidFill>
            <a:srgbClr val="F5F2EB"/>
          </a:solidFill>
          <a:ln w="12700">
            <a:solidFill>
              <a:srgbClr val="E2DCD2"/>
            </a:solidFill>
            <a:prstDash val="solid"/>
          </a:ln>
        </p:spPr>
      </p:sp>
      <p:sp>
        <p:nvSpPr>
          <p:cNvPr id="16" name="Text 14"/>
          <p:cNvSpPr/>
          <p:nvPr/>
        </p:nvSpPr>
        <p:spPr>
          <a:xfrm>
            <a:off x="1207008" y="3474720"/>
            <a:ext cx="4389120" cy="201168"/>
          </a:xfrm>
          <a:prstGeom prst="rect">
            <a:avLst/>
          </a:prstGeom>
          <a:noFill/>
          <a:ln/>
        </p:spPr>
        <p:txBody>
          <a:bodyPr wrap="square" rtlCol="0" anchor="ctr"/>
          <a:lstStyle/>
          <a:p>
            <a:pPr indent="0" marL="0">
              <a:buNone/>
            </a:pPr>
            <a:r>
              <a:rPr lang="en-US" sz="850" b="1" dirty="0">
                <a:solidFill>
                  <a:srgbClr val="DC2626"/>
                </a:solidFill>
                <a:latin typeface="Arial" pitchFamily="34" charset="0"/>
                <a:ea typeface="Arial" pitchFamily="34" charset="-122"/>
                <a:cs typeface="Arial" pitchFamily="34" charset="-120"/>
              </a:rPr>
              <a:t>02 · 算力盲从</a:t>
            </a:r>
            <a:endParaRPr lang="en-US" sz="850" dirty="0"/>
          </a:p>
        </p:txBody>
      </p:sp>
      <p:sp>
        <p:nvSpPr>
          <p:cNvPr id="17" name="Text 15"/>
          <p:cNvSpPr/>
          <p:nvPr/>
        </p:nvSpPr>
        <p:spPr>
          <a:xfrm>
            <a:off x="1207008" y="3694176"/>
            <a:ext cx="4389120" cy="256032"/>
          </a:xfrm>
          <a:prstGeom prst="rect">
            <a:avLst/>
          </a:prstGeom>
          <a:noFill/>
          <a:ln/>
        </p:spPr>
        <p:txBody>
          <a:bodyPr wrap="square" rtlCol="0" anchor="ctr"/>
          <a:lstStyle/>
          <a:p>
            <a:pPr indent="0" marL="0">
              <a:buNone/>
            </a:pPr>
            <a:r>
              <a:rPr lang="en-US" sz="1050" b="1" dirty="0">
                <a:solidFill>
                  <a:srgbClr val="1C1917"/>
                </a:solidFill>
                <a:latin typeface="Arial" pitchFamily="34" charset="0"/>
                <a:ea typeface="Arial" pitchFamily="34" charset="-122"/>
                <a:cs typeface="Arial" pitchFamily="34" charset="-120"/>
              </a:rPr>
              <a:t>算力虚骄与盲目堆叠上下文</a:t>
            </a:r>
            <a:endParaRPr lang="en-US" sz="1050" dirty="0"/>
          </a:p>
        </p:txBody>
      </p:sp>
      <p:sp>
        <p:nvSpPr>
          <p:cNvPr id="18" name="Text 16"/>
          <p:cNvSpPr/>
          <p:nvPr/>
        </p:nvSpPr>
        <p:spPr>
          <a:xfrm>
            <a:off x="1207008" y="3950208"/>
            <a:ext cx="4389120" cy="594360"/>
          </a:xfrm>
          <a:prstGeom prst="rect">
            <a:avLst/>
          </a:prstGeom>
          <a:noFill/>
          <a:ln/>
        </p:spPr>
        <p:txBody>
          <a:bodyPr wrap="square" rtlCol="0" anchor="ctr"/>
          <a:lstStyle/>
          <a:p>
            <a:pPr indent="0" marL="0">
              <a:lnSpc>
                <a:spcPts val="1250"/>
              </a:lnSpc>
              <a:buNone/>
            </a:pPr>
            <a:r>
              <a:rPr lang="en-US" sz="880" dirty="0">
                <a:solidFill>
                  <a:srgbClr val="57534E"/>
                </a:solidFill>
                <a:latin typeface="Arial" pitchFamily="34" charset="0"/>
                <a:ea typeface="Arial" pitchFamily="34" charset="-122"/>
                <a:cs typeface="Arial" pitchFamily="34" charset="-120"/>
              </a:rPr>
              <a:t>过度迷信 TPU 集群带来的 2M 窗口红利，以为“把整个仓库塞进上下文”就能替代严谨的代码 AST 解析与符号索引，结果引入海量无关噪音，严重摊薄注意力。</a:t>
            </a:r>
            <a:endParaRPr lang="en-US" sz="880" dirty="0"/>
          </a:p>
        </p:txBody>
      </p:sp>
      <p:sp>
        <p:nvSpPr>
          <p:cNvPr id="19" name="Shape 17"/>
          <p:cNvSpPr/>
          <p:nvPr/>
        </p:nvSpPr>
        <p:spPr>
          <a:xfrm>
            <a:off x="1005840" y="4736592"/>
            <a:ext cx="73152" cy="1207008"/>
          </a:xfrm>
          <a:prstGeom prst="rect">
            <a:avLst/>
          </a:prstGeom>
          <a:solidFill>
            <a:srgbClr val="DC2626"/>
          </a:solidFill>
          <a:ln/>
        </p:spPr>
      </p:sp>
      <p:sp>
        <p:nvSpPr>
          <p:cNvPr id="20" name="Shape 18"/>
          <p:cNvSpPr/>
          <p:nvPr/>
        </p:nvSpPr>
        <p:spPr>
          <a:xfrm>
            <a:off x="1078992" y="4736592"/>
            <a:ext cx="4636008" cy="1207008"/>
          </a:xfrm>
          <a:prstGeom prst="rect">
            <a:avLst/>
          </a:prstGeom>
          <a:solidFill>
            <a:srgbClr val="F5F2EB"/>
          </a:solidFill>
          <a:ln w="12700">
            <a:solidFill>
              <a:srgbClr val="E2DCD2"/>
            </a:solidFill>
            <a:prstDash val="solid"/>
          </a:ln>
        </p:spPr>
      </p:sp>
      <p:sp>
        <p:nvSpPr>
          <p:cNvPr id="21" name="Text 19"/>
          <p:cNvSpPr/>
          <p:nvPr/>
        </p:nvSpPr>
        <p:spPr>
          <a:xfrm>
            <a:off x="1207008" y="4828032"/>
            <a:ext cx="4389120" cy="201168"/>
          </a:xfrm>
          <a:prstGeom prst="rect">
            <a:avLst/>
          </a:prstGeom>
          <a:noFill/>
          <a:ln/>
        </p:spPr>
        <p:txBody>
          <a:bodyPr wrap="square" rtlCol="0" anchor="ctr"/>
          <a:lstStyle/>
          <a:p>
            <a:pPr indent="0" marL="0">
              <a:buNone/>
            </a:pPr>
            <a:r>
              <a:rPr lang="en-US" sz="850" b="1" dirty="0">
                <a:solidFill>
                  <a:srgbClr val="DC2626"/>
                </a:solidFill>
                <a:latin typeface="Arial" pitchFamily="34" charset="0"/>
                <a:ea typeface="Arial" pitchFamily="34" charset="-122"/>
                <a:cs typeface="Arial" pitchFamily="34" charset="-120"/>
              </a:rPr>
              <a:t>03 · 官僚对齐</a:t>
            </a:r>
            <a:endParaRPr lang="en-US" sz="850" dirty="0"/>
          </a:p>
        </p:txBody>
      </p:sp>
      <p:sp>
        <p:nvSpPr>
          <p:cNvPr id="22" name="Text 20"/>
          <p:cNvSpPr/>
          <p:nvPr/>
        </p:nvSpPr>
        <p:spPr>
          <a:xfrm>
            <a:off x="1207008" y="5047488"/>
            <a:ext cx="4389120" cy="256032"/>
          </a:xfrm>
          <a:prstGeom prst="rect">
            <a:avLst/>
          </a:prstGeom>
          <a:noFill/>
          <a:ln/>
        </p:spPr>
        <p:txBody>
          <a:bodyPr wrap="square" rtlCol="0" anchor="ctr"/>
          <a:lstStyle/>
          <a:p>
            <a:pPr indent="0" marL="0">
              <a:buNone/>
            </a:pPr>
            <a:r>
              <a:rPr lang="en-US" sz="1050" b="1" dirty="0">
                <a:solidFill>
                  <a:srgbClr val="1C1917"/>
                </a:solidFill>
                <a:latin typeface="Arial" pitchFamily="34" charset="0"/>
                <a:ea typeface="Arial" pitchFamily="34" charset="-122"/>
                <a:cs typeface="Arial" pitchFamily="34" charset="-120"/>
              </a:rPr>
              <a:t>政治正确与过度防御瘫痪</a:t>
            </a:r>
            <a:endParaRPr lang="en-US" sz="1050" dirty="0"/>
          </a:p>
        </p:txBody>
      </p:sp>
      <p:sp>
        <p:nvSpPr>
          <p:cNvPr id="23" name="Text 21"/>
          <p:cNvSpPr/>
          <p:nvPr/>
        </p:nvSpPr>
        <p:spPr>
          <a:xfrm>
            <a:off x="1207008" y="5303520"/>
            <a:ext cx="4389120" cy="594360"/>
          </a:xfrm>
          <a:prstGeom prst="rect">
            <a:avLst/>
          </a:prstGeom>
          <a:noFill/>
          <a:ln/>
        </p:spPr>
        <p:txBody>
          <a:bodyPr wrap="square" rtlCol="0" anchor="ctr"/>
          <a:lstStyle/>
          <a:p>
            <a:pPr indent="0" marL="0">
              <a:lnSpc>
                <a:spcPts val="1250"/>
              </a:lnSpc>
              <a:buNone/>
            </a:pPr>
            <a:r>
              <a:rPr lang="en-US" sz="880" dirty="0">
                <a:solidFill>
                  <a:srgbClr val="57534E"/>
                </a:solidFill>
                <a:latin typeface="Arial" pitchFamily="34" charset="0"/>
                <a:ea typeface="Arial" pitchFamily="34" charset="-122"/>
                <a:cs typeface="Arial" pitchFamily="34" charset="-120"/>
              </a:rPr>
              <a:t>经历过图像生成公关危机后，内部对齐委员会施加多重极严过滤，导致系统在面对合法命令行工具、网络抓包与排障测试用例时频繁误判拒绝。</a:t>
            </a:r>
            <a:endParaRPr lang="en-US" sz="880" dirty="0"/>
          </a:p>
        </p:txBody>
      </p:sp>
      <p:sp>
        <p:nvSpPr>
          <p:cNvPr id="24" name="Shape 22"/>
          <p:cNvSpPr/>
          <p:nvPr/>
        </p:nvSpPr>
        <p:spPr>
          <a:xfrm>
            <a:off x="6199632" y="1325880"/>
            <a:ext cx="5257800" cy="4892040"/>
          </a:xfrm>
          <a:prstGeom prst="rect">
            <a:avLst/>
          </a:prstGeom>
          <a:solidFill>
            <a:srgbClr val="FFFFFF"/>
          </a:solidFill>
          <a:ln w="12700">
            <a:solidFill>
              <a:srgbClr val="E2DCD2"/>
            </a:solidFill>
            <a:prstDash val="solid"/>
          </a:ln>
        </p:spPr>
      </p:sp>
      <p:sp>
        <p:nvSpPr>
          <p:cNvPr id="25" name="Shape 23"/>
          <p:cNvSpPr/>
          <p:nvPr/>
        </p:nvSpPr>
        <p:spPr>
          <a:xfrm>
            <a:off x="6199632" y="1325880"/>
            <a:ext cx="5257800" cy="594360"/>
          </a:xfrm>
          <a:prstGeom prst="rect">
            <a:avLst/>
          </a:prstGeom>
          <a:solidFill>
            <a:srgbClr val="D97757"/>
          </a:solidFill>
          <a:ln/>
        </p:spPr>
      </p:sp>
      <p:sp>
        <p:nvSpPr>
          <p:cNvPr id="26" name="Text 24"/>
          <p:cNvSpPr/>
          <p:nvPr/>
        </p:nvSpPr>
        <p:spPr>
          <a:xfrm>
            <a:off x="6473952" y="1481328"/>
            <a:ext cx="4709160" cy="292608"/>
          </a:xfrm>
          <a:prstGeom prst="rect">
            <a:avLst/>
          </a:prstGeom>
          <a:noFill/>
          <a:ln/>
        </p:spPr>
        <p:txBody>
          <a:bodyPr wrap="square" rtlCol="0" anchor="ctr"/>
          <a:lstStyle/>
          <a:p>
            <a:pPr indent="0" marL="0">
              <a:buNone/>
            </a:pPr>
            <a:r>
              <a:rPr lang="en-US" sz="1150" b="1" dirty="0">
                <a:solidFill>
                  <a:srgbClr val="FFFFFF"/>
                </a:solidFill>
                <a:latin typeface="Arial" pitchFamily="34" charset="0"/>
                <a:ea typeface="Arial" pitchFamily="34" charset="-122"/>
                <a:cs typeface="Arial" pitchFamily="34" charset="-120"/>
              </a:rPr>
              <a:t>组织病灶：产品割裂、内耗与 Anthropic 对照</a:t>
            </a:r>
            <a:endParaRPr lang="en-US" sz="1150" dirty="0"/>
          </a:p>
        </p:txBody>
      </p:sp>
      <p:sp>
        <p:nvSpPr>
          <p:cNvPr id="27" name="Shape 25"/>
          <p:cNvSpPr/>
          <p:nvPr/>
        </p:nvSpPr>
        <p:spPr>
          <a:xfrm>
            <a:off x="6473952" y="2029968"/>
            <a:ext cx="73152" cy="1207008"/>
          </a:xfrm>
          <a:prstGeom prst="rect">
            <a:avLst/>
          </a:prstGeom>
          <a:solidFill>
            <a:srgbClr val="D97757"/>
          </a:solidFill>
          <a:ln/>
        </p:spPr>
      </p:sp>
      <p:sp>
        <p:nvSpPr>
          <p:cNvPr id="28" name="Shape 26"/>
          <p:cNvSpPr/>
          <p:nvPr/>
        </p:nvSpPr>
        <p:spPr>
          <a:xfrm>
            <a:off x="6547104" y="2029968"/>
            <a:ext cx="4636008" cy="1207008"/>
          </a:xfrm>
          <a:prstGeom prst="rect">
            <a:avLst/>
          </a:prstGeom>
          <a:solidFill>
            <a:srgbClr val="F5F2EB"/>
          </a:solidFill>
          <a:ln w="12700">
            <a:solidFill>
              <a:srgbClr val="E2DCD2"/>
            </a:solidFill>
            <a:prstDash val="solid"/>
          </a:ln>
        </p:spPr>
      </p:sp>
      <p:sp>
        <p:nvSpPr>
          <p:cNvPr id="29" name="Text 27"/>
          <p:cNvSpPr/>
          <p:nvPr/>
        </p:nvSpPr>
        <p:spPr>
          <a:xfrm>
            <a:off x="6675120" y="2121408"/>
            <a:ext cx="4389120" cy="201168"/>
          </a:xfrm>
          <a:prstGeom prst="rect">
            <a:avLst/>
          </a:prstGeom>
          <a:noFill/>
          <a:ln/>
        </p:spPr>
        <p:txBody>
          <a:bodyPr wrap="square" rtlCol="0" anchor="ctr"/>
          <a:lstStyle/>
          <a:p>
            <a:pPr indent="0" marL="0">
              <a:buNone/>
            </a:pPr>
            <a:r>
              <a:rPr lang="en-US" sz="850" b="1" dirty="0">
                <a:solidFill>
                  <a:srgbClr val="D97757"/>
                </a:solidFill>
                <a:latin typeface="Arial" pitchFamily="34" charset="0"/>
                <a:ea typeface="Arial" pitchFamily="34" charset="-122"/>
                <a:cs typeface="Arial" pitchFamily="34" charset="-120"/>
              </a:rPr>
              <a:t>01 · 组织高墙</a:t>
            </a:r>
            <a:endParaRPr lang="en-US" sz="850" dirty="0"/>
          </a:p>
        </p:txBody>
      </p:sp>
      <p:sp>
        <p:nvSpPr>
          <p:cNvPr id="30" name="Text 28"/>
          <p:cNvSpPr/>
          <p:nvPr/>
        </p:nvSpPr>
        <p:spPr>
          <a:xfrm>
            <a:off x="6675120" y="2340864"/>
            <a:ext cx="4389120" cy="256032"/>
          </a:xfrm>
          <a:prstGeom prst="rect">
            <a:avLst/>
          </a:prstGeom>
          <a:noFill/>
          <a:ln/>
        </p:spPr>
        <p:txBody>
          <a:bodyPr wrap="square" rtlCol="0" anchor="ctr"/>
          <a:lstStyle/>
          <a:p>
            <a:pPr indent="0" marL="0">
              <a:buNone/>
            </a:pPr>
            <a:r>
              <a:rPr lang="en-US" sz="1050" b="1" dirty="0">
                <a:solidFill>
                  <a:srgbClr val="1C1917"/>
                </a:solidFill>
                <a:latin typeface="Arial" pitchFamily="34" charset="0"/>
                <a:ea typeface="Arial" pitchFamily="34" charset="-122"/>
                <a:cs typeface="Arial" pitchFamily="34" charset="-120"/>
              </a:rPr>
              <a:t>Brain 与 DeepMind 的技术栈博弈</a:t>
            </a:r>
            <a:endParaRPr lang="en-US" sz="1050" dirty="0"/>
          </a:p>
        </p:txBody>
      </p:sp>
      <p:sp>
        <p:nvSpPr>
          <p:cNvPr id="31" name="Text 29"/>
          <p:cNvSpPr/>
          <p:nvPr/>
        </p:nvSpPr>
        <p:spPr>
          <a:xfrm>
            <a:off x="6675120" y="2596896"/>
            <a:ext cx="4389120" cy="594360"/>
          </a:xfrm>
          <a:prstGeom prst="rect">
            <a:avLst/>
          </a:prstGeom>
          <a:noFill/>
          <a:ln/>
        </p:spPr>
        <p:txBody>
          <a:bodyPr wrap="square" rtlCol="0" anchor="ctr"/>
          <a:lstStyle/>
          <a:p>
            <a:pPr indent="0" marL="0">
              <a:lnSpc>
                <a:spcPts val="1250"/>
              </a:lnSpc>
              <a:buNone/>
            </a:pPr>
            <a:r>
              <a:rPr lang="en-US" sz="880" dirty="0">
                <a:solidFill>
                  <a:srgbClr val="57534E"/>
                </a:solidFill>
                <a:latin typeface="Arial" pitchFamily="34" charset="0"/>
                <a:ea typeface="Arial" pitchFamily="34" charset="-122"/>
                <a:cs typeface="Arial" pitchFamily="34" charset="-120"/>
              </a:rPr>
              <a:t>合并后的团队在算法技术栈（JAX vs PyTorch、Gemini vs Alpha 系列）与内部政治中持续博弈，底层基座频繁改版，缺乏对工程师真实体验的敬畏与打磨。</a:t>
            </a:r>
            <a:endParaRPr lang="en-US" sz="880" dirty="0"/>
          </a:p>
        </p:txBody>
      </p:sp>
      <p:sp>
        <p:nvSpPr>
          <p:cNvPr id="32" name="Shape 30"/>
          <p:cNvSpPr/>
          <p:nvPr/>
        </p:nvSpPr>
        <p:spPr>
          <a:xfrm>
            <a:off x="6473952" y="3383280"/>
            <a:ext cx="73152" cy="1207008"/>
          </a:xfrm>
          <a:prstGeom prst="rect">
            <a:avLst/>
          </a:prstGeom>
          <a:solidFill>
            <a:srgbClr val="D97757"/>
          </a:solidFill>
          <a:ln/>
        </p:spPr>
      </p:sp>
      <p:sp>
        <p:nvSpPr>
          <p:cNvPr id="33" name="Shape 31"/>
          <p:cNvSpPr/>
          <p:nvPr/>
        </p:nvSpPr>
        <p:spPr>
          <a:xfrm>
            <a:off x="6547104" y="3383280"/>
            <a:ext cx="4636008" cy="1207008"/>
          </a:xfrm>
          <a:prstGeom prst="rect">
            <a:avLst/>
          </a:prstGeom>
          <a:solidFill>
            <a:srgbClr val="F5F2EB"/>
          </a:solidFill>
          <a:ln w="12700">
            <a:solidFill>
              <a:srgbClr val="E2DCD2"/>
            </a:solidFill>
            <a:prstDash val="solid"/>
          </a:ln>
        </p:spPr>
      </p:sp>
      <p:sp>
        <p:nvSpPr>
          <p:cNvPr id="34" name="Text 32"/>
          <p:cNvSpPr/>
          <p:nvPr/>
        </p:nvSpPr>
        <p:spPr>
          <a:xfrm>
            <a:off x="6675120" y="3474720"/>
            <a:ext cx="4389120" cy="201168"/>
          </a:xfrm>
          <a:prstGeom prst="rect">
            <a:avLst/>
          </a:prstGeom>
          <a:noFill/>
          <a:ln/>
        </p:spPr>
        <p:txBody>
          <a:bodyPr wrap="square" rtlCol="0" anchor="ctr"/>
          <a:lstStyle/>
          <a:p>
            <a:pPr indent="0" marL="0">
              <a:buNone/>
            </a:pPr>
            <a:r>
              <a:rPr lang="en-US" sz="850" b="1" dirty="0">
                <a:solidFill>
                  <a:srgbClr val="D97757"/>
                </a:solidFill>
                <a:latin typeface="Arial" pitchFamily="34" charset="0"/>
                <a:ea typeface="Arial" pitchFamily="34" charset="-122"/>
                <a:cs typeface="Arial" pitchFamily="34" charset="-120"/>
              </a:rPr>
              <a:t>02 · 生态割裂</a:t>
            </a:r>
            <a:endParaRPr lang="en-US" sz="850" dirty="0"/>
          </a:p>
        </p:txBody>
      </p:sp>
      <p:sp>
        <p:nvSpPr>
          <p:cNvPr id="35" name="Text 33"/>
          <p:cNvSpPr/>
          <p:nvPr/>
        </p:nvSpPr>
        <p:spPr>
          <a:xfrm>
            <a:off x="6675120" y="3694176"/>
            <a:ext cx="4389120" cy="256032"/>
          </a:xfrm>
          <a:prstGeom prst="rect">
            <a:avLst/>
          </a:prstGeom>
          <a:noFill/>
          <a:ln/>
        </p:spPr>
        <p:txBody>
          <a:bodyPr wrap="square" rtlCol="0" anchor="ctr"/>
          <a:lstStyle/>
          <a:p>
            <a:pPr indent="0" marL="0">
              <a:buNone/>
            </a:pPr>
            <a:r>
              <a:rPr lang="en-US" sz="1050" b="1" dirty="0">
                <a:solidFill>
                  <a:srgbClr val="1C1917"/>
                </a:solidFill>
                <a:latin typeface="Arial" pitchFamily="34" charset="0"/>
                <a:ea typeface="Arial" pitchFamily="34" charset="-122"/>
                <a:cs typeface="Arial" pitchFamily="34" charset="-120"/>
              </a:rPr>
              <a:t>多团队各自为政与重复造轮子</a:t>
            </a:r>
            <a:endParaRPr lang="en-US" sz="1050" dirty="0"/>
          </a:p>
        </p:txBody>
      </p:sp>
      <p:sp>
        <p:nvSpPr>
          <p:cNvPr id="36" name="Text 34"/>
          <p:cNvSpPr/>
          <p:nvPr/>
        </p:nvSpPr>
        <p:spPr>
          <a:xfrm>
            <a:off x="6675120" y="3950208"/>
            <a:ext cx="4389120" cy="594360"/>
          </a:xfrm>
          <a:prstGeom prst="rect">
            <a:avLst/>
          </a:prstGeom>
          <a:noFill/>
          <a:ln/>
        </p:spPr>
        <p:txBody>
          <a:bodyPr wrap="square" rtlCol="0" anchor="ctr"/>
          <a:lstStyle/>
          <a:p>
            <a:pPr indent="0" marL="0">
              <a:lnSpc>
                <a:spcPts val="1250"/>
              </a:lnSpc>
              <a:buNone/>
            </a:pPr>
            <a:r>
              <a:rPr lang="en-US" sz="880" dirty="0">
                <a:solidFill>
                  <a:srgbClr val="57534E"/>
                </a:solidFill>
                <a:latin typeface="Arial" pitchFamily="34" charset="0"/>
                <a:ea typeface="Arial" pitchFamily="34" charset="-122"/>
                <a:cs typeface="Arial" pitchFamily="34" charset="-120"/>
              </a:rPr>
              <a:t>Project IDX、Gemini Code Assist、Android Studio Bot 等多团队各自维护独立产品，互相争夺预算，未能形成如同 Claude Code 般单点打穿的终极终端生态。</a:t>
            </a:r>
            <a:endParaRPr lang="en-US" sz="880" dirty="0"/>
          </a:p>
        </p:txBody>
      </p:sp>
      <p:sp>
        <p:nvSpPr>
          <p:cNvPr id="37" name="Shape 35"/>
          <p:cNvSpPr/>
          <p:nvPr/>
        </p:nvSpPr>
        <p:spPr>
          <a:xfrm>
            <a:off x="6473952" y="4736592"/>
            <a:ext cx="73152" cy="1207008"/>
          </a:xfrm>
          <a:prstGeom prst="rect">
            <a:avLst/>
          </a:prstGeom>
          <a:solidFill>
            <a:srgbClr val="D97757"/>
          </a:solidFill>
          <a:ln/>
        </p:spPr>
      </p:sp>
      <p:sp>
        <p:nvSpPr>
          <p:cNvPr id="38" name="Shape 36"/>
          <p:cNvSpPr/>
          <p:nvPr/>
        </p:nvSpPr>
        <p:spPr>
          <a:xfrm>
            <a:off x="6547104" y="4736592"/>
            <a:ext cx="4636008" cy="1207008"/>
          </a:xfrm>
          <a:prstGeom prst="rect">
            <a:avLst/>
          </a:prstGeom>
          <a:solidFill>
            <a:srgbClr val="F5F2EB"/>
          </a:solidFill>
          <a:ln w="12700">
            <a:solidFill>
              <a:srgbClr val="E2DCD2"/>
            </a:solidFill>
            <a:prstDash val="solid"/>
          </a:ln>
        </p:spPr>
      </p:sp>
      <p:sp>
        <p:nvSpPr>
          <p:cNvPr id="39" name="Text 37"/>
          <p:cNvSpPr/>
          <p:nvPr/>
        </p:nvSpPr>
        <p:spPr>
          <a:xfrm>
            <a:off x="6675120" y="4828032"/>
            <a:ext cx="4389120" cy="201168"/>
          </a:xfrm>
          <a:prstGeom prst="rect">
            <a:avLst/>
          </a:prstGeom>
          <a:noFill/>
          <a:ln/>
        </p:spPr>
        <p:txBody>
          <a:bodyPr wrap="square" rtlCol="0" anchor="ctr"/>
          <a:lstStyle/>
          <a:p>
            <a:pPr indent="0" marL="0">
              <a:buNone/>
            </a:pPr>
            <a:r>
              <a:rPr lang="en-US" sz="850" b="1" dirty="0">
                <a:solidFill>
                  <a:srgbClr val="D97757"/>
                </a:solidFill>
                <a:latin typeface="Arial" pitchFamily="34" charset="0"/>
                <a:ea typeface="Arial" pitchFamily="34" charset="-122"/>
                <a:cs typeface="Arial" pitchFamily="34" charset="-120"/>
              </a:rPr>
              <a:t>03 · 极简突围</a:t>
            </a:r>
            <a:endParaRPr lang="en-US" sz="850" dirty="0"/>
          </a:p>
        </p:txBody>
      </p:sp>
      <p:sp>
        <p:nvSpPr>
          <p:cNvPr id="40" name="Text 38"/>
          <p:cNvSpPr/>
          <p:nvPr/>
        </p:nvSpPr>
        <p:spPr>
          <a:xfrm>
            <a:off x="6675120" y="5047488"/>
            <a:ext cx="4389120" cy="256032"/>
          </a:xfrm>
          <a:prstGeom prst="rect">
            <a:avLst/>
          </a:prstGeom>
          <a:noFill/>
          <a:ln/>
        </p:spPr>
        <p:txBody>
          <a:bodyPr wrap="square" rtlCol="0" anchor="ctr"/>
          <a:lstStyle/>
          <a:p>
            <a:pPr indent="0" marL="0">
              <a:buNone/>
            </a:pPr>
            <a:r>
              <a:rPr lang="en-US" sz="1050" b="1" dirty="0">
                <a:solidFill>
                  <a:srgbClr val="1C1917"/>
                </a:solidFill>
                <a:latin typeface="Arial" pitchFamily="34" charset="0"/>
                <a:ea typeface="Arial" pitchFamily="34" charset="-122"/>
                <a:cs typeface="Arial" pitchFamily="34" charset="-120"/>
              </a:rPr>
              <a:t>Anthropic：全员一线终端实战</a:t>
            </a:r>
            <a:endParaRPr lang="en-US" sz="1050" dirty="0"/>
          </a:p>
        </p:txBody>
      </p:sp>
      <p:sp>
        <p:nvSpPr>
          <p:cNvPr id="41" name="Text 39"/>
          <p:cNvSpPr/>
          <p:nvPr/>
        </p:nvSpPr>
        <p:spPr>
          <a:xfrm>
            <a:off x="6675120" y="5303520"/>
            <a:ext cx="4389120" cy="594360"/>
          </a:xfrm>
          <a:prstGeom prst="rect">
            <a:avLst/>
          </a:prstGeom>
          <a:noFill/>
          <a:ln/>
        </p:spPr>
        <p:txBody>
          <a:bodyPr wrap="square" rtlCol="0" anchor="ctr"/>
          <a:lstStyle/>
          <a:p>
            <a:pPr indent="0" marL="0">
              <a:lnSpc>
                <a:spcPts val="1250"/>
              </a:lnSpc>
              <a:buNone/>
            </a:pPr>
            <a:r>
              <a:rPr lang="en-US" sz="880" dirty="0">
                <a:solidFill>
                  <a:srgbClr val="57534E"/>
                </a:solidFill>
                <a:latin typeface="Arial" pitchFamily="34" charset="0"/>
                <a:ea typeface="Arial" pitchFamily="34" charset="-122"/>
                <a:cs typeface="Arial" pitchFamily="34" charset="-120"/>
              </a:rPr>
              <a:t>Anthropic 研发人员不足谷歌五分之一，但全员高强度在 Claude 终端自研自测，甚至将 Claude 自主合入代码比例作为战略 KPI，形成了惊人的产品飞轮。</a:t>
            </a:r>
            <a:endParaRPr lang="en-US" sz="8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9F5"/>
        </a:solidFill>
      </p:bgPr>
    </p:bg>
    <p:spTree>
      <p:nvGrpSpPr>
        <p:cNvPr id="1" name=""/>
        <p:cNvGrpSpPr/>
        <p:nvPr/>
      </p:nvGrpSpPr>
      <p:grpSpPr>
        <a:xfrm>
          <a:off x="0" y="0"/>
          <a:ext cx="0" cy="0"/>
          <a:chOff x="0" y="0"/>
          <a:chExt cx="0" cy="0"/>
        </a:xfrm>
      </p:grpSpPr>
      <p:sp>
        <p:nvSpPr>
          <p:cNvPr id="2" name="Shape 0"/>
          <p:cNvSpPr/>
          <p:nvPr/>
        </p:nvSpPr>
        <p:spPr>
          <a:xfrm>
            <a:off x="731520" y="384048"/>
            <a:ext cx="2560320" cy="256032"/>
          </a:xfrm>
          <a:prstGeom prst="rect">
            <a:avLst/>
          </a:prstGeom>
          <a:solidFill>
            <a:srgbClr val="FBF0EB"/>
          </a:solidFill>
          <a:ln w="12700">
            <a:solidFill>
              <a:srgbClr val="F0C2B2"/>
            </a:solidFill>
            <a:prstDash val="solid"/>
          </a:ln>
        </p:spPr>
      </p:sp>
      <p:sp>
        <p:nvSpPr>
          <p:cNvPr id="3" name="Text 1"/>
          <p:cNvSpPr/>
          <p:nvPr/>
        </p:nvSpPr>
        <p:spPr>
          <a:xfrm>
            <a:off x="731520" y="384048"/>
            <a:ext cx="2560320" cy="256032"/>
          </a:xfrm>
          <a:prstGeom prst="rect">
            <a:avLst/>
          </a:prstGeom>
          <a:noFill/>
          <a:ln/>
        </p:spPr>
        <p:txBody>
          <a:bodyPr wrap="square" rtlCol="0" anchor="ctr"/>
          <a:lstStyle/>
          <a:p>
            <a:pPr algn="ctr" indent="0" marL="0">
              <a:buNone/>
            </a:pPr>
            <a:r>
              <a:rPr lang="en-US" sz="900" b="1" spc="120" kern="0" dirty="0">
                <a:solidFill>
                  <a:srgbClr val="D97757"/>
                </a:solidFill>
                <a:latin typeface="Arial" pitchFamily="34" charset="0"/>
                <a:ea typeface="Arial" pitchFamily="34" charset="-122"/>
                <a:cs typeface="Arial" pitchFamily="34" charset="-120"/>
              </a:rPr>
              <a:t>DEVELOPER MIGRATION</a:t>
            </a:r>
            <a:endParaRPr lang="en-US" sz="900" dirty="0"/>
          </a:p>
        </p:txBody>
      </p:sp>
      <p:sp>
        <p:nvSpPr>
          <p:cNvPr id="4" name="Text 2"/>
          <p:cNvSpPr/>
          <p:nvPr/>
        </p:nvSpPr>
        <p:spPr>
          <a:xfrm>
            <a:off x="731520" y="676656"/>
            <a:ext cx="9875520" cy="475488"/>
          </a:xfrm>
          <a:prstGeom prst="rect">
            <a:avLst/>
          </a:prstGeom>
          <a:noFill/>
          <a:ln/>
        </p:spPr>
        <p:txBody>
          <a:bodyPr wrap="square" lIns="0" tIns="0" rIns="0" bIns="0" rtlCol="0" anchor="ctr"/>
          <a:lstStyle/>
          <a:p>
            <a:pPr indent="0" marL="0">
              <a:buNone/>
            </a:pPr>
            <a:r>
              <a:rPr lang="en-US" sz="2100" b="1" dirty="0">
                <a:solidFill>
                  <a:srgbClr val="1C1917"/>
                </a:solidFill>
                <a:latin typeface="Arial" pitchFamily="34" charset="0"/>
                <a:ea typeface="Arial" pitchFamily="34" charset="-122"/>
                <a:cs typeface="Arial" pitchFamily="34" charset="-120"/>
              </a:rPr>
              <a:t>全球开发者大迁徙：从 Cursor 到终端的全域逃离</a:t>
            </a:r>
            <a:endParaRPr lang="en-US" sz="2100" dirty="0"/>
          </a:p>
        </p:txBody>
      </p:sp>
      <p:sp>
        <p:nvSpPr>
          <p:cNvPr id="5" name="Text 3"/>
          <p:cNvSpPr/>
          <p:nvPr/>
        </p:nvSpPr>
        <p:spPr>
          <a:xfrm>
            <a:off x="10972800" y="384048"/>
            <a:ext cx="731520" cy="320040"/>
          </a:xfrm>
          <a:prstGeom prst="rect">
            <a:avLst/>
          </a:prstGeom>
          <a:noFill/>
          <a:ln/>
        </p:spPr>
        <p:txBody>
          <a:bodyPr wrap="square" rtlCol="0" anchor="ctr"/>
          <a:lstStyle/>
          <a:p>
            <a:pPr algn="r" indent="0" marL="0">
              <a:buNone/>
            </a:pPr>
            <a:r>
              <a:rPr lang="en-US" sz="1300" b="1" dirty="0">
                <a:solidFill>
                  <a:srgbClr val="8C857B"/>
                </a:solidFill>
                <a:latin typeface="Arial" pitchFamily="34" charset="0"/>
                <a:ea typeface="Arial" pitchFamily="34" charset="-122"/>
                <a:cs typeface="Arial" pitchFamily="34" charset="-120"/>
              </a:rPr>
              <a:t>08</a:t>
            </a:r>
            <a:endParaRPr lang="en-US" sz="1300" dirty="0"/>
          </a:p>
        </p:txBody>
      </p:sp>
      <p:sp>
        <p:nvSpPr>
          <p:cNvPr id="6" name="Shape 4"/>
          <p:cNvSpPr/>
          <p:nvPr/>
        </p:nvSpPr>
        <p:spPr>
          <a:xfrm>
            <a:off x="731520" y="1325880"/>
            <a:ext cx="5669280" cy="4892040"/>
          </a:xfrm>
          <a:prstGeom prst="rect">
            <a:avLst/>
          </a:prstGeom>
          <a:solidFill>
            <a:srgbClr val="FFFFFF"/>
          </a:solidFill>
          <a:ln w="12700">
            <a:solidFill>
              <a:srgbClr val="E2DCD2"/>
            </a:solidFill>
            <a:prstDash val="solid"/>
          </a:ln>
        </p:spPr>
      </p:sp>
      <p:sp>
        <p:nvSpPr>
          <p:cNvPr id="7" name="Text 5"/>
          <p:cNvSpPr/>
          <p:nvPr/>
        </p:nvSpPr>
        <p:spPr>
          <a:xfrm>
            <a:off x="1005840" y="1600200"/>
            <a:ext cx="2377440" cy="320040"/>
          </a:xfrm>
          <a:prstGeom prst="rect">
            <a:avLst/>
          </a:prstGeom>
          <a:noFill/>
          <a:ln/>
        </p:spPr>
        <p:txBody>
          <a:bodyPr wrap="square" rtlCol="0" anchor="ctr"/>
          <a:lstStyle/>
          <a:p>
            <a:pPr indent="0" marL="0">
              <a:buNone/>
            </a:pPr>
            <a:r>
              <a:rPr lang="en-US" sz="1100" b="1" dirty="0">
                <a:solidFill>
                  <a:srgbClr val="1C1917"/>
                </a:solidFill>
                <a:latin typeface="Arial" pitchFamily="34" charset="0"/>
                <a:ea typeface="Arial" pitchFamily="34" charset="-122"/>
                <a:cs typeface="Arial" pitchFamily="34" charset="-120"/>
              </a:rPr>
              <a:t>Claude 3.5 / 5.5 系列</a:t>
            </a:r>
            <a:endParaRPr lang="en-US" sz="1100" dirty="0"/>
          </a:p>
        </p:txBody>
      </p:sp>
      <p:sp>
        <p:nvSpPr>
          <p:cNvPr id="8" name="Shape 6"/>
          <p:cNvSpPr/>
          <p:nvPr/>
        </p:nvSpPr>
        <p:spPr>
          <a:xfrm>
            <a:off x="3474720" y="1673352"/>
            <a:ext cx="1645920" cy="201168"/>
          </a:xfrm>
          <a:prstGeom prst="rect">
            <a:avLst/>
          </a:prstGeom>
          <a:solidFill>
            <a:srgbClr val="EFEBE1"/>
          </a:solidFill>
          <a:ln/>
        </p:spPr>
      </p:sp>
      <p:sp>
        <p:nvSpPr>
          <p:cNvPr id="9" name="Shape 7"/>
          <p:cNvSpPr/>
          <p:nvPr/>
        </p:nvSpPr>
        <p:spPr>
          <a:xfrm>
            <a:off x="3474720" y="1673352"/>
            <a:ext cx="1125809" cy="201168"/>
          </a:xfrm>
          <a:prstGeom prst="rect">
            <a:avLst/>
          </a:prstGeom>
          <a:solidFill>
            <a:srgbClr val="D97757"/>
          </a:solidFill>
          <a:ln/>
        </p:spPr>
      </p:sp>
      <p:sp>
        <p:nvSpPr>
          <p:cNvPr id="10" name="Text 8"/>
          <p:cNvSpPr/>
          <p:nvPr/>
        </p:nvSpPr>
        <p:spPr>
          <a:xfrm>
            <a:off x="5257800" y="1600200"/>
            <a:ext cx="1005840" cy="320040"/>
          </a:xfrm>
          <a:prstGeom prst="rect">
            <a:avLst/>
          </a:prstGeom>
          <a:noFill/>
          <a:ln/>
        </p:spPr>
        <p:txBody>
          <a:bodyPr wrap="square" rtlCol="0" anchor="ctr"/>
          <a:lstStyle/>
          <a:p>
            <a:pPr indent="0" marL="0">
              <a:buNone/>
            </a:pPr>
            <a:r>
              <a:rPr lang="en-US" sz="1100" b="1" dirty="0">
                <a:solidFill>
                  <a:srgbClr val="D97757"/>
                </a:solidFill>
                <a:latin typeface="Arial" pitchFamily="34" charset="0"/>
                <a:ea typeface="Arial" pitchFamily="34" charset="-122"/>
                <a:cs typeface="Arial" pitchFamily="34" charset="-120"/>
              </a:rPr>
              <a:t>68.4%</a:t>
            </a:r>
            <a:endParaRPr lang="en-US" sz="1100" dirty="0"/>
          </a:p>
        </p:txBody>
      </p:sp>
      <p:sp>
        <p:nvSpPr>
          <p:cNvPr id="11" name="Text 9"/>
          <p:cNvSpPr/>
          <p:nvPr/>
        </p:nvSpPr>
        <p:spPr>
          <a:xfrm>
            <a:off x="1005840" y="2686050"/>
            <a:ext cx="2377440" cy="320040"/>
          </a:xfrm>
          <a:prstGeom prst="rect">
            <a:avLst/>
          </a:prstGeom>
          <a:noFill/>
          <a:ln/>
        </p:spPr>
        <p:txBody>
          <a:bodyPr wrap="square" rtlCol="0" anchor="ctr"/>
          <a:lstStyle/>
          <a:p>
            <a:pPr indent="0" marL="0">
              <a:buNone/>
            </a:pPr>
            <a:r>
              <a:rPr lang="en-US" sz="1100" b="1" dirty="0">
                <a:solidFill>
                  <a:srgbClr val="1C1917"/>
                </a:solidFill>
                <a:latin typeface="Arial" pitchFamily="34" charset="0"/>
                <a:ea typeface="Arial" pitchFamily="34" charset="-122"/>
                <a:cs typeface="Arial" pitchFamily="34" charset="-120"/>
              </a:rPr>
              <a:t>OpenAI o-series / GPT-5</a:t>
            </a:r>
            <a:endParaRPr lang="en-US" sz="1100" dirty="0"/>
          </a:p>
        </p:txBody>
      </p:sp>
      <p:sp>
        <p:nvSpPr>
          <p:cNvPr id="12" name="Shape 10"/>
          <p:cNvSpPr/>
          <p:nvPr/>
        </p:nvSpPr>
        <p:spPr>
          <a:xfrm>
            <a:off x="3474720" y="2759202"/>
            <a:ext cx="1645920" cy="201168"/>
          </a:xfrm>
          <a:prstGeom prst="rect">
            <a:avLst/>
          </a:prstGeom>
          <a:solidFill>
            <a:srgbClr val="EFEBE1"/>
          </a:solidFill>
          <a:ln/>
        </p:spPr>
      </p:sp>
      <p:sp>
        <p:nvSpPr>
          <p:cNvPr id="13" name="Shape 11"/>
          <p:cNvSpPr/>
          <p:nvPr/>
        </p:nvSpPr>
        <p:spPr>
          <a:xfrm>
            <a:off x="3474720" y="2759202"/>
            <a:ext cx="398313" cy="201168"/>
          </a:xfrm>
          <a:prstGeom prst="rect">
            <a:avLst/>
          </a:prstGeom>
          <a:solidFill>
            <a:srgbClr val="475569"/>
          </a:solidFill>
          <a:ln/>
        </p:spPr>
      </p:sp>
      <p:sp>
        <p:nvSpPr>
          <p:cNvPr id="14" name="Text 12"/>
          <p:cNvSpPr/>
          <p:nvPr/>
        </p:nvSpPr>
        <p:spPr>
          <a:xfrm>
            <a:off x="5257800" y="2686050"/>
            <a:ext cx="1005840" cy="320040"/>
          </a:xfrm>
          <a:prstGeom prst="rect">
            <a:avLst/>
          </a:prstGeom>
          <a:noFill/>
          <a:ln/>
        </p:spPr>
        <p:txBody>
          <a:bodyPr wrap="square" rtlCol="0" anchor="ctr"/>
          <a:lstStyle/>
          <a:p>
            <a:pPr indent="0" marL="0">
              <a:buNone/>
            </a:pPr>
            <a:r>
              <a:rPr lang="en-US" sz="1100" b="1" dirty="0">
                <a:solidFill>
                  <a:srgbClr val="475569"/>
                </a:solidFill>
                <a:latin typeface="Arial" pitchFamily="34" charset="0"/>
                <a:ea typeface="Arial" pitchFamily="34" charset="-122"/>
                <a:cs typeface="Arial" pitchFamily="34" charset="-120"/>
              </a:rPr>
              <a:t>24.2%</a:t>
            </a:r>
            <a:endParaRPr lang="en-US" sz="1100" dirty="0"/>
          </a:p>
        </p:txBody>
      </p:sp>
      <p:sp>
        <p:nvSpPr>
          <p:cNvPr id="15" name="Text 13"/>
          <p:cNvSpPr/>
          <p:nvPr/>
        </p:nvSpPr>
        <p:spPr>
          <a:xfrm>
            <a:off x="1005840" y="3771900"/>
            <a:ext cx="2377440" cy="320040"/>
          </a:xfrm>
          <a:prstGeom prst="rect">
            <a:avLst/>
          </a:prstGeom>
          <a:noFill/>
          <a:ln/>
        </p:spPr>
        <p:txBody>
          <a:bodyPr wrap="square" rtlCol="0" anchor="ctr"/>
          <a:lstStyle/>
          <a:p>
            <a:pPr indent="0" marL="0">
              <a:buNone/>
            </a:pPr>
            <a:r>
              <a:rPr lang="en-US" sz="1100" b="1" dirty="0">
                <a:solidFill>
                  <a:srgbClr val="1C1917"/>
                </a:solidFill>
                <a:latin typeface="Arial" pitchFamily="34" charset="0"/>
                <a:ea typeface="Arial" pitchFamily="34" charset="-122"/>
                <a:cs typeface="Arial" pitchFamily="34" charset="-120"/>
              </a:rPr>
              <a:t>Google Gemini 3.0 Pro</a:t>
            </a:r>
            <a:endParaRPr lang="en-US" sz="1100" dirty="0"/>
          </a:p>
        </p:txBody>
      </p:sp>
      <p:sp>
        <p:nvSpPr>
          <p:cNvPr id="16" name="Shape 14"/>
          <p:cNvSpPr/>
          <p:nvPr/>
        </p:nvSpPr>
        <p:spPr>
          <a:xfrm>
            <a:off x="3474720" y="3845052"/>
            <a:ext cx="1645920" cy="201168"/>
          </a:xfrm>
          <a:prstGeom prst="rect">
            <a:avLst/>
          </a:prstGeom>
          <a:solidFill>
            <a:srgbClr val="EFEBE1"/>
          </a:solidFill>
          <a:ln/>
        </p:spPr>
      </p:sp>
      <p:sp>
        <p:nvSpPr>
          <p:cNvPr id="17" name="Shape 15"/>
          <p:cNvSpPr/>
          <p:nvPr/>
        </p:nvSpPr>
        <p:spPr>
          <a:xfrm>
            <a:off x="3474720" y="3845052"/>
            <a:ext cx="91440" cy="201168"/>
          </a:xfrm>
          <a:prstGeom prst="rect">
            <a:avLst/>
          </a:prstGeom>
          <a:solidFill>
            <a:srgbClr val="DC2626"/>
          </a:solidFill>
          <a:ln/>
        </p:spPr>
      </p:sp>
      <p:sp>
        <p:nvSpPr>
          <p:cNvPr id="18" name="Text 16"/>
          <p:cNvSpPr/>
          <p:nvPr/>
        </p:nvSpPr>
        <p:spPr>
          <a:xfrm>
            <a:off x="5257800" y="3771900"/>
            <a:ext cx="1005840" cy="320040"/>
          </a:xfrm>
          <a:prstGeom prst="rect">
            <a:avLst/>
          </a:prstGeom>
          <a:noFill/>
          <a:ln/>
        </p:spPr>
        <p:txBody>
          <a:bodyPr wrap="square" rtlCol="0" anchor="ctr"/>
          <a:lstStyle/>
          <a:p>
            <a:pPr indent="0" marL="0">
              <a:buNone/>
            </a:pPr>
            <a:r>
              <a:rPr lang="en-US" sz="1100" b="1" dirty="0">
                <a:solidFill>
                  <a:srgbClr val="DC2626"/>
                </a:solidFill>
                <a:latin typeface="Arial" pitchFamily="34" charset="0"/>
                <a:ea typeface="Arial" pitchFamily="34" charset="-122"/>
                <a:cs typeface="Arial" pitchFamily="34" charset="-120"/>
              </a:rPr>
              <a:t>4.1%</a:t>
            </a:r>
            <a:endParaRPr lang="en-US" sz="1100" dirty="0"/>
          </a:p>
        </p:txBody>
      </p:sp>
      <p:sp>
        <p:nvSpPr>
          <p:cNvPr id="19" name="Text 17"/>
          <p:cNvSpPr/>
          <p:nvPr/>
        </p:nvSpPr>
        <p:spPr>
          <a:xfrm>
            <a:off x="1005840" y="4857750"/>
            <a:ext cx="2377440" cy="320040"/>
          </a:xfrm>
          <a:prstGeom prst="rect">
            <a:avLst/>
          </a:prstGeom>
          <a:noFill/>
          <a:ln/>
        </p:spPr>
        <p:txBody>
          <a:bodyPr wrap="square" rtlCol="0" anchor="ctr"/>
          <a:lstStyle/>
          <a:p>
            <a:pPr indent="0" marL="0">
              <a:buNone/>
            </a:pPr>
            <a:r>
              <a:rPr lang="en-US" sz="1100" b="1" dirty="0">
                <a:solidFill>
                  <a:srgbClr val="1C1917"/>
                </a:solidFill>
                <a:latin typeface="Arial" pitchFamily="34" charset="0"/>
                <a:ea typeface="Arial" pitchFamily="34" charset="-122"/>
                <a:cs typeface="Arial" pitchFamily="34" charset="-120"/>
              </a:rPr>
              <a:t>开源系列 (DeepSeek/Qwen)</a:t>
            </a:r>
            <a:endParaRPr lang="en-US" sz="1100" dirty="0"/>
          </a:p>
        </p:txBody>
      </p:sp>
      <p:sp>
        <p:nvSpPr>
          <p:cNvPr id="20" name="Shape 18"/>
          <p:cNvSpPr/>
          <p:nvPr/>
        </p:nvSpPr>
        <p:spPr>
          <a:xfrm>
            <a:off x="3474720" y="4930902"/>
            <a:ext cx="1645920" cy="201168"/>
          </a:xfrm>
          <a:prstGeom prst="rect">
            <a:avLst/>
          </a:prstGeom>
          <a:solidFill>
            <a:srgbClr val="EFEBE1"/>
          </a:solidFill>
          <a:ln/>
        </p:spPr>
      </p:sp>
      <p:sp>
        <p:nvSpPr>
          <p:cNvPr id="21" name="Shape 19"/>
          <p:cNvSpPr/>
          <p:nvPr/>
        </p:nvSpPr>
        <p:spPr>
          <a:xfrm>
            <a:off x="3474720" y="4930902"/>
            <a:ext cx="91440" cy="201168"/>
          </a:xfrm>
          <a:prstGeom prst="rect">
            <a:avLst/>
          </a:prstGeom>
          <a:solidFill>
            <a:srgbClr val="D97706"/>
          </a:solidFill>
          <a:ln/>
        </p:spPr>
      </p:sp>
      <p:sp>
        <p:nvSpPr>
          <p:cNvPr id="22" name="Text 20"/>
          <p:cNvSpPr/>
          <p:nvPr/>
        </p:nvSpPr>
        <p:spPr>
          <a:xfrm>
            <a:off x="5257800" y="4857750"/>
            <a:ext cx="1005840" cy="320040"/>
          </a:xfrm>
          <a:prstGeom prst="rect">
            <a:avLst/>
          </a:prstGeom>
          <a:noFill/>
          <a:ln/>
        </p:spPr>
        <p:txBody>
          <a:bodyPr wrap="square" rtlCol="0" anchor="ctr"/>
          <a:lstStyle/>
          <a:p>
            <a:pPr indent="0" marL="0">
              <a:buNone/>
            </a:pPr>
            <a:r>
              <a:rPr lang="en-US" sz="1100" b="1" dirty="0">
                <a:solidFill>
                  <a:srgbClr val="D97706"/>
                </a:solidFill>
                <a:latin typeface="Arial" pitchFamily="34" charset="0"/>
                <a:ea typeface="Arial" pitchFamily="34" charset="-122"/>
                <a:cs typeface="Arial" pitchFamily="34" charset="-120"/>
              </a:rPr>
              <a:t>3.3%</a:t>
            </a:r>
            <a:endParaRPr lang="en-US" sz="1100" dirty="0"/>
          </a:p>
        </p:txBody>
      </p:sp>
      <p:sp>
        <p:nvSpPr>
          <p:cNvPr id="23" name="Text 21"/>
          <p:cNvSpPr/>
          <p:nvPr/>
        </p:nvSpPr>
        <p:spPr>
          <a:xfrm>
            <a:off x="1005840" y="5669280"/>
            <a:ext cx="5120640" cy="320040"/>
          </a:xfrm>
          <a:prstGeom prst="rect">
            <a:avLst/>
          </a:prstGeom>
          <a:noFill/>
          <a:ln/>
        </p:spPr>
        <p:txBody>
          <a:bodyPr wrap="square" rtlCol="0" anchor="ctr"/>
          <a:lstStyle/>
          <a:p>
            <a:pPr indent="0" marL="0">
              <a:buNone/>
            </a:pPr>
            <a:r>
              <a:rPr lang="en-US" sz="880" i="1" dirty="0">
                <a:solidFill>
                  <a:srgbClr val="8C857B"/>
                </a:solidFill>
                <a:latin typeface="Arial" pitchFamily="34" charset="0"/>
                <a:ea typeface="Arial" pitchFamily="34" charset="-122"/>
                <a:cs typeface="Arial" pitchFamily="34" charset="-120"/>
              </a:rPr>
              <a:t>数据口径：Cursor / Windsurf / Claude Code 活跃工程流量采样 (2026 Q1)</a:t>
            </a:r>
            <a:endParaRPr lang="en-US" sz="880" dirty="0"/>
          </a:p>
        </p:txBody>
      </p:sp>
      <p:sp>
        <p:nvSpPr>
          <p:cNvPr id="24" name="Shape 22"/>
          <p:cNvSpPr/>
          <p:nvPr/>
        </p:nvSpPr>
        <p:spPr>
          <a:xfrm>
            <a:off x="6601968" y="1325880"/>
            <a:ext cx="4846320" cy="1481328"/>
          </a:xfrm>
          <a:prstGeom prst="rect">
            <a:avLst/>
          </a:prstGeom>
          <a:solidFill>
            <a:srgbClr val="FFFFFF"/>
          </a:solidFill>
          <a:ln w="12700">
            <a:solidFill>
              <a:srgbClr val="E2DCD2"/>
            </a:solidFill>
            <a:prstDash val="solid"/>
          </a:ln>
        </p:spPr>
      </p:sp>
      <p:sp>
        <p:nvSpPr>
          <p:cNvPr id="25" name="Shape 23"/>
          <p:cNvSpPr/>
          <p:nvPr/>
        </p:nvSpPr>
        <p:spPr>
          <a:xfrm>
            <a:off x="6601968" y="1325880"/>
            <a:ext cx="73152" cy="1481328"/>
          </a:xfrm>
          <a:prstGeom prst="rect">
            <a:avLst/>
          </a:prstGeom>
          <a:solidFill>
            <a:srgbClr val="D97757"/>
          </a:solidFill>
          <a:ln/>
        </p:spPr>
      </p:sp>
      <p:sp>
        <p:nvSpPr>
          <p:cNvPr id="26" name="Shape 24"/>
          <p:cNvSpPr/>
          <p:nvPr/>
        </p:nvSpPr>
        <p:spPr>
          <a:xfrm>
            <a:off x="6784848" y="1472184"/>
            <a:ext cx="2011680" cy="219456"/>
          </a:xfrm>
          <a:prstGeom prst="rect">
            <a:avLst/>
          </a:prstGeom>
          <a:solidFill>
            <a:srgbClr val="F5F2EB"/>
          </a:solidFill>
          <a:ln w="12700">
            <a:solidFill>
              <a:srgbClr val="D97757"/>
            </a:solidFill>
            <a:prstDash val="solid"/>
          </a:ln>
        </p:spPr>
      </p:sp>
      <p:sp>
        <p:nvSpPr>
          <p:cNvPr id="27" name="Text 25"/>
          <p:cNvSpPr/>
          <p:nvPr/>
        </p:nvSpPr>
        <p:spPr>
          <a:xfrm>
            <a:off x="6784848" y="1472184"/>
            <a:ext cx="2011680" cy="219456"/>
          </a:xfrm>
          <a:prstGeom prst="rect">
            <a:avLst/>
          </a:prstGeom>
          <a:noFill/>
          <a:ln/>
        </p:spPr>
        <p:txBody>
          <a:bodyPr wrap="square" rtlCol="0" anchor="ctr"/>
          <a:lstStyle/>
          <a:p>
            <a:pPr algn="ctr" indent="0" marL="0">
              <a:buNone/>
            </a:pPr>
            <a:r>
              <a:rPr lang="en-US" sz="800" b="1" dirty="0">
                <a:solidFill>
                  <a:srgbClr val="D97757"/>
                </a:solidFill>
                <a:latin typeface="Arial" pitchFamily="34" charset="0"/>
                <a:ea typeface="Arial" pitchFamily="34" charset="-122"/>
                <a:cs typeface="Arial" pitchFamily="34" charset="-120"/>
              </a:rPr>
              <a:t>DEFAULT OPTION · 肌肉记忆</a:t>
            </a:r>
            <a:endParaRPr lang="en-US" sz="800" dirty="0"/>
          </a:p>
        </p:txBody>
      </p:sp>
      <p:sp>
        <p:nvSpPr>
          <p:cNvPr id="28" name="Text 26"/>
          <p:cNvSpPr/>
          <p:nvPr/>
        </p:nvSpPr>
        <p:spPr>
          <a:xfrm>
            <a:off x="6784848" y="1737360"/>
            <a:ext cx="4389120" cy="292608"/>
          </a:xfrm>
          <a:prstGeom prst="rect">
            <a:avLst/>
          </a:prstGeom>
          <a:noFill/>
          <a:ln/>
        </p:spPr>
        <p:txBody>
          <a:bodyPr wrap="square" rtlCol="0" anchor="ctr"/>
          <a:lstStyle/>
          <a:p>
            <a:pPr indent="0" marL="0">
              <a:buNone/>
            </a:pPr>
            <a:r>
              <a:rPr lang="en-US" sz="1100" b="1" dirty="0">
                <a:solidFill>
                  <a:srgbClr val="1C1917"/>
                </a:solidFill>
                <a:latin typeface="Arial" pitchFamily="34" charset="0"/>
                <a:ea typeface="Arial" pitchFamily="34" charset="-122"/>
                <a:cs typeface="Arial" pitchFamily="34" charset="-120"/>
              </a:rPr>
              <a:t>“默认切 Claude”：开发者的直觉肌肉记忆</a:t>
            </a:r>
            <a:endParaRPr lang="en-US" sz="1100" dirty="0"/>
          </a:p>
        </p:txBody>
      </p:sp>
      <p:sp>
        <p:nvSpPr>
          <p:cNvPr id="29" name="Text 27"/>
          <p:cNvSpPr/>
          <p:nvPr/>
        </p:nvSpPr>
        <p:spPr>
          <a:xfrm>
            <a:off x="6784848" y="2039112"/>
            <a:ext cx="4434840" cy="685800"/>
          </a:xfrm>
          <a:prstGeom prst="rect">
            <a:avLst/>
          </a:prstGeom>
          <a:noFill/>
          <a:ln/>
        </p:spPr>
        <p:txBody>
          <a:bodyPr wrap="square" rtlCol="0" anchor="ctr"/>
          <a:lstStyle/>
          <a:p>
            <a:pPr indent="0" marL="0">
              <a:lnSpc>
                <a:spcPts val="1300"/>
              </a:lnSpc>
              <a:buNone/>
            </a:pPr>
            <a:r>
              <a:rPr lang="en-US" sz="900" dirty="0">
                <a:solidFill>
                  <a:srgbClr val="57534E"/>
                </a:solidFill>
                <a:latin typeface="Arial" pitchFamily="34" charset="0"/>
                <a:ea typeface="Arial" pitchFamily="34" charset="-122"/>
                <a:cs typeface="Arial" pitchFamily="34" charset="-120"/>
              </a:rPr>
              <a:t>在 Cursor 等头部 AI IDE 中，即便平台对 Gemini 提供免费额度，开发者仍自费购买 Claude API。程序员用钱包投票：省下 1 小时排错时间远超 API 成本。</a:t>
            </a:r>
            <a:endParaRPr lang="en-US" sz="900" dirty="0"/>
          </a:p>
        </p:txBody>
      </p:sp>
      <p:sp>
        <p:nvSpPr>
          <p:cNvPr id="30" name="Shape 28"/>
          <p:cNvSpPr/>
          <p:nvPr/>
        </p:nvSpPr>
        <p:spPr>
          <a:xfrm>
            <a:off x="6601968" y="2953512"/>
            <a:ext cx="4846320" cy="1481328"/>
          </a:xfrm>
          <a:prstGeom prst="rect">
            <a:avLst/>
          </a:prstGeom>
          <a:solidFill>
            <a:srgbClr val="FFFFFF"/>
          </a:solidFill>
          <a:ln w="12700">
            <a:solidFill>
              <a:srgbClr val="E2DCD2"/>
            </a:solidFill>
            <a:prstDash val="solid"/>
          </a:ln>
        </p:spPr>
      </p:sp>
      <p:sp>
        <p:nvSpPr>
          <p:cNvPr id="31" name="Shape 29"/>
          <p:cNvSpPr/>
          <p:nvPr/>
        </p:nvSpPr>
        <p:spPr>
          <a:xfrm>
            <a:off x="6601968" y="2953512"/>
            <a:ext cx="73152" cy="1481328"/>
          </a:xfrm>
          <a:prstGeom prst="rect">
            <a:avLst/>
          </a:prstGeom>
          <a:solidFill>
            <a:srgbClr val="475569"/>
          </a:solidFill>
          <a:ln/>
        </p:spPr>
      </p:sp>
      <p:sp>
        <p:nvSpPr>
          <p:cNvPr id="32" name="Shape 30"/>
          <p:cNvSpPr/>
          <p:nvPr/>
        </p:nvSpPr>
        <p:spPr>
          <a:xfrm>
            <a:off x="6784848" y="3099816"/>
            <a:ext cx="2011680" cy="219456"/>
          </a:xfrm>
          <a:prstGeom prst="rect">
            <a:avLst/>
          </a:prstGeom>
          <a:solidFill>
            <a:srgbClr val="F5F2EB"/>
          </a:solidFill>
          <a:ln w="12700">
            <a:solidFill>
              <a:srgbClr val="475569"/>
            </a:solidFill>
            <a:prstDash val="solid"/>
          </a:ln>
        </p:spPr>
      </p:sp>
      <p:sp>
        <p:nvSpPr>
          <p:cNvPr id="33" name="Text 31"/>
          <p:cNvSpPr/>
          <p:nvPr/>
        </p:nvSpPr>
        <p:spPr>
          <a:xfrm>
            <a:off x="6784848" y="3099816"/>
            <a:ext cx="2011680" cy="219456"/>
          </a:xfrm>
          <a:prstGeom prst="rect">
            <a:avLst/>
          </a:prstGeom>
          <a:noFill/>
          <a:ln/>
        </p:spPr>
        <p:txBody>
          <a:bodyPr wrap="square" rtlCol="0" anchor="ctr"/>
          <a:lstStyle/>
          <a:p>
            <a:pPr algn="ctr" indent="0" marL="0">
              <a:buNone/>
            </a:pPr>
            <a:r>
              <a:rPr lang="en-US" sz="800" b="1" dirty="0">
                <a:solidFill>
                  <a:srgbClr val="475569"/>
                </a:solidFill>
                <a:latin typeface="Arial" pitchFamily="34" charset="0"/>
                <a:ea typeface="Arial" pitchFamily="34" charset="-122"/>
                <a:cs typeface="Arial" pitchFamily="34" charset="-120"/>
              </a:rPr>
              <a:t>ENTERPRISE SHIFT · 架构锁定</a:t>
            </a:r>
            <a:endParaRPr lang="en-US" sz="800" dirty="0"/>
          </a:p>
        </p:txBody>
      </p:sp>
      <p:sp>
        <p:nvSpPr>
          <p:cNvPr id="34" name="Text 32"/>
          <p:cNvSpPr/>
          <p:nvPr/>
        </p:nvSpPr>
        <p:spPr>
          <a:xfrm>
            <a:off x="6784848" y="3364992"/>
            <a:ext cx="4389120" cy="292608"/>
          </a:xfrm>
          <a:prstGeom prst="rect">
            <a:avLst/>
          </a:prstGeom>
          <a:noFill/>
          <a:ln/>
        </p:spPr>
        <p:txBody>
          <a:bodyPr wrap="square" rtlCol="0" anchor="ctr"/>
          <a:lstStyle/>
          <a:p>
            <a:pPr indent="0" marL="0">
              <a:buNone/>
            </a:pPr>
            <a:r>
              <a:rPr lang="en-US" sz="1100" b="1" dirty="0">
                <a:solidFill>
                  <a:srgbClr val="1C1917"/>
                </a:solidFill>
                <a:latin typeface="Arial" pitchFamily="34" charset="0"/>
                <a:ea typeface="Arial" pitchFamily="34" charset="-122"/>
                <a:cs typeface="Arial" pitchFamily="34" charset="-120"/>
              </a:rPr>
              <a:t>开源社区与企业私有仓的单向倾斜</a:t>
            </a:r>
            <a:endParaRPr lang="en-US" sz="1100" dirty="0"/>
          </a:p>
        </p:txBody>
      </p:sp>
      <p:sp>
        <p:nvSpPr>
          <p:cNvPr id="35" name="Text 33"/>
          <p:cNvSpPr/>
          <p:nvPr/>
        </p:nvSpPr>
        <p:spPr>
          <a:xfrm>
            <a:off x="6784848" y="3666744"/>
            <a:ext cx="4434840" cy="685800"/>
          </a:xfrm>
          <a:prstGeom prst="rect">
            <a:avLst/>
          </a:prstGeom>
          <a:noFill/>
          <a:ln/>
        </p:spPr>
        <p:txBody>
          <a:bodyPr wrap="square" rtlCol="0" anchor="ctr"/>
          <a:lstStyle/>
          <a:p>
            <a:pPr indent="0" marL="0">
              <a:lnSpc>
                <a:spcPts val="1300"/>
              </a:lnSpc>
              <a:buNone/>
            </a:pPr>
            <a:r>
              <a:rPr lang="en-US" sz="900" dirty="0">
                <a:solidFill>
                  <a:srgbClr val="57534E"/>
                </a:solidFill>
                <a:latin typeface="Arial" pitchFamily="34" charset="0"/>
                <a:ea typeface="Arial" pitchFamily="34" charset="-122"/>
                <a:cs typeface="Arial" pitchFamily="34" charset="-120"/>
              </a:rPr>
              <a:t>GitHub 顶级开源项目 CI/CD 自动审查、企业级微服务重构脚本，超过 80% 明确绑定 Anthropic API 规范，形成了强大的技术生态壁垒。</a:t>
            </a:r>
            <a:endParaRPr lang="en-US" sz="900" dirty="0"/>
          </a:p>
        </p:txBody>
      </p:sp>
      <p:sp>
        <p:nvSpPr>
          <p:cNvPr id="36" name="Shape 34"/>
          <p:cNvSpPr/>
          <p:nvPr/>
        </p:nvSpPr>
        <p:spPr>
          <a:xfrm>
            <a:off x="6601968" y="4581144"/>
            <a:ext cx="4846320" cy="1481328"/>
          </a:xfrm>
          <a:prstGeom prst="rect">
            <a:avLst/>
          </a:prstGeom>
          <a:solidFill>
            <a:srgbClr val="FFFFFF"/>
          </a:solidFill>
          <a:ln w="12700">
            <a:solidFill>
              <a:srgbClr val="E2DCD2"/>
            </a:solidFill>
            <a:prstDash val="solid"/>
          </a:ln>
        </p:spPr>
      </p:sp>
      <p:sp>
        <p:nvSpPr>
          <p:cNvPr id="37" name="Shape 35"/>
          <p:cNvSpPr/>
          <p:nvPr/>
        </p:nvSpPr>
        <p:spPr>
          <a:xfrm>
            <a:off x="6601968" y="4581144"/>
            <a:ext cx="73152" cy="1481328"/>
          </a:xfrm>
          <a:prstGeom prst="rect">
            <a:avLst/>
          </a:prstGeom>
          <a:solidFill>
            <a:srgbClr val="D97706"/>
          </a:solidFill>
          <a:ln/>
        </p:spPr>
      </p:sp>
      <p:sp>
        <p:nvSpPr>
          <p:cNvPr id="38" name="Shape 36"/>
          <p:cNvSpPr/>
          <p:nvPr/>
        </p:nvSpPr>
        <p:spPr>
          <a:xfrm>
            <a:off x="6784848" y="4727448"/>
            <a:ext cx="2011680" cy="219456"/>
          </a:xfrm>
          <a:prstGeom prst="rect">
            <a:avLst/>
          </a:prstGeom>
          <a:solidFill>
            <a:srgbClr val="F5F2EB"/>
          </a:solidFill>
          <a:ln w="12700">
            <a:solidFill>
              <a:srgbClr val="D97706"/>
            </a:solidFill>
            <a:prstDash val="solid"/>
          </a:ln>
        </p:spPr>
      </p:sp>
      <p:sp>
        <p:nvSpPr>
          <p:cNvPr id="39" name="Text 37"/>
          <p:cNvSpPr/>
          <p:nvPr/>
        </p:nvSpPr>
        <p:spPr>
          <a:xfrm>
            <a:off x="6784848" y="4727448"/>
            <a:ext cx="2011680" cy="219456"/>
          </a:xfrm>
          <a:prstGeom prst="rect">
            <a:avLst/>
          </a:prstGeom>
          <a:noFill/>
          <a:ln/>
        </p:spPr>
        <p:txBody>
          <a:bodyPr wrap="square" rtlCol="0" anchor="ctr"/>
          <a:lstStyle/>
          <a:p>
            <a:pPr algn="ctr" indent="0" marL="0">
              <a:buNone/>
            </a:pPr>
            <a:r>
              <a:rPr lang="en-US" sz="800" b="1" dirty="0">
                <a:solidFill>
                  <a:srgbClr val="D97706"/>
                </a:solidFill>
                <a:latin typeface="Arial" pitchFamily="34" charset="0"/>
                <a:ea typeface="Arial" pitchFamily="34" charset="-122"/>
                <a:cs typeface="Arial" pitchFamily="34" charset="-120"/>
              </a:rPr>
              <a:t>CLI OVER IDE · 终端降维</a:t>
            </a:r>
            <a:endParaRPr lang="en-US" sz="800" dirty="0"/>
          </a:p>
        </p:txBody>
      </p:sp>
      <p:sp>
        <p:nvSpPr>
          <p:cNvPr id="40" name="Text 38"/>
          <p:cNvSpPr/>
          <p:nvPr/>
        </p:nvSpPr>
        <p:spPr>
          <a:xfrm>
            <a:off x="6784848" y="4992624"/>
            <a:ext cx="4389120" cy="292608"/>
          </a:xfrm>
          <a:prstGeom prst="rect">
            <a:avLst/>
          </a:prstGeom>
          <a:noFill/>
          <a:ln/>
        </p:spPr>
        <p:txBody>
          <a:bodyPr wrap="square" rtlCol="0" anchor="ctr"/>
          <a:lstStyle/>
          <a:p>
            <a:pPr indent="0" marL="0">
              <a:buNone/>
            </a:pPr>
            <a:r>
              <a:rPr lang="en-US" sz="1100" b="1" dirty="0">
                <a:solidFill>
                  <a:srgbClr val="1C1917"/>
                </a:solidFill>
                <a:latin typeface="Arial" pitchFamily="34" charset="0"/>
                <a:ea typeface="Arial" pitchFamily="34" charset="-122"/>
                <a:cs typeface="Arial" pitchFamily="34" charset="-120"/>
              </a:rPr>
              <a:t>从 IDE 窗口向终端 Agent (CLI) 的结构性跃迁</a:t>
            </a:r>
            <a:endParaRPr lang="en-US" sz="1100" dirty="0"/>
          </a:p>
        </p:txBody>
      </p:sp>
      <p:sp>
        <p:nvSpPr>
          <p:cNvPr id="41" name="Text 39"/>
          <p:cNvSpPr/>
          <p:nvPr/>
        </p:nvSpPr>
        <p:spPr>
          <a:xfrm>
            <a:off x="6784848" y="5294376"/>
            <a:ext cx="4434840" cy="685800"/>
          </a:xfrm>
          <a:prstGeom prst="rect">
            <a:avLst/>
          </a:prstGeom>
          <a:noFill/>
          <a:ln/>
        </p:spPr>
        <p:txBody>
          <a:bodyPr wrap="square" rtlCol="0" anchor="ctr"/>
          <a:lstStyle/>
          <a:p>
            <a:pPr indent="0" marL="0">
              <a:lnSpc>
                <a:spcPts val="1300"/>
              </a:lnSpc>
              <a:buNone/>
            </a:pPr>
            <a:r>
              <a:rPr lang="en-US" sz="900" dirty="0">
                <a:solidFill>
                  <a:srgbClr val="57534E"/>
                </a:solidFill>
                <a:latin typeface="Arial" pitchFamily="34" charset="0"/>
                <a:ea typeface="Arial" pitchFamily="34" charset="-122"/>
                <a:cs typeface="Arial" pitchFamily="34" charset="-120"/>
              </a:rPr>
              <a:t>开发者逐渐厌倦了在编辑器侧边栏进行手动确认，直接迁移到基于终端的 Claude Code 等自动化 Harness，完成从“人敲代码”到“检阅 Agent PR”的范式切换。</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9F5"/>
        </a:solidFill>
      </p:bgPr>
    </p:bg>
    <p:spTree>
      <p:nvGrpSpPr>
        <p:cNvPr id="1" name=""/>
        <p:cNvGrpSpPr/>
        <p:nvPr/>
      </p:nvGrpSpPr>
      <p:grpSpPr>
        <a:xfrm>
          <a:off x="0" y="0"/>
          <a:ext cx="0" cy="0"/>
          <a:chOff x="0" y="0"/>
          <a:chExt cx="0" cy="0"/>
        </a:xfrm>
      </p:grpSpPr>
      <p:sp>
        <p:nvSpPr>
          <p:cNvPr id="2" name="Shape 0"/>
          <p:cNvSpPr/>
          <p:nvPr/>
        </p:nvSpPr>
        <p:spPr>
          <a:xfrm>
            <a:off x="731520" y="384048"/>
            <a:ext cx="2560320" cy="256032"/>
          </a:xfrm>
          <a:prstGeom prst="rect">
            <a:avLst/>
          </a:prstGeom>
          <a:solidFill>
            <a:srgbClr val="FBF0EB"/>
          </a:solidFill>
          <a:ln w="12700">
            <a:solidFill>
              <a:srgbClr val="F0C2B2"/>
            </a:solidFill>
            <a:prstDash val="solid"/>
          </a:ln>
        </p:spPr>
      </p:sp>
      <p:sp>
        <p:nvSpPr>
          <p:cNvPr id="3" name="Text 1"/>
          <p:cNvSpPr/>
          <p:nvPr/>
        </p:nvSpPr>
        <p:spPr>
          <a:xfrm>
            <a:off x="731520" y="384048"/>
            <a:ext cx="2560320" cy="256032"/>
          </a:xfrm>
          <a:prstGeom prst="rect">
            <a:avLst/>
          </a:prstGeom>
          <a:noFill/>
          <a:ln/>
        </p:spPr>
        <p:txBody>
          <a:bodyPr wrap="square" rtlCol="0" anchor="ctr"/>
          <a:lstStyle/>
          <a:p>
            <a:pPr algn="ctr" indent="0" marL="0">
              <a:buNone/>
            </a:pPr>
            <a:r>
              <a:rPr lang="en-US" sz="900" b="1" spc="120" kern="0" dirty="0">
                <a:solidFill>
                  <a:srgbClr val="D97757"/>
                </a:solidFill>
                <a:latin typeface="Arial" pitchFamily="34" charset="0"/>
                <a:ea typeface="Arial" pitchFamily="34" charset="-122"/>
                <a:cs typeface="Arial" pitchFamily="34" charset="-120"/>
              </a:rPr>
              <a:t>OPENAI CODE RED</a:t>
            </a:r>
            <a:endParaRPr lang="en-US" sz="900" dirty="0"/>
          </a:p>
        </p:txBody>
      </p:sp>
      <p:sp>
        <p:nvSpPr>
          <p:cNvPr id="4" name="Text 2"/>
          <p:cNvSpPr/>
          <p:nvPr/>
        </p:nvSpPr>
        <p:spPr>
          <a:xfrm>
            <a:off x="731520" y="676656"/>
            <a:ext cx="9875520" cy="475488"/>
          </a:xfrm>
          <a:prstGeom prst="rect">
            <a:avLst/>
          </a:prstGeom>
          <a:noFill/>
          <a:ln/>
        </p:spPr>
        <p:txBody>
          <a:bodyPr wrap="square" lIns="0" tIns="0" rIns="0" bIns="0" rtlCol="0" anchor="ctr"/>
          <a:lstStyle/>
          <a:p>
            <a:pPr indent="0" marL="0">
              <a:buNone/>
            </a:pPr>
            <a:r>
              <a:rPr lang="en-US" sz="2100" b="1" dirty="0">
                <a:solidFill>
                  <a:srgbClr val="1C1917"/>
                </a:solidFill>
                <a:latin typeface="Arial" pitchFamily="34" charset="0"/>
                <a:ea typeface="Arial" pitchFamily="34" charset="-122"/>
                <a:cs typeface="Arial" pitchFamily="34" charset="-120"/>
              </a:rPr>
              <a:t>OpenAI 的耻感与动员：Altman 的 2025 Code Red 备忘录</a:t>
            </a:r>
            <a:endParaRPr lang="en-US" sz="2100" dirty="0"/>
          </a:p>
        </p:txBody>
      </p:sp>
      <p:sp>
        <p:nvSpPr>
          <p:cNvPr id="5" name="Text 3"/>
          <p:cNvSpPr/>
          <p:nvPr/>
        </p:nvSpPr>
        <p:spPr>
          <a:xfrm>
            <a:off x="10972800" y="384048"/>
            <a:ext cx="731520" cy="320040"/>
          </a:xfrm>
          <a:prstGeom prst="rect">
            <a:avLst/>
          </a:prstGeom>
          <a:noFill/>
          <a:ln/>
        </p:spPr>
        <p:txBody>
          <a:bodyPr wrap="square" rtlCol="0" anchor="ctr"/>
          <a:lstStyle/>
          <a:p>
            <a:pPr algn="r" indent="0" marL="0">
              <a:buNone/>
            </a:pPr>
            <a:r>
              <a:rPr lang="en-US" sz="1300" b="1" dirty="0">
                <a:solidFill>
                  <a:srgbClr val="8C857B"/>
                </a:solidFill>
                <a:latin typeface="Arial" pitchFamily="34" charset="0"/>
                <a:ea typeface="Arial" pitchFamily="34" charset="-122"/>
                <a:cs typeface="Arial" pitchFamily="34" charset="-120"/>
              </a:rPr>
              <a:t>09</a:t>
            </a:r>
            <a:endParaRPr lang="en-US" sz="1300" dirty="0"/>
          </a:p>
        </p:txBody>
      </p:sp>
      <p:sp>
        <p:nvSpPr>
          <p:cNvPr id="6" name="Shape 4"/>
          <p:cNvSpPr/>
          <p:nvPr/>
        </p:nvSpPr>
        <p:spPr>
          <a:xfrm>
            <a:off x="731520" y="1325880"/>
            <a:ext cx="5257800" cy="4892040"/>
          </a:xfrm>
          <a:prstGeom prst="rect">
            <a:avLst/>
          </a:prstGeom>
          <a:solidFill>
            <a:srgbClr val="FFFFFF"/>
          </a:solidFill>
          <a:ln w="12700">
            <a:solidFill>
              <a:srgbClr val="E2DCD2"/>
            </a:solidFill>
            <a:prstDash val="solid"/>
          </a:ln>
        </p:spPr>
      </p:sp>
      <p:sp>
        <p:nvSpPr>
          <p:cNvPr id="7" name="Shape 5"/>
          <p:cNvSpPr/>
          <p:nvPr/>
        </p:nvSpPr>
        <p:spPr>
          <a:xfrm>
            <a:off x="731520" y="1325880"/>
            <a:ext cx="5257800" cy="594360"/>
          </a:xfrm>
          <a:prstGeom prst="rect">
            <a:avLst/>
          </a:prstGeom>
          <a:solidFill>
            <a:srgbClr val="475569"/>
          </a:solidFill>
          <a:ln/>
        </p:spPr>
      </p:sp>
      <p:sp>
        <p:nvSpPr>
          <p:cNvPr id="8" name="Text 6"/>
          <p:cNvSpPr/>
          <p:nvPr/>
        </p:nvSpPr>
        <p:spPr>
          <a:xfrm>
            <a:off x="1005840" y="1481328"/>
            <a:ext cx="4709160" cy="292608"/>
          </a:xfrm>
          <a:prstGeom prst="rect">
            <a:avLst/>
          </a:prstGeom>
          <a:noFill/>
          <a:ln/>
        </p:spPr>
        <p:txBody>
          <a:bodyPr wrap="square" rtlCol="0" anchor="ctr"/>
          <a:lstStyle/>
          <a:p>
            <a:pPr indent="0" marL="0">
              <a:buNone/>
            </a:pPr>
            <a:r>
              <a:rPr lang="en-US" sz="1150" b="1" dirty="0">
                <a:solidFill>
                  <a:srgbClr val="FFFFFF"/>
                </a:solidFill>
                <a:latin typeface="Arial" pitchFamily="34" charset="0"/>
                <a:ea typeface="Arial" pitchFamily="34" charset="-122"/>
                <a:cs typeface="Arial" pitchFamily="34" charset="-120"/>
              </a:rPr>
              <a:t>战略迷失：GPT-4 后的虚荣与偏航警报</a:t>
            </a:r>
            <a:endParaRPr lang="en-US" sz="1150" dirty="0"/>
          </a:p>
        </p:txBody>
      </p:sp>
      <p:sp>
        <p:nvSpPr>
          <p:cNvPr id="9" name="Shape 7"/>
          <p:cNvSpPr/>
          <p:nvPr/>
        </p:nvSpPr>
        <p:spPr>
          <a:xfrm>
            <a:off x="1005840" y="2029968"/>
            <a:ext cx="73152" cy="1207008"/>
          </a:xfrm>
          <a:prstGeom prst="rect">
            <a:avLst/>
          </a:prstGeom>
          <a:solidFill>
            <a:srgbClr val="475569"/>
          </a:solidFill>
          <a:ln/>
        </p:spPr>
      </p:sp>
      <p:sp>
        <p:nvSpPr>
          <p:cNvPr id="10" name="Shape 8"/>
          <p:cNvSpPr/>
          <p:nvPr/>
        </p:nvSpPr>
        <p:spPr>
          <a:xfrm>
            <a:off x="1078992" y="2029968"/>
            <a:ext cx="4636008" cy="1207008"/>
          </a:xfrm>
          <a:prstGeom prst="rect">
            <a:avLst/>
          </a:prstGeom>
          <a:solidFill>
            <a:srgbClr val="F5F2EB"/>
          </a:solidFill>
          <a:ln w="12700">
            <a:solidFill>
              <a:srgbClr val="E2DCD2"/>
            </a:solidFill>
            <a:prstDash val="solid"/>
          </a:ln>
        </p:spPr>
      </p:sp>
      <p:sp>
        <p:nvSpPr>
          <p:cNvPr id="11" name="Text 9"/>
          <p:cNvSpPr/>
          <p:nvPr/>
        </p:nvSpPr>
        <p:spPr>
          <a:xfrm>
            <a:off x="1207008" y="2121408"/>
            <a:ext cx="4389120" cy="201168"/>
          </a:xfrm>
          <a:prstGeom prst="rect">
            <a:avLst/>
          </a:prstGeom>
          <a:noFill/>
          <a:ln/>
        </p:spPr>
        <p:txBody>
          <a:bodyPr wrap="square" rtlCol="0" anchor="ctr"/>
          <a:lstStyle/>
          <a:p>
            <a:pPr indent="0" marL="0">
              <a:buNone/>
            </a:pPr>
            <a:r>
              <a:rPr lang="en-US" sz="850" b="1" dirty="0">
                <a:solidFill>
                  <a:srgbClr val="475569"/>
                </a:solidFill>
                <a:latin typeface="Arial" pitchFamily="34" charset="0"/>
                <a:ea typeface="Arial" pitchFamily="34" charset="-122"/>
                <a:cs typeface="Arial" pitchFamily="34" charset="-120"/>
              </a:rPr>
              <a:t>01 · 战略偏航</a:t>
            </a:r>
            <a:endParaRPr lang="en-US" sz="850" dirty="0"/>
          </a:p>
        </p:txBody>
      </p:sp>
      <p:sp>
        <p:nvSpPr>
          <p:cNvPr id="12" name="Text 10"/>
          <p:cNvSpPr/>
          <p:nvPr/>
        </p:nvSpPr>
        <p:spPr>
          <a:xfrm>
            <a:off x="1207008" y="2340864"/>
            <a:ext cx="4389120" cy="256032"/>
          </a:xfrm>
          <a:prstGeom prst="rect">
            <a:avLst/>
          </a:prstGeom>
          <a:noFill/>
          <a:ln/>
        </p:spPr>
        <p:txBody>
          <a:bodyPr wrap="square" rtlCol="0" anchor="ctr"/>
          <a:lstStyle/>
          <a:p>
            <a:pPr indent="0" marL="0">
              <a:buNone/>
            </a:pPr>
            <a:r>
              <a:rPr lang="en-US" sz="1050" b="1" dirty="0">
                <a:solidFill>
                  <a:srgbClr val="1C1917"/>
                </a:solidFill>
                <a:latin typeface="Arial" pitchFamily="34" charset="0"/>
                <a:ea typeface="Arial" pitchFamily="34" charset="-122"/>
                <a:cs typeface="Arial" pitchFamily="34" charset="-120"/>
              </a:rPr>
              <a:t>沉溺于消费级聊天与玩具 Demo</a:t>
            </a:r>
            <a:endParaRPr lang="en-US" sz="1050" dirty="0"/>
          </a:p>
        </p:txBody>
      </p:sp>
      <p:sp>
        <p:nvSpPr>
          <p:cNvPr id="13" name="Text 11"/>
          <p:cNvSpPr/>
          <p:nvPr/>
        </p:nvSpPr>
        <p:spPr>
          <a:xfrm>
            <a:off x="1207008" y="2596896"/>
            <a:ext cx="4389120" cy="594360"/>
          </a:xfrm>
          <a:prstGeom prst="rect">
            <a:avLst/>
          </a:prstGeom>
          <a:noFill/>
          <a:ln/>
        </p:spPr>
        <p:txBody>
          <a:bodyPr wrap="square" rtlCol="0" anchor="ctr"/>
          <a:lstStyle/>
          <a:p>
            <a:pPr indent="0" marL="0">
              <a:lnSpc>
                <a:spcPts val="1250"/>
              </a:lnSpc>
              <a:buNone/>
            </a:pPr>
            <a:r>
              <a:rPr lang="en-US" sz="880" dirty="0">
                <a:solidFill>
                  <a:srgbClr val="57534E"/>
                </a:solidFill>
                <a:latin typeface="Arial" pitchFamily="34" charset="0"/>
                <a:ea typeface="Arial" pitchFamily="34" charset="-122"/>
                <a:cs typeface="Arial" pitchFamily="34" charset="-120"/>
              </a:rPr>
              <a:t>GPT-4 发布后，OpenAI 管理层将大量精力和算力押注在 Sora 视频生成、多模态拟人语音助手（Voice Mode）等消费端热点，严重忽视了底层软件工程基建。</a:t>
            </a:r>
            <a:endParaRPr lang="en-US" sz="880" dirty="0"/>
          </a:p>
        </p:txBody>
      </p:sp>
      <p:sp>
        <p:nvSpPr>
          <p:cNvPr id="14" name="Shape 12"/>
          <p:cNvSpPr/>
          <p:nvPr/>
        </p:nvSpPr>
        <p:spPr>
          <a:xfrm>
            <a:off x="1005840" y="3383280"/>
            <a:ext cx="73152" cy="1207008"/>
          </a:xfrm>
          <a:prstGeom prst="rect">
            <a:avLst/>
          </a:prstGeom>
          <a:solidFill>
            <a:srgbClr val="475569"/>
          </a:solidFill>
          <a:ln/>
        </p:spPr>
      </p:sp>
      <p:sp>
        <p:nvSpPr>
          <p:cNvPr id="15" name="Shape 13"/>
          <p:cNvSpPr/>
          <p:nvPr/>
        </p:nvSpPr>
        <p:spPr>
          <a:xfrm>
            <a:off x="1078992" y="3383280"/>
            <a:ext cx="4636008" cy="1207008"/>
          </a:xfrm>
          <a:prstGeom prst="rect">
            <a:avLst/>
          </a:prstGeom>
          <a:solidFill>
            <a:srgbClr val="F5F2EB"/>
          </a:solidFill>
          <a:ln w="12700">
            <a:solidFill>
              <a:srgbClr val="E2DCD2"/>
            </a:solidFill>
            <a:prstDash val="solid"/>
          </a:ln>
        </p:spPr>
      </p:sp>
      <p:sp>
        <p:nvSpPr>
          <p:cNvPr id="16" name="Text 14"/>
          <p:cNvSpPr/>
          <p:nvPr/>
        </p:nvSpPr>
        <p:spPr>
          <a:xfrm>
            <a:off x="1207008" y="3474720"/>
            <a:ext cx="4389120" cy="201168"/>
          </a:xfrm>
          <a:prstGeom prst="rect">
            <a:avLst/>
          </a:prstGeom>
          <a:noFill/>
          <a:ln/>
        </p:spPr>
        <p:txBody>
          <a:bodyPr wrap="square" rtlCol="0" anchor="ctr"/>
          <a:lstStyle/>
          <a:p>
            <a:pPr indent="0" marL="0">
              <a:buNone/>
            </a:pPr>
            <a:r>
              <a:rPr lang="en-US" sz="850" b="1" dirty="0">
                <a:solidFill>
                  <a:srgbClr val="475569"/>
                </a:solidFill>
                <a:latin typeface="Arial" pitchFamily="34" charset="0"/>
                <a:ea typeface="Arial" pitchFamily="34" charset="-122"/>
                <a:cs typeface="Arial" pitchFamily="34" charset="-120"/>
              </a:rPr>
              <a:t>02 · 阵地失守</a:t>
            </a:r>
            <a:endParaRPr lang="en-US" sz="850" dirty="0"/>
          </a:p>
        </p:txBody>
      </p:sp>
      <p:sp>
        <p:nvSpPr>
          <p:cNvPr id="17" name="Text 15"/>
          <p:cNvSpPr/>
          <p:nvPr/>
        </p:nvSpPr>
        <p:spPr>
          <a:xfrm>
            <a:off x="1207008" y="3694176"/>
            <a:ext cx="4389120" cy="256032"/>
          </a:xfrm>
          <a:prstGeom prst="rect">
            <a:avLst/>
          </a:prstGeom>
          <a:noFill/>
          <a:ln/>
        </p:spPr>
        <p:txBody>
          <a:bodyPr wrap="square" rtlCol="0" anchor="ctr"/>
          <a:lstStyle/>
          <a:p>
            <a:pPr indent="0" marL="0">
              <a:buNone/>
            </a:pPr>
            <a:r>
              <a:rPr lang="en-US" sz="1050" b="1" dirty="0">
                <a:solidFill>
                  <a:srgbClr val="1C1917"/>
                </a:solidFill>
                <a:latin typeface="Arial" pitchFamily="34" charset="0"/>
                <a:ea typeface="Arial" pitchFamily="34" charset="-122"/>
                <a:cs typeface="Arial" pitchFamily="34" charset="-120"/>
              </a:rPr>
              <a:t>开发者大逃亡的震怒时刻</a:t>
            </a:r>
            <a:endParaRPr lang="en-US" sz="1050" dirty="0"/>
          </a:p>
        </p:txBody>
      </p:sp>
      <p:sp>
        <p:nvSpPr>
          <p:cNvPr id="18" name="Text 16"/>
          <p:cNvSpPr/>
          <p:nvPr/>
        </p:nvSpPr>
        <p:spPr>
          <a:xfrm>
            <a:off x="1207008" y="3950208"/>
            <a:ext cx="4389120" cy="594360"/>
          </a:xfrm>
          <a:prstGeom prst="rect">
            <a:avLst/>
          </a:prstGeom>
          <a:noFill/>
          <a:ln/>
        </p:spPr>
        <p:txBody>
          <a:bodyPr wrap="square" rtlCol="0" anchor="ctr"/>
          <a:lstStyle/>
          <a:p>
            <a:pPr indent="0" marL="0">
              <a:lnSpc>
                <a:spcPts val="1250"/>
              </a:lnSpc>
              <a:buNone/>
            </a:pPr>
            <a:r>
              <a:rPr lang="en-US" sz="880" dirty="0">
                <a:solidFill>
                  <a:srgbClr val="57534E"/>
                </a:solidFill>
                <a:latin typeface="Arial" pitchFamily="34" charset="0"/>
                <a:ea typeface="Arial" pitchFamily="34" charset="-122"/>
                <a:cs typeface="Arial" pitchFamily="34" charset="-120"/>
              </a:rPr>
              <a:t>2024 年下半年，OpenAI 内部监测发现硅谷核心科技公司与 YC 创业团队的 API 调用出现雪崩式迁移：顶级极客全面弃用 GPT-4o，拥抱 Claude 3.5 Sonnet。</a:t>
            </a:r>
            <a:endParaRPr lang="en-US" sz="880" dirty="0"/>
          </a:p>
        </p:txBody>
      </p:sp>
      <p:sp>
        <p:nvSpPr>
          <p:cNvPr id="19" name="Shape 17"/>
          <p:cNvSpPr/>
          <p:nvPr/>
        </p:nvSpPr>
        <p:spPr>
          <a:xfrm>
            <a:off x="1005840" y="4736592"/>
            <a:ext cx="73152" cy="1207008"/>
          </a:xfrm>
          <a:prstGeom prst="rect">
            <a:avLst/>
          </a:prstGeom>
          <a:solidFill>
            <a:srgbClr val="475569"/>
          </a:solidFill>
          <a:ln/>
        </p:spPr>
      </p:sp>
      <p:sp>
        <p:nvSpPr>
          <p:cNvPr id="20" name="Shape 18"/>
          <p:cNvSpPr/>
          <p:nvPr/>
        </p:nvSpPr>
        <p:spPr>
          <a:xfrm>
            <a:off x="1078992" y="4736592"/>
            <a:ext cx="4636008" cy="1207008"/>
          </a:xfrm>
          <a:prstGeom prst="rect">
            <a:avLst/>
          </a:prstGeom>
          <a:solidFill>
            <a:srgbClr val="F5F2EB"/>
          </a:solidFill>
          <a:ln w="12700">
            <a:solidFill>
              <a:srgbClr val="E2DCD2"/>
            </a:solidFill>
            <a:prstDash val="solid"/>
          </a:ln>
        </p:spPr>
      </p:sp>
      <p:sp>
        <p:nvSpPr>
          <p:cNvPr id="21" name="Text 19"/>
          <p:cNvSpPr/>
          <p:nvPr/>
        </p:nvSpPr>
        <p:spPr>
          <a:xfrm>
            <a:off x="1207008" y="4828032"/>
            <a:ext cx="4389120" cy="201168"/>
          </a:xfrm>
          <a:prstGeom prst="rect">
            <a:avLst/>
          </a:prstGeom>
          <a:noFill/>
          <a:ln/>
        </p:spPr>
        <p:txBody>
          <a:bodyPr wrap="square" rtlCol="0" anchor="ctr"/>
          <a:lstStyle/>
          <a:p>
            <a:pPr indent="0" marL="0">
              <a:buNone/>
            </a:pPr>
            <a:r>
              <a:rPr lang="en-US" sz="850" b="1" dirty="0">
                <a:solidFill>
                  <a:srgbClr val="475569"/>
                </a:solidFill>
                <a:latin typeface="Arial" pitchFamily="34" charset="0"/>
                <a:ea typeface="Arial" pitchFamily="34" charset="-122"/>
                <a:cs typeface="Arial" pitchFamily="34" charset="-120"/>
              </a:rPr>
              <a:t>03 · 认知警醒</a:t>
            </a:r>
            <a:endParaRPr lang="en-US" sz="850" dirty="0"/>
          </a:p>
        </p:txBody>
      </p:sp>
      <p:sp>
        <p:nvSpPr>
          <p:cNvPr id="22" name="Text 20"/>
          <p:cNvSpPr/>
          <p:nvPr/>
        </p:nvSpPr>
        <p:spPr>
          <a:xfrm>
            <a:off x="1207008" y="5047488"/>
            <a:ext cx="4389120" cy="256032"/>
          </a:xfrm>
          <a:prstGeom prst="rect">
            <a:avLst/>
          </a:prstGeom>
          <a:noFill/>
          <a:ln/>
        </p:spPr>
        <p:txBody>
          <a:bodyPr wrap="square" rtlCol="0" anchor="ctr"/>
          <a:lstStyle/>
          <a:p>
            <a:pPr indent="0" marL="0">
              <a:buNone/>
            </a:pPr>
            <a:r>
              <a:rPr lang="en-US" sz="1050" b="1" dirty="0">
                <a:solidFill>
                  <a:srgbClr val="1C1917"/>
                </a:solidFill>
                <a:latin typeface="Arial" pitchFamily="34" charset="0"/>
                <a:ea typeface="Arial" pitchFamily="34" charset="-122"/>
                <a:cs typeface="Arial" pitchFamily="34" charset="-120"/>
              </a:rPr>
              <a:t>失去了代码，就失去了 AGI</a:t>
            </a:r>
            <a:endParaRPr lang="en-US" sz="1050" dirty="0"/>
          </a:p>
        </p:txBody>
      </p:sp>
      <p:sp>
        <p:nvSpPr>
          <p:cNvPr id="23" name="Text 21"/>
          <p:cNvSpPr/>
          <p:nvPr/>
        </p:nvSpPr>
        <p:spPr>
          <a:xfrm>
            <a:off x="1207008" y="5303520"/>
            <a:ext cx="4389120" cy="594360"/>
          </a:xfrm>
          <a:prstGeom prst="rect">
            <a:avLst/>
          </a:prstGeom>
          <a:noFill/>
          <a:ln/>
        </p:spPr>
        <p:txBody>
          <a:bodyPr wrap="square" rtlCol="0" anchor="ctr"/>
          <a:lstStyle/>
          <a:p>
            <a:pPr indent="0" marL="0">
              <a:lnSpc>
                <a:spcPts val="1250"/>
              </a:lnSpc>
              <a:buNone/>
            </a:pPr>
            <a:r>
              <a:rPr lang="en-US" sz="880" dirty="0">
                <a:solidFill>
                  <a:srgbClr val="57534E"/>
                </a:solidFill>
                <a:latin typeface="Arial" pitchFamily="34" charset="0"/>
                <a:ea typeface="Arial" pitchFamily="34" charset="-122"/>
                <a:cs typeface="Arial" pitchFamily="34" charset="-120"/>
              </a:rPr>
              <a:t>Altman 痛定思痛发布全员 Code Red 警报：聊天对话只是智能的皮毛，如果失去对软件代码的绝对控制权，OpenAI 就将丧失定义下一代计算平台的资格。</a:t>
            </a:r>
            <a:endParaRPr lang="en-US" sz="880" dirty="0"/>
          </a:p>
        </p:txBody>
      </p:sp>
      <p:sp>
        <p:nvSpPr>
          <p:cNvPr id="24" name="Shape 22"/>
          <p:cNvSpPr/>
          <p:nvPr/>
        </p:nvSpPr>
        <p:spPr>
          <a:xfrm>
            <a:off x="6199632" y="1325880"/>
            <a:ext cx="5257800" cy="4892040"/>
          </a:xfrm>
          <a:prstGeom prst="rect">
            <a:avLst/>
          </a:prstGeom>
          <a:solidFill>
            <a:srgbClr val="FFFFFF"/>
          </a:solidFill>
          <a:ln w="12700">
            <a:solidFill>
              <a:srgbClr val="E2DCD2"/>
            </a:solidFill>
            <a:prstDash val="solid"/>
          </a:ln>
        </p:spPr>
      </p:sp>
      <p:sp>
        <p:nvSpPr>
          <p:cNvPr id="25" name="Shape 23"/>
          <p:cNvSpPr/>
          <p:nvPr/>
        </p:nvSpPr>
        <p:spPr>
          <a:xfrm>
            <a:off x="6199632" y="1325880"/>
            <a:ext cx="5257800" cy="594360"/>
          </a:xfrm>
          <a:prstGeom prst="rect">
            <a:avLst/>
          </a:prstGeom>
          <a:solidFill>
            <a:srgbClr val="D97706"/>
          </a:solidFill>
          <a:ln/>
        </p:spPr>
      </p:sp>
      <p:sp>
        <p:nvSpPr>
          <p:cNvPr id="26" name="Text 24"/>
          <p:cNvSpPr/>
          <p:nvPr/>
        </p:nvSpPr>
        <p:spPr>
          <a:xfrm>
            <a:off x="6473952" y="1481328"/>
            <a:ext cx="4709160" cy="292608"/>
          </a:xfrm>
          <a:prstGeom prst="rect">
            <a:avLst/>
          </a:prstGeom>
          <a:noFill/>
          <a:ln/>
        </p:spPr>
        <p:txBody>
          <a:bodyPr wrap="square" rtlCol="0" anchor="ctr"/>
          <a:lstStyle/>
          <a:p>
            <a:pPr indent="0" marL="0">
              <a:buNone/>
            </a:pPr>
            <a:r>
              <a:rPr lang="en-US" sz="1150" b="1" dirty="0">
                <a:solidFill>
                  <a:srgbClr val="FFFFFF"/>
                </a:solidFill>
                <a:latin typeface="Arial" pitchFamily="34" charset="0"/>
                <a:ea typeface="Arial" pitchFamily="34" charset="-122"/>
                <a:cs typeface="Arial" pitchFamily="34" charset="-120"/>
              </a:rPr>
              <a:t>绝地反扑：Codex 重生与 o-系列攻坚动员</a:t>
            </a:r>
            <a:endParaRPr lang="en-US" sz="1150" dirty="0"/>
          </a:p>
        </p:txBody>
      </p:sp>
      <p:sp>
        <p:nvSpPr>
          <p:cNvPr id="27" name="Shape 25"/>
          <p:cNvSpPr/>
          <p:nvPr/>
        </p:nvSpPr>
        <p:spPr>
          <a:xfrm>
            <a:off x="6473952" y="2029968"/>
            <a:ext cx="73152" cy="1207008"/>
          </a:xfrm>
          <a:prstGeom prst="rect">
            <a:avLst/>
          </a:prstGeom>
          <a:solidFill>
            <a:srgbClr val="D97706"/>
          </a:solidFill>
          <a:ln/>
        </p:spPr>
      </p:sp>
      <p:sp>
        <p:nvSpPr>
          <p:cNvPr id="28" name="Shape 26"/>
          <p:cNvSpPr/>
          <p:nvPr/>
        </p:nvSpPr>
        <p:spPr>
          <a:xfrm>
            <a:off x="6547104" y="2029968"/>
            <a:ext cx="4636008" cy="1207008"/>
          </a:xfrm>
          <a:prstGeom prst="rect">
            <a:avLst/>
          </a:prstGeom>
          <a:solidFill>
            <a:srgbClr val="F5F2EB"/>
          </a:solidFill>
          <a:ln w="12700">
            <a:solidFill>
              <a:srgbClr val="E2DCD2"/>
            </a:solidFill>
            <a:prstDash val="solid"/>
          </a:ln>
        </p:spPr>
      </p:sp>
      <p:sp>
        <p:nvSpPr>
          <p:cNvPr id="29" name="Text 27"/>
          <p:cNvSpPr/>
          <p:nvPr/>
        </p:nvSpPr>
        <p:spPr>
          <a:xfrm>
            <a:off x="6675120" y="2121408"/>
            <a:ext cx="4389120" cy="201168"/>
          </a:xfrm>
          <a:prstGeom prst="rect">
            <a:avLst/>
          </a:prstGeom>
          <a:noFill/>
          <a:ln/>
        </p:spPr>
        <p:txBody>
          <a:bodyPr wrap="square" rtlCol="0" anchor="ctr"/>
          <a:lstStyle/>
          <a:p>
            <a:pPr indent="0" marL="0">
              <a:buNone/>
            </a:pPr>
            <a:r>
              <a:rPr lang="en-US" sz="850" b="1" dirty="0">
                <a:solidFill>
                  <a:srgbClr val="D97706"/>
                </a:solidFill>
                <a:latin typeface="Arial" pitchFamily="34" charset="0"/>
                <a:ea typeface="Arial" pitchFamily="34" charset="-122"/>
                <a:cs typeface="Arial" pitchFamily="34" charset="-120"/>
              </a:rPr>
              <a:t>01 · 重组突击队</a:t>
            </a:r>
            <a:endParaRPr lang="en-US" sz="850" dirty="0"/>
          </a:p>
        </p:txBody>
      </p:sp>
      <p:sp>
        <p:nvSpPr>
          <p:cNvPr id="30" name="Text 28"/>
          <p:cNvSpPr/>
          <p:nvPr/>
        </p:nvSpPr>
        <p:spPr>
          <a:xfrm>
            <a:off x="6675120" y="2340864"/>
            <a:ext cx="4389120" cy="256032"/>
          </a:xfrm>
          <a:prstGeom prst="rect">
            <a:avLst/>
          </a:prstGeom>
          <a:noFill/>
          <a:ln/>
        </p:spPr>
        <p:txBody>
          <a:bodyPr wrap="square" rtlCol="0" anchor="ctr"/>
          <a:lstStyle/>
          <a:p>
            <a:pPr indent="0" marL="0">
              <a:buNone/>
            </a:pPr>
            <a:r>
              <a:rPr lang="en-US" sz="1050" b="1" dirty="0">
                <a:solidFill>
                  <a:srgbClr val="1C1917"/>
                </a:solidFill>
                <a:latin typeface="Arial" pitchFamily="34" charset="0"/>
                <a:ea typeface="Arial" pitchFamily="34" charset="-122"/>
                <a:cs typeface="Arial" pitchFamily="34" charset="-120"/>
              </a:rPr>
              <a:t>抽调百名核心科学家成立 Codex 兵团</a:t>
            </a:r>
            <a:endParaRPr lang="en-US" sz="1050" dirty="0"/>
          </a:p>
        </p:txBody>
      </p:sp>
      <p:sp>
        <p:nvSpPr>
          <p:cNvPr id="31" name="Text 29"/>
          <p:cNvSpPr/>
          <p:nvPr/>
        </p:nvSpPr>
        <p:spPr>
          <a:xfrm>
            <a:off x="6675120" y="2596896"/>
            <a:ext cx="4389120" cy="594360"/>
          </a:xfrm>
          <a:prstGeom prst="rect">
            <a:avLst/>
          </a:prstGeom>
          <a:noFill/>
          <a:ln/>
        </p:spPr>
        <p:txBody>
          <a:bodyPr wrap="square" rtlCol="0" anchor="ctr"/>
          <a:lstStyle/>
          <a:p>
            <a:pPr indent="0" marL="0">
              <a:lnSpc>
                <a:spcPts val="1250"/>
              </a:lnSpc>
              <a:buNone/>
            </a:pPr>
            <a:r>
              <a:rPr lang="en-US" sz="880" dirty="0">
                <a:solidFill>
                  <a:srgbClr val="57534E"/>
                </a:solidFill>
                <a:latin typeface="Arial" pitchFamily="34" charset="0"/>
                <a:ea typeface="Arial" pitchFamily="34" charset="-122"/>
                <a:cs typeface="Arial" pitchFamily="34" charset="-120"/>
              </a:rPr>
              <a:t>打破原有部门壁垒，将 RL 强化学习专家与编译器工程团队深度整合，全面对齐生产级 Git 仓库环境，放弃单一 LeetCode 语法糖优化。</a:t>
            </a:r>
            <a:endParaRPr lang="en-US" sz="880" dirty="0"/>
          </a:p>
        </p:txBody>
      </p:sp>
      <p:sp>
        <p:nvSpPr>
          <p:cNvPr id="32" name="Shape 30"/>
          <p:cNvSpPr/>
          <p:nvPr/>
        </p:nvSpPr>
        <p:spPr>
          <a:xfrm>
            <a:off x="6473952" y="3383280"/>
            <a:ext cx="73152" cy="1207008"/>
          </a:xfrm>
          <a:prstGeom prst="rect">
            <a:avLst/>
          </a:prstGeom>
          <a:solidFill>
            <a:srgbClr val="D97706"/>
          </a:solidFill>
          <a:ln/>
        </p:spPr>
      </p:sp>
      <p:sp>
        <p:nvSpPr>
          <p:cNvPr id="33" name="Shape 31"/>
          <p:cNvSpPr/>
          <p:nvPr/>
        </p:nvSpPr>
        <p:spPr>
          <a:xfrm>
            <a:off x="6547104" y="3383280"/>
            <a:ext cx="4636008" cy="1207008"/>
          </a:xfrm>
          <a:prstGeom prst="rect">
            <a:avLst/>
          </a:prstGeom>
          <a:solidFill>
            <a:srgbClr val="F5F2EB"/>
          </a:solidFill>
          <a:ln w="12700">
            <a:solidFill>
              <a:srgbClr val="E2DCD2"/>
            </a:solidFill>
            <a:prstDash val="solid"/>
          </a:ln>
        </p:spPr>
      </p:sp>
      <p:sp>
        <p:nvSpPr>
          <p:cNvPr id="34" name="Text 32"/>
          <p:cNvSpPr/>
          <p:nvPr/>
        </p:nvSpPr>
        <p:spPr>
          <a:xfrm>
            <a:off x="6675120" y="3474720"/>
            <a:ext cx="4389120" cy="201168"/>
          </a:xfrm>
          <a:prstGeom prst="rect">
            <a:avLst/>
          </a:prstGeom>
          <a:noFill/>
          <a:ln/>
        </p:spPr>
        <p:txBody>
          <a:bodyPr wrap="square" rtlCol="0" anchor="ctr"/>
          <a:lstStyle/>
          <a:p>
            <a:pPr indent="0" marL="0">
              <a:buNone/>
            </a:pPr>
            <a:r>
              <a:rPr lang="en-US" sz="850" b="1" dirty="0">
                <a:solidFill>
                  <a:srgbClr val="D97706"/>
                </a:solidFill>
                <a:latin typeface="Arial" pitchFamily="34" charset="0"/>
                <a:ea typeface="Arial" pitchFamily="34" charset="-122"/>
                <a:cs typeface="Arial" pitchFamily="34" charset="-120"/>
              </a:rPr>
              <a:t>02 · 慢思考突破</a:t>
            </a:r>
            <a:endParaRPr lang="en-US" sz="850" dirty="0"/>
          </a:p>
        </p:txBody>
      </p:sp>
      <p:sp>
        <p:nvSpPr>
          <p:cNvPr id="35" name="Text 33"/>
          <p:cNvSpPr/>
          <p:nvPr/>
        </p:nvSpPr>
        <p:spPr>
          <a:xfrm>
            <a:off x="6675120" y="3694176"/>
            <a:ext cx="4389120" cy="256032"/>
          </a:xfrm>
          <a:prstGeom prst="rect">
            <a:avLst/>
          </a:prstGeom>
          <a:noFill/>
          <a:ln/>
        </p:spPr>
        <p:txBody>
          <a:bodyPr wrap="square" rtlCol="0" anchor="ctr"/>
          <a:lstStyle/>
          <a:p>
            <a:pPr indent="0" marL="0">
              <a:buNone/>
            </a:pPr>
            <a:r>
              <a:rPr lang="en-US" sz="1050" b="1" dirty="0">
                <a:solidFill>
                  <a:srgbClr val="1C1917"/>
                </a:solidFill>
                <a:latin typeface="Arial" pitchFamily="34" charset="0"/>
                <a:ea typeface="Arial" pitchFamily="34" charset="-122"/>
                <a:cs typeface="Arial" pitchFamily="34" charset="-120"/>
              </a:rPr>
              <a:t>推出 o1/o3/o-series 慢思考推理架构</a:t>
            </a:r>
            <a:endParaRPr lang="en-US" sz="1050" dirty="0"/>
          </a:p>
        </p:txBody>
      </p:sp>
      <p:sp>
        <p:nvSpPr>
          <p:cNvPr id="36" name="Text 34"/>
          <p:cNvSpPr/>
          <p:nvPr/>
        </p:nvSpPr>
        <p:spPr>
          <a:xfrm>
            <a:off x="6675120" y="3950208"/>
            <a:ext cx="4389120" cy="594360"/>
          </a:xfrm>
          <a:prstGeom prst="rect">
            <a:avLst/>
          </a:prstGeom>
          <a:noFill/>
          <a:ln/>
        </p:spPr>
        <p:txBody>
          <a:bodyPr wrap="square" rtlCol="0" anchor="ctr"/>
          <a:lstStyle/>
          <a:p>
            <a:pPr indent="0" marL="0">
              <a:lnSpc>
                <a:spcPts val="1250"/>
              </a:lnSpc>
              <a:buNone/>
            </a:pPr>
            <a:r>
              <a:rPr lang="en-US" sz="880" dirty="0">
                <a:solidFill>
                  <a:srgbClr val="57534E"/>
                </a:solidFill>
                <a:latin typeface="Arial" pitchFamily="34" charset="0"/>
                <a:ea typeface="Arial" pitchFamily="34" charset="-122"/>
                <a:cs typeface="Arial" pitchFamily="34" charset="-120"/>
              </a:rPr>
              <a:t>引入测试时计算（Test-time Compute）扩展定律，在代码生成前进行数千步隐藏链式推演，在离散逻辑算法与数理证明上取得了断层级分数提升。</a:t>
            </a:r>
            <a:endParaRPr lang="en-US" sz="880" dirty="0"/>
          </a:p>
        </p:txBody>
      </p:sp>
      <p:sp>
        <p:nvSpPr>
          <p:cNvPr id="37" name="Shape 35"/>
          <p:cNvSpPr/>
          <p:nvPr/>
        </p:nvSpPr>
        <p:spPr>
          <a:xfrm>
            <a:off x="6473952" y="4736592"/>
            <a:ext cx="73152" cy="1207008"/>
          </a:xfrm>
          <a:prstGeom prst="rect">
            <a:avLst/>
          </a:prstGeom>
          <a:solidFill>
            <a:srgbClr val="D97706"/>
          </a:solidFill>
          <a:ln/>
        </p:spPr>
      </p:sp>
      <p:sp>
        <p:nvSpPr>
          <p:cNvPr id="38" name="Shape 36"/>
          <p:cNvSpPr/>
          <p:nvPr/>
        </p:nvSpPr>
        <p:spPr>
          <a:xfrm>
            <a:off x="6547104" y="4736592"/>
            <a:ext cx="4636008" cy="1207008"/>
          </a:xfrm>
          <a:prstGeom prst="rect">
            <a:avLst/>
          </a:prstGeom>
          <a:solidFill>
            <a:srgbClr val="F5F2EB"/>
          </a:solidFill>
          <a:ln w="12700">
            <a:solidFill>
              <a:srgbClr val="E2DCD2"/>
            </a:solidFill>
            <a:prstDash val="solid"/>
          </a:ln>
        </p:spPr>
      </p:sp>
      <p:sp>
        <p:nvSpPr>
          <p:cNvPr id="39" name="Text 37"/>
          <p:cNvSpPr/>
          <p:nvPr/>
        </p:nvSpPr>
        <p:spPr>
          <a:xfrm>
            <a:off x="6675120" y="4828032"/>
            <a:ext cx="4389120" cy="201168"/>
          </a:xfrm>
          <a:prstGeom prst="rect">
            <a:avLst/>
          </a:prstGeom>
          <a:noFill/>
          <a:ln/>
        </p:spPr>
        <p:txBody>
          <a:bodyPr wrap="square" rtlCol="0" anchor="ctr"/>
          <a:lstStyle/>
          <a:p>
            <a:pPr indent="0" marL="0">
              <a:buNone/>
            </a:pPr>
            <a:r>
              <a:rPr lang="en-US" sz="850" b="1" dirty="0">
                <a:solidFill>
                  <a:srgbClr val="D97706"/>
                </a:solidFill>
                <a:latin typeface="Arial" pitchFamily="34" charset="0"/>
                <a:ea typeface="Arial" pitchFamily="34" charset="-122"/>
                <a:cs typeface="Arial" pitchFamily="34" charset="-120"/>
              </a:rPr>
              <a:t>03 · 战局胶着</a:t>
            </a:r>
            <a:endParaRPr lang="en-US" sz="850" dirty="0"/>
          </a:p>
        </p:txBody>
      </p:sp>
      <p:sp>
        <p:nvSpPr>
          <p:cNvPr id="40" name="Text 38"/>
          <p:cNvSpPr/>
          <p:nvPr/>
        </p:nvSpPr>
        <p:spPr>
          <a:xfrm>
            <a:off x="6675120" y="5047488"/>
            <a:ext cx="4389120" cy="256032"/>
          </a:xfrm>
          <a:prstGeom prst="rect">
            <a:avLst/>
          </a:prstGeom>
          <a:noFill/>
          <a:ln/>
        </p:spPr>
        <p:txBody>
          <a:bodyPr wrap="square" rtlCol="0" anchor="ctr"/>
          <a:lstStyle/>
          <a:p>
            <a:pPr indent="0" marL="0">
              <a:buNone/>
            </a:pPr>
            <a:r>
              <a:rPr lang="en-US" sz="1050" b="1" dirty="0">
                <a:solidFill>
                  <a:srgbClr val="1C1917"/>
                </a:solidFill>
                <a:latin typeface="Arial" pitchFamily="34" charset="0"/>
                <a:ea typeface="Arial" pitchFamily="34" charset="-122"/>
                <a:cs typeface="Arial" pitchFamily="34" charset="-120"/>
              </a:rPr>
              <a:t>思维链强项 vs 终端敏捷响应短板</a:t>
            </a:r>
            <a:endParaRPr lang="en-US" sz="1050" dirty="0"/>
          </a:p>
        </p:txBody>
      </p:sp>
      <p:sp>
        <p:nvSpPr>
          <p:cNvPr id="41" name="Text 39"/>
          <p:cNvSpPr/>
          <p:nvPr/>
        </p:nvSpPr>
        <p:spPr>
          <a:xfrm>
            <a:off x="6675120" y="5303520"/>
            <a:ext cx="4389120" cy="594360"/>
          </a:xfrm>
          <a:prstGeom prst="rect">
            <a:avLst/>
          </a:prstGeom>
          <a:noFill/>
          <a:ln/>
        </p:spPr>
        <p:txBody>
          <a:bodyPr wrap="square" rtlCol="0" anchor="ctr"/>
          <a:lstStyle/>
          <a:p>
            <a:pPr indent="0" marL="0">
              <a:lnSpc>
                <a:spcPts val="1250"/>
              </a:lnSpc>
              <a:buNone/>
            </a:pPr>
            <a:r>
              <a:rPr lang="en-US" sz="880" dirty="0">
                <a:solidFill>
                  <a:srgbClr val="57534E"/>
                </a:solidFill>
                <a:latin typeface="Arial" pitchFamily="34" charset="0"/>
                <a:ea typeface="Arial" pitchFamily="34" charset="-122"/>
                <a:cs typeface="Arial" pitchFamily="34" charset="-120"/>
              </a:rPr>
              <a:t>OpenAI 成功稳住了算法理论天花板，但在单步毫秒级响应、终端自适应修补与工具链无缝配合上，依然面临 Claude 高度垂直打磨的顽强抵抗。</a:t>
            </a:r>
            <a:endParaRPr lang="en-US" sz="88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9F5"/>
        </a:solidFill>
      </p:bgPr>
    </p:bg>
    <p:spTree>
      <p:nvGrpSpPr>
        <p:cNvPr id="1" name=""/>
        <p:cNvGrpSpPr/>
        <p:nvPr/>
      </p:nvGrpSpPr>
      <p:grpSpPr>
        <a:xfrm>
          <a:off x="0" y="0"/>
          <a:ext cx="0" cy="0"/>
          <a:chOff x="0" y="0"/>
          <a:chExt cx="0" cy="0"/>
        </a:xfrm>
      </p:grpSpPr>
      <p:sp>
        <p:nvSpPr>
          <p:cNvPr id="2" name="Shape 0"/>
          <p:cNvSpPr/>
          <p:nvPr/>
        </p:nvSpPr>
        <p:spPr>
          <a:xfrm>
            <a:off x="731520" y="384048"/>
            <a:ext cx="2560320" cy="256032"/>
          </a:xfrm>
          <a:prstGeom prst="rect">
            <a:avLst/>
          </a:prstGeom>
          <a:solidFill>
            <a:srgbClr val="FBF0EB"/>
          </a:solidFill>
          <a:ln w="12700">
            <a:solidFill>
              <a:srgbClr val="F0C2B2"/>
            </a:solidFill>
            <a:prstDash val="solid"/>
          </a:ln>
        </p:spPr>
      </p:sp>
      <p:sp>
        <p:nvSpPr>
          <p:cNvPr id="3" name="Text 1"/>
          <p:cNvSpPr/>
          <p:nvPr/>
        </p:nvSpPr>
        <p:spPr>
          <a:xfrm>
            <a:off x="731520" y="384048"/>
            <a:ext cx="2560320" cy="256032"/>
          </a:xfrm>
          <a:prstGeom prst="rect">
            <a:avLst/>
          </a:prstGeom>
          <a:noFill/>
          <a:ln/>
        </p:spPr>
        <p:txBody>
          <a:bodyPr wrap="square" rtlCol="0" anchor="ctr"/>
          <a:lstStyle/>
          <a:p>
            <a:pPr algn="ctr" indent="0" marL="0">
              <a:buNone/>
            </a:pPr>
            <a:r>
              <a:rPr lang="en-US" sz="900" b="1" spc="120" kern="0" dirty="0">
                <a:solidFill>
                  <a:srgbClr val="D97757"/>
                </a:solidFill>
                <a:latin typeface="Arial" pitchFamily="34" charset="0"/>
                <a:ea typeface="Arial" pitchFamily="34" charset="-122"/>
                <a:cs typeface="Arial" pitchFamily="34" charset="-120"/>
              </a:rPr>
              <a:t>DUOPOLY SHOWDOWN MATRIX</a:t>
            </a:r>
            <a:endParaRPr lang="en-US" sz="900" dirty="0"/>
          </a:p>
        </p:txBody>
      </p:sp>
      <p:sp>
        <p:nvSpPr>
          <p:cNvPr id="4" name="Text 2"/>
          <p:cNvSpPr/>
          <p:nvPr/>
        </p:nvSpPr>
        <p:spPr>
          <a:xfrm>
            <a:off x="731520" y="676656"/>
            <a:ext cx="9875520" cy="475488"/>
          </a:xfrm>
          <a:prstGeom prst="rect">
            <a:avLst/>
          </a:prstGeom>
          <a:noFill/>
          <a:ln/>
        </p:spPr>
        <p:txBody>
          <a:bodyPr wrap="square" lIns="0" tIns="0" rIns="0" bIns="0" rtlCol="0" anchor="ctr"/>
          <a:lstStyle/>
          <a:p>
            <a:pPr indent="0" marL="0">
              <a:buNone/>
            </a:pPr>
            <a:r>
              <a:rPr lang="en-US" sz="2100" b="1" dirty="0">
                <a:solidFill>
                  <a:srgbClr val="1C1917"/>
                </a:solidFill>
                <a:latin typeface="Arial" pitchFamily="34" charset="0"/>
                <a:ea typeface="Arial" pitchFamily="34" charset="-122"/>
                <a:cs typeface="Arial" pitchFamily="34" charset="-120"/>
              </a:rPr>
              <a:t>2026 双雄并立：Anthropic vs OpenAI 编码对抗全景战役</a:t>
            </a:r>
            <a:endParaRPr lang="en-US" sz="2100" dirty="0"/>
          </a:p>
        </p:txBody>
      </p:sp>
      <p:sp>
        <p:nvSpPr>
          <p:cNvPr id="5" name="Text 3"/>
          <p:cNvSpPr/>
          <p:nvPr/>
        </p:nvSpPr>
        <p:spPr>
          <a:xfrm>
            <a:off x="10972800" y="384048"/>
            <a:ext cx="731520" cy="320040"/>
          </a:xfrm>
          <a:prstGeom prst="rect">
            <a:avLst/>
          </a:prstGeom>
          <a:noFill/>
          <a:ln/>
        </p:spPr>
        <p:txBody>
          <a:bodyPr wrap="square" rtlCol="0" anchor="ctr"/>
          <a:lstStyle/>
          <a:p>
            <a:pPr algn="r" indent="0" marL="0">
              <a:buNone/>
            </a:pPr>
            <a:r>
              <a:rPr lang="en-US" sz="1300" b="1" dirty="0">
                <a:solidFill>
                  <a:srgbClr val="8C857B"/>
                </a:solidFill>
                <a:latin typeface="Arial" pitchFamily="34" charset="0"/>
                <a:ea typeface="Arial" pitchFamily="34" charset="-122"/>
                <a:cs typeface="Arial" pitchFamily="34" charset="-120"/>
              </a:rPr>
              <a:t>10</a:t>
            </a:r>
            <a:endParaRPr lang="en-US" sz="1300" dirty="0"/>
          </a:p>
        </p:txBody>
      </p:sp>
      <p:sp>
        <p:nvSpPr>
          <p:cNvPr id="6" name="Shape 4"/>
          <p:cNvSpPr/>
          <p:nvPr/>
        </p:nvSpPr>
        <p:spPr>
          <a:xfrm>
            <a:off x="731520" y="1325880"/>
            <a:ext cx="2011680" cy="411480"/>
          </a:xfrm>
          <a:prstGeom prst="rect">
            <a:avLst/>
          </a:prstGeom>
          <a:solidFill>
            <a:srgbClr val="1C1917"/>
          </a:solidFill>
          <a:ln/>
        </p:spPr>
      </p:sp>
      <p:sp>
        <p:nvSpPr>
          <p:cNvPr id="7" name="Text 5"/>
          <p:cNvSpPr/>
          <p:nvPr/>
        </p:nvSpPr>
        <p:spPr>
          <a:xfrm>
            <a:off x="822960" y="1408176"/>
            <a:ext cx="1828800" cy="256032"/>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战略对比维度</a:t>
            </a:r>
            <a:endParaRPr lang="en-US" sz="1000" dirty="0"/>
          </a:p>
        </p:txBody>
      </p:sp>
      <p:sp>
        <p:nvSpPr>
          <p:cNvPr id="8" name="Shape 6"/>
          <p:cNvSpPr/>
          <p:nvPr/>
        </p:nvSpPr>
        <p:spPr>
          <a:xfrm>
            <a:off x="2788920" y="1325880"/>
            <a:ext cx="2926080" cy="411480"/>
          </a:xfrm>
          <a:prstGeom prst="rect">
            <a:avLst/>
          </a:prstGeom>
          <a:solidFill>
            <a:srgbClr val="D97757"/>
          </a:solidFill>
          <a:ln/>
        </p:spPr>
      </p:sp>
      <p:sp>
        <p:nvSpPr>
          <p:cNvPr id="9" name="Text 7"/>
          <p:cNvSpPr/>
          <p:nvPr/>
        </p:nvSpPr>
        <p:spPr>
          <a:xfrm>
            <a:off x="2880360" y="1408176"/>
            <a:ext cx="2743200" cy="256032"/>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Anthropic (Claude 3.5 / 5.5)</a:t>
            </a:r>
            <a:endParaRPr lang="en-US" sz="1000" dirty="0"/>
          </a:p>
        </p:txBody>
      </p:sp>
      <p:sp>
        <p:nvSpPr>
          <p:cNvPr id="10" name="Shape 8"/>
          <p:cNvSpPr/>
          <p:nvPr/>
        </p:nvSpPr>
        <p:spPr>
          <a:xfrm>
            <a:off x="5760720" y="1325880"/>
            <a:ext cx="2926080" cy="411480"/>
          </a:xfrm>
          <a:prstGeom prst="rect">
            <a:avLst/>
          </a:prstGeom>
          <a:solidFill>
            <a:srgbClr val="475569"/>
          </a:solidFill>
          <a:ln/>
        </p:spPr>
      </p:sp>
      <p:sp>
        <p:nvSpPr>
          <p:cNvPr id="11" name="Text 9"/>
          <p:cNvSpPr/>
          <p:nvPr/>
        </p:nvSpPr>
        <p:spPr>
          <a:xfrm>
            <a:off x="5852160" y="1408176"/>
            <a:ext cx="2743200" cy="256032"/>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OpenAI (Codex / o-series)</a:t>
            </a:r>
            <a:endParaRPr lang="en-US" sz="1000" dirty="0"/>
          </a:p>
        </p:txBody>
      </p:sp>
      <p:sp>
        <p:nvSpPr>
          <p:cNvPr id="12" name="Shape 10"/>
          <p:cNvSpPr/>
          <p:nvPr/>
        </p:nvSpPr>
        <p:spPr>
          <a:xfrm>
            <a:off x="8732520" y="1325880"/>
            <a:ext cx="2724912" cy="411480"/>
          </a:xfrm>
          <a:prstGeom prst="rect">
            <a:avLst/>
          </a:prstGeom>
          <a:solidFill>
            <a:srgbClr val="D97706"/>
          </a:solidFill>
          <a:ln/>
        </p:spPr>
      </p:sp>
      <p:sp>
        <p:nvSpPr>
          <p:cNvPr id="13" name="Text 11"/>
          <p:cNvSpPr/>
          <p:nvPr/>
        </p:nvSpPr>
        <p:spPr>
          <a:xfrm>
            <a:off x="8823960" y="1408176"/>
            <a:ext cx="2542032" cy="256032"/>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工程与战略本质启示</a:t>
            </a:r>
            <a:endParaRPr lang="en-US" sz="1000" dirty="0"/>
          </a:p>
        </p:txBody>
      </p:sp>
      <p:sp>
        <p:nvSpPr>
          <p:cNvPr id="14" name="Shape 12"/>
          <p:cNvSpPr/>
          <p:nvPr/>
        </p:nvSpPr>
        <p:spPr>
          <a:xfrm>
            <a:off x="731520" y="1783080"/>
            <a:ext cx="2011680" cy="822960"/>
          </a:xfrm>
          <a:prstGeom prst="rect">
            <a:avLst/>
          </a:prstGeom>
          <a:solidFill>
            <a:srgbClr val="EFEBE1"/>
          </a:solidFill>
          <a:ln w="12700">
            <a:solidFill>
              <a:srgbClr val="E2DCD2"/>
            </a:solidFill>
            <a:prstDash val="solid"/>
          </a:ln>
        </p:spPr>
      </p:sp>
      <p:sp>
        <p:nvSpPr>
          <p:cNvPr id="15" name="Text 13"/>
          <p:cNvSpPr/>
          <p:nvPr/>
        </p:nvSpPr>
        <p:spPr>
          <a:xfrm>
            <a:off x="822960" y="1929384"/>
            <a:ext cx="1828800" cy="256032"/>
          </a:xfrm>
          <a:prstGeom prst="rect">
            <a:avLst/>
          </a:prstGeom>
          <a:noFill/>
          <a:ln/>
        </p:spPr>
        <p:txBody>
          <a:bodyPr wrap="square" rtlCol="0" anchor="ctr"/>
          <a:lstStyle/>
          <a:p>
            <a:pPr indent="0" marL="0">
              <a:buNone/>
            </a:pPr>
            <a:r>
              <a:rPr lang="en-US" sz="1000" b="1" dirty="0">
                <a:solidFill>
                  <a:srgbClr val="1C1917"/>
                </a:solidFill>
                <a:latin typeface="Arial" pitchFamily="34" charset="0"/>
                <a:ea typeface="Arial" pitchFamily="34" charset="-122"/>
                <a:cs typeface="Arial" pitchFamily="34" charset="-120"/>
              </a:rPr>
              <a:t>核心产品定位</a:t>
            </a:r>
            <a:endParaRPr lang="en-US" sz="1000" dirty="0"/>
          </a:p>
        </p:txBody>
      </p:sp>
      <p:sp>
        <p:nvSpPr>
          <p:cNvPr id="16" name="Text 14"/>
          <p:cNvSpPr/>
          <p:nvPr/>
        </p:nvSpPr>
        <p:spPr>
          <a:xfrm>
            <a:off x="822960" y="2203704"/>
            <a:ext cx="1828800" cy="228600"/>
          </a:xfrm>
          <a:prstGeom prst="rect">
            <a:avLst/>
          </a:prstGeom>
          <a:noFill/>
          <a:ln/>
        </p:spPr>
        <p:txBody>
          <a:bodyPr wrap="square" rtlCol="0" anchor="ctr"/>
          <a:lstStyle/>
          <a:p>
            <a:pPr indent="0" marL="0">
              <a:buNone/>
            </a:pPr>
            <a:r>
              <a:rPr lang="en-US" sz="850" dirty="0">
                <a:solidFill>
                  <a:srgbClr val="57534E"/>
                </a:solidFill>
                <a:latin typeface="Arial" pitchFamily="34" charset="0"/>
                <a:ea typeface="Arial" pitchFamily="34" charset="-122"/>
                <a:cs typeface="Arial" pitchFamily="34" charset="-120"/>
              </a:rPr>
              <a:t>终端哲学</a:t>
            </a:r>
            <a:endParaRPr lang="en-US" sz="850" dirty="0"/>
          </a:p>
        </p:txBody>
      </p:sp>
      <p:sp>
        <p:nvSpPr>
          <p:cNvPr id="17" name="Shape 15"/>
          <p:cNvSpPr/>
          <p:nvPr/>
        </p:nvSpPr>
        <p:spPr>
          <a:xfrm>
            <a:off x="2788920" y="1783080"/>
            <a:ext cx="2926080" cy="822960"/>
          </a:xfrm>
          <a:prstGeom prst="rect">
            <a:avLst/>
          </a:prstGeom>
          <a:solidFill>
            <a:srgbClr val="FBF0EB"/>
          </a:solidFill>
          <a:ln w="12700">
            <a:solidFill>
              <a:srgbClr val="F0C2B2"/>
            </a:solidFill>
            <a:prstDash val="solid"/>
          </a:ln>
        </p:spPr>
      </p:sp>
      <p:sp>
        <p:nvSpPr>
          <p:cNvPr id="18" name="Text 16"/>
          <p:cNvSpPr/>
          <p:nvPr/>
        </p:nvSpPr>
        <p:spPr>
          <a:xfrm>
            <a:off x="2880360" y="1892808"/>
            <a:ext cx="2743200" cy="621792"/>
          </a:xfrm>
          <a:prstGeom prst="rect">
            <a:avLst/>
          </a:prstGeom>
          <a:noFill/>
          <a:ln/>
        </p:spPr>
        <p:txBody>
          <a:bodyPr wrap="square" rtlCol="0" anchor="ctr"/>
          <a:lstStyle/>
          <a:p>
            <a:pPr indent="0" marL="0">
              <a:lnSpc>
                <a:spcPts val="1300"/>
              </a:lnSpc>
              <a:buNone/>
            </a:pPr>
            <a:r>
              <a:rPr lang="en-US" sz="880" b="1" dirty="0">
                <a:solidFill>
                  <a:srgbClr val="D97757"/>
                </a:solidFill>
                <a:latin typeface="Arial" pitchFamily="34" charset="0"/>
                <a:ea typeface="Arial" pitchFamily="34" charset="-122"/>
                <a:cs typeface="Arial" pitchFamily="34" charset="-120"/>
              </a:rPr>
              <a:t>终端原生执行者 (Terminal Native)</a:t>
            </a:r>
            <a:endParaRPr lang="en-US" sz="880" dirty="0"/>
          </a:p>
          <a:p>
            <a:pPr indent="0" marL="0">
              <a:lnSpc>
                <a:spcPts val="1300"/>
              </a:lnSpc>
              <a:buNone/>
            </a:pPr>
            <a:r>
              <a:rPr lang="en-US" sz="880" b="1" dirty="0">
                <a:solidFill>
                  <a:srgbClr val="D97757"/>
                </a:solidFill>
                <a:latin typeface="Arial" pitchFamily="34" charset="0"/>
                <a:ea typeface="Arial" pitchFamily="34" charset="-122"/>
                <a:cs typeface="Arial" pitchFamily="34" charset="-120"/>
              </a:rPr>
              <a:t>聚焦毫秒级探针与高频自愈闭环</a:t>
            </a:r>
            <a:endParaRPr lang="en-US" sz="880" dirty="0"/>
          </a:p>
        </p:txBody>
      </p:sp>
      <p:sp>
        <p:nvSpPr>
          <p:cNvPr id="19" name="Shape 17"/>
          <p:cNvSpPr/>
          <p:nvPr/>
        </p:nvSpPr>
        <p:spPr>
          <a:xfrm>
            <a:off x="5760720" y="1783080"/>
            <a:ext cx="2926080" cy="822960"/>
          </a:xfrm>
          <a:prstGeom prst="rect">
            <a:avLst/>
          </a:prstGeom>
          <a:solidFill>
            <a:srgbClr val="FFFFFF"/>
          </a:solidFill>
          <a:ln w="12700">
            <a:solidFill>
              <a:srgbClr val="E2DCD2"/>
            </a:solidFill>
            <a:prstDash val="solid"/>
          </a:ln>
        </p:spPr>
      </p:sp>
      <p:sp>
        <p:nvSpPr>
          <p:cNvPr id="20" name="Text 18"/>
          <p:cNvSpPr/>
          <p:nvPr/>
        </p:nvSpPr>
        <p:spPr>
          <a:xfrm>
            <a:off x="5852160" y="1892808"/>
            <a:ext cx="2743200" cy="621792"/>
          </a:xfrm>
          <a:prstGeom prst="rect">
            <a:avLst/>
          </a:prstGeom>
          <a:noFill/>
          <a:ln/>
        </p:spPr>
        <p:txBody>
          <a:bodyPr wrap="square" rtlCol="0" anchor="ctr"/>
          <a:lstStyle/>
          <a:p>
            <a:pPr indent="0" marL="0">
              <a:lnSpc>
                <a:spcPts val="1300"/>
              </a:lnSpc>
              <a:buNone/>
            </a:pPr>
            <a:r>
              <a:rPr lang="en-US" sz="880" b="1" dirty="0">
                <a:solidFill>
                  <a:srgbClr val="475569"/>
                </a:solidFill>
                <a:latin typeface="Arial" pitchFamily="34" charset="0"/>
                <a:ea typeface="Arial" pitchFamily="34" charset="-122"/>
                <a:cs typeface="Arial" pitchFamily="34" charset="-120"/>
              </a:rPr>
              <a:t>思维链慢思考巨兽 (Thinking Engine)</a:t>
            </a:r>
            <a:endParaRPr lang="en-US" sz="880" dirty="0"/>
          </a:p>
          <a:p>
            <a:pPr indent="0" marL="0">
              <a:lnSpc>
                <a:spcPts val="1300"/>
              </a:lnSpc>
              <a:buNone/>
            </a:pPr>
            <a:r>
              <a:rPr lang="en-US" sz="880" b="1" dirty="0">
                <a:solidFill>
                  <a:srgbClr val="475569"/>
                </a:solidFill>
                <a:latin typeface="Arial" pitchFamily="34" charset="0"/>
                <a:ea typeface="Arial" pitchFamily="34" charset="-122"/>
                <a:cs typeface="Arial" pitchFamily="34" charset="-120"/>
              </a:rPr>
              <a:t>聚焦离散复杂数学与前沿逻辑证明</a:t>
            </a:r>
            <a:endParaRPr lang="en-US" sz="880" dirty="0"/>
          </a:p>
        </p:txBody>
      </p:sp>
      <p:sp>
        <p:nvSpPr>
          <p:cNvPr id="21" name="Shape 19"/>
          <p:cNvSpPr/>
          <p:nvPr/>
        </p:nvSpPr>
        <p:spPr>
          <a:xfrm>
            <a:off x="8732520" y="1783080"/>
            <a:ext cx="2724912" cy="822960"/>
          </a:xfrm>
          <a:prstGeom prst="rect">
            <a:avLst/>
          </a:prstGeom>
          <a:solidFill>
            <a:srgbClr val="FFFFFF"/>
          </a:solidFill>
          <a:ln w="12700">
            <a:solidFill>
              <a:srgbClr val="E2DCD2"/>
            </a:solidFill>
            <a:prstDash val="solid"/>
          </a:ln>
        </p:spPr>
      </p:sp>
      <p:sp>
        <p:nvSpPr>
          <p:cNvPr id="22" name="Text 20"/>
          <p:cNvSpPr/>
          <p:nvPr/>
        </p:nvSpPr>
        <p:spPr>
          <a:xfrm>
            <a:off x="8823960" y="1965960"/>
            <a:ext cx="2542032" cy="475488"/>
          </a:xfrm>
          <a:prstGeom prst="rect">
            <a:avLst/>
          </a:prstGeom>
          <a:noFill/>
          <a:ln/>
        </p:spPr>
        <p:txBody>
          <a:bodyPr wrap="square" rtlCol="0" anchor="ctr"/>
          <a:lstStyle/>
          <a:p>
            <a:pPr indent="0" marL="0">
              <a:lnSpc>
                <a:spcPts val="1300"/>
              </a:lnSpc>
              <a:buNone/>
            </a:pPr>
            <a:r>
              <a:rPr lang="en-US" sz="880" b="1" dirty="0">
                <a:solidFill>
                  <a:srgbClr val="1C1917"/>
                </a:solidFill>
                <a:latin typeface="Arial" pitchFamily="34" charset="0"/>
                <a:ea typeface="Arial" pitchFamily="34" charset="-122"/>
                <a:cs typeface="Arial" pitchFamily="34" charset="-120"/>
              </a:rPr>
              <a:t>日常交付重敏捷；科研解题重深思</a:t>
            </a:r>
            <a:endParaRPr lang="en-US" sz="880" dirty="0"/>
          </a:p>
        </p:txBody>
      </p:sp>
      <p:sp>
        <p:nvSpPr>
          <p:cNvPr id="23" name="Shape 21"/>
          <p:cNvSpPr/>
          <p:nvPr/>
        </p:nvSpPr>
        <p:spPr>
          <a:xfrm>
            <a:off x="731520" y="2660904"/>
            <a:ext cx="2011680" cy="822960"/>
          </a:xfrm>
          <a:prstGeom prst="rect">
            <a:avLst/>
          </a:prstGeom>
          <a:solidFill>
            <a:srgbClr val="EFEBE1"/>
          </a:solidFill>
          <a:ln w="12700">
            <a:solidFill>
              <a:srgbClr val="E2DCD2"/>
            </a:solidFill>
            <a:prstDash val="solid"/>
          </a:ln>
        </p:spPr>
      </p:sp>
      <p:sp>
        <p:nvSpPr>
          <p:cNvPr id="24" name="Text 22"/>
          <p:cNvSpPr/>
          <p:nvPr/>
        </p:nvSpPr>
        <p:spPr>
          <a:xfrm>
            <a:off x="822960" y="2807208"/>
            <a:ext cx="1828800" cy="256032"/>
          </a:xfrm>
          <a:prstGeom prst="rect">
            <a:avLst/>
          </a:prstGeom>
          <a:noFill/>
          <a:ln/>
        </p:spPr>
        <p:txBody>
          <a:bodyPr wrap="square" rtlCol="0" anchor="ctr"/>
          <a:lstStyle/>
          <a:p>
            <a:pPr indent="0" marL="0">
              <a:buNone/>
            </a:pPr>
            <a:r>
              <a:rPr lang="en-US" sz="1000" b="1" dirty="0">
                <a:solidFill>
                  <a:srgbClr val="1C1917"/>
                </a:solidFill>
                <a:latin typeface="Arial" pitchFamily="34" charset="0"/>
                <a:ea typeface="Arial" pitchFamily="34" charset="-122"/>
                <a:cs typeface="Arial" pitchFamily="34" charset="-120"/>
              </a:rPr>
              <a:t>底层推理模式</a:t>
            </a:r>
            <a:endParaRPr lang="en-US" sz="1000" dirty="0"/>
          </a:p>
        </p:txBody>
      </p:sp>
      <p:sp>
        <p:nvSpPr>
          <p:cNvPr id="25" name="Text 23"/>
          <p:cNvSpPr/>
          <p:nvPr/>
        </p:nvSpPr>
        <p:spPr>
          <a:xfrm>
            <a:off x="822960" y="3081528"/>
            <a:ext cx="1828800" cy="228600"/>
          </a:xfrm>
          <a:prstGeom prst="rect">
            <a:avLst/>
          </a:prstGeom>
          <a:noFill/>
          <a:ln/>
        </p:spPr>
        <p:txBody>
          <a:bodyPr wrap="square" rtlCol="0" anchor="ctr"/>
          <a:lstStyle/>
          <a:p>
            <a:pPr indent="0" marL="0">
              <a:buNone/>
            </a:pPr>
            <a:r>
              <a:rPr lang="en-US" sz="850" dirty="0">
                <a:solidFill>
                  <a:srgbClr val="57534E"/>
                </a:solidFill>
                <a:latin typeface="Arial" pitchFamily="34" charset="0"/>
                <a:ea typeface="Arial" pitchFamily="34" charset="-122"/>
                <a:cs typeface="Arial" pitchFamily="34" charset="-120"/>
              </a:rPr>
              <a:t>容错成本</a:t>
            </a:r>
            <a:endParaRPr lang="en-US" sz="850" dirty="0"/>
          </a:p>
        </p:txBody>
      </p:sp>
      <p:sp>
        <p:nvSpPr>
          <p:cNvPr id="26" name="Shape 24"/>
          <p:cNvSpPr/>
          <p:nvPr/>
        </p:nvSpPr>
        <p:spPr>
          <a:xfrm>
            <a:off x="2788920" y="2660904"/>
            <a:ext cx="2926080" cy="822960"/>
          </a:xfrm>
          <a:prstGeom prst="rect">
            <a:avLst/>
          </a:prstGeom>
          <a:solidFill>
            <a:srgbClr val="FBF0EB"/>
          </a:solidFill>
          <a:ln w="12700">
            <a:solidFill>
              <a:srgbClr val="F0C2B2"/>
            </a:solidFill>
            <a:prstDash val="solid"/>
          </a:ln>
        </p:spPr>
      </p:sp>
      <p:sp>
        <p:nvSpPr>
          <p:cNvPr id="27" name="Text 25"/>
          <p:cNvSpPr/>
          <p:nvPr/>
        </p:nvSpPr>
        <p:spPr>
          <a:xfrm>
            <a:off x="2880360" y="2770632"/>
            <a:ext cx="2743200" cy="621792"/>
          </a:xfrm>
          <a:prstGeom prst="rect">
            <a:avLst/>
          </a:prstGeom>
          <a:noFill/>
          <a:ln/>
        </p:spPr>
        <p:txBody>
          <a:bodyPr wrap="square" rtlCol="0" anchor="ctr"/>
          <a:lstStyle/>
          <a:p>
            <a:pPr indent="0" marL="0">
              <a:lnSpc>
                <a:spcPts val="1300"/>
              </a:lnSpc>
              <a:buNone/>
            </a:pPr>
            <a:r>
              <a:rPr lang="en-US" sz="880" b="1" dirty="0">
                <a:solidFill>
                  <a:srgbClr val="D97757"/>
                </a:solidFill>
                <a:latin typeface="Arial" pitchFamily="34" charset="0"/>
                <a:ea typeface="Arial" pitchFamily="34" charset="-122"/>
                <a:cs typeface="Arial" pitchFamily="34" charset="-120"/>
              </a:rPr>
              <a:t>快速试错 + 编译器物理校正 (Fast Loop)</a:t>
            </a:r>
            <a:endParaRPr lang="en-US" sz="880" dirty="0"/>
          </a:p>
          <a:p>
            <a:pPr indent="0" marL="0">
              <a:lnSpc>
                <a:spcPts val="1300"/>
              </a:lnSpc>
              <a:buNone/>
            </a:pPr>
            <a:r>
              <a:rPr lang="en-US" sz="880" b="1" dirty="0">
                <a:solidFill>
                  <a:srgbClr val="D97757"/>
                </a:solidFill>
                <a:latin typeface="Arial" pitchFamily="34" charset="0"/>
                <a:ea typeface="Arial" pitchFamily="34" charset="-122"/>
                <a:cs typeface="Arial" pitchFamily="34" charset="-120"/>
              </a:rPr>
              <a:t>3 次敏捷迭代 100 秒搞定真实 Bug</a:t>
            </a:r>
            <a:endParaRPr lang="en-US" sz="880" dirty="0"/>
          </a:p>
        </p:txBody>
      </p:sp>
      <p:sp>
        <p:nvSpPr>
          <p:cNvPr id="28" name="Shape 26"/>
          <p:cNvSpPr/>
          <p:nvPr/>
        </p:nvSpPr>
        <p:spPr>
          <a:xfrm>
            <a:off x="5760720" y="2660904"/>
            <a:ext cx="2926080" cy="822960"/>
          </a:xfrm>
          <a:prstGeom prst="rect">
            <a:avLst/>
          </a:prstGeom>
          <a:solidFill>
            <a:srgbClr val="F5F2EB"/>
          </a:solidFill>
          <a:ln w="12700">
            <a:solidFill>
              <a:srgbClr val="E2DCD2"/>
            </a:solidFill>
            <a:prstDash val="solid"/>
          </a:ln>
        </p:spPr>
      </p:sp>
      <p:sp>
        <p:nvSpPr>
          <p:cNvPr id="29" name="Text 27"/>
          <p:cNvSpPr/>
          <p:nvPr/>
        </p:nvSpPr>
        <p:spPr>
          <a:xfrm>
            <a:off x="5852160" y="2770632"/>
            <a:ext cx="2743200" cy="621792"/>
          </a:xfrm>
          <a:prstGeom prst="rect">
            <a:avLst/>
          </a:prstGeom>
          <a:noFill/>
          <a:ln/>
        </p:spPr>
        <p:txBody>
          <a:bodyPr wrap="square" rtlCol="0" anchor="ctr"/>
          <a:lstStyle/>
          <a:p>
            <a:pPr indent="0" marL="0">
              <a:lnSpc>
                <a:spcPts val="1300"/>
              </a:lnSpc>
              <a:buNone/>
            </a:pPr>
            <a:r>
              <a:rPr lang="en-US" sz="880" b="1" dirty="0">
                <a:solidFill>
                  <a:srgbClr val="475569"/>
                </a:solidFill>
                <a:latin typeface="Arial" pitchFamily="34" charset="0"/>
                <a:ea typeface="Arial" pitchFamily="34" charset="-122"/>
                <a:cs typeface="Arial" pitchFamily="34" charset="-120"/>
              </a:rPr>
              <a:t>长隐藏思维链搜索 (Tree-of-Thought)</a:t>
            </a:r>
            <a:endParaRPr lang="en-US" sz="880" dirty="0"/>
          </a:p>
          <a:p>
            <a:pPr indent="0" marL="0">
              <a:lnSpc>
                <a:spcPts val="1300"/>
              </a:lnSpc>
              <a:buNone/>
            </a:pPr>
            <a:r>
              <a:rPr lang="en-US" sz="880" b="1" dirty="0">
                <a:solidFill>
                  <a:srgbClr val="475569"/>
                </a:solidFill>
                <a:latin typeface="Arial" pitchFamily="34" charset="0"/>
                <a:ea typeface="Arial" pitchFamily="34" charset="-122"/>
                <a:cs typeface="Arial" pitchFamily="34" charset="-120"/>
              </a:rPr>
              <a:t>单次沉思 3 分钟，一旦走偏成本极高</a:t>
            </a:r>
            <a:endParaRPr lang="en-US" sz="880" dirty="0"/>
          </a:p>
        </p:txBody>
      </p:sp>
      <p:sp>
        <p:nvSpPr>
          <p:cNvPr id="30" name="Shape 28"/>
          <p:cNvSpPr/>
          <p:nvPr/>
        </p:nvSpPr>
        <p:spPr>
          <a:xfrm>
            <a:off x="8732520" y="2660904"/>
            <a:ext cx="2724912" cy="822960"/>
          </a:xfrm>
          <a:prstGeom prst="rect">
            <a:avLst/>
          </a:prstGeom>
          <a:solidFill>
            <a:srgbClr val="F5F2EB"/>
          </a:solidFill>
          <a:ln w="12700">
            <a:solidFill>
              <a:srgbClr val="E2DCD2"/>
            </a:solidFill>
            <a:prstDash val="solid"/>
          </a:ln>
        </p:spPr>
      </p:sp>
      <p:sp>
        <p:nvSpPr>
          <p:cNvPr id="31" name="Text 29"/>
          <p:cNvSpPr/>
          <p:nvPr/>
        </p:nvSpPr>
        <p:spPr>
          <a:xfrm>
            <a:off x="8823960" y="2843784"/>
            <a:ext cx="2542032" cy="475488"/>
          </a:xfrm>
          <a:prstGeom prst="rect">
            <a:avLst/>
          </a:prstGeom>
          <a:noFill/>
          <a:ln/>
        </p:spPr>
        <p:txBody>
          <a:bodyPr wrap="square" rtlCol="0" anchor="ctr"/>
          <a:lstStyle/>
          <a:p>
            <a:pPr indent="0" marL="0">
              <a:lnSpc>
                <a:spcPts val="1300"/>
              </a:lnSpc>
              <a:buNone/>
            </a:pPr>
            <a:r>
              <a:rPr lang="en-US" sz="880" b="1" dirty="0">
                <a:solidFill>
                  <a:srgbClr val="1C1917"/>
                </a:solidFill>
                <a:latin typeface="Arial" pitchFamily="34" charset="0"/>
                <a:ea typeface="Arial" pitchFamily="34" charset="-122"/>
                <a:cs typeface="Arial" pitchFamily="34" charset="-120"/>
              </a:rPr>
              <a:t>工程不确定性下，高频试错胜过深思</a:t>
            </a:r>
            <a:endParaRPr lang="en-US" sz="880" dirty="0"/>
          </a:p>
        </p:txBody>
      </p:sp>
      <p:sp>
        <p:nvSpPr>
          <p:cNvPr id="32" name="Shape 30"/>
          <p:cNvSpPr/>
          <p:nvPr/>
        </p:nvSpPr>
        <p:spPr>
          <a:xfrm>
            <a:off x="731520" y="3538728"/>
            <a:ext cx="2011680" cy="822960"/>
          </a:xfrm>
          <a:prstGeom prst="rect">
            <a:avLst/>
          </a:prstGeom>
          <a:solidFill>
            <a:srgbClr val="EFEBE1"/>
          </a:solidFill>
          <a:ln w="12700">
            <a:solidFill>
              <a:srgbClr val="E2DCD2"/>
            </a:solidFill>
            <a:prstDash val="solid"/>
          </a:ln>
        </p:spPr>
      </p:sp>
      <p:sp>
        <p:nvSpPr>
          <p:cNvPr id="33" name="Text 31"/>
          <p:cNvSpPr/>
          <p:nvPr/>
        </p:nvSpPr>
        <p:spPr>
          <a:xfrm>
            <a:off x="822960" y="3685032"/>
            <a:ext cx="1828800" cy="256032"/>
          </a:xfrm>
          <a:prstGeom prst="rect">
            <a:avLst/>
          </a:prstGeom>
          <a:noFill/>
          <a:ln/>
        </p:spPr>
        <p:txBody>
          <a:bodyPr wrap="square" rtlCol="0" anchor="ctr"/>
          <a:lstStyle/>
          <a:p>
            <a:pPr indent="0" marL="0">
              <a:buNone/>
            </a:pPr>
            <a:r>
              <a:rPr lang="en-US" sz="1000" b="1" dirty="0">
                <a:solidFill>
                  <a:srgbClr val="1C1917"/>
                </a:solidFill>
                <a:latin typeface="Arial" pitchFamily="34" charset="0"/>
                <a:ea typeface="Arial" pitchFamily="34" charset="-122"/>
                <a:cs typeface="Arial" pitchFamily="34" charset="-120"/>
              </a:rPr>
              <a:t>开发者心智</a:t>
            </a:r>
            <a:endParaRPr lang="en-US" sz="1000" dirty="0"/>
          </a:p>
        </p:txBody>
      </p:sp>
      <p:sp>
        <p:nvSpPr>
          <p:cNvPr id="34" name="Text 32"/>
          <p:cNvSpPr/>
          <p:nvPr/>
        </p:nvSpPr>
        <p:spPr>
          <a:xfrm>
            <a:off x="822960" y="3959352"/>
            <a:ext cx="1828800" cy="228600"/>
          </a:xfrm>
          <a:prstGeom prst="rect">
            <a:avLst/>
          </a:prstGeom>
          <a:noFill/>
          <a:ln/>
        </p:spPr>
        <p:txBody>
          <a:bodyPr wrap="square" rtlCol="0" anchor="ctr"/>
          <a:lstStyle/>
          <a:p>
            <a:pPr indent="0" marL="0">
              <a:buNone/>
            </a:pPr>
            <a:r>
              <a:rPr lang="en-US" sz="850" dirty="0">
                <a:solidFill>
                  <a:srgbClr val="57534E"/>
                </a:solidFill>
                <a:latin typeface="Arial" pitchFamily="34" charset="0"/>
                <a:ea typeface="Arial" pitchFamily="34" charset="-122"/>
                <a:cs typeface="Arial" pitchFamily="34" charset="-120"/>
              </a:rPr>
              <a:t>用户忠诚度</a:t>
            </a:r>
            <a:endParaRPr lang="en-US" sz="850" dirty="0"/>
          </a:p>
        </p:txBody>
      </p:sp>
      <p:sp>
        <p:nvSpPr>
          <p:cNvPr id="35" name="Shape 33"/>
          <p:cNvSpPr/>
          <p:nvPr/>
        </p:nvSpPr>
        <p:spPr>
          <a:xfrm>
            <a:off x="2788920" y="3538728"/>
            <a:ext cx="2926080" cy="822960"/>
          </a:xfrm>
          <a:prstGeom prst="rect">
            <a:avLst/>
          </a:prstGeom>
          <a:solidFill>
            <a:srgbClr val="FBF0EB"/>
          </a:solidFill>
          <a:ln w="12700">
            <a:solidFill>
              <a:srgbClr val="F0C2B2"/>
            </a:solidFill>
            <a:prstDash val="solid"/>
          </a:ln>
        </p:spPr>
      </p:sp>
      <p:sp>
        <p:nvSpPr>
          <p:cNvPr id="36" name="Text 34"/>
          <p:cNvSpPr/>
          <p:nvPr/>
        </p:nvSpPr>
        <p:spPr>
          <a:xfrm>
            <a:off x="2880360" y="3648456"/>
            <a:ext cx="2743200" cy="621792"/>
          </a:xfrm>
          <a:prstGeom prst="rect">
            <a:avLst/>
          </a:prstGeom>
          <a:noFill/>
          <a:ln/>
        </p:spPr>
        <p:txBody>
          <a:bodyPr wrap="square" rtlCol="0" anchor="ctr"/>
          <a:lstStyle/>
          <a:p>
            <a:pPr indent="0" marL="0">
              <a:lnSpc>
                <a:spcPts val="1300"/>
              </a:lnSpc>
              <a:buNone/>
            </a:pPr>
            <a:r>
              <a:rPr lang="en-US" sz="880" b="1" dirty="0">
                <a:solidFill>
                  <a:srgbClr val="D97757"/>
                </a:solidFill>
                <a:latin typeface="Arial" pitchFamily="34" charset="0"/>
                <a:ea typeface="Arial" pitchFamily="34" charset="-122"/>
                <a:cs typeface="Arial" pitchFamily="34" charset="-120"/>
              </a:rPr>
              <a:t>工业级生产第一首选 (生产主力军)</a:t>
            </a:r>
            <a:endParaRPr lang="en-US" sz="880" dirty="0"/>
          </a:p>
          <a:p>
            <a:pPr indent="0" marL="0">
              <a:lnSpc>
                <a:spcPts val="1300"/>
              </a:lnSpc>
              <a:buNone/>
            </a:pPr>
            <a:r>
              <a:rPr lang="en-US" sz="880" b="1" dirty="0">
                <a:solidFill>
                  <a:srgbClr val="D97757"/>
                </a:solidFill>
                <a:latin typeface="Arial" pitchFamily="34" charset="0"/>
                <a:ea typeface="Arial" pitchFamily="34" charset="-122"/>
                <a:cs typeface="Arial" pitchFamily="34" charset="-120"/>
              </a:rPr>
              <a:t>程序员用钱包自费购买，极强肌肉记忆</a:t>
            </a:r>
            <a:endParaRPr lang="en-US" sz="880" dirty="0"/>
          </a:p>
        </p:txBody>
      </p:sp>
      <p:sp>
        <p:nvSpPr>
          <p:cNvPr id="37" name="Shape 35"/>
          <p:cNvSpPr/>
          <p:nvPr/>
        </p:nvSpPr>
        <p:spPr>
          <a:xfrm>
            <a:off x="5760720" y="3538728"/>
            <a:ext cx="2926080" cy="822960"/>
          </a:xfrm>
          <a:prstGeom prst="rect">
            <a:avLst/>
          </a:prstGeom>
          <a:solidFill>
            <a:srgbClr val="FFFFFF"/>
          </a:solidFill>
          <a:ln w="12700">
            <a:solidFill>
              <a:srgbClr val="E2DCD2"/>
            </a:solidFill>
            <a:prstDash val="solid"/>
          </a:ln>
        </p:spPr>
      </p:sp>
      <p:sp>
        <p:nvSpPr>
          <p:cNvPr id="38" name="Text 36"/>
          <p:cNvSpPr/>
          <p:nvPr/>
        </p:nvSpPr>
        <p:spPr>
          <a:xfrm>
            <a:off x="5852160" y="3648456"/>
            <a:ext cx="2743200" cy="621792"/>
          </a:xfrm>
          <a:prstGeom prst="rect">
            <a:avLst/>
          </a:prstGeom>
          <a:noFill/>
          <a:ln/>
        </p:spPr>
        <p:txBody>
          <a:bodyPr wrap="square" rtlCol="0" anchor="ctr"/>
          <a:lstStyle/>
          <a:p>
            <a:pPr indent="0" marL="0">
              <a:lnSpc>
                <a:spcPts val="1300"/>
              </a:lnSpc>
              <a:buNone/>
            </a:pPr>
            <a:r>
              <a:rPr lang="en-US" sz="880" b="1" dirty="0">
                <a:solidFill>
                  <a:srgbClr val="475569"/>
                </a:solidFill>
                <a:latin typeface="Arial" pitchFamily="34" charset="0"/>
                <a:ea typeface="Arial" pitchFamily="34" charset="-122"/>
                <a:cs typeface="Arial" pitchFamily="34" charset="-120"/>
              </a:rPr>
              <a:t>竞赛解题与特种破局 (科研特战队)</a:t>
            </a:r>
            <a:endParaRPr lang="en-US" sz="880" dirty="0"/>
          </a:p>
          <a:p>
            <a:pPr indent="0" marL="0">
              <a:lnSpc>
                <a:spcPts val="1300"/>
              </a:lnSpc>
              <a:buNone/>
            </a:pPr>
            <a:r>
              <a:rPr lang="en-US" sz="880" b="1" dirty="0">
                <a:solidFill>
                  <a:srgbClr val="475569"/>
                </a:solidFill>
                <a:latin typeface="Arial" pitchFamily="34" charset="0"/>
                <a:ea typeface="Arial" pitchFamily="34" charset="-122"/>
                <a:cs typeface="Arial" pitchFamily="34" charset="-120"/>
              </a:rPr>
              <a:t>高精尖算法证明与单点攻坚标杆</a:t>
            </a:r>
            <a:endParaRPr lang="en-US" sz="880" dirty="0"/>
          </a:p>
        </p:txBody>
      </p:sp>
      <p:sp>
        <p:nvSpPr>
          <p:cNvPr id="39" name="Shape 37"/>
          <p:cNvSpPr/>
          <p:nvPr/>
        </p:nvSpPr>
        <p:spPr>
          <a:xfrm>
            <a:off x="8732520" y="3538728"/>
            <a:ext cx="2724912" cy="822960"/>
          </a:xfrm>
          <a:prstGeom prst="rect">
            <a:avLst/>
          </a:prstGeom>
          <a:solidFill>
            <a:srgbClr val="FFFFFF"/>
          </a:solidFill>
          <a:ln w="12700">
            <a:solidFill>
              <a:srgbClr val="E2DCD2"/>
            </a:solidFill>
            <a:prstDash val="solid"/>
          </a:ln>
        </p:spPr>
      </p:sp>
      <p:sp>
        <p:nvSpPr>
          <p:cNvPr id="40" name="Text 38"/>
          <p:cNvSpPr/>
          <p:nvPr/>
        </p:nvSpPr>
        <p:spPr>
          <a:xfrm>
            <a:off x="8823960" y="3721608"/>
            <a:ext cx="2542032" cy="475488"/>
          </a:xfrm>
          <a:prstGeom prst="rect">
            <a:avLst/>
          </a:prstGeom>
          <a:noFill/>
          <a:ln/>
        </p:spPr>
        <p:txBody>
          <a:bodyPr wrap="square" rtlCol="0" anchor="ctr"/>
          <a:lstStyle/>
          <a:p>
            <a:pPr indent="0" marL="0">
              <a:lnSpc>
                <a:spcPts val="1300"/>
              </a:lnSpc>
              <a:buNone/>
            </a:pPr>
            <a:r>
              <a:rPr lang="en-US" sz="880" b="1" dirty="0">
                <a:solidFill>
                  <a:srgbClr val="1C1917"/>
                </a:solidFill>
                <a:latin typeface="Arial" pitchFamily="34" charset="0"/>
                <a:ea typeface="Arial" pitchFamily="34" charset="-122"/>
                <a:cs typeface="Arial" pitchFamily="34" charset="-120"/>
              </a:rPr>
              <a:t>Claude 占据日常现金流与真实流量</a:t>
            </a:r>
            <a:endParaRPr lang="en-US" sz="880" dirty="0"/>
          </a:p>
        </p:txBody>
      </p:sp>
      <p:sp>
        <p:nvSpPr>
          <p:cNvPr id="41" name="Shape 39"/>
          <p:cNvSpPr/>
          <p:nvPr/>
        </p:nvSpPr>
        <p:spPr>
          <a:xfrm>
            <a:off x="731520" y="4416552"/>
            <a:ext cx="2011680" cy="822960"/>
          </a:xfrm>
          <a:prstGeom prst="rect">
            <a:avLst/>
          </a:prstGeom>
          <a:solidFill>
            <a:srgbClr val="EFEBE1"/>
          </a:solidFill>
          <a:ln w="12700">
            <a:solidFill>
              <a:srgbClr val="E2DCD2"/>
            </a:solidFill>
            <a:prstDash val="solid"/>
          </a:ln>
        </p:spPr>
      </p:sp>
      <p:sp>
        <p:nvSpPr>
          <p:cNvPr id="42" name="Text 40"/>
          <p:cNvSpPr/>
          <p:nvPr/>
        </p:nvSpPr>
        <p:spPr>
          <a:xfrm>
            <a:off x="822960" y="4562856"/>
            <a:ext cx="1828800" cy="256032"/>
          </a:xfrm>
          <a:prstGeom prst="rect">
            <a:avLst/>
          </a:prstGeom>
          <a:noFill/>
          <a:ln/>
        </p:spPr>
        <p:txBody>
          <a:bodyPr wrap="square" rtlCol="0" anchor="ctr"/>
          <a:lstStyle/>
          <a:p>
            <a:pPr indent="0" marL="0">
              <a:buNone/>
            </a:pPr>
            <a:r>
              <a:rPr lang="en-US" sz="1000" b="1" dirty="0">
                <a:solidFill>
                  <a:srgbClr val="1C1917"/>
                </a:solidFill>
                <a:latin typeface="Arial" pitchFamily="34" charset="0"/>
                <a:ea typeface="Arial" pitchFamily="34" charset="-122"/>
                <a:cs typeface="Arial" pitchFamily="34" charset="-120"/>
              </a:rPr>
              <a:t>工具生态哲学</a:t>
            </a:r>
            <a:endParaRPr lang="en-US" sz="1000" dirty="0"/>
          </a:p>
        </p:txBody>
      </p:sp>
      <p:sp>
        <p:nvSpPr>
          <p:cNvPr id="43" name="Text 41"/>
          <p:cNvSpPr/>
          <p:nvPr/>
        </p:nvSpPr>
        <p:spPr>
          <a:xfrm>
            <a:off x="822960" y="4837176"/>
            <a:ext cx="1828800" cy="228600"/>
          </a:xfrm>
          <a:prstGeom prst="rect">
            <a:avLst/>
          </a:prstGeom>
          <a:noFill/>
          <a:ln/>
        </p:spPr>
        <p:txBody>
          <a:bodyPr wrap="square" rtlCol="0" anchor="ctr"/>
          <a:lstStyle/>
          <a:p>
            <a:pPr indent="0" marL="0">
              <a:buNone/>
            </a:pPr>
            <a:r>
              <a:rPr lang="en-US" sz="850" dirty="0">
                <a:solidFill>
                  <a:srgbClr val="57534E"/>
                </a:solidFill>
                <a:latin typeface="Arial" pitchFamily="34" charset="0"/>
                <a:ea typeface="Arial" pitchFamily="34" charset="-122"/>
                <a:cs typeface="Arial" pitchFamily="34" charset="-120"/>
              </a:rPr>
              <a:t>集成架构</a:t>
            </a:r>
            <a:endParaRPr lang="en-US" sz="850" dirty="0"/>
          </a:p>
        </p:txBody>
      </p:sp>
      <p:sp>
        <p:nvSpPr>
          <p:cNvPr id="44" name="Shape 42"/>
          <p:cNvSpPr/>
          <p:nvPr/>
        </p:nvSpPr>
        <p:spPr>
          <a:xfrm>
            <a:off x="2788920" y="4416552"/>
            <a:ext cx="2926080" cy="822960"/>
          </a:xfrm>
          <a:prstGeom prst="rect">
            <a:avLst/>
          </a:prstGeom>
          <a:solidFill>
            <a:srgbClr val="FBF0EB"/>
          </a:solidFill>
          <a:ln w="12700">
            <a:solidFill>
              <a:srgbClr val="F0C2B2"/>
            </a:solidFill>
            <a:prstDash val="solid"/>
          </a:ln>
        </p:spPr>
      </p:sp>
      <p:sp>
        <p:nvSpPr>
          <p:cNvPr id="45" name="Text 43"/>
          <p:cNvSpPr/>
          <p:nvPr/>
        </p:nvSpPr>
        <p:spPr>
          <a:xfrm>
            <a:off x="2880360" y="4526280"/>
            <a:ext cx="2743200" cy="621792"/>
          </a:xfrm>
          <a:prstGeom prst="rect">
            <a:avLst/>
          </a:prstGeom>
          <a:noFill/>
          <a:ln/>
        </p:spPr>
        <p:txBody>
          <a:bodyPr wrap="square" rtlCol="0" anchor="ctr"/>
          <a:lstStyle/>
          <a:p>
            <a:pPr indent="0" marL="0">
              <a:lnSpc>
                <a:spcPts val="1300"/>
              </a:lnSpc>
              <a:buNone/>
            </a:pPr>
            <a:r>
              <a:rPr lang="en-US" sz="880" b="1" dirty="0">
                <a:solidFill>
                  <a:srgbClr val="D97757"/>
                </a:solidFill>
                <a:latin typeface="Arial" pitchFamily="34" charset="0"/>
                <a:ea typeface="Arial" pitchFamily="34" charset="-122"/>
                <a:cs typeface="Arial" pitchFamily="34" charset="-120"/>
              </a:rPr>
              <a:t>Claude Code 纯命令行轻量装甲</a:t>
            </a:r>
            <a:endParaRPr lang="en-US" sz="880" dirty="0"/>
          </a:p>
          <a:p>
            <a:pPr indent="0" marL="0">
              <a:lnSpc>
                <a:spcPts val="1300"/>
              </a:lnSpc>
              <a:buNone/>
            </a:pPr>
            <a:r>
              <a:rPr lang="en-US" sz="880" b="1" dirty="0">
                <a:solidFill>
                  <a:srgbClr val="D97757"/>
                </a:solidFill>
                <a:latin typeface="Arial" pitchFamily="34" charset="0"/>
                <a:ea typeface="Arial" pitchFamily="34" charset="-122"/>
                <a:cs typeface="Arial" pitchFamily="34" charset="-120"/>
              </a:rPr>
              <a:t>零冗余协议，直接操纵原生 Bash 管道</a:t>
            </a:r>
            <a:endParaRPr lang="en-US" sz="880" dirty="0"/>
          </a:p>
        </p:txBody>
      </p:sp>
      <p:sp>
        <p:nvSpPr>
          <p:cNvPr id="46" name="Shape 44"/>
          <p:cNvSpPr/>
          <p:nvPr/>
        </p:nvSpPr>
        <p:spPr>
          <a:xfrm>
            <a:off x="5760720" y="4416552"/>
            <a:ext cx="2926080" cy="822960"/>
          </a:xfrm>
          <a:prstGeom prst="rect">
            <a:avLst/>
          </a:prstGeom>
          <a:solidFill>
            <a:srgbClr val="F5F2EB"/>
          </a:solidFill>
          <a:ln w="12700">
            <a:solidFill>
              <a:srgbClr val="E2DCD2"/>
            </a:solidFill>
            <a:prstDash val="solid"/>
          </a:ln>
        </p:spPr>
      </p:sp>
      <p:sp>
        <p:nvSpPr>
          <p:cNvPr id="47" name="Text 45"/>
          <p:cNvSpPr/>
          <p:nvPr/>
        </p:nvSpPr>
        <p:spPr>
          <a:xfrm>
            <a:off x="5852160" y="4526280"/>
            <a:ext cx="2743200" cy="621792"/>
          </a:xfrm>
          <a:prstGeom prst="rect">
            <a:avLst/>
          </a:prstGeom>
          <a:noFill/>
          <a:ln/>
        </p:spPr>
        <p:txBody>
          <a:bodyPr wrap="square" rtlCol="0" anchor="ctr"/>
          <a:lstStyle/>
          <a:p>
            <a:pPr indent="0" marL="0">
              <a:lnSpc>
                <a:spcPts val="1300"/>
              </a:lnSpc>
              <a:buNone/>
            </a:pPr>
            <a:r>
              <a:rPr lang="en-US" sz="880" b="1" dirty="0">
                <a:solidFill>
                  <a:srgbClr val="475569"/>
                </a:solidFill>
                <a:latin typeface="Arial" pitchFamily="34" charset="0"/>
                <a:ea typeface="Arial" pitchFamily="34" charset="-122"/>
                <a:cs typeface="Arial" pitchFamily="34" charset="-120"/>
              </a:rPr>
              <a:t>Codex CLI + ChatGPT Enterprise 全家桶</a:t>
            </a:r>
            <a:endParaRPr lang="en-US" sz="880" dirty="0"/>
          </a:p>
          <a:p>
            <a:pPr indent="0" marL="0">
              <a:lnSpc>
                <a:spcPts val="1300"/>
              </a:lnSpc>
              <a:buNone/>
            </a:pPr>
            <a:r>
              <a:rPr lang="en-US" sz="880" b="1" dirty="0">
                <a:solidFill>
                  <a:srgbClr val="475569"/>
                </a:solidFill>
                <a:latin typeface="Arial" pitchFamily="34" charset="0"/>
                <a:ea typeface="Arial" pitchFamily="34" charset="-122"/>
                <a:cs typeface="Arial" pitchFamily="34" charset="-120"/>
              </a:rPr>
              <a:t>倾向于平台化重型封装与企业级工作流</a:t>
            </a:r>
            <a:endParaRPr lang="en-US" sz="880" dirty="0"/>
          </a:p>
        </p:txBody>
      </p:sp>
      <p:sp>
        <p:nvSpPr>
          <p:cNvPr id="48" name="Shape 46"/>
          <p:cNvSpPr/>
          <p:nvPr/>
        </p:nvSpPr>
        <p:spPr>
          <a:xfrm>
            <a:off x="8732520" y="4416552"/>
            <a:ext cx="2724912" cy="822960"/>
          </a:xfrm>
          <a:prstGeom prst="rect">
            <a:avLst/>
          </a:prstGeom>
          <a:solidFill>
            <a:srgbClr val="F5F2EB"/>
          </a:solidFill>
          <a:ln w="12700">
            <a:solidFill>
              <a:srgbClr val="E2DCD2"/>
            </a:solidFill>
            <a:prstDash val="solid"/>
          </a:ln>
        </p:spPr>
      </p:sp>
      <p:sp>
        <p:nvSpPr>
          <p:cNvPr id="49" name="Text 47"/>
          <p:cNvSpPr/>
          <p:nvPr/>
        </p:nvSpPr>
        <p:spPr>
          <a:xfrm>
            <a:off x="8823960" y="4599432"/>
            <a:ext cx="2542032" cy="475488"/>
          </a:xfrm>
          <a:prstGeom prst="rect">
            <a:avLst/>
          </a:prstGeom>
          <a:noFill/>
          <a:ln/>
        </p:spPr>
        <p:txBody>
          <a:bodyPr wrap="square" rtlCol="0" anchor="ctr"/>
          <a:lstStyle/>
          <a:p>
            <a:pPr indent="0" marL="0">
              <a:lnSpc>
                <a:spcPts val="1300"/>
              </a:lnSpc>
              <a:buNone/>
            </a:pPr>
            <a:r>
              <a:rPr lang="en-US" sz="880" b="1" dirty="0">
                <a:solidFill>
                  <a:srgbClr val="1C1917"/>
                </a:solidFill>
                <a:latin typeface="Arial" pitchFamily="34" charset="0"/>
                <a:ea typeface="Arial" pitchFamily="34" charset="-122"/>
                <a:cs typeface="Arial" pitchFamily="34" charset="-120"/>
              </a:rPr>
              <a:t>Unix 极简哲学在终端更具生命力</a:t>
            </a:r>
            <a:endParaRPr lang="en-US" sz="880" dirty="0"/>
          </a:p>
        </p:txBody>
      </p:sp>
      <p:sp>
        <p:nvSpPr>
          <p:cNvPr id="50" name="Shape 48"/>
          <p:cNvSpPr/>
          <p:nvPr/>
        </p:nvSpPr>
        <p:spPr>
          <a:xfrm>
            <a:off x="731520" y="5413248"/>
            <a:ext cx="10725912" cy="804672"/>
          </a:xfrm>
          <a:prstGeom prst="rect">
            <a:avLst/>
          </a:prstGeom>
          <a:solidFill>
            <a:srgbClr val="FFFFFF"/>
          </a:solidFill>
          <a:ln w="12700">
            <a:solidFill>
              <a:srgbClr val="F0C2B2"/>
            </a:solidFill>
            <a:prstDash val="solid"/>
          </a:ln>
        </p:spPr>
      </p:sp>
      <p:sp>
        <p:nvSpPr>
          <p:cNvPr id="51" name="Text 49"/>
          <p:cNvSpPr/>
          <p:nvPr/>
        </p:nvSpPr>
        <p:spPr>
          <a:xfrm>
            <a:off x="1005840" y="5632704"/>
            <a:ext cx="10177272" cy="411480"/>
          </a:xfrm>
          <a:prstGeom prst="rect">
            <a:avLst/>
          </a:prstGeom>
          <a:noFill/>
          <a:ln/>
        </p:spPr>
        <p:txBody>
          <a:bodyPr wrap="square" rtlCol="0" anchor="ctr"/>
          <a:lstStyle/>
          <a:p>
            <a:pPr algn="ctr" indent="0" marL="0">
              <a:buNone/>
            </a:pPr>
            <a:r>
              <a:rPr lang="en-US" sz="1050" b="1" dirty="0">
                <a:solidFill>
                  <a:srgbClr val="D97757"/>
                </a:solidFill>
                <a:latin typeface="Arial" pitchFamily="34" charset="0"/>
                <a:ea typeface="Arial" pitchFamily="34" charset="-122"/>
                <a:cs typeface="Arial" pitchFamily="34" charset="-120"/>
              </a:rPr>
              <a:t>战局战略定论：谷歌在工程真实战场彻底掉队；全球代码与 AGI 的终极王冠，已演化为 Anthropic（终端敏捷自愈）与 OpenAI（深度慢思考突破）的双雄绝巅博弈。</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1210"/>
        </a:solidFill>
      </p:bgPr>
    </p:bg>
    <p:spTree>
      <p:nvGrpSpPr>
        <p:cNvPr id="1" name=""/>
        <p:cNvGrpSpPr/>
        <p:nvPr/>
      </p:nvGrpSpPr>
      <p:grpSpPr>
        <a:xfrm>
          <a:off x="0" y="0"/>
          <a:ext cx="0" cy="0"/>
          <a:chOff x="0" y="0"/>
          <a:chExt cx="0" cy="0"/>
        </a:xfrm>
      </p:grpSpPr>
      <p:sp>
        <p:nvSpPr>
          <p:cNvPr id="2" name="Shape 0"/>
          <p:cNvSpPr/>
          <p:nvPr/>
        </p:nvSpPr>
        <p:spPr>
          <a:xfrm>
            <a:off x="731520" y="1097280"/>
            <a:ext cx="137160" cy="4663440"/>
          </a:xfrm>
          <a:prstGeom prst="rect">
            <a:avLst/>
          </a:prstGeom>
          <a:solidFill>
            <a:srgbClr val="D97757"/>
          </a:solidFill>
          <a:ln/>
        </p:spPr>
      </p:sp>
      <p:sp>
        <p:nvSpPr>
          <p:cNvPr id="3" name="Shape 1"/>
          <p:cNvSpPr/>
          <p:nvPr/>
        </p:nvSpPr>
        <p:spPr>
          <a:xfrm>
            <a:off x="1188720" y="1097280"/>
            <a:ext cx="10241280" cy="4663440"/>
          </a:xfrm>
          <a:prstGeom prst="rect">
            <a:avLst/>
          </a:prstGeom>
          <a:solidFill>
            <a:srgbClr val="1E1B18"/>
          </a:solidFill>
          <a:ln w="12700">
            <a:solidFill>
              <a:srgbClr val="38332E"/>
            </a:solidFill>
            <a:prstDash val="solid"/>
          </a:ln>
        </p:spPr>
      </p:sp>
      <p:sp>
        <p:nvSpPr>
          <p:cNvPr id="4" name="Shape 2"/>
          <p:cNvSpPr/>
          <p:nvPr/>
        </p:nvSpPr>
        <p:spPr>
          <a:xfrm>
            <a:off x="1737360" y="1554480"/>
            <a:ext cx="3108960" cy="320040"/>
          </a:xfrm>
          <a:prstGeom prst="rect">
            <a:avLst/>
          </a:prstGeom>
          <a:solidFill>
            <a:srgbClr val="261F1A"/>
          </a:solidFill>
          <a:ln w="12700">
            <a:solidFill>
              <a:srgbClr val="D97757"/>
            </a:solidFill>
            <a:prstDash val="solid"/>
          </a:ln>
        </p:spPr>
      </p:sp>
      <p:sp>
        <p:nvSpPr>
          <p:cNvPr id="5" name="Text 3"/>
          <p:cNvSpPr/>
          <p:nvPr/>
        </p:nvSpPr>
        <p:spPr>
          <a:xfrm>
            <a:off x="1737360" y="1554480"/>
            <a:ext cx="3108960" cy="320040"/>
          </a:xfrm>
          <a:prstGeom prst="rect">
            <a:avLst/>
          </a:prstGeom>
          <a:noFill/>
          <a:ln/>
        </p:spPr>
        <p:txBody>
          <a:bodyPr wrap="square" rtlCol="0" anchor="ctr"/>
          <a:lstStyle/>
          <a:p>
            <a:pPr algn="ctr" indent="0" marL="0">
              <a:buNone/>
            </a:pPr>
            <a:r>
              <a:rPr lang="en-US" sz="950" b="1" spc="150" kern="0" dirty="0">
                <a:solidFill>
                  <a:srgbClr val="D97757"/>
                </a:solidFill>
                <a:latin typeface="Arial" pitchFamily="34" charset="0"/>
                <a:ea typeface="Arial" pitchFamily="34" charset="-122"/>
                <a:cs typeface="Arial" pitchFamily="34" charset="-120"/>
              </a:rPr>
              <a:t>ARCHITECTURAL MOAT</a:t>
            </a:r>
            <a:endParaRPr lang="en-US" sz="950" dirty="0"/>
          </a:p>
        </p:txBody>
      </p:sp>
      <p:sp>
        <p:nvSpPr>
          <p:cNvPr id="6" name="Text 4"/>
          <p:cNvSpPr/>
          <p:nvPr/>
        </p:nvSpPr>
        <p:spPr>
          <a:xfrm>
            <a:off x="1737360" y="2103120"/>
            <a:ext cx="9144000" cy="685800"/>
          </a:xfrm>
          <a:prstGeom prst="rect">
            <a:avLst/>
          </a:prstGeom>
          <a:noFill/>
          <a:ln/>
        </p:spPr>
        <p:txBody>
          <a:bodyPr wrap="square" lIns="0" tIns="0" rIns="0" bIns="0" rtlCol="0" anchor="ctr"/>
          <a:lstStyle/>
          <a:p>
            <a:pPr indent="0" marL="0">
              <a:buNone/>
            </a:pPr>
            <a:r>
              <a:rPr lang="en-US" sz="3800" b="1" spc="150" kern="0" dirty="0">
                <a:solidFill>
                  <a:srgbClr val="D97757"/>
                </a:solidFill>
                <a:latin typeface="Arial" pitchFamily="34" charset="0"/>
                <a:ea typeface="Arial" pitchFamily="34" charset="-122"/>
                <a:cs typeface="Arial" pitchFamily="34" charset="-120"/>
              </a:rPr>
              <a:t>PART 02</a:t>
            </a:r>
            <a:endParaRPr lang="en-US" sz="3800" dirty="0"/>
          </a:p>
        </p:txBody>
      </p:sp>
      <p:sp>
        <p:nvSpPr>
          <p:cNvPr id="7" name="Text 5"/>
          <p:cNvSpPr/>
          <p:nvPr/>
        </p:nvSpPr>
        <p:spPr>
          <a:xfrm>
            <a:off x="1737360" y="2880360"/>
            <a:ext cx="9144000" cy="77724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终极解密：Claude 的统治级护城河</a:t>
            </a:r>
            <a:endParaRPr lang="en-US" sz="3000" dirty="0"/>
          </a:p>
        </p:txBody>
      </p:sp>
      <p:sp>
        <p:nvSpPr>
          <p:cNvPr id="8" name="Shape 6"/>
          <p:cNvSpPr/>
          <p:nvPr/>
        </p:nvSpPr>
        <p:spPr>
          <a:xfrm>
            <a:off x="1737360" y="3794760"/>
            <a:ext cx="8961120" cy="0"/>
          </a:xfrm>
          <a:prstGeom prst="line">
            <a:avLst/>
          </a:prstGeom>
          <a:noFill/>
          <a:ln w="12700">
            <a:solidFill>
              <a:srgbClr val="38332E"/>
            </a:solidFill>
            <a:prstDash val="solid"/>
          </a:ln>
        </p:spPr>
      </p:sp>
      <p:sp>
        <p:nvSpPr>
          <p:cNvPr id="9" name="Text 7"/>
          <p:cNvSpPr/>
          <p:nvPr/>
        </p:nvSpPr>
        <p:spPr>
          <a:xfrm>
            <a:off x="1737360" y="3977640"/>
            <a:ext cx="8961120" cy="777240"/>
          </a:xfrm>
          <a:prstGeom prst="rect">
            <a:avLst/>
          </a:prstGeom>
          <a:noFill/>
          <a:ln/>
        </p:spPr>
        <p:txBody>
          <a:bodyPr wrap="square" lIns="0" tIns="0" rIns="0" bIns="0" rtlCol="0" anchor="ctr"/>
          <a:lstStyle/>
          <a:p>
            <a:pPr indent="0" marL="0">
              <a:lnSpc>
                <a:spcPts val="2200"/>
              </a:lnSpc>
              <a:buNone/>
            </a:pPr>
            <a:r>
              <a:rPr lang="en-US" sz="1500" dirty="0">
                <a:solidFill>
                  <a:srgbClr val="D6D0C7"/>
                </a:solidFill>
                <a:latin typeface="Arial" pitchFamily="34" charset="0"/>
                <a:ea typeface="Arial" pitchFamily="34" charset="-122"/>
                <a:cs typeface="Arial" pitchFamily="34" charset="-120"/>
              </a:rPr>
              <a:t>深入底层数学与系统架构，解密为什么只有 Claude 跨过了工程自愈临界点。</a:t>
            </a:r>
            <a:endParaRPr lang="en-US" sz="1500" dirty="0"/>
          </a:p>
        </p:txBody>
      </p:sp>
      <p:sp>
        <p:nvSpPr>
          <p:cNvPr id="10" name="Text 8"/>
          <p:cNvSpPr/>
          <p:nvPr/>
        </p:nvSpPr>
        <p:spPr>
          <a:xfrm>
            <a:off x="10332720" y="1371600"/>
            <a:ext cx="822960" cy="411480"/>
          </a:xfrm>
          <a:prstGeom prst="rect">
            <a:avLst/>
          </a:prstGeom>
          <a:noFill/>
          <a:ln/>
        </p:spPr>
        <p:txBody>
          <a:bodyPr wrap="square" rtlCol="0" anchor="ctr"/>
          <a:lstStyle/>
          <a:p>
            <a:pPr algn="r" indent="0" marL="0">
              <a:buNone/>
            </a:pPr>
            <a:r>
              <a:rPr lang="en-US" sz="1600" b="1" dirty="0">
                <a:solidFill>
                  <a:srgbClr val="666059"/>
                </a:solidFill>
                <a:latin typeface="Arial" pitchFamily="34" charset="0"/>
                <a:ea typeface="Arial" pitchFamily="34" charset="-122"/>
                <a:cs typeface="Arial" pitchFamily="34" charset="-120"/>
              </a:rPr>
              <a:t>11</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9F5"/>
        </a:solidFill>
      </p:bgPr>
    </p:bg>
    <p:spTree>
      <p:nvGrpSpPr>
        <p:cNvPr id="1" name=""/>
        <p:cNvGrpSpPr/>
        <p:nvPr/>
      </p:nvGrpSpPr>
      <p:grpSpPr>
        <a:xfrm>
          <a:off x="0" y="0"/>
          <a:ext cx="0" cy="0"/>
          <a:chOff x="0" y="0"/>
          <a:chExt cx="0" cy="0"/>
        </a:xfrm>
      </p:grpSpPr>
      <p:sp>
        <p:nvSpPr>
          <p:cNvPr id="2" name="Shape 0"/>
          <p:cNvSpPr/>
          <p:nvPr/>
        </p:nvSpPr>
        <p:spPr>
          <a:xfrm>
            <a:off x="731520" y="384048"/>
            <a:ext cx="2560320" cy="256032"/>
          </a:xfrm>
          <a:prstGeom prst="rect">
            <a:avLst/>
          </a:prstGeom>
          <a:solidFill>
            <a:srgbClr val="FBF0EB"/>
          </a:solidFill>
          <a:ln w="12700">
            <a:solidFill>
              <a:srgbClr val="F0C2B2"/>
            </a:solidFill>
            <a:prstDash val="solid"/>
          </a:ln>
        </p:spPr>
      </p:sp>
      <p:sp>
        <p:nvSpPr>
          <p:cNvPr id="3" name="Text 1"/>
          <p:cNvSpPr/>
          <p:nvPr/>
        </p:nvSpPr>
        <p:spPr>
          <a:xfrm>
            <a:off x="731520" y="384048"/>
            <a:ext cx="2560320" cy="256032"/>
          </a:xfrm>
          <a:prstGeom prst="rect">
            <a:avLst/>
          </a:prstGeom>
          <a:noFill/>
          <a:ln/>
        </p:spPr>
        <p:txBody>
          <a:bodyPr wrap="square" rtlCol="0" anchor="ctr"/>
          <a:lstStyle/>
          <a:p>
            <a:pPr algn="ctr" indent="0" marL="0">
              <a:buNone/>
            </a:pPr>
            <a:r>
              <a:rPr lang="en-US" sz="900" b="1" spc="120" kern="0" dirty="0">
                <a:solidFill>
                  <a:srgbClr val="D97757"/>
                </a:solidFill>
                <a:latin typeface="Arial" pitchFamily="34" charset="0"/>
                <a:ea typeface="Arial" pitchFamily="34" charset="-122"/>
                <a:cs typeface="Arial" pitchFamily="34" charset="-120"/>
              </a:rPr>
              <a:t>RELIABILITY COMPOUNDING</a:t>
            </a:r>
            <a:endParaRPr lang="en-US" sz="900" dirty="0"/>
          </a:p>
        </p:txBody>
      </p:sp>
      <p:sp>
        <p:nvSpPr>
          <p:cNvPr id="4" name="Text 2"/>
          <p:cNvSpPr/>
          <p:nvPr/>
        </p:nvSpPr>
        <p:spPr>
          <a:xfrm>
            <a:off x="731520" y="676656"/>
            <a:ext cx="9875520" cy="475488"/>
          </a:xfrm>
          <a:prstGeom prst="rect">
            <a:avLst/>
          </a:prstGeom>
          <a:noFill/>
          <a:ln/>
        </p:spPr>
        <p:txBody>
          <a:bodyPr wrap="square" lIns="0" tIns="0" rIns="0" bIns="0" rtlCol="0" anchor="ctr"/>
          <a:lstStyle/>
          <a:p>
            <a:pPr indent="0" marL="0">
              <a:buNone/>
            </a:pPr>
            <a:r>
              <a:rPr lang="en-US" sz="2100" b="1" dirty="0">
                <a:solidFill>
                  <a:srgbClr val="1C1917"/>
                </a:solidFill>
                <a:latin typeface="Arial" pitchFamily="34" charset="0"/>
                <a:ea typeface="Arial" pitchFamily="34" charset="-122"/>
                <a:cs typeface="Arial" pitchFamily="34" charset="-120"/>
              </a:rPr>
              <a:t>0.995⁵⁰ 的致命数学：长程任务中的“可靠性复利税”</a:t>
            </a:r>
            <a:endParaRPr lang="en-US" sz="2100" dirty="0"/>
          </a:p>
        </p:txBody>
      </p:sp>
      <p:sp>
        <p:nvSpPr>
          <p:cNvPr id="5" name="Text 3"/>
          <p:cNvSpPr/>
          <p:nvPr/>
        </p:nvSpPr>
        <p:spPr>
          <a:xfrm>
            <a:off x="10972800" y="384048"/>
            <a:ext cx="731520" cy="320040"/>
          </a:xfrm>
          <a:prstGeom prst="rect">
            <a:avLst/>
          </a:prstGeom>
          <a:noFill/>
          <a:ln/>
        </p:spPr>
        <p:txBody>
          <a:bodyPr wrap="square" rtlCol="0" anchor="ctr"/>
          <a:lstStyle/>
          <a:p>
            <a:pPr algn="r" indent="0" marL="0">
              <a:buNone/>
            </a:pPr>
            <a:r>
              <a:rPr lang="en-US" sz="1300" b="1" dirty="0">
                <a:solidFill>
                  <a:srgbClr val="8C857B"/>
                </a:solidFill>
                <a:latin typeface="Arial" pitchFamily="34" charset="0"/>
                <a:ea typeface="Arial" pitchFamily="34" charset="-122"/>
                <a:cs typeface="Arial" pitchFamily="34" charset="-120"/>
              </a:rPr>
              <a:t>12</a:t>
            </a:r>
            <a:endParaRPr lang="en-US" sz="1300" dirty="0"/>
          </a:p>
        </p:txBody>
      </p:sp>
      <p:sp>
        <p:nvSpPr>
          <p:cNvPr id="6" name="Shape 4"/>
          <p:cNvSpPr/>
          <p:nvPr/>
        </p:nvSpPr>
        <p:spPr>
          <a:xfrm>
            <a:off x="731520" y="1325880"/>
            <a:ext cx="5669280" cy="4892040"/>
          </a:xfrm>
          <a:prstGeom prst="rect">
            <a:avLst/>
          </a:prstGeom>
          <a:solidFill>
            <a:srgbClr val="FFFFFF"/>
          </a:solidFill>
          <a:ln w="12700">
            <a:solidFill>
              <a:srgbClr val="E2DCD2"/>
            </a:solidFill>
            <a:prstDash val="solid"/>
          </a:ln>
        </p:spPr>
      </p:sp>
      <p:sp>
        <p:nvSpPr>
          <p:cNvPr id="7" name="Text 5"/>
          <p:cNvSpPr/>
          <p:nvPr/>
        </p:nvSpPr>
        <p:spPr>
          <a:xfrm>
            <a:off x="1005840" y="1600200"/>
            <a:ext cx="2377440" cy="320040"/>
          </a:xfrm>
          <a:prstGeom prst="rect">
            <a:avLst/>
          </a:prstGeom>
          <a:noFill/>
          <a:ln/>
        </p:spPr>
        <p:txBody>
          <a:bodyPr wrap="square" rtlCol="0" anchor="ctr"/>
          <a:lstStyle/>
          <a:p>
            <a:pPr indent="0" marL="0">
              <a:buNone/>
            </a:pPr>
            <a:r>
              <a:rPr lang="en-US" sz="1100" b="1" dirty="0">
                <a:solidFill>
                  <a:srgbClr val="1C1917"/>
                </a:solidFill>
                <a:latin typeface="Arial" pitchFamily="34" charset="0"/>
                <a:ea typeface="Arial" pitchFamily="34" charset="-122"/>
                <a:cs typeface="Arial" pitchFamily="34" charset="-120"/>
              </a:rPr>
              <a:t>Claude 5.5 (p=0.995)</a:t>
            </a:r>
            <a:endParaRPr lang="en-US" sz="1100" dirty="0"/>
          </a:p>
        </p:txBody>
      </p:sp>
      <p:sp>
        <p:nvSpPr>
          <p:cNvPr id="8" name="Shape 6"/>
          <p:cNvSpPr/>
          <p:nvPr/>
        </p:nvSpPr>
        <p:spPr>
          <a:xfrm>
            <a:off x="3474720" y="1673352"/>
            <a:ext cx="1645920" cy="201168"/>
          </a:xfrm>
          <a:prstGeom prst="rect">
            <a:avLst/>
          </a:prstGeom>
          <a:solidFill>
            <a:srgbClr val="EFEBE1"/>
          </a:solidFill>
          <a:ln/>
        </p:spPr>
      </p:sp>
      <p:sp>
        <p:nvSpPr>
          <p:cNvPr id="9" name="Shape 7"/>
          <p:cNvSpPr/>
          <p:nvPr/>
        </p:nvSpPr>
        <p:spPr>
          <a:xfrm>
            <a:off x="3474720" y="1673352"/>
            <a:ext cx="1280526" cy="201168"/>
          </a:xfrm>
          <a:prstGeom prst="rect">
            <a:avLst/>
          </a:prstGeom>
          <a:solidFill>
            <a:srgbClr val="D97757"/>
          </a:solidFill>
          <a:ln/>
        </p:spPr>
      </p:sp>
      <p:sp>
        <p:nvSpPr>
          <p:cNvPr id="10" name="Text 8"/>
          <p:cNvSpPr/>
          <p:nvPr/>
        </p:nvSpPr>
        <p:spPr>
          <a:xfrm>
            <a:off x="5257800" y="1600200"/>
            <a:ext cx="1005840" cy="320040"/>
          </a:xfrm>
          <a:prstGeom prst="rect">
            <a:avLst/>
          </a:prstGeom>
          <a:noFill/>
          <a:ln/>
        </p:spPr>
        <p:txBody>
          <a:bodyPr wrap="square" rtlCol="0" anchor="ctr"/>
          <a:lstStyle/>
          <a:p>
            <a:pPr indent="0" marL="0">
              <a:buNone/>
            </a:pPr>
            <a:r>
              <a:rPr lang="en-US" sz="1100" b="1" dirty="0">
                <a:solidFill>
                  <a:srgbClr val="D97757"/>
                </a:solidFill>
                <a:latin typeface="Arial" pitchFamily="34" charset="0"/>
                <a:ea typeface="Arial" pitchFamily="34" charset="-122"/>
                <a:cs typeface="Arial" pitchFamily="34" charset="-120"/>
              </a:rPr>
              <a:t>77.8%</a:t>
            </a:r>
            <a:endParaRPr lang="en-US" sz="1100" dirty="0"/>
          </a:p>
        </p:txBody>
      </p:sp>
      <p:sp>
        <p:nvSpPr>
          <p:cNvPr id="11" name="Text 9"/>
          <p:cNvSpPr/>
          <p:nvPr/>
        </p:nvSpPr>
        <p:spPr>
          <a:xfrm>
            <a:off x="1005840" y="2686050"/>
            <a:ext cx="2377440" cy="320040"/>
          </a:xfrm>
          <a:prstGeom prst="rect">
            <a:avLst/>
          </a:prstGeom>
          <a:noFill/>
          <a:ln/>
        </p:spPr>
        <p:txBody>
          <a:bodyPr wrap="square" rtlCol="0" anchor="ctr"/>
          <a:lstStyle/>
          <a:p>
            <a:pPr indent="0" marL="0">
              <a:buNone/>
            </a:pPr>
            <a:r>
              <a:rPr lang="en-US" sz="1100" b="1" dirty="0">
                <a:solidFill>
                  <a:srgbClr val="1C1917"/>
                </a:solidFill>
                <a:latin typeface="Arial" pitchFamily="34" charset="0"/>
                <a:ea typeface="Arial" pitchFamily="34" charset="-122"/>
                <a:cs typeface="Arial" pitchFamily="34" charset="-120"/>
              </a:rPr>
              <a:t>OpenAI o-series (p=0.980)</a:t>
            </a:r>
            <a:endParaRPr lang="en-US" sz="1100" dirty="0"/>
          </a:p>
        </p:txBody>
      </p:sp>
      <p:sp>
        <p:nvSpPr>
          <p:cNvPr id="12" name="Shape 10"/>
          <p:cNvSpPr/>
          <p:nvPr/>
        </p:nvSpPr>
        <p:spPr>
          <a:xfrm>
            <a:off x="3474720" y="2759202"/>
            <a:ext cx="1645920" cy="201168"/>
          </a:xfrm>
          <a:prstGeom prst="rect">
            <a:avLst/>
          </a:prstGeom>
          <a:solidFill>
            <a:srgbClr val="EFEBE1"/>
          </a:solidFill>
          <a:ln/>
        </p:spPr>
      </p:sp>
      <p:sp>
        <p:nvSpPr>
          <p:cNvPr id="13" name="Shape 11"/>
          <p:cNvSpPr/>
          <p:nvPr/>
        </p:nvSpPr>
        <p:spPr>
          <a:xfrm>
            <a:off x="3474720" y="2759202"/>
            <a:ext cx="599115" cy="201168"/>
          </a:xfrm>
          <a:prstGeom prst="rect">
            <a:avLst/>
          </a:prstGeom>
          <a:solidFill>
            <a:srgbClr val="475569"/>
          </a:solidFill>
          <a:ln/>
        </p:spPr>
      </p:sp>
      <p:sp>
        <p:nvSpPr>
          <p:cNvPr id="14" name="Text 12"/>
          <p:cNvSpPr/>
          <p:nvPr/>
        </p:nvSpPr>
        <p:spPr>
          <a:xfrm>
            <a:off x="5257800" y="2686050"/>
            <a:ext cx="1005840" cy="320040"/>
          </a:xfrm>
          <a:prstGeom prst="rect">
            <a:avLst/>
          </a:prstGeom>
          <a:noFill/>
          <a:ln/>
        </p:spPr>
        <p:txBody>
          <a:bodyPr wrap="square" rtlCol="0" anchor="ctr"/>
          <a:lstStyle/>
          <a:p>
            <a:pPr indent="0" marL="0">
              <a:buNone/>
            </a:pPr>
            <a:r>
              <a:rPr lang="en-US" sz="1100" b="1" dirty="0">
                <a:solidFill>
                  <a:srgbClr val="475569"/>
                </a:solidFill>
                <a:latin typeface="Arial" pitchFamily="34" charset="0"/>
                <a:ea typeface="Arial" pitchFamily="34" charset="-122"/>
                <a:cs typeface="Arial" pitchFamily="34" charset="-120"/>
              </a:rPr>
              <a:t>36.4%</a:t>
            </a:r>
            <a:endParaRPr lang="en-US" sz="1100" dirty="0"/>
          </a:p>
        </p:txBody>
      </p:sp>
      <p:sp>
        <p:nvSpPr>
          <p:cNvPr id="15" name="Text 13"/>
          <p:cNvSpPr/>
          <p:nvPr/>
        </p:nvSpPr>
        <p:spPr>
          <a:xfrm>
            <a:off x="1005840" y="3771900"/>
            <a:ext cx="2377440" cy="320040"/>
          </a:xfrm>
          <a:prstGeom prst="rect">
            <a:avLst/>
          </a:prstGeom>
          <a:noFill/>
          <a:ln/>
        </p:spPr>
        <p:txBody>
          <a:bodyPr wrap="square" rtlCol="0" anchor="ctr"/>
          <a:lstStyle/>
          <a:p>
            <a:pPr indent="0" marL="0">
              <a:buNone/>
            </a:pPr>
            <a:r>
              <a:rPr lang="en-US" sz="1100" b="1" dirty="0">
                <a:solidFill>
                  <a:srgbClr val="1C1917"/>
                </a:solidFill>
                <a:latin typeface="Arial" pitchFamily="34" charset="0"/>
                <a:ea typeface="Arial" pitchFamily="34" charset="-122"/>
                <a:cs typeface="Arial" pitchFamily="34" charset="-120"/>
              </a:rPr>
              <a:t>Gemini 3.0 Pro (p=0.957)</a:t>
            </a:r>
            <a:endParaRPr lang="en-US" sz="1100" dirty="0"/>
          </a:p>
        </p:txBody>
      </p:sp>
      <p:sp>
        <p:nvSpPr>
          <p:cNvPr id="16" name="Shape 14"/>
          <p:cNvSpPr/>
          <p:nvPr/>
        </p:nvSpPr>
        <p:spPr>
          <a:xfrm>
            <a:off x="3474720" y="3845052"/>
            <a:ext cx="1645920" cy="201168"/>
          </a:xfrm>
          <a:prstGeom prst="rect">
            <a:avLst/>
          </a:prstGeom>
          <a:solidFill>
            <a:srgbClr val="EFEBE1"/>
          </a:solidFill>
          <a:ln/>
        </p:spPr>
      </p:sp>
      <p:sp>
        <p:nvSpPr>
          <p:cNvPr id="17" name="Shape 15"/>
          <p:cNvSpPr/>
          <p:nvPr/>
        </p:nvSpPr>
        <p:spPr>
          <a:xfrm>
            <a:off x="3474720" y="3845052"/>
            <a:ext cx="179405" cy="201168"/>
          </a:xfrm>
          <a:prstGeom prst="rect">
            <a:avLst/>
          </a:prstGeom>
          <a:solidFill>
            <a:srgbClr val="DC2626"/>
          </a:solidFill>
          <a:ln/>
        </p:spPr>
      </p:sp>
      <p:sp>
        <p:nvSpPr>
          <p:cNvPr id="18" name="Text 16"/>
          <p:cNvSpPr/>
          <p:nvPr/>
        </p:nvSpPr>
        <p:spPr>
          <a:xfrm>
            <a:off x="5257800" y="3771900"/>
            <a:ext cx="1005840" cy="320040"/>
          </a:xfrm>
          <a:prstGeom prst="rect">
            <a:avLst/>
          </a:prstGeom>
          <a:noFill/>
          <a:ln/>
        </p:spPr>
        <p:txBody>
          <a:bodyPr wrap="square" rtlCol="0" anchor="ctr"/>
          <a:lstStyle/>
          <a:p>
            <a:pPr indent="0" marL="0">
              <a:buNone/>
            </a:pPr>
            <a:r>
              <a:rPr lang="en-US" sz="1100" b="1" dirty="0">
                <a:solidFill>
                  <a:srgbClr val="DC2626"/>
                </a:solidFill>
                <a:latin typeface="Arial" pitchFamily="34" charset="0"/>
                <a:ea typeface="Arial" pitchFamily="34" charset="-122"/>
                <a:cs typeface="Arial" pitchFamily="34" charset="-120"/>
              </a:rPr>
              <a:t>10.9%</a:t>
            </a:r>
            <a:endParaRPr lang="en-US" sz="1100" dirty="0"/>
          </a:p>
        </p:txBody>
      </p:sp>
      <p:sp>
        <p:nvSpPr>
          <p:cNvPr id="19" name="Text 17"/>
          <p:cNvSpPr/>
          <p:nvPr/>
        </p:nvSpPr>
        <p:spPr>
          <a:xfrm>
            <a:off x="1005840" y="4857750"/>
            <a:ext cx="2377440" cy="320040"/>
          </a:xfrm>
          <a:prstGeom prst="rect">
            <a:avLst/>
          </a:prstGeom>
          <a:noFill/>
          <a:ln/>
        </p:spPr>
        <p:txBody>
          <a:bodyPr wrap="square" rtlCol="0" anchor="ctr"/>
          <a:lstStyle/>
          <a:p>
            <a:pPr indent="0" marL="0">
              <a:buNone/>
            </a:pPr>
            <a:r>
              <a:rPr lang="en-US" sz="1100" b="1" dirty="0">
                <a:solidFill>
                  <a:srgbClr val="1C1917"/>
                </a:solidFill>
                <a:latin typeface="Arial" pitchFamily="34" charset="0"/>
                <a:ea typeface="Arial" pitchFamily="34" charset="-122"/>
                <a:cs typeface="Arial" pitchFamily="34" charset="-120"/>
              </a:rPr>
              <a:t>开源代码模型 (p=0.920)</a:t>
            </a:r>
            <a:endParaRPr lang="en-US" sz="1100" dirty="0"/>
          </a:p>
        </p:txBody>
      </p:sp>
      <p:sp>
        <p:nvSpPr>
          <p:cNvPr id="20" name="Shape 18"/>
          <p:cNvSpPr/>
          <p:nvPr/>
        </p:nvSpPr>
        <p:spPr>
          <a:xfrm>
            <a:off x="3474720" y="4930902"/>
            <a:ext cx="1645920" cy="201168"/>
          </a:xfrm>
          <a:prstGeom prst="rect">
            <a:avLst/>
          </a:prstGeom>
          <a:solidFill>
            <a:srgbClr val="EFEBE1"/>
          </a:solidFill>
          <a:ln/>
        </p:spPr>
      </p:sp>
      <p:sp>
        <p:nvSpPr>
          <p:cNvPr id="21" name="Shape 19"/>
          <p:cNvSpPr/>
          <p:nvPr/>
        </p:nvSpPr>
        <p:spPr>
          <a:xfrm>
            <a:off x="3474720" y="4930902"/>
            <a:ext cx="91440" cy="201168"/>
          </a:xfrm>
          <a:prstGeom prst="rect">
            <a:avLst/>
          </a:prstGeom>
          <a:solidFill>
            <a:srgbClr val="D97706"/>
          </a:solidFill>
          <a:ln/>
        </p:spPr>
      </p:sp>
      <p:sp>
        <p:nvSpPr>
          <p:cNvPr id="22" name="Text 20"/>
          <p:cNvSpPr/>
          <p:nvPr/>
        </p:nvSpPr>
        <p:spPr>
          <a:xfrm>
            <a:off x="5257800" y="4857750"/>
            <a:ext cx="1005840" cy="320040"/>
          </a:xfrm>
          <a:prstGeom prst="rect">
            <a:avLst/>
          </a:prstGeom>
          <a:noFill/>
          <a:ln/>
        </p:spPr>
        <p:txBody>
          <a:bodyPr wrap="square" rtlCol="0" anchor="ctr"/>
          <a:lstStyle/>
          <a:p>
            <a:pPr indent="0" marL="0">
              <a:buNone/>
            </a:pPr>
            <a:r>
              <a:rPr lang="en-US" sz="1100" b="1" dirty="0">
                <a:solidFill>
                  <a:srgbClr val="D97706"/>
                </a:solidFill>
                <a:latin typeface="Arial" pitchFamily="34" charset="0"/>
                <a:ea typeface="Arial" pitchFamily="34" charset="-122"/>
                <a:cs typeface="Arial" pitchFamily="34" charset="-120"/>
              </a:rPr>
              <a:t>1.5%</a:t>
            </a:r>
            <a:endParaRPr lang="en-US" sz="1100" dirty="0"/>
          </a:p>
        </p:txBody>
      </p:sp>
      <p:sp>
        <p:nvSpPr>
          <p:cNvPr id="23" name="Shape 21"/>
          <p:cNvSpPr/>
          <p:nvPr/>
        </p:nvSpPr>
        <p:spPr>
          <a:xfrm>
            <a:off x="1005840" y="5440680"/>
            <a:ext cx="5120640" cy="594360"/>
          </a:xfrm>
          <a:prstGeom prst="rect">
            <a:avLst/>
          </a:prstGeom>
          <a:solidFill>
            <a:srgbClr val="FEE2E2"/>
          </a:solidFill>
          <a:ln w="12700">
            <a:solidFill>
              <a:srgbClr val="DC2626"/>
            </a:solidFill>
            <a:prstDash val="solid"/>
          </a:ln>
        </p:spPr>
      </p:sp>
      <p:sp>
        <p:nvSpPr>
          <p:cNvPr id="24" name="Text 22"/>
          <p:cNvSpPr/>
          <p:nvPr/>
        </p:nvSpPr>
        <p:spPr>
          <a:xfrm>
            <a:off x="1097280" y="5504688"/>
            <a:ext cx="4937760" cy="475488"/>
          </a:xfrm>
          <a:prstGeom prst="rect">
            <a:avLst/>
          </a:prstGeom>
          <a:noFill/>
          <a:ln/>
        </p:spPr>
        <p:txBody>
          <a:bodyPr wrap="square" rtlCol="0" anchor="ctr"/>
          <a:lstStyle/>
          <a:p>
            <a:pPr indent="0" marL="0">
              <a:lnSpc>
                <a:spcPts val="1250"/>
              </a:lnSpc>
              <a:buNone/>
            </a:pPr>
            <a:r>
              <a:rPr lang="en-US" sz="880" b="1" dirty="0">
                <a:solidFill>
                  <a:srgbClr val="DC2626"/>
                </a:solidFill>
                <a:latin typeface="Arial" pitchFamily="34" charset="0"/>
                <a:ea typeface="Arial" pitchFamily="34" charset="-122"/>
                <a:cs typeface="Arial" pitchFamily="34" charset="-120"/>
              </a:rPr>
              <a:t>💥 数学断崖：0.995⁵⁰ (77.8%) vs 0.957⁵⁰ (10.9%) ➔ 7.1 倍通过率差距！长程工程任务对平庸模型造成指数级残酷绞杀。</a:t>
            </a:r>
            <a:endParaRPr lang="en-US" sz="880" dirty="0"/>
          </a:p>
        </p:txBody>
      </p:sp>
      <p:sp>
        <p:nvSpPr>
          <p:cNvPr id="25" name="Shape 23"/>
          <p:cNvSpPr/>
          <p:nvPr/>
        </p:nvSpPr>
        <p:spPr>
          <a:xfrm>
            <a:off x="6601968" y="1325880"/>
            <a:ext cx="4846320" cy="1481328"/>
          </a:xfrm>
          <a:prstGeom prst="rect">
            <a:avLst/>
          </a:prstGeom>
          <a:solidFill>
            <a:srgbClr val="FFFFFF"/>
          </a:solidFill>
          <a:ln w="12700">
            <a:solidFill>
              <a:srgbClr val="E2DCD2"/>
            </a:solidFill>
            <a:prstDash val="solid"/>
          </a:ln>
        </p:spPr>
      </p:sp>
      <p:sp>
        <p:nvSpPr>
          <p:cNvPr id="26" name="Shape 24"/>
          <p:cNvSpPr/>
          <p:nvPr/>
        </p:nvSpPr>
        <p:spPr>
          <a:xfrm>
            <a:off x="6601968" y="1325880"/>
            <a:ext cx="73152" cy="1481328"/>
          </a:xfrm>
          <a:prstGeom prst="rect">
            <a:avLst/>
          </a:prstGeom>
          <a:solidFill>
            <a:srgbClr val="D97757"/>
          </a:solidFill>
          <a:ln/>
        </p:spPr>
      </p:sp>
      <p:sp>
        <p:nvSpPr>
          <p:cNvPr id="27" name="Shape 25"/>
          <p:cNvSpPr/>
          <p:nvPr/>
        </p:nvSpPr>
        <p:spPr>
          <a:xfrm>
            <a:off x="6784848" y="1472184"/>
            <a:ext cx="2011680" cy="219456"/>
          </a:xfrm>
          <a:prstGeom prst="rect">
            <a:avLst/>
          </a:prstGeom>
          <a:solidFill>
            <a:srgbClr val="F5F2EB"/>
          </a:solidFill>
          <a:ln w="12700">
            <a:solidFill>
              <a:srgbClr val="D97757"/>
            </a:solidFill>
            <a:prstDash val="solid"/>
          </a:ln>
        </p:spPr>
      </p:sp>
      <p:sp>
        <p:nvSpPr>
          <p:cNvPr id="28" name="Text 26"/>
          <p:cNvSpPr/>
          <p:nvPr/>
        </p:nvSpPr>
        <p:spPr>
          <a:xfrm>
            <a:off x="6784848" y="1472184"/>
            <a:ext cx="2011680" cy="219456"/>
          </a:xfrm>
          <a:prstGeom prst="rect">
            <a:avLst/>
          </a:prstGeom>
          <a:noFill/>
          <a:ln/>
        </p:spPr>
        <p:txBody>
          <a:bodyPr wrap="square" rtlCol="0" anchor="ctr"/>
          <a:lstStyle/>
          <a:p>
            <a:pPr algn="ctr" indent="0" marL="0">
              <a:buNone/>
            </a:pPr>
            <a:r>
              <a:rPr lang="en-US" sz="800" b="1" dirty="0">
                <a:solidFill>
                  <a:srgbClr val="D97757"/>
                </a:solidFill>
                <a:latin typeface="Arial" pitchFamily="34" charset="0"/>
                <a:ea typeface="Arial" pitchFamily="34" charset="-122"/>
                <a:cs typeface="Arial" pitchFamily="34" charset="-120"/>
              </a:rPr>
              <a:t>NON-LINEAR CLIFF · 指数断崖</a:t>
            </a:r>
            <a:endParaRPr lang="en-US" sz="800" dirty="0"/>
          </a:p>
        </p:txBody>
      </p:sp>
      <p:sp>
        <p:nvSpPr>
          <p:cNvPr id="29" name="Text 27"/>
          <p:cNvSpPr/>
          <p:nvPr/>
        </p:nvSpPr>
        <p:spPr>
          <a:xfrm>
            <a:off x="6784848" y="1737360"/>
            <a:ext cx="4389120" cy="292608"/>
          </a:xfrm>
          <a:prstGeom prst="rect">
            <a:avLst/>
          </a:prstGeom>
          <a:noFill/>
          <a:ln/>
        </p:spPr>
        <p:txBody>
          <a:bodyPr wrap="square" rtlCol="0" anchor="ctr"/>
          <a:lstStyle/>
          <a:p>
            <a:pPr indent="0" marL="0">
              <a:buNone/>
            </a:pPr>
            <a:r>
              <a:rPr lang="en-US" sz="1100" b="1" dirty="0">
                <a:solidFill>
                  <a:srgbClr val="1C1917"/>
                </a:solidFill>
                <a:latin typeface="Arial" pitchFamily="34" charset="0"/>
                <a:ea typeface="Arial" pitchFamily="34" charset="-122"/>
                <a:cs typeface="Arial" pitchFamily="34" charset="-120"/>
              </a:rPr>
              <a:t>从 95% 到 99.5%：非线性质变的残酷鸿沟</a:t>
            </a:r>
            <a:endParaRPr lang="en-US" sz="1100" dirty="0"/>
          </a:p>
        </p:txBody>
      </p:sp>
      <p:sp>
        <p:nvSpPr>
          <p:cNvPr id="30" name="Text 28"/>
          <p:cNvSpPr/>
          <p:nvPr/>
        </p:nvSpPr>
        <p:spPr>
          <a:xfrm>
            <a:off x="6784848" y="2039112"/>
            <a:ext cx="4434840" cy="685800"/>
          </a:xfrm>
          <a:prstGeom prst="rect">
            <a:avLst/>
          </a:prstGeom>
          <a:noFill/>
          <a:ln/>
        </p:spPr>
        <p:txBody>
          <a:bodyPr wrap="square" rtlCol="0" anchor="ctr"/>
          <a:lstStyle/>
          <a:p>
            <a:pPr indent="0" marL="0">
              <a:lnSpc>
                <a:spcPts val="1300"/>
              </a:lnSpc>
              <a:buNone/>
            </a:pPr>
            <a:r>
              <a:rPr lang="en-US" sz="900" dirty="0">
                <a:solidFill>
                  <a:srgbClr val="57534E"/>
                </a:solidFill>
                <a:latin typeface="Arial" pitchFamily="34" charset="0"/>
                <a:ea typeface="Arial" pitchFamily="34" charset="-122"/>
                <a:cs typeface="Arial" pitchFamily="34" charset="-120"/>
              </a:rPr>
              <a:t>在单轮基准测试（如 HumanEval）中，95% 与 99.5% 看起来只是几分的微小差异；但在包含 50 次命令行交互的长程任务中，前者成功率暴跌至 10.9%，系统几乎必然崩溃，而后者依然保持 77.8% 的高稳态。</a:t>
            </a:r>
            <a:endParaRPr lang="en-US" sz="900" dirty="0"/>
          </a:p>
        </p:txBody>
      </p:sp>
      <p:sp>
        <p:nvSpPr>
          <p:cNvPr id="31" name="Shape 29"/>
          <p:cNvSpPr/>
          <p:nvPr/>
        </p:nvSpPr>
        <p:spPr>
          <a:xfrm>
            <a:off x="6601968" y="2953512"/>
            <a:ext cx="4846320" cy="1481328"/>
          </a:xfrm>
          <a:prstGeom prst="rect">
            <a:avLst/>
          </a:prstGeom>
          <a:solidFill>
            <a:srgbClr val="FFFFFF"/>
          </a:solidFill>
          <a:ln w="12700">
            <a:solidFill>
              <a:srgbClr val="E2DCD2"/>
            </a:solidFill>
            <a:prstDash val="solid"/>
          </a:ln>
        </p:spPr>
      </p:sp>
      <p:sp>
        <p:nvSpPr>
          <p:cNvPr id="32" name="Shape 30"/>
          <p:cNvSpPr/>
          <p:nvPr/>
        </p:nvSpPr>
        <p:spPr>
          <a:xfrm>
            <a:off x="6601968" y="2953512"/>
            <a:ext cx="73152" cy="1481328"/>
          </a:xfrm>
          <a:prstGeom prst="rect">
            <a:avLst/>
          </a:prstGeom>
          <a:solidFill>
            <a:srgbClr val="DC2626"/>
          </a:solidFill>
          <a:ln/>
        </p:spPr>
      </p:sp>
      <p:sp>
        <p:nvSpPr>
          <p:cNvPr id="33" name="Shape 31"/>
          <p:cNvSpPr/>
          <p:nvPr/>
        </p:nvSpPr>
        <p:spPr>
          <a:xfrm>
            <a:off x="6784848" y="3099816"/>
            <a:ext cx="2011680" cy="219456"/>
          </a:xfrm>
          <a:prstGeom prst="rect">
            <a:avLst/>
          </a:prstGeom>
          <a:solidFill>
            <a:srgbClr val="F5F2EB"/>
          </a:solidFill>
          <a:ln w="12700">
            <a:solidFill>
              <a:srgbClr val="DC2626"/>
            </a:solidFill>
            <a:prstDash val="solid"/>
          </a:ln>
        </p:spPr>
      </p:sp>
      <p:sp>
        <p:nvSpPr>
          <p:cNvPr id="34" name="Text 32"/>
          <p:cNvSpPr/>
          <p:nvPr/>
        </p:nvSpPr>
        <p:spPr>
          <a:xfrm>
            <a:off x="6784848" y="3099816"/>
            <a:ext cx="2011680" cy="219456"/>
          </a:xfrm>
          <a:prstGeom prst="rect">
            <a:avLst/>
          </a:prstGeom>
          <a:noFill/>
          <a:ln/>
        </p:spPr>
        <p:txBody>
          <a:bodyPr wrap="square" rtlCol="0" anchor="ctr"/>
          <a:lstStyle/>
          <a:p>
            <a:pPr algn="ctr" indent="0" marL="0">
              <a:buNone/>
            </a:pPr>
            <a:r>
              <a:rPr lang="en-US" sz="800" b="1" dirty="0">
                <a:solidFill>
                  <a:srgbClr val="DC2626"/>
                </a:solidFill>
                <a:latin typeface="Arial" pitchFamily="34" charset="0"/>
                <a:ea typeface="Arial" pitchFamily="34" charset="-122"/>
                <a:cs typeface="Arial" pitchFamily="34" charset="-120"/>
              </a:rPr>
              <a:t>ERROR CASCADING · 级联崩塌</a:t>
            </a:r>
            <a:endParaRPr lang="en-US" sz="800" dirty="0"/>
          </a:p>
        </p:txBody>
      </p:sp>
      <p:sp>
        <p:nvSpPr>
          <p:cNvPr id="35" name="Text 33"/>
          <p:cNvSpPr/>
          <p:nvPr/>
        </p:nvSpPr>
        <p:spPr>
          <a:xfrm>
            <a:off x="6784848" y="3364992"/>
            <a:ext cx="4389120" cy="292608"/>
          </a:xfrm>
          <a:prstGeom prst="rect">
            <a:avLst/>
          </a:prstGeom>
          <a:noFill/>
          <a:ln/>
        </p:spPr>
        <p:txBody>
          <a:bodyPr wrap="square" rtlCol="0" anchor="ctr"/>
          <a:lstStyle/>
          <a:p>
            <a:pPr indent="0" marL="0">
              <a:buNone/>
            </a:pPr>
            <a:r>
              <a:rPr lang="en-US" sz="1100" b="1" dirty="0">
                <a:solidFill>
                  <a:srgbClr val="1C1917"/>
                </a:solidFill>
                <a:latin typeface="Arial" pitchFamily="34" charset="0"/>
                <a:ea typeface="Arial" pitchFamily="34" charset="-122"/>
                <a:cs typeface="Arial" pitchFamily="34" charset="-120"/>
              </a:rPr>
              <a:t>错误级联放大：智能体长程执行的串联诅咒</a:t>
            </a:r>
            <a:endParaRPr lang="en-US" sz="1100" dirty="0"/>
          </a:p>
        </p:txBody>
      </p:sp>
      <p:sp>
        <p:nvSpPr>
          <p:cNvPr id="36" name="Text 34"/>
          <p:cNvSpPr/>
          <p:nvPr/>
        </p:nvSpPr>
        <p:spPr>
          <a:xfrm>
            <a:off x="6784848" y="3666744"/>
            <a:ext cx="4434840" cy="685800"/>
          </a:xfrm>
          <a:prstGeom prst="rect">
            <a:avLst/>
          </a:prstGeom>
          <a:noFill/>
          <a:ln/>
        </p:spPr>
        <p:txBody>
          <a:bodyPr wrap="square" rtlCol="0" anchor="ctr"/>
          <a:lstStyle/>
          <a:p>
            <a:pPr indent="0" marL="0">
              <a:lnSpc>
                <a:spcPts val="1300"/>
              </a:lnSpc>
              <a:buNone/>
            </a:pPr>
            <a:r>
              <a:rPr lang="en-US" sz="900" dirty="0">
                <a:solidFill>
                  <a:srgbClr val="57534E"/>
                </a:solidFill>
                <a:latin typeface="Arial" pitchFamily="34" charset="0"/>
                <a:ea typeface="Arial" pitchFamily="34" charset="-122"/>
                <a:cs typeface="Arial" pitchFamily="34" charset="-120"/>
              </a:rPr>
              <a:t>长程软件工程不是简单概率相加，而是严格的串联电路。任意一步输出错误的格式或污染了环境，后续所有步骤都将在错误上下文上滑向虚无，导致 Token 与算力的彻底浪费。</a:t>
            </a:r>
            <a:endParaRPr lang="en-US" sz="900" dirty="0"/>
          </a:p>
        </p:txBody>
      </p:sp>
      <p:sp>
        <p:nvSpPr>
          <p:cNvPr id="37" name="Shape 35"/>
          <p:cNvSpPr/>
          <p:nvPr/>
        </p:nvSpPr>
        <p:spPr>
          <a:xfrm>
            <a:off x="6601968" y="4581144"/>
            <a:ext cx="4846320" cy="1481328"/>
          </a:xfrm>
          <a:prstGeom prst="rect">
            <a:avLst/>
          </a:prstGeom>
          <a:solidFill>
            <a:srgbClr val="FFFFFF"/>
          </a:solidFill>
          <a:ln w="12700">
            <a:solidFill>
              <a:srgbClr val="E2DCD2"/>
            </a:solidFill>
            <a:prstDash val="solid"/>
          </a:ln>
        </p:spPr>
      </p:sp>
      <p:sp>
        <p:nvSpPr>
          <p:cNvPr id="38" name="Shape 36"/>
          <p:cNvSpPr/>
          <p:nvPr/>
        </p:nvSpPr>
        <p:spPr>
          <a:xfrm>
            <a:off x="6601968" y="4581144"/>
            <a:ext cx="73152" cy="1481328"/>
          </a:xfrm>
          <a:prstGeom prst="rect">
            <a:avLst/>
          </a:prstGeom>
          <a:solidFill>
            <a:srgbClr val="D97706"/>
          </a:solidFill>
          <a:ln/>
        </p:spPr>
      </p:sp>
      <p:sp>
        <p:nvSpPr>
          <p:cNvPr id="39" name="Shape 37"/>
          <p:cNvSpPr/>
          <p:nvPr/>
        </p:nvSpPr>
        <p:spPr>
          <a:xfrm>
            <a:off x="6784848" y="4727448"/>
            <a:ext cx="2011680" cy="219456"/>
          </a:xfrm>
          <a:prstGeom prst="rect">
            <a:avLst/>
          </a:prstGeom>
          <a:solidFill>
            <a:srgbClr val="F5F2EB"/>
          </a:solidFill>
          <a:ln w="12700">
            <a:solidFill>
              <a:srgbClr val="D97706"/>
            </a:solidFill>
            <a:prstDash val="solid"/>
          </a:ln>
        </p:spPr>
      </p:sp>
      <p:sp>
        <p:nvSpPr>
          <p:cNvPr id="40" name="Text 38"/>
          <p:cNvSpPr/>
          <p:nvPr/>
        </p:nvSpPr>
        <p:spPr>
          <a:xfrm>
            <a:off x="6784848" y="4727448"/>
            <a:ext cx="2011680" cy="219456"/>
          </a:xfrm>
          <a:prstGeom prst="rect">
            <a:avLst/>
          </a:prstGeom>
          <a:noFill/>
          <a:ln/>
        </p:spPr>
        <p:txBody>
          <a:bodyPr wrap="square" rtlCol="0" anchor="ctr"/>
          <a:lstStyle/>
          <a:p>
            <a:pPr algn="ctr" indent="0" marL="0">
              <a:buNone/>
            </a:pPr>
            <a:r>
              <a:rPr lang="en-US" sz="800" b="1" dirty="0">
                <a:solidFill>
                  <a:srgbClr val="D97706"/>
                </a:solidFill>
                <a:latin typeface="Arial" pitchFamily="34" charset="0"/>
                <a:ea typeface="Arial" pitchFamily="34" charset="-122"/>
                <a:cs typeface="Arial" pitchFamily="34" charset="-120"/>
              </a:rPr>
              <a:t>DETERMINISTIC STABILITY · 确定性护城河</a:t>
            </a:r>
            <a:endParaRPr lang="en-US" sz="800" dirty="0"/>
          </a:p>
        </p:txBody>
      </p:sp>
      <p:sp>
        <p:nvSpPr>
          <p:cNvPr id="41" name="Text 39"/>
          <p:cNvSpPr/>
          <p:nvPr/>
        </p:nvSpPr>
        <p:spPr>
          <a:xfrm>
            <a:off x="6784848" y="4992624"/>
            <a:ext cx="4389120" cy="292608"/>
          </a:xfrm>
          <a:prstGeom prst="rect">
            <a:avLst/>
          </a:prstGeom>
          <a:noFill/>
          <a:ln/>
        </p:spPr>
        <p:txBody>
          <a:bodyPr wrap="square" rtlCol="0" anchor="ctr"/>
          <a:lstStyle/>
          <a:p>
            <a:pPr indent="0" marL="0">
              <a:buNone/>
            </a:pPr>
            <a:r>
              <a:rPr lang="en-US" sz="1100" b="1" dirty="0">
                <a:solidFill>
                  <a:srgbClr val="1C1917"/>
                </a:solidFill>
                <a:latin typeface="Arial" pitchFamily="34" charset="0"/>
                <a:ea typeface="Arial" pitchFamily="34" charset="-122"/>
                <a:cs typeface="Arial" pitchFamily="34" charset="-120"/>
              </a:rPr>
              <a:t>工业工程的本质：确定性碾压一切花哨技巧</a:t>
            </a:r>
            <a:endParaRPr lang="en-US" sz="1100" dirty="0"/>
          </a:p>
        </p:txBody>
      </p:sp>
      <p:sp>
        <p:nvSpPr>
          <p:cNvPr id="42" name="Text 40"/>
          <p:cNvSpPr/>
          <p:nvPr/>
        </p:nvSpPr>
        <p:spPr>
          <a:xfrm>
            <a:off x="6784848" y="5294376"/>
            <a:ext cx="4434840" cy="685800"/>
          </a:xfrm>
          <a:prstGeom prst="rect">
            <a:avLst/>
          </a:prstGeom>
          <a:noFill/>
          <a:ln/>
        </p:spPr>
        <p:txBody>
          <a:bodyPr wrap="square" rtlCol="0" anchor="ctr"/>
          <a:lstStyle/>
          <a:p>
            <a:pPr indent="0" marL="0">
              <a:lnSpc>
                <a:spcPts val="1300"/>
              </a:lnSpc>
              <a:buNone/>
            </a:pPr>
            <a:r>
              <a:rPr lang="en-US" sz="900" dirty="0">
                <a:solidFill>
                  <a:srgbClr val="57534E"/>
                </a:solidFill>
                <a:latin typeface="Arial" pitchFamily="34" charset="0"/>
                <a:ea typeface="Arial" pitchFamily="34" charset="-122"/>
                <a:cs typeface="Arial" pitchFamily="34" charset="-120"/>
              </a:rPr>
              <a:t>Anthropic 在模型对齐与代码后训练上付出了极致代价，将单步工具调用的稳健性推向物理极限，构筑起竞品哪怕耗费千卡集群也无法轻易逾越的数学护城河。</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9F5"/>
        </a:solidFill>
      </p:bgPr>
    </p:bg>
    <p:spTree>
      <p:nvGrpSpPr>
        <p:cNvPr id="1" name=""/>
        <p:cNvGrpSpPr/>
        <p:nvPr/>
      </p:nvGrpSpPr>
      <p:grpSpPr>
        <a:xfrm>
          <a:off x="0" y="0"/>
          <a:ext cx="0" cy="0"/>
          <a:chOff x="0" y="0"/>
          <a:chExt cx="0" cy="0"/>
        </a:xfrm>
      </p:grpSpPr>
      <p:sp>
        <p:nvSpPr>
          <p:cNvPr id="2" name="Shape 0"/>
          <p:cNvSpPr/>
          <p:nvPr/>
        </p:nvSpPr>
        <p:spPr>
          <a:xfrm>
            <a:off x="731520" y="384048"/>
            <a:ext cx="2560320" cy="256032"/>
          </a:xfrm>
          <a:prstGeom prst="rect">
            <a:avLst/>
          </a:prstGeom>
          <a:solidFill>
            <a:srgbClr val="FBF0EB"/>
          </a:solidFill>
          <a:ln w="12700">
            <a:solidFill>
              <a:srgbClr val="F0C2B2"/>
            </a:solidFill>
            <a:prstDash val="solid"/>
          </a:ln>
        </p:spPr>
      </p:sp>
      <p:sp>
        <p:nvSpPr>
          <p:cNvPr id="3" name="Text 1"/>
          <p:cNvSpPr/>
          <p:nvPr/>
        </p:nvSpPr>
        <p:spPr>
          <a:xfrm>
            <a:off x="731520" y="384048"/>
            <a:ext cx="2560320" cy="256032"/>
          </a:xfrm>
          <a:prstGeom prst="rect">
            <a:avLst/>
          </a:prstGeom>
          <a:noFill/>
          <a:ln/>
        </p:spPr>
        <p:txBody>
          <a:bodyPr wrap="square" rtlCol="0" anchor="ctr"/>
          <a:lstStyle/>
          <a:p>
            <a:pPr algn="ctr" indent="0" marL="0">
              <a:buNone/>
            </a:pPr>
            <a:r>
              <a:rPr lang="en-US" sz="900" b="1" spc="120" kern="0" dirty="0">
                <a:solidFill>
                  <a:srgbClr val="D97757"/>
                </a:solidFill>
                <a:latin typeface="Arial" pitchFamily="34" charset="0"/>
                <a:ea typeface="Arial" pitchFamily="34" charset="-122"/>
                <a:cs typeface="Arial" pitchFamily="34" charset="-120"/>
              </a:rPr>
              <a:t>TERMINAL SELF-HEALING PIPELINE</a:t>
            </a:r>
            <a:endParaRPr lang="en-US" sz="900" dirty="0"/>
          </a:p>
        </p:txBody>
      </p:sp>
      <p:sp>
        <p:nvSpPr>
          <p:cNvPr id="4" name="Text 2"/>
          <p:cNvSpPr/>
          <p:nvPr/>
        </p:nvSpPr>
        <p:spPr>
          <a:xfrm>
            <a:off x="731520" y="676656"/>
            <a:ext cx="9875520" cy="475488"/>
          </a:xfrm>
          <a:prstGeom prst="rect">
            <a:avLst/>
          </a:prstGeom>
          <a:noFill/>
          <a:ln/>
        </p:spPr>
        <p:txBody>
          <a:bodyPr wrap="square" lIns="0" tIns="0" rIns="0" bIns="0" rtlCol="0" anchor="ctr"/>
          <a:lstStyle/>
          <a:p>
            <a:pPr indent="0" marL="0">
              <a:buNone/>
            </a:pPr>
            <a:r>
              <a:rPr lang="en-US" sz="2100" b="1" dirty="0">
                <a:solidFill>
                  <a:srgbClr val="1C1917"/>
                </a:solidFill>
                <a:latin typeface="Arial" pitchFamily="34" charset="0"/>
                <a:ea typeface="Arial" pitchFamily="34" charset="-122"/>
                <a:cs typeface="Arial" pitchFamily="34" charset="-120"/>
              </a:rPr>
              <a:t>终端自愈的物理闭环：从 STDERR 报错到生产级修复的五步飞轮</a:t>
            </a:r>
            <a:endParaRPr lang="en-US" sz="2100" dirty="0"/>
          </a:p>
        </p:txBody>
      </p:sp>
      <p:sp>
        <p:nvSpPr>
          <p:cNvPr id="5" name="Text 3"/>
          <p:cNvSpPr/>
          <p:nvPr/>
        </p:nvSpPr>
        <p:spPr>
          <a:xfrm>
            <a:off x="10972800" y="384048"/>
            <a:ext cx="731520" cy="320040"/>
          </a:xfrm>
          <a:prstGeom prst="rect">
            <a:avLst/>
          </a:prstGeom>
          <a:noFill/>
          <a:ln/>
        </p:spPr>
        <p:txBody>
          <a:bodyPr wrap="square" rtlCol="0" anchor="ctr"/>
          <a:lstStyle/>
          <a:p>
            <a:pPr algn="r" indent="0" marL="0">
              <a:buNone/>
            </a:pPr>
            <a:r>
              <a:rPr lang="en-US" sz="1300" b="1" dirty="0">
                <a:solidFill>
                  <a:srgbClr val="8C857B"/>
                </a:solidFill>
                <a:latin typeface="Arial" pitchFamily="34" charset="0"/>
                <a:ea typeface="Arial" pitchFamily="34" charset="-122"/>
                <a:cs typeface="Arial" pitchFamily="34" charset="-120"/>
              </a:rPr>
              <a:t>13</a:t>
            </a:r>
            <a:endParaRPr lang="en-US" sz="1300" dirty="0"/>
          </a:p>
        </p:txBody>
      </p:sp>
      <p:sp>
        <p:nvSpPr>
          <p:cNvPr id="6" name="Shape 4"/>
          <p:cNvSpPr/>
          <p:nvPr/>
        </p:nvSpPr>
        <p:spPr>
          <a:xfrm>
            <a:off x="731520" y="1325880"/>
            <a:ext cx="5029200" cy="4069080"/>
          </a:xfrm>
          <a:prstGeom prst="rect">
            <a:avLst/>
          </a:prstGeom>
          <a:solidFill>
            <a:srgbClr val="1E1B18"/>
          </a:solidFill>
          <a:ln w="12700">
            <a:solidFill>
              <a:srgbClr val="38332E"/>
            </a:solidFill>
            <a:prstDash val="solid"/>
          </a:ln>
        </p:spPr>
      </p:sp>
      <p:sp>
        <p:nvSpPr>
          <p:cNvPr id="7" name="Shape 5"/>
          <p:cNvSpPr/>
          <p:nvPr/>
        </p:nvSpPr>
        <p:spPr>
          <a:xfrm>
            <a:off x="731520" y="1325880"/>
            <a:ext cx="5029200" cy="329184"/>
          </a:xfrm>
          <a:prstGeom prst="rect">
            <a:avLst/>
          </a:prstGeom>
          <a:solidFill>
            <a:srgbClr val="2A2622"/>
          </a:solidFill>
          <a:ln w="12700">
            <a:solidFill>
              <a:srgbClr val="38332E"/>
            </a:solidFill>
            <a:prstDash val="solid"/>
          </a:ln>
        </p:spPr>
      </p:sp>
      <p:sp>
        <p:nvSpPr>
          <p:cNvPr id="8" name="Shape 6"/>
          <p:cNvSpPr/>
          <p:nvPr/>
        </p:nvSpPr>
        <p:spPr>
          <a:xfrm>
            <a:off x="868680" y="1426464"/>
            <a:ext cx="128016" cy="128016"/>
          </a:xfrm>
          <a:prstGeom prst="ellipse">
            <a:avLst/>
          </a:prstGeom>
          <a:solidFill>
            <a:srgbClr val="EF4444"/>
          </a:solidFill>
          <a:ln/>
        </p:spPr>
      </p:sp>
      <p:sp>
        <p:nvSpPr>
          <p:cNvPr id="9" name="Shape 7"/>
          <p:cNvSpPr/>
          <p:nvPr/>
        </p:nvSpPr>
        <p:spPr>
          <a:xfrm>
            <a:off x="1051560" y="1426464"/>
            <a:ext cx="128016" cy="128016"/>
          </a:xfrm>
          <a:prstGeom prst="ellipse">
            <a:avLst/>
          </a:prstGeom>
          <a:solidFill>
            <a:srgbClr val="F59E0B"/>
          </a:solidFill>
          <a:ln/>
        </p:spPr>
      </p:sp>
      <p:sp>
        <p:nvSpPr>
          <p:cNvPr id="10" name="Shape 8"/>
          <p:cNvSpPr/>
          <p:nvPr/>
        </p:nvSpPr>
        <p:spPr>
          <a:xfrm>
            <a:off x="1234440" y="1426464"/>
            <a:ext cx="128016" cy="128016"/>
          </a:xfrm>
          <a:prstGeom prst="ellipse">
            <a:avLst/>
          </a:prstGeom>
          <a:solidFill>
            <a:srgbClr val="10B981"/>
          </a:solidFill>
          <a:ln/>
        </p:spPr>
      </p:sp>
      <p:sp>
        <p:nvSpPr>
          <p:cNvPr id="11" name="Text 9"/>
          <p:cNvSpPr/>
          <p:nvPr/>
        </p:nvSpPr>
        <p:spPr>
          <a:xfrm>
            <a:off x="1463040" y="1380744"/>
            <a:ext cx="3566160" cy="219456"/>
          </a:xfrm>
          <a:prstGeom prst="rect">
            <a:avLst/>
          </a:prstGeom>
          <a:noFill/>
          <a:ln/>
        </p:spPr>
        <p:txBody>
          <a:bodyPr wrap="square" rtlCol="0" anchor="ctr"/>
          <a:lstStyle/>
          <a:p>
            <a:pPr algn="ctr" indent="0" marL="0">
              <a:buNone/>
            </a:pPr>
            <a:r>
              <a:rPr lang="en-US" sz="850" b="1" dirty="0">
                <a:solidFill>
                  <a:srgbClr val="A8A29E"/>
                </a:solidFill>
                <a:latin typeface="Courier New" pitchFamily="34" charset="0"/>
                <a:ea typeface="Courier New" pitchFamily="34" charset="-122"/>
                <a:cs typeface="Courier New" pitchFamily="34" charset="-120"/>
              </a:rPr>
              <a:t>terminal — claude-code — 80x24</a:t>
            </a:r>
            <a:endParaRPr lang="en-US" sz="850" dirty="0"/>
          </a:p>
        </p:txBody>
      </p:sp>
      <p:sp>
        <p:nvSpPr>
          <p:cNvPr id="12" name="Text 10"/>
          <p:cNvSpPr/>
          <p:nvPr/>
        </p:nvSpPr>
        <p:spPr>
          <a:xfrm>
            <a:off x="914400" y="1728216"/>
            <a:ext cx="4663440" cy="361188"/>
          </a:xfrm>
          <a:prstGeom prst="rect">
            <a:avLst/>
          </a:prstGeom>
          <a:noFill/>
          <a:ln/>
        </p:spPr>
        <p:txBody>
          <a:bodyPr wrap="square" rtlCol="0" anchor="ctr"/>
          <a:lstStyle/>
          <a:p>
            <a:pPr indent="0" marL="0">
              <a:buNone/>
            </a:pPr>
            <a:r>
              <a:rPr lang="en-US" sz="850" b="1" dirty="0">
                <a:solidFill>
                  <a:srgbClr val="10B981"/>
                </a:solidFill>
                <a:latin typeface="Courier New" pitchFamily="34" charset="0"/>
                <a:ea typeface="Courier New" pitchFamily="34" charset="-122"/>
                <a:cs typeface="Courier New" pitchFamily="34" charset="-120"/>
              </a:rPr>
              <a:t>$ claude-code "fix: memory leak in stream buffer"</a:t>
            </a:r>
            <a:endParaRPr lang="en-US" sz="850" dirty="0"/>
          </a:p>
        </p:txBody>
      </p:sp>
      <p:sp>
        <p:nvSpPr>
          <p:cNvPr id="13" name="Text 11"/>
          <p:cNvSpPr/>
          <p:nvPr/>
        </p:nvSpPr>
        <p:spPr>
          <a:xfrm>
            <a:off x="914400" y="2089404"/>
            <a:ext cx="4663440" cy="361188"/>
          </a:xfrm>
          <a:prstGeom prst="rect">
            <a:avLst/>
          </a:prstGeom>
          <a:noFill/>
          <a:ln/>
        </p:spPr>
        <p:txBody>
          <a:bodyPr wrap="square" rtlCol="0" anchor="ctr"/>
          <a:lstStyle/>
          <a:p>
            <a:pPr indent="0" marL="0">
              <a:buNone/>
            </a:pPr>
            <a:r>
              <a:rPr lang="en-US" sz="850" dirty="0">
                <a:solidFill>
                  <a:srgbClr val="A8A29E"/>
                </a:solidFill>
                <a:latin typeface="Courier New" pitchFamily="34" charset="0"/>
                <a:ea typeface="Courier New" pitchFamily="34" charset="-122"/>
                <a:cs typeface="Courier New" pitchFamily="34" charset="-120"/>
              </a:rPr>
              <a:t>● [1/5] Executing test suite: pytest tests/buffer_test.py</a:t>
            </a:r>
            <a:endParaRPr lang="en-US" sz="850" dirty="0"/>
          </a:p>
        </p:txBody>
      </p:sp>
      <p:sp>
        <p:nvSpPr>
          <p:cNvPr id="14" name="Text 12"/>
          <p:cNvSpPr/>
          <p:nvPr/>
        </p:nvSpPr>
        <p:spPr>
          <a:xfrm>
            <a:off x="914400" y="2450592"/>
            <a:ext cx="4663440" cy="361188"/>
          </a:xfrm>
          <a:prstGeom prst="rect">
            <a:avLst/>
          </a:prstGeom>
          <a:noFill/>
          <a:ln/>
        </p:spPr>
        <p:txBody>
          <a:bodyPr wrap="square" rtlCol="0" anchor="ctr"/>
          <a:lstStyle/>
          <a:p>
            <a:pPr indent="0" marL="0">
              <a:buNone/>
            </a:pPr>
            <a:r>
              <a:rPr lang="en-US" sz="850" b="1" dirty="0">
                <a:solidFill>
                  <a:srgbClr val="EF4444"/>
                </a:solidFill>
                <a:latin typeface="Courier New" pitchFamily="34" charset="0"/>
                <a:ea typeface="Courier New" pitchFamily="34" charset="-122"/>
                <a:cs typeface="Courier New" pitchFamily="34" charset="-120"/>
              </a:rPr>
              <a:t>✖ [2/5] FAILED: AssertionError: limit 1024 exceeded</a:t>
            </a:r>
            <a:endParaRPr lang="en-US" sz="850" dirty="0"/>
          </a:p>
        </p:txBody>
      </p:sp>
      <p:sp>
        <p:nvSpPr>
          <p:cNvPr id="15" name="Text 13"/>
          <p:cNvSpPr/>
          <p:nvPr/>
        </p:nvSpPr>
        <p:spPr>
          <a:xfrm>
            <a:off x="914400" y="2811780"/>
            <a:ext cx="4663440" cy="361188"/>
          </a:xfrm>
          <a:prstGeom prst="rect">
            <a:avLst/>
          </a:prstGeom>
          <a:noFill/>
          <a:ln/>
        </p:spPr>
        <p:txBody>
          <a:bodyPr wrap="square" rtlCol="0" anchor="ctr"/>
          <a:lstStyle/>
          <a:p>
            <a:pPr indent="0" marL="0">
              <a:buNone/>
            </a:pPr>
            <a:r>
              <a:rPr lang="en-US" sz="850" dirty="0">
                <a:solidFill>
                  <a:srgbClr val="EF4444"/>
                </a:solidFill>
                <a:latin typeface="Courier New" pitchFamily="34" charset="0"/>
                <a:ea typeface="Courier New" pitchFamily="34" charset="-122"/>
                <a:cs typeface="Courier New" pitchFamily="34" charset="-120"/>
              </a:rPr>
              <a:t>  Process terminated with Exit Code: 1</a:t>
            </a:r>
            <a:endParaRPr lang="en-US" sz="850" dirty="0"/>
          </a:p>
        </p:txBody>
      </p:sp>
      <p:sp>
        <p:nvSpPr>
          <p:cNvPr id="16" name="Text 14"/>
          <p:cNvSpPr/>
          <p:nvPr/>
        </p:nvSpPr>
        <p:spPr>
          <a:xfrm>
            <a:off x="914400" y="3172968"/>
            <a:ext cx="4663440" cy="361188"/>
          </a:xfrm>
          <a:prstGeom prst="rect">
            <a:avLst/>
          </a:prstGeom>
          <a:noFill/>
          <a:ln/>
        </p:spPr>
        <p:txBody>
          <a:bodyPr wrap="square" rtlCol="0" anchor="ctr"/>
          <a:lstStyle/>
          <a:p>
            <a:pPr indent="0" marL="0">
              <a:buNone/>
            </a:pPr>
            <a:r>
              <a:rPr lang="en-US" sz="850" dirty="0">
                <a:solidFill>
                  <a:srgbClr val="F59E0B"/>
                </a:solidFill>
                <a:latin typeface="Courier New" pitchFamily="34" charset="0"/>
                <a:ea typeface="Courier New" pitchFamily="34" charset="-122"/>
                <a:cs typeface="Courier New" pitchFamily="34" charset="-120"/>
              </a:rPr>
              <a:t>⚡ [3/5] Trapping STDERR stack trace...</a:t>
            </a:r>
            <a:endParaRPr lang="en-US" sz="850" dirty="0"/>
          </a:p>
        </p:txBody>
      </p:sp>
      <p:sp>
        <p:nvSpPr>
          <p:cNvPr id="17" name="Text 15"/>
          <p:cNvSpPr/>
          <p:nvPr/>
        </p:nvSpPr>
        <p:spPr>
          <a:xfrm>
            <a:off x="914400" y="3534156"/>
            <a:ext cx="4663440" cy="361188"/>
          </a:xfrm>
          <a:prstGeom prst="rect">
            <a:avLst/>
          </a:prstGeom>
          <a:noFill/>
          <a:ln/>
        </p:spPr>
        <p:txBody>
          <a:bodyPr wrap="square" rtlCol="0" anchor="ctr"/>
          <a:lstStyle/>
          <a:p>
            <a:pPr indent="0" marL="0">
              <a:buNone/>
            </a:pPr>
            <a:r>
              <a:rPr lang="en-US" sz="850" dirty="0">
                <a:solidFill>
                  <a:srgbClr val="F59E0B"/>
                </a:solidFill>
                <a:latin typeface="Courier New" pitchFamily="34" charset="0"/>
                <a:ea typeface="Courier New" pitchFamily="34" charset="-122"/>
                <a:cs typeface="Courier New" pitchFamily="34" charset="-120"/>
              </a:rPr>
              <a:t>  AST Root-Cause: buffer_allocator.py line 84</a:t>
            </a:r>
            <a:endParaRPr lang="en-US" sz="850" dirty="0"/>
          </a:p>
        </p:txBody>
      </p:sp>
      <p:sp>
        <p:nvSpPr>
          <p:cNvPr id="18" name="Text 16"/>
          <p:cNvSpPr/>
          <p:nvPr/>
        </p:nvSpPr>
        <p:spPr>
          <a:xfrm>
            <a:off x="914400" y="3895344"/>
            <a:ext cx="4663440" cy="361188"/>
          </a:xfrm>
          <a:prstGeom prst="rect">
            <a:avLst/>
          </a:prstGeom>
          <a:noFill/>
          <a:ln/>
        </p:spPr>
        <p:txBody>
          <a:bodyPr wrap="square" rtlCol="0" anchor="ctr"/>
          <a:lstStyle/>
          <a:p>
            <a:pPr indent="0" marL="0">
              <a:buNone/>
            </a:pPr>
            <a:r>
              <a:rPr lang="en-US" sz="850" dirty="0">
                <a:solidFill>
                  <a:srgbClr val="38BDF8"/>
                </a:solidFill>
                <a:latin typeface="Courier New" pitchFamily="34" charset="0"/>
                <a:ea typeface="Courier New" pitchFamily="34" charset="-122"/>
                <a:cs typeface="Courier New" pitchFamily="34" charset="-120"/>
              </a:rPr>
              <a:t>✔ [4/5] Synthesized minimal patch: -1 line, +3 lines</a:t>
            </a:r>
            <a:endParaRPr lang="en-US" sz="850" dirty="0"/>
          </a:p>
        </p:txBody>
      </p:sp>
      <p:sp>
        <p:nvSpPr>
          <p:cNvPr id="19" name="Text 17"/>
          <p:cNvSpPr/>
          <p:nvPr/>
        </p:nvSpPr>
        <p:spPr>
          <a:xfrm>
            <a:off x="914400" y="4256532"/>
            <a:ext cx="4663440" cy="361188"/>
          </a:xfrm>
          <a:prstGeom prst="rect">
            <a:avLst/>
          </a:prstGeom>
          <a:noFill/>
          <a:ln/>
        </p:spPr>
        <p:txBody>
          <a:bodyPr wrap="square" rtlCol="0" anchor="ctr"/>
          <a:lstStyle/>
          <a:p>
            <a:pPr indent="0" marL="0">
              <a:buNone/>
            </a:pPr>
            <a:r>
              <a:rPr lang="en-US" sz="850" dirty="0">
                <a:solidFill>
                  <a:srgbClr val="A8A29E"/>
                </a:solidFill>
                <a:latin typeface="Courier New" pitchFamily="34" charset="0"/>
                <a:ea typeface="Courier New" pitchFamily="34" charset="-122"/>
                <a:cs typeface="Courier New" pitchFamily="34" charset="-120"/>
              </a:rPr>
              <a:t>● [5/5] Re-running test suite: pytest tests/buffer_test.py</a:t>
            </a:r>
            <a:endParaRPr lang="en-US" sz="850" dirty="0"/>
          </a:p>
        </p:txBody>
      </p:sp>
      <p:sp>
        <p:nvSpPr>
          <p:cNvPr id="20" name="Text 18"/>
          <p:cNvSpPr/>
          <p:nvPr/>
        </p:nvSpPr>
        <p:spPr>
          <a:xfrm>
            <a:off x="914400" y="4617720"/>
            <a:ext cx="4663440" cy="361188"/>
          </a:xfrm>
          <a:prstGeom prst="rect">
            <a:avLst/>
          </a:prstGeom>
          <a:noFill/>
          <a:ln/>
        </p:spPr>
        <p:txBody>
          <a:bodyPr wrap="square" rtlCol="0" anchor="ctr"/>
          <a:lstStyle/>
          <a:p>
            <a:pPr indent="0" marL="0">
              <a:buNone/>
            </a:pPr>
            <a:r>
              <a:rPr lang="en-US" sz="850" b="1" dirty="0">
                <a:solidFill>
                  <a:srgbClr val="10B981"/>
                </a:solidFill>
                <a:latin typeface="Courier New" pitchFamily="34" charset="0"/>
                <a:ea typeface="Courier New" pitchFamily="34" charset="-122"/>
                <a:cs typeface="Courier New" pitchFamily="34" charset="-120"/>
              </a:rPr>
              <a:t>✔ 142 passed, 0 failed in 1.42s [Exit Code 0]</a:t>
            </a:r>
            <a:endParaRPr lang="en-US" sz="850" dirty="0"/>
          </a:p>
        </p:txBody>
      </p:sp>
      <p:sp>
        <p:nvSpPr>
          <p:cNvPr id="21" name="Text 19"/>
          <p:cNvSpPr/>
          <p:nvPr/>
        </p:nvSpPr>
        <p:spPr>
          <a:xfrm>
            <a:off x="914400" y="4978908"/>
            <a:ext cx="4663440" cy="361188"/>
          </a:xfrm>
          <a:prstGeom prst="rect">
            <a:avLst/>
          </a:prstGeom>
          <a:noFill/>
          <a:ln/>
        </p:spPr>
        <p:txBody>
          <a:bodyPr wrap="square" rtlCol="0" anchor="ctr"/>
          <a:lstStyle/>
          <a:p>
            <a:pPr indent="0" marL="0">
              <a:buNone/>
            </a:pPr>
            <a:r>
              <a:rPr lang="en-US" sz="850" b="1" dirty="0">
                <a:solidFill>
                  <a:srgbClr val="D97757"/>
                </a:solidFill>
                <a:latin typeface="Courier New" pitchFamily="34" charset="0"/>
                <a:ea typeface="Courier New" pitchFamily="34" charset="-122"/>
                <a:cs typeface="Courier New" pitchFamily="34" charset="-120"/>
              </a:rPr>
              <a:t>➔ Auto-committed to branch: a8f419c (PR Ready)</a:t>
            </a:r>
            <a:endParaRPr lang="en-US" sz="850" dirty="0"/>
          </a:p>
        </p:txBody>
      </p:sp>
      <p:sp>
        <p:nvSpPr>
          <p:cNvPr id="22" name="Shape 20"/>
          <p:cNvSpPr/>
          <p:nvPr/>
        </p:nvSpPr>
        <p:spPr>
          <a:xfrm>
            <a:off x="5897880" y="1325880"/>
            <a:ext cx="5559552" cy="749808"/>
          </a:xfrm>
          <a:prstGeom prst="rect">
            <a:avLst/>
          </a:prstGeom>
          <a:solidFill>
            <a:srgbClr val="FFFFFF"/>
          </a:solidFill>
          <a:ln w="12700">
            <a:solidFill>
              <a:srgbClr val="E2DCD2"/>
            </a:solidFill>
            <a:prstDash val="solid"/>
          </a:ln>
        </p:spPr>
      </p:sp>
      <p:sp>
        <p:nvSpPr>
          <p:cNvPr id="23" name="Shape 21"/>
          <p:cNvSpPr/>
          <p:nvPr/>
        </p:nvSpPr>
        <p:spPr>
          <a:xfrm>
            <a:off x="5897880" y="1325880"/>
            <a:ext cx="777240" cy="749808"/>
          </a:xfrm>
          <a:prstGeom prst="rect">
            <a:avLst/>
          </a:prstGeom>
          <a:solidFill>
            <a:srgbClr val="475569"/>
          </a:solidFill>
          <a:ln/>
        </p:spPr>
      </p:sp>
      <p:sp>
        <p:nvSpPr>
          <p:cNvPr id="24" name="Text 22"/>
          <p:cNvSpPr/>
          <p:nvPr/>
        </p:nvSpPr>
        <p:spPr>
          <a:xfrm>
            <a:off x="5897880" y="1472184"/>
            <a:ext cx="777240" cy="256032"/>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01</a:t>
            </a:r>
            <a:endParaRPr lang="en-US" sz="1200" dirty="0"/>
          </a:p>
        </p:txBody>
      </p:sp>
      <p:sp>
        <p:nvSpPr>
          <p:cNvPr id="25" name="Text 23"/>
          <p:cNvSpPr/>
          <p:nvPr/>
        </p:nvSpPr>
        <p:spPr>
          <a:xfrm>
            <a:off x="5897880" y="1746504"/>
            <a:ext cx="777240" cy="182880"/>
          </a:xfrm>
          <a:prstGeom prst="rect">
            <a:avLst/>
          </a:prstGeom>
          <a:noFill/>
          <a:ln/>
        </p:spPr>
        <p:txBody>
          <a:bodyPr wrap="square"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EXECUTE</a:t>
            </a:r>
            <a:endParaRPr lang="en-US" sz="650" dirty="0"/>
          </a:p>
        </p:txBody>
      </p:sp>
      <p:sp>
        <p:nvSpPr>
          <p:cNvPr id="26" name="Text 24"/>
          <p:cNvSpPr/>
          <p:nvPr/>
        </p:nvSpPr>
        <p:spPr>
          <a:xfrm>
            <a:off x="6812280" y="1435608"/>
            <a:ext cx="1371600" cy="237744"/>
          </a:xfrm>
          <a:prstGeom prst="rect">
            <a:avLst/>
          </a:prstGeom>
          <a:noFill/>
          <a:ln/>
        </p:spPr>
        <p:txBody>
          <a:bodyPr wrap="square" rtlCol="0" anchor="ctr"/>
          <a:lstStyle/>
          <a:p>
            <a:pPr indent="0" marL="0">
              <a:buNone/>
            </a:pPr>
            <a:r>
              <a:rPr lang="en-US" sz="1100" b="1" dirty="0">
                <a:solidFill>
                  <a:srgbClr val="1C1917"/>
                </a:solidFill>
                <a:latin typeface="Arial" pitchFamily="34" charset="0"/>
                <a:ea typeface="Arial" pitchFamily="34" charset="-122"/>
                <a:cs typeface="Arial" pitchFamily="34" charset="-120"/>
              </a:rPr>
              <a:t>探针下发</a:t>
            </a:r>
            <a:endParaRPr lang="en-US" sz="1100" dirty="0"/>
          </a:p>
        </p:txBody>
      </p:sp>
      <p:sp>
        <p:nvSpPr>
          <p:cNvPr id="27" name="Text 25"/>
          <p:cNvSpPr/>
          <p:nvPr/>
        </p:nvSpPr>
        <p:spPr>
          <a:xfrm>
            <a:off x="8275320" y="1435608"/>
            <a:ext cx="3063240" cy="530352"/>
          </a:xfrm>
          <a:prstGeom prst="rect">
            <a:avLst/>
          </a:prstGeom>
          <a:noFill/>
          <a:ln/>
        </p:spPr>
        <p:txBody>
          <a:bodyPr wrap="square" rtlCol="0" anchor="ctr"/>
          <a:lstStyle/>
          <a:p>
            <a:pPr indent="0" marL="0">
              <a:lnSpc>
                <a:spcPts val="1200"/>
              </a:lnSpc>
              <a:buNone/>
            </a:pPr>
            <a:r>
              <a:rPr lang="en-US" sz="880" dirty="0">
                <a:solidFill>
                  <a:srgbClr val="57534E"/>
                </a:solidFill>
                <a:latin typeface="Arial" pitchFamily="34" charset="0"/>
                <a:ea typeface="Arial" pitchFamily="34" charset="-122"/>
                <a:cs typeface="Arial" pitchFamily="34" charset="-120"/>
              </a:rPr>
              <a:t>接管终端，下发测试或构建命令，自动捕获环境状态。</a:t>
            </a:r>
            <a:endParaRPr lang="en-US" sz="880" dirty="0"/>
          </a:p>
        </p:txBody>
      </p:sp>
      <p:sp>
        <p:nvSpPr>
          <p:cNvPr id="28" name="Shape 26"/>
          <p:cNvSpPr/>
          <p:nvPr/>
        </p:nvSpPr>
        <p:spPr>
          <a:xfrm>
            <a:off x="5897880" y="2148840"/>
            <a:ext cx="5559552" cy="749808"/>
          </a:xfrm>
          <a:prstGeom prst="rect">
            <a:avLst/>
          </a:prstGeom>
          <a:solidFill>
            <a:srgbClr val="FFFFFF"/>
          </a:solidFill>
          <a:ln w="12700">
            <a:solidFill>
              <a:srgbClr val="E2DCD2"/>
            </a:solidFill>
            <a:prstDash val="solid"/>
          </a:ln>
        </p:spPr>
      </p:sp>
      <p:sp>
        <p:nvSpPr>
          <p:cNvPr id="29" name="Shape 27"/>
          <p:cNvSpPr/>
          <p:nvPr/>
        </p:nvSpPr>
        <p:spPr>
          <a:xfrm>
            <a:off x="5897880" y="2148840"/>
            <a:ext cx="777240" cy="749808"/>
          </a:xfrm>
          <a:prstGeom prst="rect">
            <a:avLst/>
          </a:prstGeom>
          <a:solidFill>
            <a:srgbClr val="DC2626"/>
          </a:solidFill>
          <a:ln/>
        </p:spPr>
      </p:sp>
      <p:sp>
        <p:nvSpPr>
          <p:cNvPr id="30" name="Text 28"/>
          <p:cNvSpPr/>
          <p:nvPr/>
        </p:nvSpPr>
        <p:spPr>
          <a:xfrm>
            <a:off x="5897880" y="2295144"/>
            <a:ext cx="777240" cy="256032"/>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02</a:t>
            </a:r>
            <a:endParaRPr lang="en-US" sz="1200" dirty="0"/>
          </a:p>
        </p:txBody>
      </p:sp>
      <p:sp>
        <p:nvSpPr>
          <p:cNvPr id="31" name="Text 29"/>
          <p:cNvSpPr/>
          <p:nvPr/>
        </p:nvSpPr>
        <p:spPr>
          <a:xfrm>
            <a:off x="5897880" y="2569464"/>
            <a:ext cx="777240" cy="182880"/>
          </a:xfrm>
          <a:prstGeom prst="rect">
            <a:avLst/>
          </a:prstGeom>
          <a:noFill/>
          <a:ln/>
        </p:spPr>
        <p:txBody>
          <a:bodyPr wrap="square"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TRAP STDERR</a:t>
            </a:r>
            <a:endParaRPr lang="en-US" sz="650" dirty="0"/>
          </a:p>
        </p:txBody>
      </p:sp>
      <p:sp>
        <p:nvSpPr>
          <p:cNvPr id="32" name="Text 30"/>
          <p:cNvSpPr/>
          <p:nvPr/>
        </p:nvSpPr>
        <p:spPr>
          <a:xfrm>
            <a:off x="6812280" y="2258568"/>
            <a:ext cx="1371600" cy="237744"/>
          </a:xfrm>
          <a:prstGeom prst="rect">
            <a:avLst/>
          </a:prstGeom>
          <a:noFill/>
          <a:ln/>
        </p:spPr>
        <p:txBody>
          <a:bodyPr wrap="square" rtlCol="0" anchor="ctr"/>
          <a:lstStyle/>
          <a:p>
            <a:pPr indent="0" marL="0">
              <a:buNone/>
            </a:pPr>
            <a:r>
              <a:rPr lang="en-US" sz="1100" b="1" dirty="0">
                <a:solidFill>
                  <a:srgbClr val="1C1917"/>
                </a:solidFill>
                <a:latin typeface="Arial" pitchFamily="34" charset="0"/>
                <a:ea typeface="Arial" pitchFamily="34" charset="-122"/>
                <a:cs typeface="Arial" pitchFamily="34" charset="-120"/>
              </a:rPr>
              <a:t>拦截报错</a:t>
            </a:r>
            <a:endParaRPr lang="en-US" sz="1100" dirty="0"/>
          </a:p>
        </p:txBody>
      </p:sp>
      <p:sp>
        <p:nvSpPr>
          <p:cNvPr id="33" name="Text 31"/>
          <p:cNvSpPr/>
          <p:nvPr/>
        </p:nvSpPr>
        <p:spPr>
          <a:xfrm>
            <a:off x="8275320" y="2258568"/>
            <a:ext cx="3063240" cy="530352"/>
          </a:xfrm>
          <a:prstGeom prst="rect">
            <a:avLst/>
          </a:prstGeom>
          <a:noFill/>
          <a:ln/>
        </p:spPr>
        <p:txBody>
          <a:bodyPr wrap="square" rtlCol="0" anchor="ctr"/>
          <a:lstStyle/>
          <a:p>
            <a:pPr indent="0" marL="0">
              <a:lnSpc>
                <a:spcPts val="1200"/>
              </a:lnSpc>
              <a:buNone/>
            </a:pPr>
            <a:r>
              <a:rPr lang="en-US" sz="880" dirty="0">
                <a:solidFill>
                  <a:srgbClr val="57534E"/>
                </a:solidFill>
                <a:latin typeface="Arial" pitchFamily="34" charset="0"/>
                <a:ea typeface="Arial" pitchFamily="34" charset="-122"/>
                <a:cs typeface="Arial" pitchFamily="34" charset="-120"/>
              </a:rPr>
              <a:t>精准拦截非零 Exit Code 与堆栈行号，过滤无关日志。</a:t>
            </a:r>
            <a:endParaRPr lang="en-US" sz="880" dirty="0"/>
          </a:p>
        </p:txBody>
      </p:sp>
      <p:sp>
        <p:nvSpPr>
          <p:cNvPr id="34" name="Shape 32"/>
          <p:cNvSpPr/>
          <p:nvPr/>
        </p:nvSpPr>
        <p:spPr>
          <a:xfrm>
            <a:off x="5897880" y="2971800"/>
            <a:ext cx="5559552" cy="749808"/>
          </a:xfrm>
          <a:prstGeom prst="rect">
            <a:avLst/>
          </a:prstGeom>
          <a:solidFill>
            <a:srgbClr val="FFFFFF"/>
          </a:solidFill>
          <a:ln w="12700">
            <a:solidFill>
              <a:srgbClr val="E2DCD2"/>
            </a:solidFill>
            <a:prstDash val="solid"/>
          </a:ln>
        </p:spPr>
      </p:sp>
      <p:sp>
        <p:nvSpPr>
          <p:cNvPr id="35" name="Shape 33"/>
          <p:cNvSpPr/>
          <p:nvPr/>
        </p:nvSpPr>
        <p:spPr>
          <a:xfrm>
            <a:off x="5897880" y="2971800"/>
            <a:ext cx="777240" cy="749808"/>
          </a:xfrm>
          <a:prstGeom prst="rect">
            <a:avLst/>
          </a:prstGeom>
          <a:solidFill>
            <a:srgbClr val="D97706"/>
          </a:solidFill>
          <a:ln/>
        </p:spPr>
      </p:sp>
      <p:sp>
        <p:nvSpPr>
          <p:cNvPr id="36" name="Text 34"/>
          <p:cNvSpPr/>
          <p:nvPr/>
        </p:nvSpPr>
        <p:spPr>
          <a:xfrm>
            <a:off x="5897880" y="3118104"/>
            <a:ext cx="777240" cy="256032"/>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03</a:t>
            </a:r>
            <a:endParaRPr lang="en-US" sz="1200" dirty="0"/>
          </a:p>
        </p:txBody>
      </p:sp>
      <p:sp>
        <p:nvSpPr>
          <p:cNvPr id="37" name="Text 35"/>
          <p:cNvSpPr/>
          <p:nvPr/>
        </p:nvSpPr>
        <p:spPr>
          <a:xfrm>
            <a:off x="5897880" y="3392424"/>
            <a:ext cx="777240" cy="182880"/>
          </a:xfrm>
          <a:prstGeom prst="rect">
            <a:avLst/>
          </a:prstGeom>
          <a:noFill/>
          <a:ln/>
        </p:spPr>
        <p:txBody>
          <a:bodyPr wrap="square"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HYPOTHESIS</a:t>
            </a:r>
            <a:endParaRPr lang="en-US" sz="650" dirty="0"/>
          </a:p>
        </p:txBody>
      </p:sp>
      <p:sp>
        <p:nvSpPr>
          <p:cNvPr id="38" name="Text 36"/>
          <p:cNvSpPr/>
          <p:nvPr/>
        </p:nvSpPr>
        <p:spPr>
          <a:xfrm>
            <a:off x="6812280" y="3081528"/>
            <a:ext cx="1371600" cy="237744"/>
          </a:xfrm>
          <a:prstGeom prst="rect">
            <a:avLst/>
          </a:prstGeom>
          <a:noFill/>
          <a:ln/>
        </p:spPr>
        <p:txBody>
          <a:bodyPr wrap="square" rtlCol="0" anchor="ctr"/>
          <a:lstStyle/>
          <a:p>
            <a:pPr indent="0" marL="0">
              <a:buNone/>
            </a:pPr>
            <a:r>
              <a:rPr lang="en-US" sz="1100" b="1" dirty="0">
                <a:solidFill>
                  <a:srgbClr val="1C1917"/>
                </a:solidFill>
                <a:latin typeface="Arial" pitchFamily="34" charset="0"/>
                <a:ea typeface="Arial" pitchFamily="34" charset="-122"/>
                <a:cs typeface="Arial" pitchFamily="34" charset="-120"/>
              </a:rPr>
              <a:t>AST 假设</a:t>
            </a:r>
            <a:endParaRPr lang="en-US" sz="1100" dirty="0"/>
          </a:p>
        </p:txBody>
      </p:sp>
      <p:sp>
        <p:nvSpPr>
          <p:cNvPr id="39" name="Text 37"/>
          <p:cNvSpPr/>
          <p:nvPr/>
        </p:nvSpPr>
        <p:spPr>
          <a:xfrm>
            <a:off x="8275320" y="3081528"/>
            <a:ext cx="3063240" cy="530352"/>
          </a:xfrm>
          <a:prstGeom prst="rect">
            <a:avLst/>
          </a:prstGeom>
          <a:noFill/>
          <a:ln/>
        </p:spPr>
        <p:txBody>
          <a:bodyPr wrap="square" rtlCol="0" anchor="ctr"/>
          <a:lstStyle/>
          <a:p>
            <a:pPr indent="0" marL="0">
              <a:lnSpc>
                <a:spcPts val="1200"/>
              </a:lnSpc>
              <a:buNone/>
            </a:pPr>
            <a:r>
              <a:rPr lang="en-US" sz="880" dirty="0">
                <a:solidFill>
                  <a:srgbClr val="57534E"/>
                </a:solidFill>
                <a:latin typeface="Arial" pitchFamily="34" charset="0"/>
                <a:ea typeface="Arial" pitchFamily="34" charset="-122"/>
                <a:cs typeface="Arial" pitchFamily="34" charset="-120"/>
              </a:rPr>
              <a:t>结合语法树检索依赖关系，形成因果链，锁定裂隙。</a:t>
            </a:r>
            <a:endParaRPr lang="en-US" sz="880" dirty="0"/>
          </a:p>
        </p:txBody>
      </p:sp>
      <p:sp>
        <p:nvSpPr>
          <p:cNvPr id="40" name="Shape 38"/>
          <p:cNvSpPr/>
          <p:nvPr/>
        </p:nvSpPr>
        <p:spPr>
          <a:xfrm>
            <a:off x="5897880" y="3794760"/>
            <a:ext cx="5559552" cy="749808"/>
          </a:xfrm>
          <a:prstGeom prst="rect">
            <a:avLst/>
          </a:prstGeom>
          <a:solidFill>
            <a:srgbClr val="FFFFFF"/>
          </a:solidFill>
          <a:ln w="12700">
            <a:solidFill>
              <a:srgbClr val="E2DCD2"/>
            </a:solidFill>
            <a:prstDash val="solid"/>
          </a:ln>
        </p:spPr>
      </p:sp>
      <p:sp>
        <p:nvSpPr>
          <p:cNvPr id="41" name="Shape 39"/>
          <p:cNvSpPr/>
          <p:nvPr/>
        </p:nvSpPr>
        <p:spPr>
          <a:xfrm>
            <a:off x="5897880" y="3794760"/>
            <a:ext cx="777240" cy="749808"/>
          </a:xfrm>
          <a:prstGeom prst="rect">
            <a:avLst/>
          </a:prstGeom>
          <a:solidFill>
            <a:srgbClr val="D97757"/>
          </a:solidFill>
          <a:ln/>
        </p:spPr>
      </p:sp>
      <p:sp>
        <p:nvSpPr>
          <p:cNvPr id="42" name="Text 40"/>
          <p:cNvSpPr/>
          <p:nvPr/>
        </p:nvSpPr>
        <p:spPr>
          <a:xfrm>
            <a:off x="5897880" y="3941064"/>
            <a:ext cx="777240" cy="256032"/>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04</a:t>
            </a:r>
            <a:endParaRPr lang="en-US" sz="1200" dirty="0"/>
          </a:p>
        </p:txBody>
      </p:sp>
      <p:sp>
        <p:nvSpPr>
          <p:cNvPr id="43" name="Text 41"/>
          <p:cNvSpPr/>
          <p:nvPr/>
        </p:nvSpPr>
        <p:spPr>
          <a:xfrm>
            <a:off x="5897880" y="4215384"/>
            <a:ext cx="777240" cy="182880"/>
          </a:xfrm>
          <a:prstGeom prst="rect">
            <a:avLst/>
          </a:prstGeom>
          <a:noFill/>
          <a:ln/>
        </p:spPr>
        <p:txBody>
          <a:bodyPr wrap="square"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PATCH DIFF</a:t>
            </a:r>
            <a:endParaRPr lang="en-US" sz="650" dirty="0"/>
          </a:p>
        </p:txBody>
      </p:sp>
      <p:sp>
        <p:nvSpPr>
          <p:cNvPr id="44" name="Text 42"/>
          <p:cNvSpPr/>
          <p:nvPr/>
        </p:nvSpPr>
        <p:spPr>
          <a:xfrm>
            <a:off x="6812280" y="3904488"/>
            <a:ext cx="1371600" cy="237744"/>
          </a:xfrm>
          <a:prstGeom prst="rect">
            <a:avLst/>
          </a:prstGeom>
          <a:noFill/>
          <a:ln/>
        </p:spPr>
        <p:txBody>
          <a:bodyPr wrap="square" rtlCol="0" anchor="ctr"/>
          <a:lstStyle/>
          <a:p>
            <a:pPr indent="0" marL="0">
              <a:buNone/>
            </a:pPr>
            <a:r>
              <a:rPr lang="en-US" sz="1100" b="1" dirty="0">
                <a:solidFill>
                  <a:srgbClr val="1C1917"/>
                </a:solidFill>
                <a:latin typeface="Arial" pitchFamily="34" charset="0"/>
                <a:ea typeface="Arial" pitchFamily="34" charset="-122"/>
                <a:cs typeface="Arial" pitchFamily="34" charset="-120"/>
              </a:rPr>
              <a:t>最小补丁</a:t>
            </a:r>
            <a:endParaRPr lang="en-US" sz="1100" dirty="0"/>
          </a:p>
        </p:txBody>
      </p:sp>
      <p:sp>
        <p:nvSpPr>
          <p:cNvPr id="45" name="Text 43"/>
          <p:cNvSpPr/>
          <p:nvPr/>
        </p:nvSpPr>
        <p:spPr>
          <a:xfrm>
            <a:off x="8275320" y="3904488"/>
            <a:ext cx="3063240" cy="530352"/>
          </a:xfrm>
          <a:prstGeom prst="rect">
            <a:avLst/>
          </a:prstGeom>
          <a:noFill/>
          <a:ln/>
        </p:spPr>
        <p:txBody>
          <a:bodyPr wrap="square" rtlCol="0" anchor="ctr"/>
          <a:lstStyle/>
          <a:p>
            <a:pPr indent="0" marL="0">
              <a:lnSpc>
                <a:spcPts val="1200"/>
              </a:lnSpc>
              <a:buNone/>
            </a:pPr>
            <a:r>
              <a:rPr lang="en-US" sz="880" dirty="0">
                <a:solidFill>
                  <a:srgbClr val="57534E"/>
                </a:solidFill>
                <a:latin typeface="Arial" pitchFamily="34" charset="0"/>
                <a:ea typeface="Arial" pitchFamily="34" charset="-122"/>
                <a:cs typeface="Arial" pitchFamily="34" charset="-120"/>
              </a:rPr>
              <a:t>仅输出最小行级差分，严禁全量覆盖以防破坏业务。</a:t>
            </a:r>
            <a:endParaRPr lang="en-US" sz="880" dirty="0"/>
          </a:p>
        </p:txBody>
      </p:sp>
      <p:sp>
        <p:nvSpPr>
          <p:cNvPr id="46" name="Shape 44"/>
          <p:cNvSpPr/>
          <p:nvPr/>
        </p:nvSpPr>
        <p:spPr>
          <a:xfrm>
            <a:off x="5897880" y="4617720"/>
            <a:ext cx="5559552" cy="749808"/>
          </a:xfrm>
          <a:prstGeom prst="rect">
            <a:avLst/>
          </a:prstGeom>
          <a:solidFill>
            <a:srgbClr val="FFFFFF"/>
          </a:solidFill>
          <a:ln w="12700">
            <a:solidFill>
              <a:srgbClr val="E2DCD2"/>
            </a:solidFill>
            <a:prstDash val="solid"/>
          </a:ln>
        </p:spPr>
      </p:sp>
      <p:sp>
        <p:nvSpPr>
          <p:cNvPr id="47" name="Shape 45"/>
          <p:cNvSpPr/>
          <p:nvPr/>
        </p:nvSpPr>
        <p:spPr>
          <a:xfrm>
            <a:off x="5897880" y="4617720"/>
            <a:ext cx="777240" cy="749808"/>
          </a:xfrm>
          <a:prstGeom prst="rect">
            <a:avLst/>
          </a:prstGeom>
          <a:solidFill>
            <a:srgbClr val="16A34A"/>
          </a:solidFill>
          <a:ln/>
        </p:spPr>
      </p:sp>
      <p:sp>
        <p:nvSpPr>
          <p:cNvPr id="48" name="Text 46"/>
          <p:cNvSpPr/>
          <p:nvPr/>
        </p:nvSpPr>
        <p:spPr>
          <a:xfrm>
            <a:off x="5897880" y="4764024"/>
            <a:ext cx="777240" cy="256032"/>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05</a:t>
            </a:r>
            <a:endParaRPr lang="en-US" sz="1200" dirty="0"/>
          </a:p>
        </p:txBody>
      </p:sp>
      <p:sp>
        <p:nvSpPr>
          <p:cNvPr id="49" name="Text 47"/>
          <p:cNvSpPr/>
          <p:nvPr/>
        </p:nvSpPr>
        <p:spPr>
          <a:xfrm>
            <a:off x="5897880" y="5038344"/>
            <a:ext cx="777240" cy="182880"/>
          </a:xfrm>
          <a:prstGeom prst="rect">
            <a:avLst/>
          </a:prstGeom>
          <a:noFill/>
          <a:ln/>
        </p:spPr>
        <p:txBody>
          <a:bodyPr wrap="square"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VERIFY</a:t>
            </a:r>
            <a:endParaRPr lang="en-US" sz="650" dirty="0"/>
          </a:p>
        </p:txBody>
      </p:sp>
      <p:sp>
        <p:nvSpPr>
          <p:cNvPr id="50" name="Text 48"/>
          <p:cNvSpPr/>
          <p:nvPr/>
        </p:nvSpPr>
        <p:spPr>
          <a:xfrm>
            <a:off x="6812280" y="4727448"/>
            <a:ext cx="1371600" cy="237744"/>
          </a:xfrm>
          <a:prstGeom prst="rect">
            <a:avLst/>
          </a:prstGeom>
          <a:noFill/>
          <a:ln/>
        </p:spPr>
        <p:txBody>
          <a:bodyPr wrap="square" rtlCol="0" anchor="ctr"/>
          <a:lstStyle/>
          <a:p>
            <a:pPr indent="0" marL="0">
              <a:buNone/>
            </a:pPr>
            <a:r>
              <a:rPr lang="en-US" sz="1100" b="1" dirty="0">
                <a:solidFill>
                  <a:srgbClr val="1C1917"/>
                </a:solidFill>
                <a:latin typeface="Arial" pitchFamily="34" charset="0"/>
                <a:ea typeface="Arial" pitchFamily="34" charset="-122"/>
                <a:cs typeface="Arial" pitchFamily="34" charset="-120"/>
              </a:rPr>
              <a:t>闭环复测</a:t>
            </a:r>
            <a:endParaRPr lang="en-US" sz="1100" dirty="0"/>
          </a:p>
        </p:txBody>
      </p:sp>
      <p:sp>
        <p:nvSpPr>
          <p:cNvPr id="51" name="Text 49"/>
          <p:cNvSpPr/>
          <p:nvPr/>
        </p:nvSpPr>
        <p:spPr>
          <a:xfrm>
            <a:off x="8275320" y="4727448"/>
            <a:ext cx="3063240" cy="530352"/>
          </a:xfrm>
          <a:prstGeom prst="rect">
            <a:avLst/>
          </a:prstGeom>
          <a:noFill/>
          <a:ln/>
        </p:spPr>
        <p:txBody>
          <a:bodyPr wrap="square" rtlCol="0" anchor="ctr"/>
          <a:lstStyle/>
          <a:p>
            <a:pPr indent="0" marL="0">
              <a:lnSpc>
                <a:spcPts val="1200"/>
              </a:lnSpc>
              <a:buNone/>
            </a:pPr>
            <a:r>
              <a:rPr lang="en-US" sz="880" dirty="0">
                <a:solidFill>
                  <a:srgbClr val="57534E"/>
                </a:solidFill>
                <a:latin typeface="Arial" pitchFamily="34" charset="0"/>
                <a:ea typeface="Arial" pitchFamily="34" charset="-122"/>
                <a:cs typeface="Arial" pitchFamily="34" charset="-120"/>
              </a:rPr>
              <a:t>全量回归测试直到 Exit Code 0 合入；失败则即刻重试。</a:t>
            </a:r>
            <a:endParaRPr lang="en-US" sz="880" dirty="0"/>
          </a:p>
        </p:txBody>
      </p:sp>
      <p:sp>
        <p:nvSpPr>
          <p:cNvPr id="52" name="Shape 50"/>
          <p:cNvSpPr/>
          <p:nvPr/>
        </p:nvSpPr>
        <p:spPr>
          <a:xfrm>
            <a:off x="731520" y="5532120"/>
            <a:ext cx="10725912" cy="777240"/>
          </a:xfrm>
          <a:prstGeom prst="rect">
            <a:avLst/>
          </a:prstGeom>
          <a:solidFill>
            <a:srgbClr val="FBF0EB"/>
          </a:solidFill>
          <a:ln w="12700">
            <a:solidFill>
              <a:srgbClr val="F0C2B2"/>
            </a:solidFill>
            <a:prstDash val="solid"/>
          </a:ln>
        </p:spPr>
      </p:sp>
      <p:sp>
        <p:nvSpPr>
          <p:cNvPr id="53" name="Shape 51"/>
          <p:cNvSpPr/>
          <p:nvPr/>
        </p:nvSpPr>
        <p:spPr>
          <a:xfrm>
            <a:off x="960120" y="5669280"/>
            <a:ext cx="1645920" cy="502920"/>
          </a:xfrm>
          <a:prstGeom prst="rect">
            <a:avLst/>
          </a:prstGeom>
          <a:solidFill>
            <a:srgbClr val="D97757"/>
          </a:solidFill>
          <a:ln/>
        </p:spPr>
      </p:sp>
      <p:sp>
        <p:nvSpPr>
          <p:cNvPr id="54" name="Text 52"/>
          <p:cNvSpPr/>
          <p:nvPr/>
        </p:nvSpPr>
        <p:spPr>
          <a:xfrm>
            <a:off x="960120" y="5733288"/>
            <a:ext cx="1645920" cy="384048"/>
          </a:xfrm>
          <a:prstGeom prst="rect">
            <a:avLst/>
          </a:prstGeom>
          <a:noFill/>
          <a:ln/>
        </p:spPr>
        <p:txBody>
          <a:bodyPr wrap="square" rtlCol="0" anchor="ctr"/>
          <a:lstStyle/>
          <a:p>
            <a:pPr algn="ctr" indent="0" marL="0">
              <a:lnSpc>
                <a:spcPts val="1100"/>
              </a:lnSpc>
              <a:buNone/>
            </a:pPr>
            <a:r>
              <a:rPr lang="en-US" sz="850" b="1" dirty="0">
                <a:solidFill>
                  <a:srgbClr val="FFFFFF"/>
                </a:solidFill>
                <a:latin typeface="Arial" pitchFamily="34" charset="0"/>
                <a:ea typeface="Arial" pitchFamily="34" charset="-122"/>
                <a:cs typeface="Arial" pitchFamily="34" charset="-120"/>
              </a:rPr>
              <a:t>自愈闭环飞轮</a:t>
            </a:r>
            <a:endParaRPr lang="en-US" sz="850" dirty="0"/>
          </a:p>
          <a:p>
            <a:pPr algn="ctr" indent="0" marL="0">
              <a:lnSpc>
                <a:spcPts val="1100"/>
              </a:lnSpc>
              <a:buNone/>
            </a:pPr>
            <a:r>
              <a:rPr lang="en-US" sz="850" b="1" dirty="0">
                <a:solidFill>
                  <a:srgbClr val="FFFFFF"/>
                </a:solidFill>
                <a:latin typeface="Arial" pitchFamily="34" charset="0"/>
                <a:ea typeface="Arial" pitchFamily="34" charset="-122"/>
                <a:cs typeface="Arial" pitchFamily="34" charset="-120"/>
              </a:rPr>
              <a:t>CLOSED LOOP</a:t>
            </a:r>
            <a:endParaRPr lang="en-US" sz="850" dirty="0"/>
          </a:p>
        </p:txBody>
      </p:sp>
      <p:sp>
        <p:nvSpPr>
          <p:cNvPr id="55" name="Text 53"/>
          <p:cNvSpPr/>
          <p:nvPr/>
        </p:nvSpPr>
        <p:spPr>
          <a:xfrm>
            <a:off x="2788920" y="5650992"/>
            <a:ext cx="8458200" cy="548640"/>
          </a:xfrm>
          <a:prstGeom prst="rect">
            <a:avLst/>
          </a:prstGeom>
          <a:noFill/>
          <a:ln/>
        </p:spPr>
        <p:txBody>
          <a:bodyPr wrap="square" rtlCol="0" anchor="ctr"/>
          <a:lstStyle/>
          <a:p>
            <a:pPr indent="0" marL="0">
              <a:lnSpc>
                <a:spcPts val="1400"/>
              </a:lnSpc>
              <a:buNone/>
            </a:pPr>
            <a:r>
              <a:rPr lang="en-US" sz="950" b="1" dirty="0">
                <a:solidFill>
                  <a:srgbClr val="1C1917"/>
                </a:solidFill>
                <a:latin typeface="Arial" pitchFamily="34" charset="0"/>
                <a:ea typeface="Arial" pitchFamily="34" charset="-122"/>
                <a:cs typeface="Arial" pitchFamily="34" charset="-120"/>
              </a:rPr>
              <a:t>“Exit Code != 0 ➔ 报错即输入 ➔ 毫秒级重试”：报错不是灾难，而是下一步推理最宝贵的真实物理上下文。模型在与编译器的对抗中逼近唯一真理。</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9F5"/>
        </a:solidFill>
      </p:bgPr>
    </p:bg>
    <p:spTree>
      <p:nvGrpSpPr>
        <p:cNvPr id="1" name=""/>
        <p:cNvGrpSpPr/>
        <p:nvPr/>
      </p:nvGrpSpPr>
      <p:grpSpPr>
        <a:xfrm>
          <a:off x="0" y="0"/>
          <a:ext cx="0" cy="0"/>
          <a:chOff x="0" y="0"/>
          <a:chExt cx="0" cy="0"/>
        </a:xfrm>
      </p:grpSpPr>
      <p:sp>
        <p:nvSpPr>
          <p:cNvPr id="2" name="Shape 0"/>
          <p:cNvSpPr/>
          <p:nvPr/>
        </p:nvSpPr>
        <p:spPr>
          <a:xfrm>
            <a:off x="731520" y="384048"/>
            <a:ext cx="2560320" cy="256032"/>
          </a:xfrm>
          <a:prstGeom prst="rect">
            <a:avLst/>
          </a:prstGeom>
          <a:solidFill>
            <a:srgbClr val="FBF0EB"/>
          </a:solidFill>
          <a:ln w="12700">
            <a:solidFill>
              <a:srgbClr val="F0C2B2"/>
            </a:solidFill>
            <a:prstDash val="solid"/>
          </a:ln>
        </p:spPr>
      </p:sp>
      <p:sp>
        <p:nvSpPr>
          <p:cNvPr id="3" name="Text 1"/>
          <p:cNvSpPr/>
          <p:nvPr/>
        </p:nvSpPr>
        <p:spPr>
          <a:xfrm>
            <a:off x="731520" y="384048"/>
            <a:ext cx="2560320" cy="256032"/>
          </a:xfrm>
          <a:prstGeom prst="rect">
            <a:avLst/>
          </a:prstGeom>
          <a:noFill/>
          <a:ln/>
        </p:spPr>
        <p:txBody>
          <a:bodyPr wrap="square" rtlCol="0" anchor="ctr"/>
          <a:lstStyle/>
          <a:p>
            <a:pPr algn="ctr" indent="0" marL="0">
              <a:buNone/>
            </a:pPr>
            <a:r>
              <a:rPr lang="en-US" sz="900" b="1" spc="120" kern="0" dirty="0">
                <a:solidFill>
                  <a:srgbClr val="D97757"/>
                </a:solidFill>
                <a:latin typeface="Arial" pitchFamily="34" charset="0"/>
                <a:ea typeface="Arial" pitchFamily="34" charset="-122"/>
                <a:cs typeface="Arial" pitchFamily="34" charset="-120"/>
              </a:rPr>
              <a:t>FAST LOOP ECONOMICS</a:t>
            </a:r>
            <a:endParaRPr lang="en-US" sz="900" dirty="0"/>
          </a:p>
        </p:txBody>
      </p:sp>
      <p:sp>
        <p:nvSpPr>
          <p:cNvPr id="4" name="Text 2"/>
          <p:cNvSpPr/>
          <p:nvPr/>
        </p:nvSpPr>
        <p:spPr>
          <a:xfrm>
            <a:off x="731520" y="676656"/>
            <a:ext cx="9875520" cy="475488"/>
          </a:xfrm>
          <a:prstGeom prst="rect">
            <a:avLst/>
          </a:prstGeom>
          <a:noFill/>
          <a:ln/>
        </p:spPr>
        <p:txBody>
          <a:bodyPr wrap="square" lIns="0" tIns="0" rIns="0" bIns="0" rtlCol="0" anchor="ctr"/>
          <a:lstStyle/>
          <a:p>
            <a:pPr indent="0" marL="0">
              <a:buNone/>
            </a:pPr>
            <a:r>
              <a:rPr lang="en-US" sz="2100" b="1" dirty="0">
                <a:solidFill>
                  <a:srgbClr val="1C1917"/>
                </a:solidFill>
                <a:latin typeface="Arial" pitchFamily="34" charset="0"/>
                <a:ea typeface="Arial" pitchFamily="34" charset="-122"/>
                <a:cs typeface="Arial" pitchFamily="34" charset="-120"/>
              </a:rPr>
              <a:t>速度胜过深思？Sonnet 5.5 反超 Opus 4.5 的工程经济学</a:t>
            </a:r>
            <a:endParaRPr lang="en-US" sz="2100" dirty="0"/>
          </a:p>
        </p:txBody>
      </p:sp>
      <p:sp>
        <p:nvSpPr>
          <p:cNvPr id="5" name="Text 3"/>
          <p:cNvSpPr/>
          <p:nvPr/>
        </p:nvSpPr>
        <p:spPr>
          <a:xfrm>
            <a:off x="10972800" y="384048"/>
            <a:ext cx="731520" cy="320040"/>
          </a:xfrm>
          <a:prstGeom prst="rect">
            <a:avLst/>
          </a:prstGeom>
          <a:noFill/>
          <a:ln/>
        </p:spPr>
        <p:txBody>
          <a:bodyPr wrap="square" rtlCol="0" anchor="ctr"/>
          <a:lstStyle/>
          <a:p>
            <a:pPr algn="r" indent="0" marL="0">
              <a:buNone/>
            </a:pPr>
            <a:r>
              <a:rPr lang="en-US" sz="1300" b="1" dirty="0">
                <a:solidFill>
                  <a:srgbClr val="8C857B"/>
                </a:solidFill>
                <a:latin typeface="Arial" pitchFamily="34" charset="0"/>
                <a:ea typeface="Arial" pitchFamily="34" charset="-122"/>
                <a:cs typeface="Arial" pitchFamily="34" charset="-120"/>
              </a:rPr>
              <a:t>14</a:t>
            </a:r>
            <a:endParaRPr lang="en-US" sz="1300" dirty="0"/>
          </a:p>
        </p:txBody>
      </p:sp>
      <p:sp>
        <p:nvSpPr>
          <p:cNvPr id="6" name="Shape 4"/>
          <p:cNvSpPr/>
          <p:nvPr/>
        </p:nvSpPr>
        <p:spPr>
          <a:xfrm>
            <a:off x="731520" y="1325880"/>
            <a:ext cx="5257800" cy="2423160"/>
          </a:xfrm>
          <a:prstGeom prst="rect">
            <a:avLst/>
          </a:prstGeom>
          <a:solidFill>
            <a:srgbClr val="FFFFFF"/>
          </a:solidFill>
          <a:ln w="12700">
            <a:solidFill>
              <a:srgbClr val="E2DCD2"/>
            </a:solidFill>
            <a:prstDash val="solid"/>
          </a:ln>
        </p:spPr>
      </p:sp>
      <p:sp>
        <p:nvSpPr>
          <p:cNvPr id="7" name="Shape 5"/>
          <p:cNvSpPr/>
          <p:nvPr/>
        </p:nvSpPr>
        <p:spPr>
          <a:xfrm>
            <a:off x="731520" y="1325880"/>
            <a:ext cx="5257800" cy="594360"/>
          </a:xfrm>
          <a:prstGeom prst="rect">
            <a:avLst/>
          </a:prstGeom>
          <a:solidFill>
            <a:srgbClr val="D97757"/>
          </a:solidFill>
          <a:ln/>
        </p:spPr>
      </p:sp>
      <p:sp>
        <p:nvSpPr>
          <p:cNvPr id="8" name="Text 6"/>
          <p:cNvSpPr/>
          <p:nvPr/>
        </p:nvSpPr>
        <p:spPr>
          <a:xfrm>
            <a:off x="914400" y="1408176"/>
            <a:ext cx="4892040" cy="182880"/>
          </a:xfrm>
          <a:prstGeom prst="rect">
            <a:avLst/>
          </a:prstGeom>
          <a:noFill/>
          <a:ln/>
        </p:spPr>
        <p:txBody>
          <a:bodyPr wrap="square" rtlCol="0" anchor="ctr"/>
          <a:lstStyle/>
          <a:p>
            <a:pPr indent="0" marL="0">
              <a:buNone/>
            </a:pPr>
            <a:r>
              <a:rPr lang="en-US" sz="800" b="1" dirty="0">
                <a:solidFill>
                  <a:srgbClr val="FFFFFF"/>
                </a:solidFill>
                <a:latin typeface="Arial" pitchFamily="34" charset="0"/>
                <a:ea typeface="Arial" pitchFamily="34" charset="-122"/>
                <a:cs typeface="Arial" pitchFamily="34" charset="-120"/>
              </a:rPr>
              <a:t>FAST ITERATION CHAMPION · 70.6% 登顶</a:t>
            </a:r>
            <a:endParaRPr lang="en-US" sz="800" dirty="0"/>
          </a:p>
        </p:txBody>
      </p:sp>
      <p:sp>
        <p:nvSpPr>
          <p:cNvPr id="9" name="Text 7"/>
          <p:cNvSpPr/>
          <p:nvPr/>
        </p:nvSpPr>
        <p:spPr>
          <a:xfrm>
            <a:off x="914400" y="1591056"/>
            <a:ext cx="4892040" cy="274320"/>
          </a:xfrm>
          <a:prstGeom prst="rect">
            <a:avLst/>
          </a:prstGeom>
          <a:noFill/>
          <a:ln/>
        </p:spPr>
        <p:txBody>
          <a:bodyPr wrap="square" rtlCol="0" anchor="ctr"/>
          <a:lstStyle/>
          <a:p>
            <a:pPr indent="0" marL="0">
              <a:buNone/>
            </a:pPr>
            <a:r>
              <a:rPr lang="en-US" sz="1250" b="1" dirty="0">
                <a:solidFill>
                  <a:srgbClr val="FFFFFF"/>
                </a:solidFill>
                <a:latin typeface="Arial" pitchFamily="34" charset="0"/>
                <a:ea typeface="Arial" pitchFamily="34" charset="-122"/>
                <a:cs typeface="Arial" pitchFamily="34" charset="-120"/>
              </a:rPr>
              <a:t>Sonnet 5.5 (高频敏捷执行战士)</a:t>
            </a:r>
            <a:endParaRPr lang="en-US" sz="1250" dirty="0"/>
          </a:p>
        </p:txBody>
      </p:sp>
      <p:sp>
        <p:nvSpPr>
          <p:cNvPr id="10" name="Shape 8"/>
          <p:cNvSpPr/>
          <p:nvPr/>
        </p:nvSpPr>
        <p:spPr>
          <a:xfrm>
            <a:off x="914400" y="1993392"/>
            <a:ext cx="4892040" cy="347472"/>
          </a:xfrm>
          <a:prstGeom prst="rect">
            <a:avLst/>
          </a:prstGeom>
          <a:solidFill>
            <a:srgbClr val="F5F2EB"/>
          </a:solidFill>
          <a:ln w="12700">
            <a:solidFill>
              <a:srgbClr val="E2DCD2"/>
            </a:solidFill>
            <a:prstDash val="solid"/>
          </a:ln>
        </p:spPr>
      </p:sp>
      <p:sp>
        <p:nvSpPr>
          <p:cNvPr id="11" name="Text 9"/>
          <p:cNvSpPr/>
          <p:nvPr/>
        </p:nvSpPr>
        <p:spPr>
          <a:xfrm>
            <a:off x="1005840" y="2066544"/>
            <a:ext cx="4709160" cy="219456"/>
          </a:xfrm>
          <a:prstGeom prst="rect">
            <a:avLst/>
          </a:prstGeom>
          <a:noFill/>
          <a:ln/>
        </p:spPr>
        <p:txBody>
          <a:bodyPr wrap="square" rtlCol="0" anchor="ctr"/>
          <a:lstStyle/>
          <a:p>
            <a:pPr indent="0" marL="0">
              <a:buNone/>
            </a:pPr>
            <a:r>
              <a:rPr lang="en-US" sz="900" b="1" dirty="0">
                <a:solidFill>
                  <a:srgbClr val="1C1917"/>
                </a:solidFill>
                <a:latin typeface="Arial" pitchFamily="34" charset="0"/>
                <a:ea typeface="Arial" pitchFamily="34" charset="-122"/>
                <a:cs typeface="Arial" pitchFamily="34" charset="-120"/>
              </a:rPr>
              <a:t>Terminal-Bench 4.0 通过率: 70.6%</a:t>
            </a:r>
            <a:endParaRPr lang="en-US" sz="900" dirty="0"/>
          </a:p>
        </p:txBody>
      </p:sp>
      <p:sp>
        <p:nvSpPr>
          <p:cNvPr id="12" name="Shape 10"/>
          <p:cNvSpPr/>
          <p:nvPr/>
        </p:nvSpPr>
        <p:spPr>
          <a:xfrm>
            <a:off x="914400" y="2395728"/>
            <a:ext cx="4892040" cy="347472"/>
          </a:xfrm>
          <a:prstGeom prst="rect">
            <a:avLst/>
          </a:prstGeom>
          <a:solidFill>
            <a:srgbClr val="F5F2EB"/>
          </a:solidFill>
          <a:ln w="12700">
            <a:solidFill>
              <a:srgbClr val="E2DCD2"/>
            </a:solidFill>
            <a:prstDash val="solid"/>
          </a:ln>
        </p:spPr>
      </p:sp>
      <p:sp>
        <p:nvSpPr>
          <p:cNvPr id="13" name="Text 11"/>
          <p:cNvSpPr/>
          <p:nvPr/>
        </p:nvSpPr>
        <p:spPr>
          <a:xfrm>
            <a:off x="1005840" y="2468880"/>
            <a:ext cx="4709160" cy="219456"/>
          </a:xfrm>
          <a:prstGeom prst="rect">
            <a:avLst/>
          </a:prstGeom>
          <a:noFill/>
          <a:ln/>
        </p:spPr>
        <p:txBody>
          <a:bodyPr wrap="square" rtlCol="0" anchor="ctr"/>
          <a:lstStyle/>
          <a:p>
            <a:pPr indent="0" marL="0">
              <a:buNone/>
            </a:pPr>
            <a:r>
              <a:rPr lang="en-US" sz="900" b="1" dirty="0">
                <a:solidFill>
                  <a:srgbClr val="1C1917"/>
                </a:solidFill>
                <a:latin typeface="Arial" pitchFamily="34" charset="0"/>
                <a:ea typeface="Arial" pitchFamily="34" charset="-122"/>
                <a:cs typeface="Arial" pitchFamily="34" charset="-120"/>
              </a:rPr>
              <a:t>单轮反馈时延: ~35 秒 (快 5 倍)</a:t>
            </a:r>
            <a:endParaRPr lang="en-US" sz="900" dirty="0"/>
          </a:p>
        </p:txBody>
      </p:sp>
      <p:sp>
        <p:nvSpPr>
          <p:cNvPr id="14" name="Shape 12"/>
          <p:cNvSpPr/>
          <p:nvPr/>
        </p:nvSpPr>
        <p:spPr>
          <a:xfrm>
            <a:off x="914400" y="2798064"/>
            <a:ext cx="4892040" cy="347472"/>
          </a:xfrm>
          <a:prstGeom prst="rect">
            <a:avLst/>
          </a:prstGeom>
          <a:solidFill>
            <a:srgbClr val="F5F2EB"/>
          </a:solidFill>
          <a:ln w="12700">
            <a:solidFill>
              <a:srgbClr val="E2DCD2"/>
            </a:solidFill>
            <a:prstDash val="solid"/>
          </a:ln>
        </p:spPr>
      </p:sp>
      <p:sp>
        <p:nvSpPr>
          <p:cNvPr id="15" name="Text 13"/>
          <p:cNvSpPr/>
          <p:nvPr/>
        </p:nvSpPr>
        <p:spPr>
          <a:xfrm>
            <a:off x="1005840" y="2871216"/>
            <a:ext cx="4709160" cy="219456"/>
          </a:xfrm>
          <a:prstGeom prst="rect">
            <a:avLst/>
          </a:prstGeom>
          <a:noFill/>
          <a:ln/>
        </p:spPr>
        <p:txBody>
          <a:bodyPr wrap="square" rtlCol="0" anchor="ctr"/>
          <a:lstStyle/>
          <a:p>
            <a:pPr indent="0" marL="0">
              <a:buNone/>
            </a:pPr>
            <a:r>
              <a:rPr lang="en-US" sz="900" b="1" dirty="0">
                <a:solidFill>
                  <a:srgbClr val="1C1917"/>
                </a:solidFill>
                <a:latin typeface="Arial" pitchFamily="34" charset="0"/>
                <a:ea typeface="Arial" pitchFamily="34" charset="-122"/>
                <a:cs typeface="Arial" pitchFamily="34" charset="-120"/>
              </a:rPr>
              <a:t>API 价格: $3 / $15 每百万 Token (仅 Opus 1/5)</a:t>
            </a:r>
            <a:endParaRPr lang="en-US" sz="900" dirty="0"/>
          </a:p>
        </p:txBody>
      </p:sp>
      <p:sp>
        <p:nvSpPr>
          <p:cNvPr id="16" name="Text 14"/>
          <p:cNvSpPr/>
          <p:nvPr/>
        </p:nvSpPr>
        <p:spPr>
          <a:xfrm>
            <a:off x="914400" y="3291840"/>
            <a:ext cx="4892040" cy="384048"/>
          </a:xfrm>
          <a:prstGeom prst="rect">
            <a:avLst/>
          </a:prstGeom>
          <a:noFill/>
          <a:ln/>
        </p:spPr>
        <p:txBody>
          <a:bodyPr wrap="square" rtlCol="0" anchor="ctr"/>
          <a:lstStyle/>
          <a:p>
            <a:pPr indent="0" marL="0">
              <a:buNone/>
            </a:pPr>
            <a:r>
              <a:rPr lang="en-US" sz="900" b="1" i="1" dirty="0">
                <a:solidFill>
                  <a:srgbClr val="D97757"/>
                </a:solidFill>
                <a:latin typeface="Arial" pitchFamily="34" charset="0"/>
                <a:ea typeface="Arial" pitchFamily="34" charset="-122"/>
                <a:cs typeface="Arial" pitchFamily="34" charset="-120"/>
              </a:rPr>
              <a:t>“快速尝试 3 次不同排错路径，总耗时 100 秒直接跑通全量单测”</a:t>
            </a:r>
            <a:endParaRPr lang="en-US" sz="900" dirty="0"/>
          </a:p>
        </p:txBody>
      </p:sp>
      <p:sp>
        <p:nvSpPr>
          <p:cNvPr id="17" name="Shape 15"/>
          <p:cNvSpPr/>
          <p:nvPr/>
        </p:nvSpPr>
        <p:spPr>
          <a:xfrm>
            <a:off x="6172200" y="1325880"/>
            <a:ext cx="5257800" cy="2423160"/>
          </a:xfrm>
          <a:prstGeom prst="rect">
            <a:avLst/>
          </a:prstGeom>
          <a:solidFill>
            <a:srgbClr val="FFFFFF"/>
          </a:solidFill>
          <a:ln w="12700">
            <a:solidFill>
              <a:srgbClr val="E2DCD2"/>
            </a:solidFill>
            <a:prstDash val="solid"/>
          </a:ln>
        </p:spPr>
      </p:sp>
      <p:sp>
        <p:nvSpPr>
          <p:cNvPr id="18" name="Shape 16"/>
          <p:cNvSpPr/>
          <p:nvPr/>
        </p:nvSpPr>
        <p:spPr>
          <a:xfrm>
            <a:off x="6172200" y="1325880"/>
            <a:ext cx="5257800" cy="594360"/>
          </a:xfrm>
          <a:prstGeom prst="rect">
            <a:avLst/>
          </a:prstGeom>
          <a:solidFill>
            <a:srgbClr val="475569"/>
          </a:solidFill>
          <a:ln/>
        </p:spPr>
      </p:sp>
      <p:sp>
        <p:nvSpPr>
          <p:cNvPr id="19" name="Text 17"/>
          <p:cNvSpPr/>
          <p:nvPr/>
        </p:nvSpPr>
        <p:spPr>
          <a:xfrm>
            <a:off x="6355080" y="1408176"/>
            <a:ext cx="4892040" cy="182880"/>
          </a:xfrm>
          <a:prstGeom prst="rect">
            <a:avLst/>
          </a:prstGeom>
          <a:noFill/>
          <a:ln/>
        </p:spPr>
        <p:txBody>
          <a:bodyPr wrap="square" rtlCol="0" anchor="ctr"/>
          <a:lstStyle/>
          <a:p>
            <a:pPr indent="0" marL="0">
              <a:buNone/>
            </a:pPr>
            <a:r>
              <a:rPr lang="en-US" sz="800" b="1" dirty="0">
                <a:solidFill>
                  <a:srgbClr val="FFFFFF"/>
                </a:solidFill>
                <a:latin typeface="Arial" pitchFamily="34" charset="0"/>
                <a:ea typeface="Arial" pitchFamily="34" charset="-122"/>
                <a:cs typeface="Arial" pitchFamily="34" charset="-120"/>
              </a:rPr>
              <a:t>SLOW DEEP REASONER · 58.4%</a:t>
            </a:r>
            <a:endParaRPr lang="en-US" sz="800" dirty="0"/>
          </a:p>
        </p:txBody>
      </p:sp>
      <p:sp>
        <p:nvSpPr>
          <p:cNvPr id="20" name="Text 18"/>
          <p:cNvSpPr/>
          <p:nvPr/>
        </p:nvSpPr>
        <p:spPr>
          <a:xfrm>
            <a:off x="6355080" y="1591056"/>
            <a:ext cx="4892040" cy="274320"/>
          </a:xfrm>
          <a:prstGeom prst="rect">
            <a:avLst/>
          </a:prstGeom>
          <a:noFill/>
          <a:ln/>
        </p:spPr>
        <p:txBody>
          <a:bodyPr wrap="square" rtlCol="0" anchor="ctr"/>
          <a:lstStyle/>
          <a:p>
            <a:pPr indent="0" marL="0">
              <a:buNone/>
            </a:pPr>
            <a:r>
              <a:rPr lang="en-US" sz="1250" b="1" dirty="0">
                <a:solidFill>
                  <a:srgbClr val="FFFFFF"/>
                </a:solidFill>
                <a:latin typeface="Arial" pitchFamily="34" charset="0"/>
                <a:ea typeface="Arial" pitchFamily="34" charset="-122"/>
                <a:cs typeface="Arial" pitchFamily="34" charset="-120"/>
              </a:rPr>
              <a:t>Opus 4.5 (慢思考学术研究巨兽)</a:t>
            </a:r>
            <a:endParaRPr lang="en-US" sz="1250" dirty="0"/>
          </a:p>
        </p:txBody>
      </p:sp>
      <p:sp>
        <p:nvSpPr>
          <p:cNvPr id="21" name="Shape 19"/>
          <p:cNvSpPr/>
          <p:nvPr/>
        </p:nvSpPr>
        <p:spPr>
          <a:xfrm>
            <a:off x="6355080" y="1993392"/>
            <a:ext cx="4892040" cy="347472"/>
          </a:xfrm>
          <a:prstGeom prst="rect">
            <a:avLst/>
          </a:prstGeom>
          <a:solidFill>
            <a:srgbClr val="F5F2EB"/>
          </a:solidFill>
          <a:ln w="12700">
            <a:solidFill>
              <a:srgbClr val="E2DCD2"/>
            </a:solidFill>
            <a:prstDash val="solid"/>
          </a:ln>
        </p:spPr>
      </p:sp>
      <p:sp>
        <p:nvSpPr>
          <p:cNvPr id="22" name="Text 20"/>
          <p:cNvSpPr/>
          <p:nvPr/>
        </p:nvSpPr>
        <p:spPr>
          <a:xfrm>
            <a:off x="6446520" y="2066544"/>
            <a:ext cx="4709160" cy="219456"/>
          </a:xfrm>
          <a:prstGeom prst="rect">
            <a:avLst/>
          </a:prstGeom>
          <a:noFill/>
          <a:ln/>
        </p:spPr>
        <p:txBody>
          <a:bodyPr wrap="square" rtlCol="0" anchor="ctr"/>
          <a:lstStyle/>
          <a:p>
            <a:pPr indent="0" marL="0">
              <a:buNone/>
            </a:pPr>
            <a:r>
              <a:rPr lang="en-US" sz="900" b="1" dirty="0">
                <a:solidFill>
                  <a:srgbClr val="1C1917"/>
                </a:solidFill>
                <a:latin typeface="Arial" pitchFamily="34" charset="0"/>
                <a:ea typeface="Arial" pitchFamily="34" charset="-122"/>
                <a:cs typeface="Arial" pitchFamily="34" charset="-120"/>
              </a:rPr>
              <a:t>Terminal-Bench 4.0 通过率: 58.4%</a:t>
            </a:r>
            <a:endParaRPr lang="en-US" sz="900" dirty="0"/>
          </a:p>
        </p:txBody>
      </p:sp>
      <p:sp>
        <p:nvSpPr>
          <p:cNvPr id="23" name="Shape 21"/>
          <p:cNvSpPr/>
          <p:nvPr/>
        </p:nvSpPr>
        <p:spPr>
          <a:xfrm>
            <a:off x="6355080" y="2395728"/>
            <a:ext cx="4892040" cy="347472"/>
          </a:xfrm>
          <a:prstGeom prst="rect">
            <a:avLst/>
          </a:prstGeom>
          <a:solidFill>
            <a:srgbClr val="F5F2EB"/>
          </a:solidFill>
          <a:ln w="12700">
            <a:solidFill>
              <a:srgbClr val="E2DCD2"/>
            </a:solidFill>
            <a:prstDash val="solid"/>
          </a:ln>
        </p:spPr>
      </p:sp>
      <p:sp>
        <p:nvSpPr>
          <p:cNvPr id="24" name="Text 22"/>
          <p:cNvSpPr/>
          <p:nvPr/>
        </p:nvSpPr>
        <p:spPr>
          <a:xfrm>
            <a:off x="6446520" y="2468880"/>
            <a:ext cx="4709160" cy="219456"/>
          </a:xfrm>
          <a:prstGeom prst="rect">
            <a:avLst/>
          </a:prstGeom>
          <a:noFill/>
          <a:ln/>
        </p:spPr>
        <p:txBody>
          <a:bodyPr wrap="square" rtlCol="0" anchor="ctr"/>
          <a:lstStyle/>
          <a:p>
            <a:pPr indent="0" marL="0">
              <a:buNone/>
            </a:pPr>
            <a:r>
              <a:rPr lang="en-US" sz="900" b="1" dirty="0">
                <a:solidFill>
                  <a:srgbClr val="1C1917"/>
                </a:solidFill>
                <a:latin typeface="Arial" pitchFamily="34" charset="0"/>
                <a:ea typeface="Arial" pitchFamily="34" charset="-122"/>
                <a:cs typeface="Arial" pitchFamily="34" charset="-120"/>
              </a:rPr>
              <a:t>单轮反馈时延: ~180 秒 (极度漫长)</a:t>
            </a:r>
            <a:endParaRPr lang="en-US" sz="900" dirty="0"/>
          </a:p>
        </p:txBody>
      </p:sp>
      <p:sp>
        <p:nvSpPr>
          <p:cNvPr id="25" name="Shape 23"/>
          <p:cNvSpPr/>
          <p:nvPr/>
        </p:nvSpPr>
        <p:spPr>
          <a:xfrm>
            <a:off x="6355080" y="2798064"/>
            <a:ext cx="4892040" cy="347472"/>
          </a:xfrm>
          <a:prstGeom prst="rect">
            <a:avLst/>
          </a:prstGeom>
          <a:solidFill>
            <a:srgbClr val="F5F2EB"/>
          </a:solidFill>
          <a:ln w="12700">
            <a:solidFill>
              <a:srgbClr val="E2DCD2"/>
            </a:solidFill>
            <a:prstDash val="solid"/>
          </a:ln>
        </p:spPr>
      </p:sp>
      <p:sp>
        <p:nvSpPr>
          <p:cNvPr id="26" name="Text 24"/>
          <p:cNvSpPr/>
          <p:nvPr/>
        </p:nvSpPr>
        <p:spPr>
          <a:xfrm>
            <a:off x="6446520" y="2871216"/>
            <a:ext cx="4709160" cy="219456"/>
          </a:xfrm>
          <a:prstGeom prst="rect">
            <a:avLst/>
          </a:prstGeom>
          <a:noFill/>
          <a:ln/>
        </p:spPr>
        <p:txBody>
          <a:bodyPr wrap="square" rtlCol="0" anchor="ctr"/>
          <a:lstStyle/>
          <a:p>
            <a:pPr indent="0" marL="0">
              <a:buNone/>
            </a:pPr>
            <a:r>
              <a:rPr lang="en-US" sz="900" b="1" dirty="0">
                <a:solidFill>
                  <a:srgbClr val="1C1917"/>
                </a:solidFill>
                <a:latin typeface="Arial" pitchFamily="34" charset="0"/>
                <a:ea typeface="Arial" pitchFamily="34" charset="-122"/>
                <a:cs typeface="Arial" pitchFamily="34" charset="-120"/>
              </a:rPr>
              <a:t>API 价格: $15 / $75 每百万 Token (昂贵 5 倍)</a:t>
            </a:r>
            <a:endParaRPr lang="en-US" sz="900" dirty="0"/>
          </a:p>
        </p:txBody>
      </p:sp>
      <p:sp>
        <p:nvSpPr>
          <p:cNvPr id="27" name="Text 25"/>
          <p:cNvSpPr/>
          <p:nvPr/>
        </p:nvSpPr>
        <p:spPr>
          <a:xfrm>
            <a:off x="6355080" y="3291840"/>
            <a:ext cx="4892040" cy="384048"/>
          </a:xfrm>
          <a:prstGeom prst="rect">
            <a:avLst/>
          </a:prstGeom>
          <a:noFill/>
          <a:ln/>
        </p:spPr>
        <p:txBody>
          <a:bodyPr wrap="square" rtlCol="0" anchor="ctr"/>
          <a:lstStyle/>
          <a:p>
            <a:pPr indent="0" marL="0">
              <a:buNone/>
            </a:pPr>
            <a:r>
              <a:rPr lang="en-US" sz="900" b="1" i="1" dirty="0">
                <a:solidFill>
                  <a:srgbClr val="475569"/>
                </a:solidFill>
                <a:latin typeface="Arial" pitchFamily="34" charset="0"/>
                <a:ea typeface="Arial" pitchFamily="34" charset="-122"/>
                <a:cs typeface="Arial" pitchFamily="34" charset="-120"/>
              </a:rPr>
              <a:t>“苦思冥想 3 分钟，一旦第一步假设有偏差则整条长链全盘崩溃”</a:t>
            </a:r>
            <a:endParaRPr lang="en-US" sz="900" dirty="0"/>
          </a:p>
        </p:txBody>
      </p:sp>
      <p:sp>
        <p:nvSpPr>
          <p:cNvPr id="28" name="Shape 26"/>
          <p:cNvSpPr/>
          <p:nvPr/>
        </p:nvSpPr>
        <p:spPr>
          <a:xfrm>
            <a:off x="731520" y="3886200"/>
            <a:ext cx="3429000" cy="2331720"/>
          </a:xfrm>
          <a:prstGeom prst="rect">
            <a:avLst/>
          </a:prstGeom>
          <a:solidFill>
            <a:srgbClr val="FFFFFF"/>
          </a:solidFill>
          <a:ln w="12700">
            <a:solidFill>
              <a:srgbClr val="E2DCD2"/>
            </a:solidFill>
            <a:prstDash val="solid"/>
          </a:ln>
        </p:spPr>
      </p:sp>
      <p:sp>
        <p:nvSpPr>
          <p:cNvPr id="29" name="Shape 27"/>
          <p:cNvSpPr/>
          <p:nvPr/>
        </p:nvSpPr>
        <p:spPr>
          <a:xfrm>
            <a:off x="731520" y="3886200"/>
            <a:ext cx="73152" cy="2331720"/>
          </a:xfrm>
          <a:prstGeom prst="rect">
            <a:avLst/>
          </a:prstGeom>
          <a:solidFill>
            <a:srgbClr val="D97757"/>
          </a:solidFill>
          <a:ln/>
        </p:spPr>
      </p:sp>
      <p:sp>
        <p:nvSpPr>
          <p:cNvPr id="30" name="Text 28"/>
          <p:cNvSpPr/>
          <p:nvPr/>
        </p:nvSpPr>
        <p:spPr>
          <a:xfrm>
            <a:off x="960120" y="4069080"/>
            <a:ext cx="548640" cy="274320"/>
          </a:xfrm>
          <a:prstGeom prst="rect">
            <a:avLst/>
          </a:prstGeom>
          <a:noFill/>
          <a:ln/>
        </p:spPr>
        <p:txBody>
          <a:bodyPr wrap="square" rtlCol="0" anchor="ctr"/>
          <a:lstStyle/>
          <a:p>
            <a:pPr indent="0" marL="0">
              <a:buNone/>
            </a:pPr>
            <a:r>
              <a:rPr lang="en-US" sz="1400" b="1" dirty="0">
                <a:solidFill>
                  <a:srgbClr val="D97757"/>
                </a:solidFill>
                <a:latin typeface="Arial" pitchFamily="34" charset="0"/>
                <a:ea typeface="Arial" pitchFamily="34" charset="-122"/>
                <a:cs typeface="Arial" pitchFamily="34" charset="-120"/>
              </a:rPr>
              <a:t>01</a:t>
            </a:r>
            <a:endParaRPr lang="en-US" sz="1400" dirty="0"/>
          </a:p>
        </p:txBody>
      </p:sp>
      <p:sp>
        <p:nvSpPr>
          <p:cNvPr id="31" name="Text 29"/>
          <p:cNvSpPr/>
          <p:nvPr/>
        </p:nvSpPr>
        <p:spPr>
          <a:xfrm>
            <a:off x="1508760" y="4069080"/>
            <a:ext cx="2423160" cy="274320"/>
          </a:xfrm>
          <a:prstGeom prst="rect">
            <a:avLst/>
          </a:prstGeom>
          <a:noFill/>
          <a:ln/>
        </p:spPr>
        <p:txBody>
          <a:bodyPr wrap="square" rtlCol="0" anchor="ctr"/>
          <a:lstStyle/>
          <a:p>
            <a:pPr indent="0" marL="0">
              <a:buNone/>
            </a:pPr>
            <a:r>
              <a:rPr lang="en-US" sz="1100" b="1" dirty="0">
                <a:solidFill>
                  <a:srgbClr val="1C1917"/>
                </a:solidFill>
                <a:latin typeface="Arial" pitchFamily="34" charset="0"/>
                <a:ea typeface="Arial" pitchFamily="34" charset="-122"/>
                <a:cs typeface="Arial" pitchFamily="34" charset="-120"/>
              </a:rPr>
              <a:t>高频敏捷胜过低频沉思</a:t>
            </a:r>
            <a:endParaRPr lang="en-US" sz="1100" dirty="0"/>
          </a:p>
        </p:txBody>
      </p:sp>
      <p:sp>
        <p:nvSpPr>
          <p:cNvPr id="32" name="Shape 30"/>
          <p:cNvSpPr/>
          <p:nvPr/>
        </p:nvSpPr>
        <p:spPr>
          <a:xfrm>
            <a:off x="960120" y="4434840"/>
            <a:ext cx="2971800" cy="0"/>
          </a:xfrm>
          <a:prstGeom prst="line">
            <a:avLst/>
          </a:prstGeom>
          <a:noFill/>
          <a:ln w="12700">
            <a:solidFill>
              <a:srgbClr val="E2DCD2"/>
            </a:solidFill>
            <a:prstDash val="solid"/>
          </a:ln>
        </p:spPr>
      </p:sp>
      <p:sp>
        <p:nvSpPr>
          <p:cNvPr id="33" name="Text 31"/>
          <p:cNvSpPr/>
          <p:nvPr/>
        </p:nvSpPr>
        <p:spPr>
          <a:xfrm>
            <a:off x="960120" y="4572000"/>
            <a:ext cx="2971800" cy="1463040"/>
          </a:xfrm>
          <a:prstGeom prst="rect">
            <a:avLst/>
          </a:prstGeom>
          <a:noFill/>
          <a:ln/>
        </p:spPr>
        <p:txBody>
          <a:bodyPr wrap="square" rtlCol="0" anchor="ctr"/>
          <a:lstStyle/>
          <a:p>
            <a:pPr indent="0" marL="0">
              <a:lnSpc>
                <a:spcPts val="1350"/>
              </a:lnSpc>
              <a:buNone/>
            </a:pPr>
            <a:r>
              <a:rPr lang="en-US" sz="900" dirty="0">
                <a:solidFill>
                  <a:srgbClr val="57534E"/>
                </a:solidFill>
                <a:latin typeface="Arial" pitchFamily="34" charset="0"/>
                <a:ea typeface="Arial" pitchFamily="34" charset="-122"/>
                <a:cs typeface="Arial" pitchFamily="34" charset="-120"/>
              </a:rPr>
              <a:t>软件工程充满隐式依赖与不确定性，没有任何模型能保证首发必中。快速失败、快速获得编译器反馈的工程价值，远胜于慢思考的纸上谈兵。</a:t>
            </a:r>
            <a:endParaRPr lang="en-US" sz="900" dirty="0"/>
          </a:p>
        </p:txBody>
      </p:sp>
      <p:sp>
        <p:nvSpPr>
          <p:cNvPr id="34" name="Shape 32"/>
          <p:cNvSpPr/>
          <p:nvPr/>
        </p:nvSpPr>
        <p:spPr>
          <a:xfrm>
            <a:off x="4343400" y="3886200"/>
            <a:ext cx="3429000" cy="2331720"/>
          </a:xfrm>
          <a:prstGeom prst="rect">
            <a:avLst/>
          </a:prstGeom>
          <a:solidFill>
            <a:srgbClr val="FFFFFF"/>
          </a:solidFill>
          <a:ln w="12700">
            <a:solidFill>
              <a:srgbClr val="E2DCD2"/>
            </a:solidFill>
            <a:prstDash val="solid"/>
          </a:ln>
        </p:spPr>
      </p:sp>
      <p:sp>
        <p:nvSpPr>
          <p:cNvPr id="35" name="Shape 33"/>
          <p:cNvSpPr/>
          <p:nvPr/>
        </p:nvSpPr>
        <p:spPr>
          <a:xfrm>
            <a:off x="4343400" y="3886200"/>
            <a:ext cx="73152" cy="2331720"/>
          </a:xfrm>
          <a:prstGeom prst="rect">
            <a:avLst/>
          </a:prstGeom>
          <a:solidFill>
            <a:srgbClr val="D97757"/>
          </a:solidFill>
          <a:ln/>
        </p:spPr>
      </p:sp>
      <p:sp>
        <p:nvSpPr>
          <p:cNvPr id="36" name="Text 34"/>
          <p:cNvSpPr/>
          <p:nvPr/>
        </p:nvSpPr>
        <p:spPr>
          <a:xfrm>
            <a:off x="4572000" y="4069080"/>
            <a:ext cx="548640" cy="274320"/>
          </a:xfrm>
          <a:prstGeom prst="rect">
            <a:avLst/>
          </a:prstGeom>
          <a:noFill/>
          <a:ln/>
        </p:spPr>
        <p:txBody>
          <a:bodyPr wrap="square" rtlCol="0" anchor="ctr"/>
          <a:lstStyle/>
          <a:p>
            <a:pPr indent="0" marL="0">
              <a:buNone/>
            </a:pPr>
            <a:r>
              <a:rPr lang="en-US" sz="1400" b="1" dirty="0">
                <a:solidFill>
                  <a:srgbClr val="D97757"/>
                </a:solidFill>
                <a:latin typeface="Arial" pitchFamily="34" charset="0"/>
                <a:ea typeface="Arial" pitchFamily="34" charset="-122"/>
                <a:cs typeface="Arial" pitchFamily="34" charset="-120"/>
              </a:rPr>
              <a:t>02</a:t>
            </a:r>
            <a:endParaRPr lang="en-US" sz="1400" dirty="0"/>
          </a:p>
        </p:txBody>
      </p:sp>
      <p:sp>
        <p:nvSpPr>
          <p:cNvPr id="37" name="Text 35"/>
          <p:cNvSpPr/>
          <p:nvPr/>
        </p:nvSpPr>
        <p:spPr>
          <a:xfrm>
            <a:off x="5120640" y="4069080"/>
            <a:ext cx="2423160" cy="274320"/>
          </a:xfrm>
          <a:prstGeom prst="rect">
            <a:avLst/>
          </a:prstGeom>
          <a:noFill/>
          <a:ln/>
        </p:spPr>
        <p:txBody>
          <a:bodyPr wrap="square" rtlCol="0" anchor="ctr"/>
          <a:lstStyle/>
          <a:p>
            <a:pPr indent="0" marL="0">
              <a:buNone/>
            </a:pPr>
            <a:r>
              <a:rPr lang="en-US" sz="1100" b="1" dirty="0">
                <a:solidFill>
                  <a:srgbClr val="1C1917"/>
                </a:solidFill>
                <a:latin typeface="Arial" pitchFamily="34" charset="0"/>
                <a:ea typeface="Arial" pitchFamily="34" charset="-122"/>
                <a:cs typeface="Arial" pitchFamily="34" charset="-120"/>
              </a:rPr>
              <a:t>Token 消耗与财务 ROI 飞轮</a:t>
            </a:r>
            <a:endParaRPr lang="en-US" sz="1100" dirty="0"/>
          </a:p>
        </p:txBody>
      </p:sp>
      <p:sp>
        <p:nvSpPr>
          <p:cNvPr id="38" name="Shape 36"/>
          <p:cNvSpPr/>
          <p:nvPr/>
        </p:nvSpPr>
        <p:spPr>
          <a:xfrm>
            <a:off x="4572000" y="4434840"/>
            <a:ext cx="2971800" cy="0"/>
          </a:xfrm>
          <a:prstGeom prst="line">
            <a:avLst/>
          </a:prstGeom>
          <a:noFill/>
          <a:ln w="12700">
            <a:solidFill>
              <a:srgbClr val="E2DCD2"/>
            </a:solidFill>
            <a:prstDash val="solid"/>
          </a:ln>
        </p:spPr>
      </p:sp>
      <p:sp>
        <p:nvSpPr>
          <p:cNvPr id="39" name="Text 37"/>
          <p:cNvSpPr/>
          <p:nvPr/>
        </p:nvSpPr>
        <p:spPr>
          <a:xfrm>
            <a:off x="4572000" y="4572000"/>
            <a:ext cx="2971800" cy="1463040"/>
          </a:xfrm>
          <a:prstGeom prst="rect">
            <a:avLst/>
          </a:prstGeom>
          <a:noFill/>
          <a:ln/>
        </p:spPr>
        <p:txBody>
          <a:bodyPr wrap="square" rtlCol="0" anchor="ctr"/>
          <a:lstStyle/>
          <a:p>
            <a:pPr indent="0" marL="0">
              <a:lnSpc>
                <a:spcPts val="1350"/>
              </a:lnSpc>
              <a:buNone/>
            </a:pPr>
            <a:r>
              <a:rPr lang="en-US" sz="900" dirty="0">
                <a:solidFill>
                  <a:srgbClr val="57534E"/>
                </a:solidFill>
                <a:latin typeface="Arial" pitchFamily="34" charset="0"/>
                <a:ea typeface="Arial" pitchFamily="34" charset="-122"/>
                <a:cs typeface="Arial" pitchFamily="34" charset="-120"/>
              </a:rPr>
              <a:t>Sonnet 5.5 以 Opus 20% 的成本提供了更高的工程通过率，使得企业能够以极其经济的算力成本大规模铺设自动化 PR 审查与无人排障机器人。</a:t>
            </a:r>
            <a:endParaRPr lang="en-US" sz="900" dirty="0"/>
          </a:p>
        </p:txBody>
      </p:sp>
      <p:sp>
        <p:nvSpPr>
          <p:cNvPr id="40" name="Shape 38"/>
          <p:cNvSpPr/>
          <p:nvPr/>
        </p:nvSpPr>
        <p:spPr>
          <a:xfrm>
            <a:off x="7955280" y="3886200"/>
            <a:ext cx="3429000" cy="2331720"/>
          </a:xfrm>
          <a:prstGeom prst="rect">
            <a:avLst/>
          </a:prstGeom>
          <a:solidFill>
            <a:srgbClr val="FFFFFF"/>
          </a:solidFill>
          <a:ln w="12700">
            <a:solidFill>
              <a:srgbClr val="E2DCD2"/>
            </a:solidFill>
            <a:prstDash val="solid"/>
          </a:ln>
        </p:spPr>
      </p:sp>
      <p:sp>
        <p:nvSpPr>
          <p:cNvPr id="41" name="Shape 39"/>
          <p:cNvSpPr/>
          <p:nvPr/>
        </p:nvSpPr>
        <p:spPr>
          <a:xfrm>
            <a:off x="7955280" y="3886200"/>
            <a:ext cx="73152" cy="2331720"/>
          </a:xfrm>
          <a:prstGeom prst="rect">
            <a:avLst/>
          </a:prstGeom>
          <a:solidFill>
            <a:srgbClr val="D97757"/>
          </a:solidFill>
          <a:ln/>
        </p:spPr>
      </p:sp>
      <p:sp>
        <p:nvSpPr>
          <p:cNvPr id="42" name="Text 40"/>
          <p:cNvSpPr/>
          <p:nvPr/>
        </p:nvSpPr>
        <p:spPr>
          <a:xfrm>
            <a:off x="8183880" y="4069080"/>
            <a:ext cx="548640" cy="274320"/>
          </a:xfrm>
          <a:prstGeom prst="rect">
            <a:avLst/>
          </a:prstGeom>
          <a:noFill/>
          <a:ln/>
        </p:spPr>
        <p:txBody>
          <a:bodyPr wrap="square" rtlCol="0" anchor="ctr"/>
          <a:lstStyle/>
          <a:p>
            <a:pPr indent="0" marL="0">
              <a:buNone/>
            </a:pPr>
            <a:r>
              <a:rPr lang="en-US" sz="1400" b="1" dirty="0">
                <a:solidFill>
                  <a:srgbClr val="D97757"/>
                </a:solidFill>
                <a:latin typeface="Arial" pitchFamily="34" charset="0"/>
                <a:ea typeface="Arial" pitchFamily="34" charset="-122"/>
                <a:cs typeface="Arial" pitchFamily="34" charset="-120"/>
              </a:rPr>
              <a:t>03</a:t>
            </a:r>
            <a:endParaRPr lang="en-US" sz="1400" dirty="0"/>
          </a:p>
        </p:txBody>
      </p:sp>
      <p:sp>
        <p:nvSpPr>
          <p:cNvPr id="43" name="Text 41"/>
          <p:cNvSpPr/>
          <p:nvPr/>
        </p:nvSpPr>
        <p:spPr>
          <a:xfrm>
            <a:off x="8732520" y="4069080"/>
            <a:ext cx="2423160" cy="274320"/>
          </a:xfrm>
          <a:prstGeom prst="rect">
            <a:avLst/>
          </a:prstGeom>
          <a:noFill/>
          <a:ln/>
        </p:spPr>
        <p:txBody>
          <a:bodyPr wrap="square" rtlCol="0" anchor="ctr"/>
          <a:lstStyle/>
          <a:p>
            <a:pPr indent="0" marL="0">
              <a:buNone/>
            </a:pPr>
            <a:r>
              <a:rPr lang="en-US" sz="1100" b="1" dirty="0">
                <a:solidFill>
                  <a:srgbClr val="1C1917"/>
                </a:solidFill>
                <a:latin typeface="Arial" pitchFamily="34" charset="0"/>
                <a:ea typeface="Arial" pitchFamily="34" charset="-122"/>
                <a:cs typeface="Arial" pitchFamily="34" charset="-120"/>
              </a:rPr>
              <a:t>AGI 路径启示：反馈带宽决定智能</a:t>
            </a:r>
            <a:endParaRPr lang="en-US" sz="1100" dirty="0"/>
          </a:p>
        </p:txBody>
      </p:sp>
      <p:sp>
        <p:nvSpPr>
          <p:cNvPr id="44" name="Shape 42"/>
          <p:cNvSpPr/>
          <p:nvPr/>
        </p:nvSpPr>
        <p:spPr>
          <a:xfrm>
            <a:off x="8183880" y="4434840"/>
            <a:ext cx="2971800" cy="0"/>
          </a:xfrm>
          <a:prstGeom prst="line">
            <a:avLst/>
          </a:prstGeom>
          <a:noFill/>
          <a:ln w="12700">
            <a:solidFill>
              <a:srgbClr val="E2DCD2"/>
            </a:solidFill>
            <a:prstDash val="solid"/>
          </a:ln>
        </p:spPr>
      </p:sp>
      <p:sp>
        <p:nvSpPr>
          <p:cNvPr id="45" name="Text 43"/>
          <p:cNvSpPr/>
          <p:nvPr/>
        </p:nvSpPr>
        <p:spPr>
          <a:xfrm>
            <a:off x="8183880" y="4572000"/>
            <a:ext cx="2971800" cy="1463040"/>
          </a:xfrm>
          <a:prstGeom prst="rect">
            <a:avLst/>
          </a:prstGeom>
          <a:noFill/>
          <a:ln/>
        </p:spPr>
        <p:txBody>
          <a:bodyPr wrap="square" rtlCol="0" anchor="ctr"/>
          <a:lstStyle/>
          <a:p>
            <a:pPr indent="0" marL="0">
              <a:lnSpc>
                <a:spcPts val="1350"/>
              </a:lnSpc>
              <a:buNone/>
            </a:pPr>
            <a:r>
              <a:rPr lang="en-US" sz="900" dirty="0">
                <a:solidFill>
                  <a:srgbClr val="57534E"/>
                </a:solidFill>
                <a:latin typeface="Arial" pitchFamily="34" charset="0"/>
                <a:ea typeface="Arial" pitchFamily="34" charset="-122"/>
                <a:cs typeface="Arial" pitchFamily="34" charset="-120"/>
              </a:rPr>
              <a:t>物理世界的探索不是单次高考试卷，而是连续动态控制。与现实环境交互反馈频率更高的系统，其智能演化速率呈现出压倒性的指数级优势。</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9F5"/>
        </a:solidFill>
      </p:bgPr>
    </p:bg>
    <p:spTree>
      <p:nvGrpSpPr>
        <p:cNvPr id="1" name=""/>
        <p:cNvGrpSpPr/>
        <p:nvPr/>
      </p:nvGrpSpPr>
      <p:grpSpPr>
        <a:xfrm>
          <a:off x="0" y="0"/>
          <a:ext cx="0" cy="0"/>
          <a:chOff x="0" y="0"/>
          <a:chExt cx="0" cy="0"/>
        </a:xfrm>
      </p:grpSpPr>
      <p:sp>
        <p:nvSpPr>
          <p:cNvPr id="2" name="Shape 0"/>
          <p:cNvSpPr/>
          <p:nvPr/>
        </p:nvSpPr>
        <p:spPr>
          <a:xfrm>
            <a:off x="731520" y="384048"/>
            <a:ext cx="2560320" cy="256032"/>
          </a:xfrm>
          <a:prstGeom prst="rect">
            <a:avLst/>
          </a:prstGeom>
          <a:solidFill>
            <a:srgbClr val="FBF0EB"/>
          </a:solidFill>
          <a:ln w="12700">
            <a:solidFill>
              <a:srgbClr val="F0C2B2"/>
            </a:solidFill>
            <a:prstDash val="solid"/>
          </a:ln>
        </p:spPr>
      </p:sp>
      <p:sp>
        <p:nvSpPr>
          <p:cNvPr id="3" name="Text 1"/>
          <p:cNvSpPr/>
          <p:nvPr/>
        </p:nvSpPr>
        <p:spPr>
          <a:xfrm>
            <a:off x="731520" y="384048"/>
            <a:ext cx="2560320" cy="256032"/>
          </a:xfrm>
          <a:prstGeom prst="rect">
            <a:avLst/>
          </a:prstGeom>
          <a:noFill/>
          <a:ln/>
        </p:spPr>
        <p:txBody>
          <a:bodyPr wrap="square" rtlCol="0" anchor="ctr"/>
          <a:lstStyle/>
          <a:p>
            <a:pPr algn="ctr" indent="0" marL="0">
              <a:buNone/>
            </a:pPr>
            <a:r>
              <a:rPr lang="en-US" sz="900" b="1" spc="120" kern="0" dirty="0">
                <a:solidFill>
                  <a:srgbClr val="D97757"/>
                </a:solidFill>
                <a:latin typeface="Arial" pitchFamily="34" charset="0"/>
                <a:ea typeface="Arial" pitchFamily="34" charset="-122"/>
                <a:cs typeface="Arial" pitchFamily="34" charset="-120"/>
              </a:rPr>
              <a:t>CLAUDE CODE ARCHITECTURE</a:t>
            </a:r>
            <a:endParaRPr lang="en-US" sz="900" dirty="0"/>
          </a:p>
        </p:txBody>
      </p:sp>
      <p:sp>
        <p:nvSpPr>
          <p:cNvPr id="4" name="Text 2"/>
          <p:cNvSpPr/>
          <p:nvPr/>
        </p:nvSpPr>
        <p:spPr>
          <a:xfrm>
            <a:off x="731520" y="676656"/>
            <a:ext cx="9875520" cy="475488"/>
          </a:xfrm>
          <a:prstGeom prst="rect">
            <a:avLst/>
          </a:prstGeom>
          <a:noFill/>
          <a:ln/>
        </p:spPr>
        <p:txBody>
          <a:bodyPr wrap="square" lIns="0" tIns="0" rIns="0" bIns="0" rtlCol="0" anchor="ctr"/>
          <a:lstStyle/>
          <a:p>
            <a:pPr indent="0" marL="0">
              <a:buNone/>
            </a:pPr>
            <a:r>
              <a:rPr lang="en-US" sz="2100" b="1" dirty="0">
                <a:solidFill>
                  <a:srgbClr val="1C1917"/>
                </a:solidFill>
                <a:latin typeface="Arial" pitchFamily="34" charset="0"/>
                <a:ea typeface="Arial" pitchFamily="34" charset="-122"/>
                <a:cs typeface="Arial" pitchFamily="34" charset="-120"/>
              </a:rPr>
              <a:t>Claude Code 解构：850k 上下文压缩与自主 Harness 引擎</a:t>
            </a:r>
            <a:endParaRPr lang="en-US" sz="2100" dirty="0"/>
          </a:p>
        </p:txBody>
      </p:sp>
      <p:sp>
        <p:nvSpPr>
          <p:cNvPr id="5" name="Text 3"/>
          <p:cNvSpPr/>
          <p:nvPr/>
        </p:nvSpPr>
        <p:spPr>
          <a:xfrm>
            <a:off x="10972800" y="384048"/>
            <a:ext cx="731520" cy="320040"/>
          </a:xfrm>
          <a:prstGeom prst="rect">
            <a:avLst/>
          </a:prstGeom>
          <a:noFill/>
          <a:ln/>
        </p:spPr>
        <p:txBody>
          <a:bodyPr wrap="square" rtlCol="0" anchor="ctr"/>
          <a:lstStyle/>
          <a:p>
            <a:pPr algn="r" indent="0" marL="0">
              <a:buNone/>
            </a:pPr>
            <a:r>
              <a:rPr lang="en-US" sz="1300" b="1" dirty="0">
                <a:solidFill>
                  <a:srgbClr val="8C857B"/>
                </a:solidFill>
                <a:latin typeface="Arial" pitchFamily="34" charset="0"/>
                <a:ea typeface="Arial" pitchFamily="34" charset="-122"/>
                <a:cs typeface="Arial" pitchFamily="34" charset="-120"/>
              </a:rPr>
              <a:t>15</a:t>
            </a:r>
            <a:endParaRPr lang="en-US" sz="1300" dirty="0"/>
          </a:p>
        </p:txBody>
      </p:sp>
      <p:sp>
        <p:nvSpPr>
          <p:cNvPr id="6" name="Shape 4"/>
          <p:cNvSpPr/>
          <p:nvPr/>
        </p:nvSpPr>
        <p:spPr>
          <a:xfrm>
            <a:off x="731520" y="1325880"/>
            <a:ext cx="2560320" cy="4892040"/>
          </a:xfrm>
          <a:prstGeom prst="rect">
            <a:avLst/>
          </a:prstGeom>
          <a:solidFill>
            <a:srgbClr val="FFFFFF"/>
          </a:solidFill>
          <a:ln w="12700">
            <a:solidFill>
              <a:srgbClr val="E2DCD2"/>
            </a:solidFill>
            <a:prstDash val="solid"/>
          </a:ln>
        </p:spPr>
      </p:sp>
      <p:sp>
        <p:nvSpPr>
          <p:cNvPr id="7" name="Shape 5"/>
          <p:cNvSpPr/>
          <p:nvPr/>
        </p:nvSpPr>
        <p:spPr>
          <a:xfrm>
            <a:off x="731520" y="1325880"/>
            <a:ext cx="2560320" cy="868680"/>
          </a:xfrm>
          <a:prstGeom prst="rect">
            <a:avLst/>
          </a:prstGeom>
          <a:solidFill>
            <a:srgbClr val="D97757"/>
          </a:solidFill>
          <a:ln/>
        </p:spPr>
      </p:sp>
      <p:sp>
        <p:nvSpPr>
          <p:cNvPr id="8" name="Text 6"/>
          <p:cNvSpPr/>
          <p:nvPr/>
        </p:nvSpPr>
        <p:spPr>
          <a:xfrm>
            <a:off x="868680" y="1408176"/>
            <a:ext cx="2286000" cy="201168"/>
          </a:xfrm>
          <a:prstGeom prst="rect">
            <a:avLst/>
          </a:prstGeom>
          <a:noFill/>
          <a:ln/>
        </p:spPr>
        <p:txBody>
          <a:bodyPr wrap="square" rtlCol="0" anchor="ctr"/>
          <a:lstStyle/>
          <a:p>
            <a:pPr indent="0" marL="0">
              <a:buNone/>
            </a:pPr>
            <a:r>
              <a:rPr lang="en-US" sz="800" b="1" spc="110" kern="0" dirty="0">
                <a:solidFill>
                  <a:srgbClr val="FFFFFF"/>
                </a:solidFill>
                <a:latin typeface="Arial" pitchFamily="34" charset="0"/>
                <a:ea typeface="Arial" pitchFamily="34" charset="-122"/>
                <a:cs typeface="Arial" pitchFamily="34" charset="-120"/>
              </a:rPr>
              <a:t>SYMBOL-AWARE INDEXING</a:t>
            </a:r>
            <a:endParaRPr lang="en-US" sz="800" dirty="0"/>
          </a:p>
        </p:txBody>
      </p:sp>
      <p:sp>
        <p:nvSpPr>
          <p:cNvPr id="9" name="Text 7"/>
          <p:cNvSpPr/>
          <p:nvPr/>
        </p:nvSpPr>
        <p:spPr>
          <a:xfrm>
            <a:off x="868680" y="1609344"/>
            <a:ext cx="2286000" cy="502920"/>
          </a:xfrm>
          <a:prstGeom prst="rect">
            <a:avLst/>
          </a:prstGeom>
          <a:noFill/>
          <a:ln/>
        </p:spPr>
        <p:txBody>
          <a:bodyPr wrap="square" rtlCol="0" anchor="ctr"/>
          <a:lstStyle/>
          <a:p>
            <a:pPr indent="0" marL="0">
              <a:lnSpc>
                <a:spcPts val="1500"/>
              </a:lnSpc>
              <a:buNone/>
            </a:pPr>
            <a:r>
              <a:rPr lang="en-US" sz="1300" b="1" dirty="0">
                <a:solidFill>
                  <a:srgbClr val="FFFFFF"/>
                </a:solidFill>
                <a:latin typeface="Arial" pitchFamily="34" charset="0"/>
                <a:ea typeface="Arial" pitchFamily="34" charset="-122"/>
                <a:cs typeface="Arial" pitchFamily="34" charset="-120"/>
              </a:rPr>
              <a:t>AST 符号级索引网络</a:t>
            </a:r>
            <a:endParaRPr lang="en-US" sz="1300" dirty="0"/>
          </a:p>
        </p:txBody>
      </p:sp>
      <p:sp>
        <p:nvSpPr>
          <p:cNvPr id="10" name="Text 8"/>
          <p:cNvSpPr/>
          <p:nvPr/>
        </p:nvSpPr>
        <p:spPr>
          <a:xfrm>
            <a:off x="914400" y="2423160"/>
            <a:ext cx="2194560" cy="3566160"/>
          </a:xfrm>
          <a:prstGeom prst="rect">
            <a:avLst/>
          </a:prstGeom>
          <a:noFill/>
          <a:ln/>
        </p:spPr>
        <p:txBody>
          <a:bodyPr wrap="square" rtlCol="0" anchor="ctr"/>
          <a:lstStyle/>
          <a:p>
            <a:pPr indent="0" marL="0">
              <a:lnSpc>
                <a:spcPts val="1500"/>
              </a:lnSpc>
              <a:buNone/>
            </a:pPr>
            <a:r>
              <a:rPr lang="en-US" sz="950" dirty="0">
                <a:solidFill>
                  <a:srgbClr val="57534E"/>
                </a:solidFill>
                <a:latin typeface="Arial" pitchFamily="34" charset="0"/>
                <a:ea typeface="Arial" pitchFamily="34" charset="-122"/>
                <a:cs typeface="Arial" pitchFamily="34" charset="-120"/>
              </a:rPr>
              <a:t>不盲目吞入几十万行无关源代码，而是预先抽取项目符号定义、函数签名与调用图，确保上下文窗口始终保持极高的信噪比。</a:t>
            </a:r>
            <a:endParaRPr lang="en-US" sz="950" dirty="0"/>
          </a:p>
        </p:txBody>
      </p:sp>
      <p:sp>
        <p:nvSpPr>
          <p:cNvPr id="11" name="Shape 9"/>
          <p:cNvSpPr/>
          <p:nvPr/>
        </p:nvSpPr>
        <p:spPr>
          <a:xfrm>
            <a:off x="3429000" y="1325880"/>
            <a:ext cx="2560320" cy="4892040"/>
          </a:xfrm>
          <a:prstGeom prst="rect">
            <a:avLst/>
          </a:prstGeom>
          <a:solidFill>
            <a:srgbClr val="FFFFFF"/>
          </a:solidFill>
          <a:ln w="12700">
            <a:solidFill>
              <a:srgbClr val="E2DCD2"/>
            </a:solidFill>
            <a:prstDash val="solid"/>
          </a:ln>
        </p:spPr>
      </p:sp>
      <p:sp>
        <p:nvSpPr>
          <p:cNvPr id="12" name="Shape 10"/>
          <p:cNvSpPr/>
          <p:nvPr/>
        </p:nvSpPr>
        <p:spPr>
          <a:xfrm>
            <a:off x="3429000" y="1325880"/>
            <a:ext cx="2560320" cy="868680"/>
          </a:xfrm>
          <a:prstGeom prst="rect">
            <a:avLst/>
          </a:prstGeom>
          <a:solidFill>
            <a:srgbClr val="D97706"/>
          </a:solidFill>
          <a:ln/>
        </p:spPr>
      </p:sp>
      <p:sp>
        <p:nvSpPr>
          <p:cNvPr id="13" name="Text 11"/>
          <p:cNvSpPr/>
          <p:nvPr/>
        </p:nvSpPr>
        <p:spPr>
          <a:xfrm>
            <a:off x="3566160" y="1408176"/>
            <a:ext cx="2286000" cy="201168"/>
          </a:xfrm>
          <a:prstGeom prst="rect">
            <a:avLst/>
          </a:prstGeom>
          <a:noFill/>
          <a:ln/>
        </p:spPr>
        <p:txBody>
          <a:bodyPr wrap="square" rtlCol="0" anchor="ctr"/>
          <a:lstStyle/>
          <a:p>
            <a:pPr indent="0" marL="0">
              <a:buNone/>
            </a:pPr>
            <a:r>
              <a:rPr lang="en-US" sz="800" b="1" spc="110" kern="0" dirty="0">
                <a:solidFill>
                  <a:srgbClr val="FFFFFF"/>
                </a:solidFill>
                <a:latin typeface="Arial" pitchFamily="34" charset="0"/>
                <a:ea typeface="Arial" pitchFamily="34" charset="-122"/>
                <a:cs typeface="Arial" pitchFamily="34" charset="-120"/>
              </a:rPr>
              <a:t>DYNAMIC DIFF COMPACTOR</a:t>
            </a:r>
            <a:endParaRPr lang="en-US" sz="800" dirty="0"/>
          </a:p>
        </p:txBody>
      </p:sp>
      <p:sp>
        <p:nvSpPr>
          <p:cNvPr id="14" name="Text 12"/>
          <p:cNvSpPr/>
          <p:nvPr/>
        </p:nvSpPr>
        <p:spPr>
          <a:xfrm>
            <a:off x="3566160" y="1609344"/>
            <a:ext cx="2286000" cy="502920"/>
          </a:xfrm>
          <a:prstGeom prst="rect">
            <a:avLst/>
          </a:prstGeom>
          <a:noFill/>
          <a:ln/>
        </p:spPr>
        <p:txBody>
          <a:bodyPr wrap="square" rtlCol="0" anchor="ctr"/>
          <a:lstStyle/>
          <a:p>
            <a:pPr indent="0" marL="0">
              <a:lnSpc>
                <a:spcPts val="1500"/>
              </a:lnSpc>
              <a:buNone/>
            </a:pPr>
            <a:r>
              <a:rPr lang="en-US" sz="1300" b="1" dirty="0">
                <a:solidFill>
                  <a:srgbClr val="FFFFFF"/>
                </a:solidFill>
                <a:latin typeface="Arial" pitchFamily="34" charset="0"/>
                <a:ea typeface="Arial" pitchFamily="34" charset="-122"/>
                <a:cs typeface="Arial" pitchFamily="34" charset="-120"/>
              </a:rPr>
              <a:t>自适应 Diff 压缩算法</a:t>
            </a:r>
            <a:endParaRPr lang="en-US" sz="1300" dirty="0"/>
          </a:p>
        </p:txBody>
      </p:sp>
      <p:sp>
        <p:nvSpPr>
          <p:cNvPr id="15" name="Text 13"/>
          <p:cNvSpPr/>
          <p:nvPr/>
        </p:nvSpPr>
        <p:spPr>
          <a:xfrm>
            <a:off x="3611880" y="2423160"/>
            <a:ext cx="2194560" cy="3566160"/>
          </a:xfrm>
          <a:prstGeom prst="rect">
            <a:avLst/>
          </a:prstGeom>
          <a:noFill/>
          <a:ln/>
        </p:spPr>
        <p:txBody>
          <a:bodyPr wrap="square" rtlCol="0" anchor="ctr"/>
          <a:lstStyle/>
          <a:p>
            <a:pPr indent="0" marL="0">
              <a:lnSpc>
                <a:spcPts val="1500"/>
              </a:lnSpc>
              <a:buNone/>
            </a:pPr>
            <a:r>
              <a:rPr lang="en-US" sz="950" dirty="0">
                <a:solidFill>
                  <a:srgbClr val="57534E"/>
                </a:solidFill>
                <a:latin typeface="Arial" pitchFamily="34" charset="0"/>
                <a:ea typeface="Arial" pitchFamily="34" charset="-122"/>
                <a:cs typeface="Arial" pitchFamily="34" charset="-120"/>
              </a:rPr>
              <a:t>对代码补丁进行智能行级切片，剔除未更改的上下文样板代码，使多轮长任务中的 Token 消耗速率骤降 65% 以上。</a:t>
            </a:r>
            <a:endParaRPr lang="en-US" sz="950" dirty="0"/>
          </a:p>
        </p:txBody>
      </p:sp>
      <p:sp>
        <p:nvSpPr>
          <p:cNvPr id="16" name="Shape 14"/>
          <p:cNvSpPr/>
          <p:nvPr/>
        </p:nvSpPr>
        <p:spPr>
          <a:xfrm>
            <a:off x="6126480" y="1325880"/>
            <a:ext cx="2560320" cy="4892040"/>
          </a:xfrm>
          <a:prstGeom prst="rect">
            <a:avLst/>
          </a:prstGeom>
          <a:solidFill>
            <a:srgbClr val="FFFFFF"/>
          </a:solidFill>
          <a:ln w="12700">
            <a:solidFill>
              <a:srgbClr val="E2DCD2"/>
            </a:solidFill>
            <a:prstDash val="solid"/>
          </a:ln>
        </p:spPr>
      </p:sp>
      <p:sp>
        <p:nvSpPr>
          <p:cNvPr id="17" name="Shape 15"/>
          <p:cNvSpPr/>
          <p:nvPr/>
        </p:nvSpPr>
        <p:spPr>
          <a:xfrm>
            <a:off x="6126480" y="1325880"/>
            <a:ext cx="2560320" cy="868680"/>
          </a:xfrm>
          <a:prstGeom prst="rect">
            <a:avLst/>
          </a:prstGeom>
          <a:solidFill>
            <a:srgbClr val="16A34A"/>
          </a:solidFill>
          <a:ln/>
        </p:spPr>
      </p:sp>
      <p:sp>
        <p:nvSpPr>
          <p:cNvPr id="18" name="Text 16"/>
          <p:cNvSpPr/>
          <p:nvPr/>
        </p:nvSpPr>
        <p:spPr>
          <a:xfrm>
            <a:off x="6263640" y="1408176"/>
            <a:ext cx="2286000" cy="201168"/>
          </a:xfrm>
          <a:prstGeom prst="rect">
            <a:avLst/>
          </a:prstGeom>
          <a:noFill/>
          <a:ln/>
        </p:spPr>
        <p:txBody>
          <a:bodyPr wrap="square" rtlCol="0" anchor="ctr"/>
          <a:lstStyle/>
          <a:p>
            <a:pPr indent="0" marL="0">
              <a:buNone/>
            </a:pPr>
            <a:r>
              <a:rPr lang="en-US" sz="800" b="1" spc="110" kern="0" dirty="0">
                <a:solidFill>
                  <a:srgbClr val="FFFFFF"/>
                </a:solidFill>
                <a:latin typeface="Arial" pitchFamily="34" charset="0"/>
                <a:ea typeface="Arial" pitchFamily="34" charset="-122"/>
                <a:cs typeface="Arial" pitchFamily="34" charset="-120"/>
              </a:rPr>
              <a:t>SANDBOXED SUBAGENTS</a:t>
            </a:r>
            <a:endParaRPr lang="en-US" sz="800" dirty="0"/>
          </a:p>
        </p:txBody>
      </p:sp>
      <p:sp>
        <p:nvSpPr>
          <p:cNvPr id="19" name="Text 17"/>
          <p:cNvSpPr/>
          <p:nvPr/>
        </p:nvSpPr>
        <p:spPr>
          <a:xfrm>
            <a:off x="6263640" y="1609344"/>
            <a:ext cx="2286000" cy="502920"/>
          </a:xfrm>
          <a:prstGeom prst="rect">
            <a:avLst/>
          </a:prstGeom>
          <a:noFill/>
          <a:ln/>
        </p:spPr>
        <p:txBody>
          <a:bodyPr wrap="square" rtlCol="0" anchor="ctr"/>
          <a:lstStyle/>
          <a:p>
            <a:pPr indent="0" marL="0">
              <a:lnSpc>
                <a:spcPts val="1500"/>
              </a:lnSpc>
              <a:buNone/>
            </a:pPr>
            <a:r>
              <a:rPr lang="en-US" sz="1300" b="1" dirty="0">
                <a:solidFill>
                  <a:srgbClr val="FFFFFF"/>
                </a:solidFill>
                <a:latin typeface="Arial" pitchFamily="34" charset="0"/>
                <a:ea typeface="Arial" pitchFamily="34" charset="-122"/>
                <a:cs typeface="Arial" pitchFamily="34" charset="-120"/>
              </a:rPr>
              <a:t>隔离沙箱与探针子智能体</a:t>
            </a:r>
            <a:endParaRPr lang="en-US" sz="1300" dirty="0"/>
          </a:p>
        </p:txBody>
      </p:sp>
      <p:sp>
        <p:nvSpPr>
          <p:cNvPr id="20" name="Text 18"/>
          <p:cNvSpPr/>
          <p:nvPr/>
        </p:nvSpPr>
        <p:spPr>
          <a:xfrm>
            <a:off x="6309360" y="2423160"/>
            <a:ext cx="2194560" cy="3566160"/>
          </a:xfrm>
          <a:prstGeom prst="rect">
            <a:avLst/>
          </a:prstGeom>
          <a:noFill/>
          <a:ln/>
        </p:spPr>
        <p:txBody>
          <a:bodyPr wrap="square" rtlCol="0" anchor="ctr"/>
          <a:lstStyle/>
          <a:p>
            <a:pPr indent="0" marL="0">
              <a:lnSpc>
                <a:spcPts val="1500"/>
              </a:lnSpc>
              <a:buNone/>
            </a:pPr>
            <a:r>
              <a:rPr lang="en-US" sz="950" dirty="0">
                <a:solidFill>
                  <a:srgbClr val="57534E"/>
                </a:solidFill>
                <a:latin typeface="Arial" pitchFamily="34" charset="0"/>
                <a:ea typeface="Arial" pitchFamily="34" charset="-122"/>
                <a:cs typeface="Arial" pitchFamily="34" charset="-120"/>
              </a:rPr>
              <a:t>将高风险的探索性命令（如全文 Grep、第三方依赖下载）委托给轻量级只读子智能体，防止主对话状态被海量终端输出污染。</a:t>
            </a:r>
            <a:endParaRPr lang="en-US" sz="950" dirty="0"/>
          </a:p>
        </p:txBody>
      </p:sp>
      <p:sp>
        <p:nvSpPr>
          <p:cNvPr id="21" name="Shape 19"/>
          <p:cNvSpPr/>
          <p:nvPr/>
        </p:nvSpPr>
        <p:spPr>
          <a:xfrm>
            <a:off x="8823960" y="1325880"/>
            <a:ext cx="2560320" cy="4892040"/>
          </a:xfrm>
          <a:prstGeom prst="rect">
            <a:avLst/>
          </a:prstGeom>
          <a:solidFill>
            <a:srgbClr val="FFFFFF"/>
          </a:solidFill>
          <a:ln w="12700">
            <a:solidFill>
              <a:srgbClr val="E2DCD2"/>
            </a:solidFill>
            <a:prstDash val="solid"/>
          </a:ln>
        </p:spPr>
      </p:sp>
      <p:sp>
        <p:nvSpPr>
          <p:cNvPr id="22" name="Shape 20"/>
          <p:cNvSpPr/>
          <p:nvPr/>
        </p:nvSpPr>
        <p:spPr>
          <a:xfrm>
            <a:off x="8823960" y="1325880"/>
            <a:ext cx="2560320" cy="868680"/>
          </a:xfrm>
          <a:prstGeom prst="rect">
            <a:avLst/>
          </a:prstGeom>
          <a:solidFill>
            <a:srgbClr val="475569"/>
          </a:solidFill>
          <a:ln/>
        </p:spPr>
      </p:sp>
      <p:sp>
        <p:nvSpPr>
          <p:cNvPr id="23" name="Text 21"/>
          <p:cNvSpPr/>
          <p:nvPr/>
        </p:nvSpPr>
        <p:spPr>
          <a:xfrm>
            <a:off x="8961120" y="1408176"/>
            <a:ext cx="2286000" cy="201168"/>
          </a:xfrm>
          <a:prstGeom prst="rect">
            <a:avLst/>
          </a:prstGeom>
          <a:noFill/>
          <a:ln/>
        </p:spPr>
        <p:txBody>
          <a:bodyPr wrap="square" rtlCol="0" anchor="ctr"/>
          <a:lstStyle/>
          <a:p>
            <a:pPr indent="0" marL="0">
              <a:buNone/>
            </a:pPr>
            <a:r>
              <a:rPr lang="en-US" sz="800" b="1" spc="110" kern="0" dirty="0">
                <a:solidFill>
                  <a:srgbClr val="FFFFFF"/>
                </a:solidFill>
                <a:latin typeface="Arial" pitchFamily="34" charset="0"/>
                <a:ea typeface="Arial" pitchFamily="34" charset="-122"/>
                <a:cs typeface="Arial" pitchFamily="34" charset="-120"/>
              </a:rPr>
              <a:t>GIT-NATIVE SAFETY NET</a:t>
            </a:r>
            <a:endParaRPr lang="en-US" sz="800" dirty="0"/>
          </a:p>
        </p:txBody>
      </p:sp>
      <p:sp>
        <p:nvSpPr>
          <p:cNvPr id="24" name="Text 22"/>
          <p:cNvSpPr/>
          <p:nvPr/>
        </p:nvSpPr>
        <p:spPr>
          <a:xfrm>
            <a:off x="8961120" y="1609344"/>
            <a:ext cx="2286000" cy="502920"/>
          </a:xfrm>
          <a:prstGeom prst="rect">
            <a:avLst/>
          </a:prstGeom>
          <a:noFill/>
          <a:ln/>
        </p:spPr>
        <p:txBody>
          <a:bodyPr wrap="square" rtlCol="0" anchor="ctr"/>
          <a:lstStyle/>
          <a:p>
            <a:pPr indent="0" marL="0">
              <a:lnSpc>
                <a:spcPts val="1500"/>
              </a:lnSpc>
              <a:buNone/>
            </a:pPr>
            <a:r>
              <a:rPr lang="en-US" sz="1300" b="1" dirty="0">
                <a:solidFill>
                  <a:srgbClr val="FFFFFF"/>
                </a:solidFill>
                <a:latin typeface="Arial" pitchFamily="34" charset="0"/>
                <a:ea typeface="Arial" pitchFamily="34" charset="-122"/>
                <a:cs typeface="Arial" pitchFamily="34" charset="-120"/>
              </a:rPr>
              <a:t>Git 状态原生契约守护</a:t>
            </a:r>
            <a:endParaRPr lang="en-US" sz="1300" dirty="0"/>
          </a:p>
        </p:txBody>
      </p:sp>
      <p:sp>
        <p:nvSpPr>
          <p:cNvPr id="25" name="Text 23"/>
          <p:cNvSpPr/>
          <p:nvPr/>
        </p:nvSpPr>
        <p:spPr>
          <a:xfrm>
            <a:off x="9006840" y="2423160"/>
            <a:ext cx="2194560" cy="3566160"/>
          </a:xfrm>
          <a:prstGeom prst="rect">
            <a:avLst/>
          </a:prstGeom>
          <a:noFill/>
          <a:ln/>
        </p:spPr>
        <p:txBody>
          <a:bodyPr wrap="square" rtlCol="0" anchor="ctr"/>
          <a:lstStyle/>
          <a:p>
            <a:pPr indent="0" marL="0">
              <a:lnSpc>
                <a:spcPts val="1500"/>
              </a:lnSpc>
              <a:buNone/>
            </a:pPr>
            <a:r>
              <a:rPr lang="en-US" sz="950" dirty="0">
                <a:solidFill>
                  <a:srgbClr val="57534E"/>
                </a:solidFill>
                <a:latin typeface="Arial" pitchFamily="34" charset="0"/>
                <a:ea typeface="Arial" pitchFamily="34" charset="-122"/>
                <a:cs typeface="Arial" pitchFamily="34" charset="-120"/>
              </a:rPr>
              <a:t>每个修复动作均挂载在原子 Git Stash/Commit 之上，一旦发现编译回归或偏离预期，智能体可毫秒级自我回滚重置，永不损坏主仓。</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9F5"/>
        </a:solidFill>
      </p:bgPr>
    </p:bg>
    <p:spTree>
      <p:nvGrpSpPr>
        <p:cNvPr id="1" name=""/>
        <p:cNvGrpSpPr/>
        <p:nvPr/>
      </p:nvGrpSpPr>
      <p:grpSpPr>
        <a:xfrm>
          <a:off x="0" y="0"/>
          <a:ext cx="0" cy="0"/>
          <a:chOff x="0" y="0"/>
          <a:chExt cx="0" cy="0"/>
        </a:xfrm>
      </p:grpSpPr>
      <p:sp>
        <p:nvSpPr>
          <p:cNvPr id="2" name="Shape 0"/>
          <p:cNvSpPr/>
          <p:nvPr/>
        </p:nvSpPr>
        <p:spPr>
          <a:xfrm>
            <a:off x="731520" y="384048"/>
            <a:ext cx="2560320" cy="256032"/>
          </a:xfrm>
          <a:prstGeom prst="rect">
            <a:avLst/>
          </a:prstGeom>
          <a:solidFill>
            <a:srgbClr val="FBF0EB"/>
          </a:solidFill>
          <a:ln w="12700">
            <a:solidFill>
              <a:srgbClr val="F0C2B2"/>
            </a:solidFill>
            <a:prstDash val="solid"/>
          </a:ln>
        </p:spPr>
      </p:sp>
      <p:sp>
        <p:nvSpPr>
          <p:cNvPr id="3" name="Text 1"/>
          <p:cNvSpPr/>
          <p:nvPr/>
        </p:nvSpPr>
        <p:spPr>
          <a:xfrm>
            <a:off x="731520" y="384048"/>
            <a:ext cx="2560320" cy="256032"/>
          </a:xfrm>
          <a:prstGeom prst="rect">
            <a:avLst/>
          </a:prstGeom>
          <a:noFill/>
          <a:ln/>
        </p:spPr>
        <p:txBody>
          <a:bodyPr wrap="square" rtlCol="0" anchor="ctr"/>
          <a:lstStyle/>
          <a:p>
            <a:pPr algn="ctr" indent="0" marL="0">
              <a:buNone/>
            </a:pPr>
            <a:r>
              <a:rPr lang="en-US" sz="900" b="1" spc="120" kern="0" dirty="0">
                <a:solidFill>
                  <a:srgbClr val="D97757"/>
                </a:solidFill>
                <a:latin typeface="Arial" pitchFamily="34" charset="0"/>
                <a:ea typeface="Arial" pitchFamily="34" charset="-122"/>
                <a:cs typeface="Arial" pitchFamily="34" charset="-120"/>
              </a:rPr>
              <a:t>TOOL PROTOCOL EVOLUTION MATRIX</a:t>
            </a:r>
            <a:endParaRPr lang="en-US" sz="900" dirty="0"/>
          </a:p>
        </p:txBody>
      </p:sp>
      <p:sp>
        <p:nvSpPr>
          <p:cNvPr id="4" name="Text 2"/>
          <p:cNvSpPr/>
          <p:nvPr/>
        </p:nvSpPr>
        <p:spPr>
          <a:xfrm>
            <a:off x="731520" y="676656"/>
            <a:ext cx="9875520" cy="475488"/>
          </a:xfrm>
          <a:prstGeom prst="rect">
            <a:avLst/>
          </a:prstGeom>
          <a:noFill/>
          <a:ln/>
        </p:spPr>
        <p:txBody>
          <a:bodyPr wrap="square" lIns="0" tIns="0" rIns="0" bIns="0" rtlCol="0" anchor="ctr"/>
          <a:lstStyle/>
          <a:p>
            <a:pPr indent="0" marL="0">
              <a:buNone/>
            </a:pPr>
            <a:r>
              <a:rPr lang="en-US" sz="2100" b="1" dirty="0">
                <a:solidFill>
                  <a:srgbClr val="1C1917"/>
                </a:solidFill>
                <a:latin typeface="Arial" pitchFamily="34" charset="0"/>
                <a:ea typeface="Arial" pitchFamily="34" charset="-122"/>
                <a:cs typeface="Arial" pitchFamily="34" charset="-120"/>
              </a:rPr>
              <a:t>工具调用的黄昏之辩：从 MCP 到终端命令的降维回归</a:t>
            </a:r>
            <a:endParaRPr lang="en-US" sz="2100" dirty="0"/>
          </a:p>
        </p:txBody>
      </p:sp>
      <p:sp>
        <p:nvSpPr>
          <p:cNvPr id="5" name="Text 3"/>
          <p:cNvSpPr/>
          <p:nvPr/>
        </p:nvSpPr>
        <p:spPr>
          <a:xfrm>
            <a:off x="10972800" y="384048"/>
            <a:ext cx="731520" cy="320040"/>
          </a:xfrm>
          <a:prstGeom prst="rect">
            <a:avLst/>
          </a:prstGeom>
          <a:noFill/>
          <a:ln/>
        </p:spPr>
        <p:txBody>
          <a:bodyPr wrap="square" rtlCol="0" anchor="ctr"/>
          <a:lstStyle/>
          <a:p>
            <a:pPr algn="r" indent="0" marL="0">
              <a:buNone/>
            </a:pPr>
            <a:r>
              <a:rPr lang="en-US" sz="1300" b="1" dirty="0">
                <a:solidFill>
                  <a:srgbClr val="8C857B"/>
                </a:solidFill>
                <a:latin typeface="Arial" pitchFamily="34" charset="0"/>
                <a:ea typeface="Arial" pitchFamily="34" charset="-122"/>
                <a:cs typeface="Arial" pitchFamily="34" charset="-120"/>
              </a:rPr>
              <a:t>16</a:t>
            </a:r>
            <a:endParaRPr lang="en-US" sz="1300" dirty="0"/>
          </a:p>
        </p:txBody>
      </p:sp>
      <p:sp>
        <p:nvSpPr>
          <p:cNvPr id="6" name="Shape 4"/>
          <p:cNvSpPr/>
          <p:nvPr/>
        </p:nvSpPr>
        <p:spPr>
          <a:xfrm>
            <a:off x="731520" y="1325880"/>
            <a:ext cx="2011680" cy="411480"/>
          </a:xfrm>
          <a:prstGeom prst="rect">
            <a:avLst/>
          </a:prstGeom>
          <a:solidFill>
            <a:srgbClr val="1C1917"/>
          </a:solidFill>
          <a:ln/>
        </p:spPr>
      </p:sp>
      <p:sp>
        <p:nvSpPr>
          <p:cNvPr id="7" name="Text 5"/>
          <p:cNvSpPr/>
          <p:nvPr/>
        </p:nvSpPr>
        <p:spPr>
          <a:xfrm>
            <a:off x="822960" y="1408176"/>
            <a:ext cx="1828800" cy="256032"/>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对比维度</a:t>
            </a:r>
            <a:endParaRPr lang="en-US" sz="1000" dirty="0"/>
          </a:p>
        </p:txBody>
      </p:sp>
      <p:sp>
        <p:nvSpPr>
          <p:cNvPr id="8" name="Shape 6"/>
          <p:cNvSpPr/>
          <p:nvPr/>
        </p:nvSpPr>
        <p:spPr>
          <a:xfrm>
            <a:off x="2788920" y="1325880"/>
            <a:ext cx="3931920" cy="411480"/>
          </a:xfrm>
          <a:prstGeom prst="rect">
            <a:avLst/>
          </a:prstGeom>
          <a:solidFill>
            <a:srgbClr val="D97706"/>
          </a:solidFill>
          <a:ln/>
        </p:spPr>
      </p:sp>
      <p:sp>
        <p:nvSpPr>
          <p:cNvPr id="9" name="Text 7"/>
          <p:cNvSpPr/>
          <p:nvPr/>
        </p:nvSpPr>
        <p:spPr>
          <a:xfrm>
            <a:off x="2880360" y="1408176"/>
            <a:ext cx="3749040" cy="256032"/>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MCP 协议 (企业数据互联外环)</a:t>
            </a:r>
            <a:endParaRPr lang="en-US" sz="1000" dirty="0"/>
          </a:p>
        </p:txBody>
      </p:sp>
      <p:sp>
        <p:nvSpPr>
          <p:cNvPr id="10" name="Shape 8"/>
          <p:cNvSpPr/>
          <p:nvPr/>
        </p:nvSpPr>
        <p:spPr>
          <a:xfrm>
            <a:off x="6766560" y="1325880"/>
            <a:ext cx="4690872" cy="411480"/>
          </a:xfrm>
          <a:prstGeom prst="rect">
            <a:avLst/>
          </a:prstGeom>
          <a:solidFill>
            <a:srgbClr val="D97757"/>
          </a:solidFill>
          <a:ln/>
        </p:spPr>
      </p:sp>
      <p:sp>
        <p:nvSpPr>
          <p:cNvPr id="11" name="Text 9"/>
          <p:cNvSpPr/>
          <p:nvPr/>
        </p:nvSpPr>
        <p:spPr>
          <a:xfrm>
            <a:off x="6858000" y="1408176"/>
            <a:ext cx="4507992" cy="256032"/>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原生 Bash CLI (终端执行内环统治)</a:t>
            </a:r>
            <a:endParaRPr lang="en-US" sz="1000" dirty="0"/>
          </a:p>
        </p:txBody>
      </p:sp>
      <p:sp>
        <p:nvSpPr>
          <p:cNvPr id="12" name="Shape 10"/>
          <p:cNvSpPr/>
          <p:nvPr/>
        </p:nvSpPr>
        <p:spPr>
          <a:xfrm>
            <a:off x="731520" y="1783080"/>
            <a:ext cx="2011680" cy="822960"/>
          </a:xfrm>
          <a:prstGeom prst="rect">
            <a:avLst/>
          </a:prstGeom>
          <a:solidFill>
            <a:srgbClr val="EFEBE1"/>
          </a:solidFill>
          <a:ln w="12700">
            <a:solidFill>
              <a:srgbClr val="E2DCD2"/>
            </a:solidFill>
            <a:prstDash val="solid"/>
          </a:ln>
        </p:spPr>
      </p:sp>
      <p:sp>
        <p:nvSpPr>
          <p:cNvPr id="13" name="Text 11"/>
          <p:cNvSpPr/>
          <p:nvPr/>
        </p:nvSpPr>
        <p:spPr>
          <a:xfrm>
            <a:off x="822960" y="2057400"/>
            <a:ext cx="1828800" cy="320040"/>
          </a:xfrm>
          <a:prstGeom prst="rect">
            <a:avLst/>
          </a:prstGeom>
          <a:noFill/>
          <a:ln/>
        </p:spPr>
        <p:txBody>
          <a:bodyPr wrap="square" rtlCol="0" anchor="ctr"/>
          <a:lstStyle/>
          <a:p>
            <a:pPr indent="0" marL="0">
              <a:buNone/>
            </a:pPr>
            <a:r>
              <a:rPr lang="en-US" sz="1000" b="1" dirty="0">
                <a:solidFill>
                  <a:srgbClr val="1C1917"/>
                </a:solidFill>
                <a:latin typeface="Arial" pitchFamily="34" charset="0"/>
                <a:ea typeface="Arial" pitchFamily="34" charset="-122"/>
                <a:cs typeface="Arial" pitchFamily="34" charset="-120"/>
              </a:rPr>
              <a:t>角色定位与边界</a:t>
            </a:r>
            <a:endParaRPr lang="en-US" sz="1000" dirty="0"/>
          </a:p>
        </p:txBody>
      </p:sp>
      <p:sp>
        <p:nvSpPr>
          <p:cNvPr id="14" name="Shape 12"/>
          <p:cNvSpPr/>
          <p:nvPr/>
        </p:nvSpPr>
        <p:spPr>
          <a:xfrm>
            <a:off x="2788920" y="1783080"/>
            <a:ext cx="3931920" cy="822960"/>
          </a:xfrm>
          <a:prstGeom prst="rect">
            <a:avLst/>
          </a:prstGeom>
          <a:solidFill>
            <a:srgbClr val="FFFFFF"/>
          </a:solidFill>
          <a:ln w="12700">
            <a:solidFill>
              <a:srgbClr val="E2DCD2"/>
            </a:solidFill>
            <a:prstDash val="solid"/>
          </a:ln>
        </p:spPr>
      </p:sp>
      <p:sp>
        <p:nvSpPr>
          <p:cNvPr id="15" name="Text 13"/>
          <p:cNvSpPr/>
          <p:nvPr/>
        </p:nvSpPr>
        <p:spPr>
          <a:xfrm>
            <a:off x="2880360" y="1892808"/>
            <a:ext cx="3749040" cy="621792"/>
          </a:xfrm>
          <a:prstGeom prst="rect">
            <a:avLst/>
          </a:prstGeom>
          <a:noFill/>
          <a:ln/>
        </p:spPr>
        <p:txBody>
          <a:bodyPr wrap="square" rtlCol="0" anchor="ctr"/>
          <a:lstStyle/>
          <a:p>
            <a:pPr indent="0" marL="0">
              <a:lnSpc>
                <a:spcPts val="1300"/>
              </a:lnSpc>
              <a:buNone/>
            </a:pPr>
            <a:r>
              <a:rPr lang="en-US" sz="880" dirty="0">
                <a:solidFill>
                  <a:srgbClr val="57534E"/>
                </a:solidFill>
                <a:latin typeface="Arial" pitchFamily="34" charset="0"/>
                <a:ea typeface="Arial" pitchFamily="34" charset="-122"/>
                <a:cs typeface="Arial" pitchFamily="34" charset="-120"/>
              </a:rPr>
              <a:t>跨企业数据孤岛的标准桥梁（Slack, Jira, GitHub, S3, SQL）</a:t>
            </a:r>
            <a:endParaRPr lang="en-US" sz="880" dirty="0"/>
          </a:p>
          <a:p>
            <a:pPr indent="0" marL="0">
              <a:lnSpc>
                <a:spcPts val="1300"/>
              </a:lnSpc>
              <a:buNone/>
            </a:pPr>
            <a:r>
              <a:rPr lang="en-US" sz="880" dirty="0">
                <a:solidFill>
                  <a:srgbClr val="57534E"/>
                </a:solidFill>
                <a:latin typeface="Arial" pitchFamily="34" charset="0"/>
                <a:ea typeface="Arial" pitchFamily="34" charset="-122"/>
                <a:cs typeface="Arial" pitchFamily="34" charset="-120"/>
              </a:rPr>
              <a:t>负责标准化鉴权、资源目录暴露与异构系统数据互通</a:t>
            </a:r>
            <a:endParaRPr lang="en-US" sz="880" dirty="0"/>
          </a:p>
        </p:txBody>
      </p:sp>
      <p:sp>
        <p:nvSpPr>
          <p:cNvPr id="16" name="Shape 14"/>
          <p:cNvSpPr/>
          <p:nvPr/>
        </p:nvSpPr>
        <p:spPr>
          <a:xfrm>
            <a:off x="6766560" y="1783080"/>
            <a:ext cx="4690872" cy="822960"/>
          </a:xfrm>
          <a:prstGeom prst="rect">
            <a:avLst/>
          </a:prstGeom>
          <a:solidFill>
            <a:srgbClr val="FBF0EB"/>
          </a:solidFill>
          <a:ln w="12700">
            <a:solidFill>
              <a:srgbClr val="F0C2B2"/>
            </a:solidFill>
            <a:prstDash val="solid"/>
          </a:ln>
        </p:spPr>
      </p:sp>
      <p:sp>
        <p:nvSpPr>
          <p:cNvPr id="17" name="Text 15"/>
          <p:cNvSpPr/>
          <p:nvPr/>
        </p:nvSpPr>
        <p:spPr>
          <a:xfrm>
            <a:off x="6858000" y="1892808"/>
            <a:ext cx="4507992" cy="621792"/>
          </a:xfrm>
          <a:prstGeom prst="rect">
            <a:avLst/>
          </a:prstGeom>
          <a:noFill/>
          <a:ln/>
        </p:spPr>
        <p:txBody>
          <a:bodyPr wrap="square" rtlCol="0" anchor="ctr"/>
          <a:lstStyle/>
          <a:p>
            <a:pPr indent="0" marL="0">
              <a:lnSpc>
                <a:spcPts val="1300"/>
              </a:lnSpc>
              <a:buNone/>
            </a:pPr>
            <a:r>
              <a:rPr lang="en-US" sz="880" b="1" dirty="0">
                <a:solidFill>
                  <a:srgbClr val="D97757"/>
                </a:solidFill>
                <a:latin typeface="Arial" pitchFamily="34" charset="0"/>
                <a:ea typeface="Arial" pitchFamily="34" charset="-122"/>
                <a:cs typeface="Arial" pitchFamily="34" charset="-120"/>
              </a:rPr>
              <a:t>直接操纵 Unix 管道与文件系统的高性能执行物理引擎</a:t>
            </a:r>
            <a:endParaRPr lang="en-US" sz="880" dirty="0"/>
          </a:p>
          <a:p>
            <a:pPr indent="0" marL="0">
              <a:lnSpc>
                <a:spcPts val="1300"/>
              </a:lnSpc>
              <a:buNone/>
            </a:pPr>
            <a:r>
              <a:rPr lang="en-US" sz="880" b="1" dirty="0">
                <a:solidFill>
                  <a:srgbClr val="D97757"/>
                </a:solidFill>
                <a:latin typeface="Arial" pitchFamily="34" charset="0"/>
                <a:ea typeface="Arial" pitchFamily="34" charset="-122"/>
                <a:cs typeface="Arial" pitchFamily="34" charset="-120"/>
              </a:rPr>
              <a:t>负责代码编译、执行测试、环境探针与系统进程管理</a:t>
            </a:r>
            <a:endParaRPr lang="en-US" sz="880" dirty="0"/>
          </a:p>
        </p:txBody>
      </p:sp>
      <p:sp>
        <p:nvSpPr>
          <p:cNvPr id="18" name="Shape 16"/>
          <p:cNvSpPr/>
          <p:nvPr/>
        </p:nvSpPr>
        <p:spPr>
          <a:xfrm>
            <a:off x="731520" y="2660904"/>
            <a:ext cx="2011680" cy="822960"/>
          </a:xfrm>
          <a:prstGeom prst="rect">
            <a:avLst/>
          </a:prstGeom>
          <a:solidFill>
            <a:srgbClr val="EFEBE1"/>
          </a:solidFill>
          <a:ln w="12700">
            <a:solidFill>
              <a:srgbClr val="E2DCD2"/>
            </a:solidFill>
            <a:prstDash val="solid"/>
          </a:ln>
        </p:spPr>
      </p:sp>
      <p:sp>
        <p:nvSpPr>
          <p:cNvPr id="19" name="Text 17"/>
          <p:cNvSpPr/>
          <p:nvPr/>
        </p:nvSpPr>
        <p:spPr>
          <a:xfrm>
            <a:off x="822960" y="2935224"/>
            <a:ext cx="1828800" cy="320040"/>
          </a:xfrm>
          <a:prstGeom prst="rect">
            <a:avLst/>
          </a:prstGeom>
          <a:noFill/>
          <a:ln/>
        </p:spPr>
        <p:txBody>
          <a:bodyPr wrap="square" rtlCol="0" anchor="ctr"/>
          <a:lstStyle/>
          <a:p>
            <a:pPr indent="0" marL="0">
              <a:buNone/>
            </a:pPr>
            <a:r>
              <a:rPr lang="en-US" sz="1000" b="1" dirty="0">
                <a:solidFill>
                  <a:srgbClr val="1C1917"/>
                </a:solidFill>
                <a:latin typeface="Arial" pitchFamily="34" charset="0"/>
                <a:ea typeface="Arial" pitchFamily="34" charset="-122"/>
                <a:cs typeface="Arial" pitchFamily="34" charset="-120"/>
              </a:rPr>
              <a:t>通信开销与延迟</a:t>
            </a:r>
            <a:endParaRPr lang="en-US" sz="1000" dirty="0"/>
          </a:p>
        </p:txBody>
      </p:sp>
      <p:sp>
        <p:nvSpPr>
          <p:cNvPr id="20" name="Shape 18"/>
          <p:cNvSpPr/>
          <p:nvPr/>
        </p:nvSpPr>
        <p:spPr>
          <a:xfrm>
            <a:off x="2788920" y="2660904"/>
            <a:ext cx="3931920" cy="822960"/>
          </a:xfrm>
          <a:prstGeom prst="rect">
            <a:avLst/>
          </a:prstGeom>
          <a:solidFill>
            <a:srgbClr val="F5F2EB"/>
          </a:solidFill>
          <a:ln w="12700">
            <a:solidFill>
              <a:srgbClr val="E2DCD2"/>
            </a:solidFill>
            <a:prstDash val="solid"/>
          </a:ln>
        </p:spPr>
      </p:sp>
      <p:sp>
        <p:nvSpPr>
          <p:cNvPr id="21" name="Text 19"/>
          <p:cNvSpPr/>
          <p:nvPr/>
        </p:nvSpPr>
        <p:spPr>
          <a:xfrm>
            <a:off x="2880360" y="2770632"/>
            <a:ext cx="3749040" cy="621792"/>
          </a:xfrm>
          <a:prstGeom prst="rect">
            <a:avLst/>
          </a:prstGeom>
          <a:noFill/>
          <a:ln/>
        </p:spPr>
        <p:txBody>
          <a:bodyPr wrap="square" rtlCol="0" anchor="ctr"/>
          <a:lstStyle/>
          <a:p>
            <a:pPr indent="0" marL="0">
              <a:lnSpc>
                <a:spcPts val="1300"/>
              </a:lnSpc>
              <a:buNone/>
            </a:pPr>
            <a:r>
              <a:rPr lang="en-US" sz="880" dirty="0">
                <a:solidFill>
                  <a:srgbClr val="57534E"/>
                </a:solidFill>
                <a:latin typeface="Arial" pitchFamily="34" charset="0"/>
                <a:ea typeface="Arial" pitchFamily="34" charset="-122"/>
                <a:cs typeface="Arial" pitchFamily="34" charset="-120"/>
              </a:rPr>
              <a:t>基于 JSON-RPC 封装，协议元数据偏重，往返网络与解析延迟高</a:t>
            </a:r>
            <a:endParaRPr lang="en-US" sz="880" dirty="0"/>
          </a:p>
          <a:p>
            <a:pPr indent="0" marL="0">
              <a:lnSpc>
                <a:spcPts val="1300"/>
              </a:lnSpc>
              <a:buNone/>
            </a:pPr>
            <a:r>
              <a:rPr lang="en-US" sz="880" dirty="0">
                <a:solidFill>
                  <a:srgbClr val="57534E"/>
                </a:solidFill>
                <a:latin typeface="Arial" pitchFamily="34" charset="0"/>
                <a:ea typeface="Arial" pitchFamily="34" charset="-122"/>
                <a:cs typeface="Arial" pitchFamily="34" charset="-120"/>
              </a:rPr>
              <a:t>高频密集交互易导致上下文膨胀与执行超时</a:t>
            </a:r>
            <a:endParaRPr lang="en-US" sz="880" dirty="0"/>
          </a:p>
        </p:txBody>
      </p:sp>
      <p:sp>
        <p:nvSpPr>
          <p:cNvPr id="22" name="Shape 20"/>
          <p:cNvSpPr/>
          <p:nvPr/>
        </p:nvSpPr>
        <p:spPr>
          <a:xfrm>
            <a:off x="6766560" y="2660904"/>
            <a:ext cx="4690872" cy="822960"/>
          </a:xfrm>
          <a:prstGeom prst="rect">
            <a:avLst/>
          </a:prstGeom>
          <a:solidFill>
            <a:srgbClr val="FBF0EB"/>
          </a:solidFill>
          <a:ln w="12700">
            <a:solidFill>
              <a:srgbClr val="F0C2B2"/>
            </a:solidFill>
            <a:prstDash val="solid"/>
          </a:ln>
        </p:spPr>
      </p:sp>
      <p:sp>
        <p:nvSpPr>
          <p:cNvPr id="23" name="Text 21"/>
          <p:cNvSpPr/>
          <p:nvPr/>
        </p:nvSpPr>
        <p:spPr>
          <a:xfrm>
            <a:off x="6858000" y="2770632"/>
            <a:ext cx="4507992" cy="621792"/>
          </a:xfrm>
          <a:prstGeom prst="rect">
            <a:avLst/>
          </a:prstGeom>
          <a:noFill/>
          <a:ln/>
        </p:spPr>
        <p:txBody>
          <a:bodyPr wrap="square" rtlCol="0" anchor="ctr"/>
          <a:lstStyle/>
          <a:p>
            <a:pPr indent="0" marL="0">
              <a:lnSpc>
                <a:spcPts val="1300"/>
              </a:lnSpc>
              <a:buNone/>
            </a:pPr>
            <a:r>
              <a:rPr lang="en-US" sz="880" b="1" dirty="0">
                <a:solidFill>
                  <a:srgbClr val="D97757"/>
                </a:solidFill>
                <a:latin typeface="Arial" pitchFamily="34" charset="0"/>
                <a:ea typeface="Arial" pitchFamily="34" charset="-122"/>
                <a:cs typeface="Arial" pitchFamily="34" charset="-120"/>
              </a:rPr>
              <a:t>零协议封装损耗，亚毫秒级管道重定向与退出码捕获</a:t>
            </a:r>
            <a:endParaRPr lang="en-US" sz="880" dirty="0"/>
          </a:p>
          <a:p>
            <a:pPr indent="0" marL="0">
              <a:lnSpc>
                <a:spcPts val="1300"/>
              </a:lnSpc>
              <a:buNone/>
            </a:pPr>
            <a:r>
              <a:rPr lang="en-US" sz="880" b="1" dirty="0">
                <a:solidFill>
                  <a:srgbClr val="D97757"/>
                </a:solidFill>
                <a:latin typeface="Arial" pitchFamily="34" charset="0"/>
                <a:ea typeface="Arial" pitchFamily="34" charset="-122"/>
                <a:cs typeface="Arial" pitchFamily="34" charset="-120"/>
              </a:rPr>
              <a:t>直接在宿主环境流式输出，速度胜出数个数量级</a:t>
            </a:r>
            <a:endParaRPr lang="en-US" sz="880" dirty="0"/>
          </a:p>
        </p:txBody>
      </p:sp>
      <p:sp>
        <p:nvSpPr>
          <p:cNvPr id="24" name="Shape 22"/>
          <p:cNvSpPr/>
          <p:nvPr/>
        </p:nvSpPr>
        <p:spPr>
          <a:xfrm>
            <a:off x="731520" y="3538728"/>
            <a:ext cx="2011680" cy="822960"/>
          </a:xfrm>
          <a:prstGeom prst="rect">
            <a:avLst/>
          </a:prstGeom>
          <a:solidFill>
            <a:srgbClr val="EFEBE1"/>
          </a:solidFill>
          <a:ln w="12700">
            <a:solidFill>
              <a:srgbClr val="E2DCD2"/>
            </a:solidFill>
            <a:prstDash val="solid"/>
          </a:ln>
        </p:spPr>
      </p:sp>
      <p:sp>
        <p:nvSpPr>
          <p:cNvPr id="25" name="Text 23"/>
          <p:cNvSpPr/>
          <p:nvPr/>
        </p:nvSpPr>
        <p:spPr>
          <a:xfrm>
            <a:off x="822960" y="3813048"/>
            <a:ext cx="1828800" cy="320040"/>
          </a:xfrm>
          <a:prstGeom prst="rect">
            <a:avLst/>
          </a:prstGeom>
          <a:noFill/>
          <a:ln/>
        </p:spPr>
        <p:txBody>
          <a:bodyPr wrap="square" rtlCol="0" anchor="ctr"/>
          <a:lstStyle/>
          <a:p>
            <a:pPr indent="0" marL="0">
              <a:buNone/>
            </a:pPr>
            <a:r>
              <a:rPr lang="en-US" sz="1000" b="1" dirty="0">
                <a:solidFill>
                  <a:srgbClr val="1C1917"/>
                </a:solidFill>
                <a:latin typeface="Arial" pitchFamily="34" charset="0"/>
                <a:ea typeface="Arial" pitchFamily="34" charset="-122"/>
                <a:cs typeface="Arial" pitchFamily="34" charset="-120"/>
              </a:rPr>
              <a:t>核心适用场景</a:t>
            </a:r>
            <a:endParaRPr lang="en-US" sz="1000" dirty="0"/>
          </a:p>
        </p:txBody>
      </p:sp>
      <p:sp>
        <p:nvSpPr>
          <p:cNvPr id="26" name="Shape 24"/>
          <p:cNvSpPr/>
          <p:nvPr/>
        </p:nvSpPr>
        <p:spPr>
          <a:xfrm>
            <a:off x="2788920" y="3538728"/>
            <a:ext cx="3931920" cy="822960"/>
          </a:xfrm>
          <a:prstGeom prst="rect">
            <a:avLst/>
          </a:prstGeom>
          <a:solidFill>
            <a:srgbClr val="FFFFFF"/>
          </a:solidFill>
          <a:ln w="12700">
            <a:solidFill>
              <a:srgbClr val="E2DCD2"/>
            </a:solidFill>
            <a:prstDash val="solid"/>
          </a:ln>
        </p:spPr>
      </p:sp>
      <p:sp>
        <p:nvSpPr>
          <p:cNvPr id="27" name="Text 25"/>
          <p:cNvSpPr/>
          <p:nvPr/>
        </p:nvSpPr>
        <p:spPr>
          <a:xfrm>
            <a:off x="2880360" y="3648456"/>
            <a:ext cx="3749040" cy="621792"/>
          </a:xfrm>
          <a:prstGeom prst="rect">
            <a:avLst/>
          </a:prstGeom>
          <a:noFill/>
          <a:ln/>
        </p:spPr>
        <p:txBody>
          <a:bodyPr wrap="square" rtlCol="0" anchor="ctr"/>
          <a:lstStyle/>
          <a:p>
            <a:pPr indent="0" marL="0">
              <a:lnSpc>
                <a:spcPts val="1300"/>
              </a:lnSpc>
              <a:buNone/>
            </a:pPr>
            <a:r>
              <a:rPr lang="en-US" sz="880" dirty="0">
                <a:solidFill>
                  <a:srgbClr val="57534E"/>
                </a:solidFill>
                <a:latin typeface="Arial" pitchFamily="34" charset="0"/>
                <a:ea typeface="Arial" pitchFamily="34" charset="-122"/>
                <a:cs typeface="Arial" pitchFamily="34" charset="-120"/>
              </a:rPr>
              <a:t>企业外部信息检索、跨系统凭据鉴权、低频业务流程触发</a:t>
            </a:r>
            <a:endParaRPr lang="en-US" sz="880" dirty="0"/>
          </a:p>
          <a:p>
            <a:pPr indent="0" marL="0">
              <a:lnSpc>
                <a:spcPts val="1300"/>
              </a:lnSpc>
              <a:buNone/>
            </a:pPr>
            <a:r>
              <a:rPr lang="en-US" sz="880" dirty="0">
                <a:solidFill>
                  <a:srgbClr val="57534E"/>
                </a:solidFill>
                <a:latin typeface="Arial" pitchFamily="34" charset="0"/>
                <a:ea typeface="Arial" pitchFamily="34" charset="-122"/>
                <a:cs typeface="Arial" pitchFamily="34" charset="-120"/>
              </a:rPr>
              <a:t>作为智能体感知企业宏观环境的“望远镜”</a:t>
            </a:r>
            <a:endParaRPr lang="en-US" sz="880" dirty="0"/>
          </a:p>
        </p:txBody>
      </p:sp>
      <p:sp>
        <p:nvSpPr>
          <p:cNvPr id="28" name="Shape 26"/>
          <p:cNvSpPr/>
          <p:nvPr/>
        </p:nvSpPr>
        <p:spPr>
          <a:xfrm>
            <a:off x="6766560" y="3538728"/>
            <a:ext cx="4690872" cy="822960"/>
          </a:xfrm>
          <a:prstGeom prst="rect">
            <a:avLst/>
          </a:prstGeom>
          <a:solidFill>
            <a:srgbClr val="FBF0EB"/>
          </a:solidFill>
          <a:ln w="12700">
            <a:solidFill>
              <a:srgbClr val="F0C2B2"/>
            </a:solidFill>
            <a:prstDash val="solid"/>
          </a:ln>
        </p:spPr>
      </p:sp>
      <p:sp>
        <p:nvSpPr>
          <p:cNvPr id="29" name="Text 27"/>
          <p:cNvSpPr/>
          <p:nvPr/>
        </p:nvSpPr>
        <p:spPr>
          <a:xfrm>
            <a:off x="6858000" y="3648456"/>
            <a:ext cx="4507992" cy="621792"/>
          </a:xfrm>
          <a:prstGeom prst="rect">
            <a:avLst/>
          </a:prstGeom>
          <a:noFill/>
          <a:ln/>
        </p:spPr>
        <p:txBody>
          <a:bodyPr wrap="square" rtlCol="0" anchor="ctr"/>
          <a:lstStyle/>
          <a:p>
            <a:pPr indent="0" marL="0">
              <a:lnSpc>
                <a:spcPts val="1300"/>
              </a:lnSpc>
              <a:buNone/>
            </a:pPr>
            <a:r>
              <a:rPr lang="en-US" sz="880" b="1" dirty="0">
                <a:solidFill>
                  <a:srgbClr val="D97757"/>
                </a:solidFill>
                <a:latin typeface="Arial" pitchFamily="34" charset="0"/>
                <a:ea typeface="Arial" pitchFamily="34" charset="-122"/>
                <a:cs typeface="Arial" pitchFamily="34" charset="-120"/>
              </a:rPr>
              <a:t>代码重构、回归验证、文本过滤 (grep/awk/sed)、Git 版本控制</a:t>
            </a:r>
            <a:endParaRPr lang="en-US" sz="880" dirty="0"/>
          </a:p>
          <a:p>
            <a:pPr indent="0" marL="0">
              <a:lnSpc>
                <a:spcPts val="1300"/>
              </a:lnSpc>
              <a:buNone/>
            </a:pPr>
            <a:r>
              <a:rPr lang="en-US" sz="880" b="1" dirty="0">
                <a:solidFill>
                  <a:srgbClr val="D97757"/>
                </a:solidFill>
                <a:latin typeface="Arial" pitchFamily="34" charset="0"/>
                <a:ea typeface="Arial" pitchFamily="34" charset="-122"/>
                <a:cs typeface="Arial" pitchFamily="34" charset="-120"/>
              </a:rPr>
              <a:t>作为智能体深入物理终端排障的“手术刀”</a:t>
            </a:r>
            <a:endParaRPr lang="en-US" sz="880" dirty="0"/>
          </a:p>
        </p:txBody>
      </p:sp>
      <p:sp>
        <p:nvSpPr>
          <p:cNvPr id="30" name="Shape 28"/>
          <p:cNvSpPr/>
          <p:nvPr/>
        </p:nvSpPr>
        <p:spPr>
          <a:xfrm>
            <a:off x="731520" y="4416552"/>
            <a:ext cx="2011680" cy="822960"/>
          </a:xfrm>
          <a:prstGeom prst="rect">
            <a:avLst/>
          </a:prstGeom>
          <a:solidFill>
            <a:srgbClr val="EFEBE1"/>
          </a:solidFill>
          <a:ln w="12700">
            <a:solidFill>
              <a:srgbClr val="E2DCD2"/>
            </a:solidFill>
            <a:prstDash val="solid"/>
          </a:ln>
        </p:spPr>
      </p:sp>
      <p:sp>
        <p:nvSpPr>
          <p:cNvPr id="31" name="Text 29"/>
          <p:cNvSpPr/>
          <p:nvPr/>
        </p:nvSpPr>
        <p:spPr>
          <a:xfrm>
            <a:off x="822960" y="4690872"/>
            <a:ext cx="1828800" cy="320040"/>
          </a:xfrm>
          <a:prstGeom prst="rect">
            <a:avLst/>
          </a:prstGeom>
          <a:noFill/>
          <a:ln/>
        </p:spPr>
        <p:txBody>
          <a:bodyPr wrap="square" rtlCol="0" anchor="ctr"/>
          <a:lstStyle/>
          <a:p>
            <a:pPr indent="0" marL="0">
              <a:buNone/>
            </a:pPr>
            <a:r>
              <a:rPr lang="en-US" sz="1000" b="1" dirty="0">
                <a:solidFill>
                  <a:srgbClr val="1C1917"/>
                </a:solidFill>
                <a:latin typeface="Arial" pitchFamily="34" charset="0"/>
                <a:ea typeface="Arial" pitchFamily="34" charset="-122"/>
                <a:cs typeface="Arial" pitchFamily="34" charset="-120"/>
              </a:rPr>
              <a:t>降维压制与演化定论</a:t>
            </a:r>
            <a:endParaRPr lang="en-US" sz="1000" dirty="0"/>
          </a:p>
        </p:txBody>
      </p:sp>
      <p:sp>
        <p:nvSpPr>
          <p:cNvPr id="32" name="Shape 30"/>
          <p:cNvSpPr/>
          <p:nvPr/>
        </p:nvSpPr>
        <p:spPr>
          <a:xfrm>
            <a:off x="2788920" y="4416552"/>
            <a:ext cx="3931920" cy="822960"/>
          </a:xfrm>
          <a:prstGeom prst="rect">
            <a:avLst/>
          </a:prstGeom>
          <a:solidFill>
            <a:srgbClr val="F5F2EB"/>
          </a:solidFill>
          <a:ln w="12700">
            <a:solidFill>
              <a:srgbClr val="E2DCD2"/>
            </a:solidFill>
            <a:prstDash val="solid"/>
          </a:ln>
        </p:spPr>
      </p:sp>
      <p:sp>
        <p:nvSpPr>
          <p:cNvPr id="33" name="Text 31"/>
          <p:cNvSpPr/>
          <p:nvPr/>
        </p:nvSpPr>
        <p:spPr>
          <a:xfrm>
            <a:off x="2880360" y="4526280"/>
            <a:ext cx="3749040" cy="621792"/>
          </a:xfrm>
          <a:prstGeom prst="rect">
            <a:avLst/>
          </a:prstGeom>
          <a:noFill/>
          <a:ln/>
        </p:spPr>
        <p:txBody>
          <a:bodyPr wrap="square" rtlCol="0" anchor="ctr"/>
          <a:lstStyle/>
          <a:p>
            <a:pPr indent="0" marL="0">
              <a:lnSpc>
                <a:spcPts val="1300"/>
              </a:lnSpc>
              <a:buNone/>
            </a:pPr>
            <a:r>
              <a:rPr lang="en-US" sz="880" dirty="0">
                <a:solidFill>
                  <a:srgbClr val="57534E"/>
                </a:solidFill>
                <a:latin typeface="Arial" pitchFamily="34" charset="0"/>
                <a:ea typeface="Arial" pitchFamily="34" charset="-122"/>
                <a:cs typeface="Arial" pitchFamily="34" charset="-120"/>
              </a:rPr>
              <a:t>陷入“过度抽象封装”困境：为简单排错编写复杂 Server 得不偿失</a:t>
            </a:r>
            <a:endParaRPr lang="en-US" sz="880" dirty="0"/>
          </a:p>
          <a:p>
            <a:pPr indent="0" marL="0">
              <a:lnSpc>
                <a:spcPts val="1300"/>
              </a:lnSpc>
              <a:buNone/>
            </a:pPr>
            <a:r>
              <a:rPr lang="en-US" sz="880" dirty="0">
                <a:solidFill>
                  <a:srgbClr val="57534E"/>
                </a:solidFill>
                <a:latin typeface="Arial" pitchFamily="34" charset="0"/>
                <a:ea typeface="Arial" pitchFamily="34" charset="-122"/>
                <a:cs typeface="Arial" pitchFamily="34" charset="-120"/>
              </a:rPr>
              <a:t>退守为企业生态连接的“外环路由器”</a:t>
            </a:r>
            <a:endParaRPr lang="en-US" sz="880" dirty="0"/>
          </a:p>
        </p:txBody>
      </p:sp>
      <p:sp>
        <p:nvSpPr>
          <p:cNvPr id="34" name="Shape 32"/>
          <p:cNvSpPr/>
          <p:nvPr/>
        </p:nvSpPr>
        <p:spPr>
          <a:xfrm>
            <a:off x="6766560" y="4416552"/>
            <a:ext cx="4690872" cy="822960"/>
          </a:xfrm>
          <a:prstGeom prst="rect">
            <a:avLst/>
          </a:prstGeom>
          <a:solidFill>
            <a:srgbClr val="FBF0EB"/>
          </a:solidFill>
          <a:ln w="12700">
            <a:solidFill>
              <a:srgbClr val="F0C2B2"/>
            </a:solidFill>
            <a:prstDash val="solid"/>
          </a:ln>
        </p:spPr>
      </p:sp>
      <p:sp>
        <p:nvSpPr>
          <p:cNvPr id="35" name="Text 33"/>
          <p:cNvSpPr/>
          <p:nvPr/>
        </p:nvSpPr>
        <p:spPr>
          <a:xfrm>
            <a:off x="6858000" y="4526280"/>
            <a:ext cx="4507992" cy="621792"/>
          </a:xfrm>
          <a:prstGeom prst="rect">
            <a:avLst/>
          </a:prstGeom>
          <a:noFill/>
          <a:ln/>
        </p:spPr>
        <p:txBody>
          <a:bodyPr wrap="square" rtlCol="0" anchor="ctr"/>
          <a:lstStyle/>
          <a:p>
            <a:pPr indent="0" marL="0">
              <a:lnSpc>
                <a:spcPts val="1300"/>
              </a:lnSpc>
              <a:buNone/>
            </a:pPr>
            <a:r>
              <a:rPr lang="en-US" sz="880" b="1" dirty="0">
                <a:solidFill>
                  <a:srgbClr val="D97757"/>
                </a:solidFill>
                <a:latin typeface="Arial" pitchFamily="34" charset="0"/>
                <a:ea typeface="Arial" pitchFamily="34" charset="-122"/>
                <a:cs typeface="Arial" pitchFamily="34" charset="-120"/>
              </a:rPr>
              <a:t>一行 Bash 管道组合命令即可干翻 10 个笨拙冗长的 MCP Server</a:t>
            </a:r>
            <a:endParaRPr lang="en-US" sz="880" dirty="0"/>
          </a:p>
          <a:p>
            <a:pPr indent="0" marL="0">
              <a:lnSpc>
                <a:spcPts val="1300"/>
              </a:lnSpc>
              <a:buNone/>
            </a:pPr>
            <a:r>
              <a:rPr lang="en-US" sz="880" b="1" dirty="0">
                <a:solidFill>
                  <a:srgbClr val="D97757"/>
                </a:solidFill>
                <a:latin typeface="Arial" pitchFamily="34" charset="0"/>
                <a:ea typeface="Arial" pitchFamily="34" charset="-122"/>
                <a:cs typeface="Arial" pitchFamily="34" charset="-120"/>
              </a:rPr>
              <a:t>在软件工程内环完成坚不可摧的降维回归</a:t>
            </a:r>
            <a:endParaRPr lang="en-US" sz="880" dirty="0"/>
          </a:p>
        </p:txBody>
      </p:sp>
      <p:sp>
        <p:nvSpPr>
          <p:cNvPr id="36" name="Shape 34"/>
          <p:cNvSpPr/>
          <p:nvPr/>
        </p:nvSpPr>
        <p:spPr>
          <a:xfrm>
            <a:off x="731520" y="5413248"/>
            <a:ext cx="10725912" cy="804672"/>
          </a:xfrm>
          <a:prstGeom prst="rect">
            <a:avLst/>
          </a:prstGeom>
          <a:solidFill>
            <a:srgbClr val="FFFFFF"/>
          </a:solidFill>
          <a:ln w="12700">
            <a:solidFill>
              <a:srgbClr val="F0C2B2"/>
            </a:solidFill>
            <a:prstDash val="solid"/>
          </a:ln>
        </p:spPr>
      </p:sp>
      <p:sp>
        <p:nvSpPr>
          <p:cNvPr id="37" name="Text 35"/>
          <p:cNvSpPr/>
          <p:nvPr/>
        </p:nvSpPr>
        <p:spPr>
          <a:xfrm>
            <a:off x="1005840" y="5632704"/>
            <a:ext cx="10177272" cy="411480"/>
          </a:xfrm>
          <a:prstGeom prst="rect">
            <a:avLst/>
          </a:prstGeom>
          <a:noFill/>
          <a:ln/>
        </p:spPr>
        <p:txBody>
          <a:bodyPr wrap="square" rtlCol="0" anchor="ctr"/>
          <a:lstStyle/>
          <a:p>
            <a:pPr algn="ctr" indent="0" marL="0">
              <a:lnSpc>
                <a:spcPts val="1400"/>
              </a:lnSpc>
              <a:buNone/>
            </a:pPr>
            <a:r>
              <a:rPr lang="en-US" sz="1000" b="1" dirty="0">
                <a:solidFill>
                  <a:srgbClr val="1C1917"/>
                </a:solidFill>
                <a:latin typeface="Arial" pitchFamily="34" charset="0"/>
                <a:ea typeface="Arial" pitchFamily="34" charset="-122"/>
                <a:cs typeface="Arial" pitchFamily="34" charset="-120"/>
              </a:rPr>
              <a:t>双环协同定论：MCP 并没有消失，而是退守为企业数据互联的“外环路由器”；而在软件工程与代码执行的核心内环，Unix 命令行以其不可替代的原子性与零损耗完成降维回归。</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41210"/>
        </a:solidFill>
      </p:bgPr>
    </p:bg>
    <p:spTree>
      <p:nvGrpSpPr>
        <p:cNvPr id="1" name=""/>
        <p:cNvGrpSpPr/>
        <p:nvPr/>
      </p:nvGrpSpPr>
      <p:grpSpPr>
        <a:xfrm>
          <a:off x="0" y="0"/>
          <a:ext cx="0" cy="0"/>
          <a:chOff x="0" y="0"/>
          <a:chExt cx="0" cy="0"/>
        </a:xfrm>
      </p:grpSpPr>
      <p:sp>
        <p:nvSpPr>
          <p:cNvPr id="2" name="Shape 0"/>
          <p:cNvSpPr/>
          <p:nvPr/>
        </p:nvSpPr>
        <p:spPr>
          <a:xfrm>
            <a:off x="731520" y="1097280"/>
            <a:ext cx="137160" cy="4663440"/>
          </a:xfrm>
          <a:prstGeom prst="rect">
            <a:avLst/>
          </a:prstGeom>
          <a:solidFill>
            <a:srgbClr val="D97757"/>
          </a:solidFill>
          <a:ln/>
        </p:spPr>
      </p:sp>
      <p:sp>
        <p:nvSpPr>
          <p:cNvPr id="3" name="Shape 1"/>
          <p:cNvSpPr/>
          <p:nvPr/>
        </p:nvSpPr>
        <p:spPr>
          <a:xfrm>
            <a:off x="1188720" y="1097280"/>
            <a:ext cx="10241280" cy="4663440"/>
          </a:xfrm>
          <a:prstGeom prst="rect">
            <a:avLst/>
          </a:prstGeom>
          <a:solidFill>
            <a:srgbClr val="1E1B18"/>
          </a:solidFill>
          <a:ln w="12700">
            <a:solidFill>
              <a:srgbClr val="38332E"/>
            </a:solidFill>
            <a:prstDash val="solid"/>
          </a:ln>
        </p:spPr>
      </p:sp>
      <p:sp>
        <p:nvSpPr>
          <p:cNvPr id="4" name="Shape 2"/>
          <p:cNvSpPr/>
          <p:nvPr/>
        </p:nvSpPr>
        <p:spPr>
          <a:xfrm>
            <a:off x="1737360" y="1554480"/>
            <a:ext cx="3108960" cy="320040"/>
          </a:xfrm>
          <a:prstGeom prst="rect">
            <a:avLst/>
          </a:prstGeom>
          <a:solidFill>
            <a:srgbClr val="261F1A"/>
          </a:solidFill>
          <a:ln w="12700">
            <a:solidFill>
              <a:srgbClr val="D97757"/>
            </a:solidFill>
            <a:prstDash val="solid"/>
          </a:ln>
        </p:spPr>
      </p:sp>
      <p:sp>
        <p:nvSpPr>
          <p:cNvPr id="5" name="Text 3"/>
          <p:cNvSpPr/>
          <p:nvPr/>
        </p:nvSpPr>
        <p:spPr>
          <a:xfrm>
            <a:off x="1737360" y="1554480"/>
            <a:ext cx="3108960" cy="320040"/>
          </a:xfrm>
          <a:prstGeom prst="rect">
            <a:avLst/>
          </a:prstGeom>
          <a:noFill/>
          <a:ln/>
        </p:spPr>
        <p:txBody>
          <a:bodyPr wrap="square" rtlCol="0" anchor="ctr"/>
          <a:lstStyle/>
          <a:p>
            <a:pPr algn="ctr" indent="0" marL="0">
              <a:buNone/>
            </a:pPr>
            <a:r>
              <a:rPr lang="en-US" sz="950" b="1" spc="150" kern="0" dirty="0">
                <a:solidFill>
                  <a:srgbClr val="D97757"/>
                </a:solidFill>
                <a:latin typeface="Arial" pitchFamily="34" charset="0"/>
                <a:ea typeface="Arial" pitchFamily="34" charset="-122"/>
                <a:cs typeface="Arial" pitchFamily="34" charset="-120"/>
              </a:rPr>
              <a:t>UNIVERSAL COGNITION</a:t>
            </a:r>
            <a:endParaRPr lang="en-US" sz="950" dirty="0"/>
          </a:p>
        </p:txBody>
      </p:sp>
      <p:sp>
        <p:nvSpPr>
          <p:cNvPr id="6" name="Text 4"/>
          <p:cNvSpPr/>
          <p:nvPr/>
        </p:nvSpPr>
        <p:spPr>
          <a:xfrm>
            <a:off x="1737360" y="2103120"/>
            <a:ext cx="9144000" cy="685800"/>
          </a:xfrm>
          <a:prstGeom prst="rect">
            <a:avLst/>
          </a:prstGeom>
          <a:noFill/>
          <a:ln/>
        </p:spPr>
        <p:txBody>
          <a:bodyPr wrap="square" lIns="0" tIns="0" rIns="0" bIns="0" rtlCol="0" anchor="ctr"/>
          <a:lstStyle/>
          <a:p>
            <a:pPr indent="0" marL="0">
              <a:buNone/>
            </a:pPr>
            <a:r>
              <a:rPr lang="en-US" sz="3800" b="1" spc="150" kern="0" dirty="0">
                <a:solidFill>
                  <a:srgbClr val="D97757"/>
                </a:solidFill>
                <a:latin typeface="Arial" pitchFamily="34" charset="0"/>
                <a:ea typeface="Arial" pitchFamily="34" charset="-122"/>
                <a:cs typeface="Arial" pitchFamily="34" charset="-120"/>
              </a:rPr>
              <a:t>PART 03</a:t>
            </a:r>
            <a:endParaRPr lang="en-US" sz="3800" dirty="0"/>
          </a:p>
        </p:txBody>
      </p:sp>
      <p:sp>
        <p:nvSpPr>
          <p:cNvPr id="7" name="Text 5"/>
          <p:cNvSpPr/>
          <p:nvPr/>
        </p:nvSpPr>
        <p:spPr>
          <a:xfrm>
            <a:off x="1737360" y="2880360"/>
            <a:ext cx="9144000" cy="77724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代码即 AGI：通用认知操作系统</a:t>
            </a:r>
            <a:endParaRPr lang="en-US" sz="3000" dirty="0"/>
          </a:p>
        </p:txBody>
      </p:sp>
      <p:sp>
        <p:nvSpPr>
          <p:cNvPr id="8" name="Shape 6"/>
          <p:cNvSpPr/>
          <p:nvPr/>
        </p:nvSpPr>
        <p:spPr>
          <a:xfrm>
            <a:off x="1737360" y="3794760"/>
            <a:ext cx="8961120" cy="0"/>
          </a:xfrm>
          <a:prstGeom prst="line">
            <a:avLst/>
          </a:prstGeom>
          <a:noFill/>
          <a:ln w="12700">
            <a:solidFill>
              <a:srgbClr val="38332E"/>
            </a:solidFill>
            <a:prstDash val="solid"/>
          </a:ln>
        </p:spPr>
      </p:sp>
      <p:sp>
        <p:nvSpPr>
          <p:cNvPr id="9" name="Text 7"/>
          <p:cNvSpPr/>
          <p:nvPr/>
        </p:nvSpPr>
        <p:spPr>
          <a:xfrm>
            <a:off x="1737360" y="3977640"/>
            <a:ext cx="8961120" cy="777240"/>
          </a:xfrm>
          <a:prstGeom prst="rect">
            <a:avLst/>
          </a:prstGeom>
          <a:noFill/>
          <a:ln/>
        </p:spPr>
        <p:txBody>
          <a:bodyPr wrap="square" lIns="0" tIns="0" rIns="0" bIns="0" rtlCol="0" anchor="ctr"/>
          <a:lstStyle/>
          <a:p>
            <a:pPr indent="0" marL="0">
              <a:lnSpc>
                <a:spcPts val="2200"/>
              </a:lnSpc>
              <a:buNone/>
            </a:pPr>
            <a:r>
              <a:rPr lang="en-US" sz="1500" dirty="0">
                <a:solidFill>
                  <a:srgbClr val="D6D0C7"/>
                </a:solidFill>
                <a:latin typeface="Arial" pitchFamily="34" charset="0"/>
                <a:ea typeface="Arial" pitchFamily="34" charset="-122"/>
                <a:cs typeface="Arial" pitchFamily="34" charset="-120"/>
              </a:rPr>
              <a:t>超越编程工具论：代码为何是实现通用认知、自我检验与人机协同的唯一基座。</a:t>
            </a:r>
            <a:endParaRPr lang="en-US" sz="1500" dirty="0"/>
          </a:p>
        </p:txBody>
      </p:sp>
      <p:sp>
        <p:nvSpPr>
          <p:cNvPr id="10" name="Text 8"/>
          <p:cNvSpPr/>
          <p:nvPr/>
        </p:nvSpPr>
        <p:spPr>
          <a:xfrm>
            <a:off x="10332720" y="1371600"/>
            <a:ext cx="822960" cy="411480"/>
          </a:xfrm>
          <a:prstGeom prst="rect">
            <a:avLst/>
          </a:prstGeom>
          <a:noFill/>
          <a:ln/>
        </p:spPr>
        <p:txBody>
          <a:bodyPr wrap="square" rtlCol="0" anchor="ctr"/>
          <a:lstStyle/>
          <a:p>
            <a:pPr algn="r" indent="0" marL="0">
              <a:buNone/>
            </a:pPr>
            <a:r>
              <a:rPr lang="en-US" sz="1600" b="1" dirty="0">
                <a:solidFill>
                  <a:srgbClr val="666059"/>
                </a:solidFill>
                <a:latin typeface="Arial" pitchFamily="34" charset="0"/>
                <a:ea typeface="Arial" pitchFamily="34" charset="-122"/>
                <a:cs typeface="Arial" pitchFamily="34" charset="-120"/>
              </a:rPr>
              <a:t>17</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BF9F5"/>
        </a:solidFill>
      </p:bgPr>
    </p:bg>
    <p:spTree>
      <p:nvGrpSpPr>
        <p:cNvPr id="1" name=""/>
        <p:cNvGrpSpPr/>
        <p:nvPr/>
      </p:nvGrpSpPr>
      <p:grpSpPr>
        <a:xfrm>
          <a:off x="0" y="0"/>
          <a:ext cx="0" cy="0"/>
          <a:chOff x="0" y="0"/>
          <a:chExt cx="0" cy="0"/>
        </a:xfrm>
      </p:grpSpPr>
      <p:sp>
        <p:nvSpPr>
          <p:cNvPr id="2" name="Shape 0"/>
          <p:cNvSpPr/>
          <p:nvPr/>
        </p:nvSpPr>
        <p:spPr>
          <a:xfrm>
            <a:off x="731520" y="384048"/>
            <a:ext cx="2560320" cy="256032"/>
          </a:xfrm>
          <a:prstGeom prst="rect">
            <a:avLst/>
          </a:prstGeom>
          <a:solidFill>
            <a:srgbClr val="FBF0EB"/>
          </a:solidFill>
          <a:ln w="12700">
            <a:solidFill>
              <a:srgbClr val="F0C2B2"/>
            </a:solidFill>
            <a:prstDash val="solid"/>
          </a:ln>
        </p:spPr>
      </p:sp>
      <p:sp>
        <p:nvSpPr>
          <p:cNvPr id="3" name="Text 1"/>
          <p:cNvSpPr/>
          <p:nvPr/>
        </p:nvSpPr>
        <p:spPr>
          <a:xfrm>
            <a:off x="731520" y="384048"/>
            <a:ext cx="2560320" cy="256032"/>
          </a:xfrm>
          <a:prstGeom prst="rect">
            <a:avLst/>
          </a:prstGeom>
          <a:noFill/>
          <a:ln/>
        </p:spPr>
        <p:txBody>
          <a:bodyPr wrap="square" rtlCol="0" anchor="ctr"/>
          <a:lstStyle/>
          <a:p>
            <a:pPr algn="ctr" indent="0" marL="0">
              <a:buNone/>
            </a:pPr>
            <a:r>
              <a:rPr lang="en-US" sz="900" b="1" spc="120" kern="0" dirty="0">
                <a:solidFill>
                  <a:srgbClr val="D97757"/>
                </a:solidFill>
                <a:latin typeface="Arial" pitchFamily="34" charset="0"/>
                <a:ea typeface="Arial" pitchFamily="34" charset="-122"/>
                <a:cs typeface="Arial" pitchFamily="34" charset="-120"/>
              </a:rPr>
              <a:t>COGNITIVE OS BLUEPRINT</a:t>
            </a:r>
            <a:endParaRPr lang="en-US" sz="900" dirty="0"/>
          </a:p>
        </p:txBody>
      </p:sp>
      <p:sp>
        <p:nvSpPr>
          <p:cNvPr id="4" name="Text 2"/>
          <p:cNvSpPr/>
          <p:nvPr/>
        </p:nvSpPr>
        <p:spPr>
          <a:xfrm>
            <a:off x="731520" y="676656"/>
            <a:ext cx="9875520" cy="475488"/>
          </a:xfrm>
          <a:prstGeom prst="rect">
            <a:avLst/>
          </a:prstGeom>
          <a:noFill/>
          <a:ln/>
        </p:spPr>
        <p:txBody>
          <a:bodyPr wrap="square" lIns="0" tIns="0" rIns="0" bIns="0" rtlCol="0" anchor="ctr"/>
          <a:lstStyle/>
          <a:p>
            <a:pPr indent="0" marL="0">
              <a:buNone/>
            </a:pPr>
            <a:r>
              <a:rPr lang="en-US" sz="2100" b="1" dirty="0">
                <a:solidFill>
                  <a:srgbClr val="1C1917"/>
                </a:solidFill>
                <a:latin typeface="Arial" pitchFamily="34" charset="0"/>
                <a:ea typeface="Arial" pitchFamily="34" charset="-122"/>
                <a:cs typeface="Arial" pitchFamily="34" charset="-120"/>
              </a:rPr>
              <a:t>代码是通用智能的操作系统：四层认知架构全景</a:t>
            </a:r>
            <a:endParaRPr lang="en-US" sz="2100" dirty="0"/>
          </a:p>
        </p:txBody>
      </p:sp>
      <p:sp>
        <p:nvSpPr>
          <p:cNvPr id="5" name="Text 3"/>
          <p:cNvSpPr/>
          <p:nvPr/>
        </p:nvSpPr>
        <p:spPr>
          <a:xfrm>
            <a:off x="10972800" y="384048"/>
            <a:ext cx="731520" cy="320040"/>
          </a:xfrm>
          <a:prstGeom prst="rect">
            <a:avLst/>
          </a:prstGeom>
          <a:noFill/>
          <a:ln/>
        </p:spPr>
        <p:txBody>
          <a:bodyPr wrap="square" rtlCol="0" anchor="ctr"/>
          <a:lstStyle/>
          <a:p>
            <a:pPr algn="r" indent="0" marL="0">
              <a:buNone/>
            </a:pPr>
            <a:r>
              <a:rPr lang="en-US" sz="1300" b="1" dirty="0">
                <a:solidFill>
                  <a:srgbClr val="8C857B"/>
                </a:solidFill>
                <a:latin typeface="Arial" pitchFamily="34" charset="0"/>
                <a:ea typeface="Arial" pitchFamily="34" charset="-122"/>
                <a:cs typeface="Arial" pitchFamily="34" charset="-120"/>
              </a:rPr>
              <a:t>18</a:t>
            </a:r>
            <a:endParaRPr lang="en-US" sz="1300" dirty="0"/>
          </a:p>
        </p:txBody>
      </p:sp>
      <p:sp>
        <p:nvSpPr>
          <p:cNvPr id="6" name="Shape 4"/>
          <p:cNvSpPr/>
          <p:nvPr/>
        </p:nvSpPr>
        <p:spPr>
          <a:xfrm>
            <a:off x="731520" y="1325880"/>
            <a:ext cx="594360" cy="4892040"/>
          </a:xfrm>
          <a:prstGeom prst="rect">
            <a:avLst/>
          </a:prstGeom>
          <a:solidFill>
            <a:srgbClr val="FBF0EB"/>
          </a:solidFill>
          <a:ln w="12700">
            <a:solidFill>
              <a:srgbClr val="F0C2B2"/>
            </a:solidFill>
            <a:prstDash val="solid"/>
          </a:ln>
        </p:spPr>
      </p:sp>
      <p:sp>
        <p:nvSpPr>
          <p:cNvPr id="7" name="Text 5"/>
          <p:cNvSpPr/>
          <p:nvPr/>
        </p:nvSpPr>
        <p:spPr>
          <a:xfrm>
            <a:off x="731520" y="2011680"/>
            <a:ext cx="594360" cy="3474720"/>
          </a:xfrm>
          <a:prstGeom prst="rect">
            <a:avLst/>
          </a:prstGeom>
          <a:noFill/>
          <a:ln/>
        </p:spPr>
        <p:txBody>
          <a:bodyPr wrap="square" rtlCol="0" anchor="ctr"/>
          <a:lstStyle/>
          <a:p>
            <a:pPr algn="ctr" indent="0" marL="0">
              <a:lnSpc>
                <a:spcPts val="1600"/>
              </a:lnSpc>
              <a:buNone/>
            </a:pPr>
            <a:r>
              <a:rPr lang="en-US" sz="950" b="1" dirty="0">
                <a:solidFill>
                  <a:srgbClr val="D97757"/>
                </a:solidFill>
                <a:latin typeface="Arial" pitchFamily="34" charset="0"/>
                <a:ea typeface="Arial" pitchFamily="34" charset="-122"/>
                <a:cs typeface="Arial" pitchFamily="34" charset="-120"/>
              </a:rPr>
              <a:t>▲</a:t>
            </a:r>
            <a:endParaRPr lang="en-US" sz="950" dirty="0"/>
          </a:p>
          <a:p>
            <a:pPr algn="ctr" indent="0" marL="0">
              <a:lnSpc>
                <a:spcPts val="1600"/>
              </a:lnSpc>
              <a:buNone/>
            </a:pPr>
            <a:r>
              <a:rPr lang="en-US" sz="950" b="1" dirty="0">
                <a:solidFill>
                  <a:srgbClr val="D97757"/>
                </a:solidFill>
                <a:latin typeface="Arial" pitchFamily="34" charset="0"/>
                <a:ea typeface="Arial" pitchFamily="34" charset="-122"/>
                <a:cs typeface="Arial" pitchFamily="34" charset="-120"/>
              </a:rPr>
              <a:t>认</a:t>
            </a:r>
            <a:endParaRPr lang="en-US" sz="950" dirty="0"/>
          </a:p>
          <a:p>
            <a:pPr algn="ctr" indent="0" marL="0">
              <a:lnSpc>
                <a:spcPts val="1600"/>
              </a:lnSpc>
              <a:buNone/>
            </a:pPr>
            <a:r>
              <a:rPr lang="en-US" sz="950" b="1" dirty="0">
                <a:solidFill>
                  <a:srgbClr val="D97757"/>
                </a:solidFill>
                <a:latin typeface="Arial" pitchFamily="34" charset="0"/>
                <a:ea typeface="Arial" pitchFamily="34" charset="-122"/>
                <a:cs typeface="Arial" pitchFamily="34" charset="-120"/>
              </a:rPr>
              <a:t>知</a:t>
            </a:r>
            <a:endParaRPr lang="en-US" sz="950" dirty="0"/>
          </a:p>
          <a:p>
            <a:pPr algn="ctr" indent="0" marL="0">
              <a:lnSpc>
                <a:spcPts val="1600"/>
              </a:lnSpc>
              <a:buNone/>
            </a:pPr>
            <a:r>
              <a:rPr lang="en-US" sz="950" b="1" dirty="0">
                <a:solidFill>
                  <a:srgbClr val="D97757"/>
                </a:solidFill>
                <a:latin typeface="Arial" pitchFamily="34" charset="0"/>
                <a:ea typeface="Arial" pitchFamily="34" charset="-122"/>
                <a:cs typeface="Arial" pitchFamily="34" charset="-120"/>
              </a:rPr>
              <a:t>抽</a:t>
            </a:r>
            <a:endParaRPr lang="en-US" sz="950" dirty="0"/>
          </a:p>
          <a:p>
            <a:pPr algn="ctr" indent="0" marL="0">
              <a:lnSpc>
                <a:spcPts val="1600"/>
              </a:lnSpc>
              <a:buNone/>
            </a:pPr>
            <a:r>
              <a:rPr lang="en-US" sz="950" b="1" dirty="0">
                <a:solidFill>
                  <a:srgbClr val="D97757"/>
                </a:solidFill>
                <a:latin typeface="Arial" pitchFamily="34" charset="0"/>
                <a:ea typeface="Arial" pitchFamily="34" charset="-122"/>
                <a:cs typeface="Arial" pitchFamily="34" charset="-120"/>
              </a:rPr>
              <a:t>象</a:t>
            </a:r>
            <a:endParaRPr lang="en-US" sz="950" dirty="0"/>
          </a:p>
          <a:p>
            <a:pPr algn="ctr" indent="0" marL="0">
              <a:lnSpc>
                <a:spcPts val="1600"/>
              </a:lnSpc>
              <a:buNone/>
            </a:pPr>
            <a:r>
              <a:rPr lang="en-US" sz="950" b="1" dirty="0">
                <a:solidFill>
                  <a:srgbClr val="D97757"/>
                </a:solidFill>
                <a:latin typeface="Arial" pitchFamily="34" charset="0"/>
                <a:ea typeface="Arial" pitchFamily="34" charset="-122"/>
                <a:cs typeface="Arial" pitchFamily="34" charset="-120"/>
              </a:rPr>
              <a:t>提</a:t>
            </a:r>
            <a:endParaRPr lang="en-US" sz="950" dirty="0"/>
          </a:p>
          <a:p>
            <a:pPr algn="ctr" indent="0" marL="0">
              <a:lnSpc>
                <a:spcPts val="1600"/>
              </a:lnSpc>
              <a:buNone/>
            </a:pPr>
            <a:r>
              <a:rPr lang="en-US" sz="950" b="1" dirty="0">
                <a:solidFill>
                  <a:srgbClr val="D97757"/>
                </a:solidFill>
                <a:latin typeface="Arial" pitchFamily="34" charset="0"/>
                <a:ea typeface="Arial" pitchFamily="34" charset="-122"/>
                <a:cs typeface="Arial" pitchFamily="34" charset="-120"/>
              </a:rPr>
              <a:t>炼</a:t>
            </a:r>
            <a:endParaRPr lang="en-US" sz="950" dirty="0"/>
          </a:p>
        </p:txBody>
      </p:sp>
      <p:sp>
        <p:nvSpPr>
          <p:cNvPr id="8" name="Shape 6"/>
          <p:cNvSpPr/>
          <p:nvPr/>
        </p:nvSpPr>
        <p:spPr>
          <a:xfrm>
            <a:off x="10863072" y="1325880"/>
            <a:ext cx="594360" cy="4892040"/>
          </a:xfrm>
          <a:prstGeom prst="rect">
            <a:avLst/>
          </a:prstGeom>
          <a:solidFill>
            <a:srgbClr val="F1F5F9"/>
          </a:solidFill>
          <a:ln w="12700">
            <a:solidFill>
              <a:srgbClr val="D1C9BC"/>
            </a:solidFill>
            <a:prstDash val="solid"/>
          </a:ln>
        </p:spPr>
      </p:sp>
      <p:sp>
        <p:nvSpPr>
          <p:cNvPr id="9" name="Text 7"/>
          <p:cNvSpPr/>
          <p:nvPr/>
        </p:nvSpPr>
        <p:spPr>
          <a:xfrm>
            <a:off x="10863072" y="2011680"/>
            <a:ext cx="594360" cy="3474720"/>
          </a:xfrm>
          <a:prstGeom prst="rect">
            <a:avLst/>
          </a:prstGeom>
          <a:noFill/>
          <a:ln/>
        </p:spPr>
        <p:txBody>
          <a:bodyPr wrap="square" rtlCol="0" anchor="ctr"/>
          <a:lstStyle/>
          <a:p>
            <a:pPr algn="ctr" indent="0" marL="0">
              <a:lnSpc>
                <a:spcPts val="1600"/>
              </a:lnSpc>
              <a:buNone/>
            </a:pPr>
            <a:r>
              <a:rPr lang="en-US" sz="950" b="1" dirty="0">
                <a:solidFill>
                  <a:srgbClr val="475569"/>
                </a:solidFill>
                <a:latin typeface="Arial" pitchFamily="34" charset="0"/>
                <a:ea typeface="Arial" pitchFamily="34" charset="-122"/>
                <a:cs typeface="Arial" pitchFamily="34" charset="-120"/>
              </a:rPr>
              <a:t>▼</a:t>
            </a:r>
            <a:endParaRPr lang="en-US" sz="950" dirty="0"/>
          </a:p>
          <a:p>
            <a:pPr algn="ctr" indent="0" marL="0">
              <a:lnSpc>
                <a:spcPts val="1600"/>
              </a:lnSpc>
              <a:buNone/>
            </a:pPr>
            <a:r>
              <a:rPr lang="en-US" sz="950" b="1" dirty="0">
                <a:solidFill>
                  <a:srgbClr val="475569"/>
                </a:solidFill>
                <a:latin typeface="Arial" pitchFamily="34" charset="0"/>
                <a:ea typeface="Arial" pitchFamily="34" charset="-122"/>
                <a:cs typeface="Arial" pitchFamily="34" charset="-120"/>
              </a:rPr>
              <a:t>物</a:t>
            </a:r>
            <a:endParaRPr lang="en-US" sz="950" dirty="0"/>
          </a:p>
          <a:p>
            <a:pPr algn="ctr" indent="0" marL="0">
              <a:lnSpc>
                <a:spcPts val="1600"/>
              </a:lnSpc>
              <a:buNone/>
            </a:pPr>
            <a:r>
              <a:rPr lang="en-US" sz="950" b="1" dirty="0">
                <a:solidFill>
                  <a:srgbClr val="475569"/>
                </a:solidFill>
                <a:latin typeface="Arial" pitchFamily="34" charset="0"/>
                <a:ea typeface="Arial" pitchFamily="34" charset="-122"/>
                <a:cs typeface="Arial" pitchFamily="34" charset="-120"/>
              </a:rPr>
              <a:t>理</a:t>
            </a:r>
            <a:endParaRPr lang="en-US" sz="950" dirty="0"/>
          </a:p>
          <a:p>
            <a:pPr algn="ctr" indent="0" marL="0">
              <a:lnSpc>
                <a:spcPts val="1600"/>
              </a:lnSpc>
              <a:buNone/>
            </a:pPr>
            <a:r>
              <a:rPr lang="en-US" sz="950" b="1" dirty="0">
                <a:solidFill>
                  <a:srgbClr val="475569"/>
                </a:solidFill>
                <a:latin typeface="Arial" pitchFamily="34" charset="0"/>
                <a:ea typeface="Arial" pitchFamily="34" charset="-122"/>
                <a:cs typeface="Arial" pitchFamily="34" charset="-120"/>
              </a:rPr>
              <a:t>动</a:t>
            </a:r>
            <a:endParaRPr lang="en-US" sz="950" dirty="0"/>
          </a:p>
          <a:p>
            <a:pPr algn="ctr" indent="0" marL="0">
              <a:lnSpc>
                <a:spcPts val="1600"/>
              </a:lnSpc>
              <a:buNone/>
            </a:pPr>
            <a:r>
              <a:rPr lang="en-US" sz="950" b="1" dirty="0">
                <a:solidFill>
                  <a:srgbClr val="475569"/>
                </a:solidFill>
                <a:latin typeface="Arial" pitchFamily="34" charset="0"/>
                <a:ea typeface="Arial" pitchFamily="34" charset="-122"/>
                <a:cs typeface="Arial" pitchFamily="34" charset="-120"/>
              </a:rPr>
              <a:t>作</a:t>
            </a:r>
            <a:endParaRPr lang="en-US" sz="950" dirty="0"/>
          </a:p>
          <a:p>
            <a:pPr algn="ctr" indent="0" marL="0">
              <a:lnSpc>
                <a:spcPts val="1600"/>
              </a:lnSpc>
              <a:buNone/>
            </a:pPr>
            <a:r>
              <a:rPr lang="en-US" sz="950" b="1" dirty="0">
                <a:solidFill>
                  <a:srgbClr val="475569"/>
                </a:solidFill>
                <a:latin typeface="Arial" pitchFamily="34" charset="0"/>
                <a:ea typeface="Arial" pitchFamily="34" charset="-122"/>
                <a:cs typeface="Arial" pitchFamily="34" charset="-120"/>
              </a:rPr>
              <a:t>下</a:t>
            </a:r>
            <a:endParaRPr lang="en-US" sz="950" dirty="0"/>
          </a:p>
          <a:p>
            <a:pPr algn="ctr" indent="0" marL="0">
              <a:lnSpc>
                <a:spcPts val="1600"/>
              </a:lnSpc>
              <a:buNone/>
            </a:pPr>
            <a:r>
              <a:rPr lang="en-US" sz="950" b="1" dirty="0">
                <a:solidFill>
                  <a:srgbClr val="475569"/>
                </a:solidFill>
                <a:latin typeface="Arial" pitchFamily="34" charset="0"/>
                <a:ea typeface="Arial" pitchFamily="34" charset="-122"/>
                <a:cs typeface="Arial" pitchFamily="34" charset="-120"/>
              </a:rPr>
              <a:t>发</a:t>
            </a:r>
            <a:endParaRPr lang="en-US" sz="950" dirty="0"/>
          </a:p>
        </p:txBody>
      </p:sp>
      <p:sp>
        <p:nvSpPr>
          <p:cNvPr id="10" name="Shape 8"/>
          <p:cNvSpPr/>
          <p:nvPr/>
        </p:nvSpPr>
        <p:spPr>
          <a:xfrm>
            <a:off x="1463040" y="1325880"/>
            <a:ext cx="9262872" cy="1115568"/>
          </a:xfrm>
          <a:prstGeom prst="rect">
            <a:avLst/>
          </a:prstGeom>
          <a:solidFill>
            <a:srgbClr val="FFFFFF"/>
          </a:solidFill>
          <a:ln w="12700">
            <a:solidFill>
              <a:srgbClr val="E2DCD2"/>
            </a:solidFill>
            <a:prstDash val="solid"/>
          </a:ln>
        </p:spPr>
      </p:sp>
      <p:sp>
        <p:nvSpPr>
          <p:cNvPr id="11" name="Shape 9"/>
          <p:cNvSpPr/>
          <p:nvPr/>
        </p:nvSpPr>
        <p:spPr>
          <a:xfrm>
            <a:off x="1463040" y="1325880"/>
            <a:ext cx="1828800" cy="1115568"/>
          </a:xfrm>
          <a:prstGeom prst="rect">
            <a:avLst/>
          </a:prstGeom>
          <a:solidFill>
            <a:srgbClr val="D97757"/>
          </a:solidFill>
          <a:ln/>
        </p:spPr>
      </p:sp>
      <p:sp>
        <p:nvSpPr>
          <p:cNvPr id="12" name="Text 10"/>
          <p:cNvSpPr/>
          <p:nvPr/>
        </p:nvSpPr>
        <p:spPr>
          <a:xfrm>
            <a:off x="1508760" y="1554480"/>
            <a:ext cx="1737360" cy="292608"/>
          </a:xfrm>
          <a:prstGeom prst="rect">
            <a:avLst/>
          </a:prstGeom>
          <a:noFill/>
          <a:ln/>
        </p:spPr>
        <p:txBody>
          <a:bodyPr wrap="square" rtlCol="0" anchor="ctr"/>
          <a:lstStyle/>
          <a:p>
            <a:pPr algn="ctr" indent="0" marL="0">
              <a:buNone/>
            </a:pPr>
            <a:r>
              <a:rPr lang="en-US" sz="1200" b="1" spc="120" kern="0" dirty="0">
                <a:solidFill>
                  <a:srgbClr val="FFFFFF"/>
                </a:solidFill>
                <a:latin typeface="Arial" pitchFamily="34" charset="0"/>
                <a:ea typeface="Arial" pitchFamily="34" charset="-122"/>
                <a:cs typeface="Arial" pitchFamily="34" charset="-120"/>
              </a:rPr>
              <a:t>LAYER 04</a:t>
            </a:r>
            <a:endParaRPr lang="en-US" sz="1200" dirty="0"/>
          </a:p>
        </p:txBody>
      </p:sp>
      <p:sp>
        <p:nvSpPr>
          <p:cNvPr id="13" name="Text 11"/>
          <p:cNvSpPr/>
          <p:nvPr/>
        </p:nvSpPr>
        <p:spPr>
          <a:xfrm>
            <a:off x="1508760" y="1892808"/>
            <a:ext cx="1737360" cy="256032"/>
          </a:xfrm>
          <a:prstGeom prst="rect">
            <a:avLst/>
          </a:prstGeom>
          <a:noFill/>
          <a:ln/>
        </p:spPr>
        <p:txBody>
          <a:bodyPr wrap="square" rtlCol="0" anchor="ctr"/>
          <a:lstStyle/>
          <a:p>
            <a:pPr algn="ctr" indent="0" marL="0">
              <a:buNone/>
            </a:pPr>
            <a:r>
              <a:rPr lang="en-US" sz="800" dirty="0">
                <a:solidFill>
                  <a:srgbClr val="FFFFFF"/>
                </a:solidFill>
                <a:latin typeface="Arial" pitchFamily="34" charset="0"/>
                <a:ea typeface="Arial" pitchFamily="34" charset="-122"/>
                <a:cs typeface="Arial" pitchFamily="34" charset="-120"/>
              </a:rPr>
              <a:t>SELF-REFLECTION</a:t>
            </a:r>
            <a:endParaRPr lang="en-US" sz="800" dirty="0"/>
          </a:p>
        </p:txBody>
      </p:sp>
      <p:sp>
        <p:nvSpPr>
          <p:cNvPr id="14" name="Text 12"/>
          <p:cNvSpPr/>
          <p:nvPr/>
        </p:nvSpPr>
        <p:spPr>
          <a:xfrm>
            <a:off x="3520440" y="1508760"/>
            <a:ext cx="6949440" cy="320040"/>
          </a:xfrm>
          <a:prstGeom prst="rect">
            <a:avLst/>
          </a:prstGeom>
          <a:noFill/>
          <a:ln/>
        </p:spPr>
        <p:txBody>
          <a:bodyPr wrap="square" rtlCol="0" anchor="ctr"/>
          <a:lstStyle/>
          <a:p>
            <a:pPr indent="0" marL="0">
              <a:buNone/>
            </a:pPr>
            <a:r>
              <a:rPr lang="en-US" sz="1300" b="1" dirty="0">
                <a:solidFill>
                  <a:srgbClr val="1C1917"/>
                </a:solidFill>
                <a:latin typeface="Arial" pitchFamily="34" charset="0"/>
                <a:ea typeface="Arial" pitchFamily="34" charset="-122"/>
                <a:cs typeface="Arial" pitchFamily="34" charset="-120"/>
              </a:rPr>
              <a:t>元认知与反思层 (Metacognition &amp; Planning)</a:t>
            </a:r>
            <a:endParaRPr lang="en-US" sz="1300" dirty="0"/>
          </a:p>
        </p:txBody>
      </p:sp>
      <p:sp>
        <p:nvSpPr>
          <p:cNvPr id="15" name="Shape 13"/>
          <p:cNvSpPr/>
          <p:nvPr/>
        </p:nvSpPr>
        <p:spPr>
          <a:xfrm>
            <a:off x="3520440" y="1856232"/>
            <a:ext cx="6949440" cy="0"/>
          </a:xfrm>
          <a:prstGeom prst="line">
            <a:avLst/>
          </a:prstGeom>
          <a:noFill/>
          <a:ln w="9525">
            <a:solidFill>
              <a:srgbClr val="E2DCD2"/>
            </a:solidFill>
            <a:prstDash val="solid"/>
          </a:ln>
        </p:spPr>
      </p:sp>
      <p:sp>
        <p:nvSpPr>
          <p:cNvPr id="16" name="Text 14"/>
          <p:cNvSpPr/>
          <p:nvPr/>
        </p:nvSpPr>
        <p:spPr>
          <a:xfrm>
            <a:off x="3520440" y="1947672"/>
            <a:ext cx="6949440" cy="438912"/>
          </a:xfrm>
          <a:prstGeom prst="rect">
            <a:avLst/>
          </a:prstGeom>
          <a:noFill/>
          <a:ln/>
        </p:spPr>
        <p:txBody>
          <a:bodyPr wrap="square" rtlCol="0" anchor="ctr"/>
          <a:lstStyle/>
          <a:p>
            <a:pPr indent="0" marL="0">
              <a:lnSpc>
                <a:spcPts val="1400"/>
              </a:lnSpc>
              <a:buNone/>
            </a:pPr>
            <a:r>
              <a:rPr lang="en-US" sz="950" dirty="0">
                <a:solidFill>
                  <a:srgbClr val="57534E"/>
                </a:solidFill>
                <a:latin typeface="Arial" pitchFamily="34" charset="0"/>
                <a:ea typeface="Arial" pitchFamily="34" charset="-122"/>
                <a:cs typeface="Arial" pitchFamily="34" charset="-120"/>
              </a:rPr>
              <a:t>生成假设、监控执行状态、反向推演因果关系。当遭遇未知崩溃时，主动推翻前序结论并规划重试。</a:t>
            </a:r>
            <a:endParaRPr lang="en-US" sz="950" dirty="0"/>
          </a:p>
        </p:txBody>
      </p:sp>
      <p:sp>
        <p:nvSpPr>
          <p:cNvPr id="17" name="Shape 15"/>
          <p:cNvSpPr/>
          <p:nvPr/>
        </p:nvSpPr>
        <p:spPr>
          <a:xfrm>
            <a:off x="1463040" y="2551176"/>
            <a:ext cx="9262872" cy="1115568"/>
          </a:xfrm>
          <a:prstGeom prst="rect">
            <a:avLst/>
          </a:prstGeom>
          <a:solidFill>
            <a:srgbClr val="FFFFFF"/>
          </a:solidFill>
          <a:ln w="12700">
            <a:solidFill>
              <a:srgbClr val="E2DCD2"/>
            </a:solidFill>
            <a:prstDash val="solid"/>
          </a:ln>
        </p:spPr>
      </p:sp>
      <p:sp>
        <p:nvSpPr>
          <p:cNvPr id="18" name="Shape 16"/>
          <p:cNvSpPr/>
          <p:nvPr/>
        </p:nvSpPr>
        <p:spPr>
          <a:xfrm>
            <a:off x="1463040" y="2551176"/>
            <a:ext cx="1828800" cy="1115568"/>
          </a:xfrm>
          <a:prstGeom prst="rect">
            <a:avLst/>
          </a:prstGeom>
          <a:solidFill>
            <a:srgbClr val="D97706"/>
          </a:solidFill>
          <a:ln/>
        </p:spPr>
      </p:sp>
      <p:sp>
        <p:nvSpPr>
          <p:cNvPr id="19" name="Text 17"/>
          <p:cNvSpPr/>
          <p:nvPr/>
        </p:nvSpPr>
        <p:spPr>
          <a:xfrm>
            <a:off x="1508760" y="2779776"/>
            <a:ext cx="1737360" cy="292608"/>
          </a:xfrm>
          <a:prstGeom prst="rect">
            <a:avLst/>
          </a:prstGeom>
          <a:noFill/>
          <a:ln/>
        </p:spPr>
        <p:txBody>
          <a:bodyPr wrap="square" rtlCol="0" anchor="ctr"/>
          <a:lstStyle/>
          <a:p>
            <a:pPr algn="ctr" indent="0" marL="0">
              <a:buNone/>
            </a:pPr>
            <a:r>
              <a:rPr lang="en-US" sz="1200" b="1" spc="120" kern="0" dirty="0">
                <a:solidFill>
                  <a:srgbClr val="FFFFFF"/>
                </a:solidFill>
                <a:latin typeface="Arial" pitchFamily="34" charset="0"/>
                <a:ea typeface="Arial" pitchFamily="34" charset="-122"/>
                <a:cs typeface="Arial" pitchFamily="34" charset="-120"/>
              </a:rPr>
              <a:t>LAYER 03</a:t>
            </a:r>
            <a:endParaRPr lang="en-US" sz="1200" dirty="0"/>
          </a:p>
        </p:txBody>
      </p:sp>
      <p:sp>
        <p:nvSpPr>
          <p:cNvPr id="20" name="Text 18"/>
          <p:cNvSpPr/>
          <p:nvPr/>
        </p:nvSpPr>
        <p:spPr>
          <a:xfrm>
            <a:off x="1508760" y="3118104"/>
            <a:ext cx="1737360" cy="256032"/>
          </a:xfrm>
          <a:prstGeom prst="rect">
            <a:avLst/>
          </a:prstGeom>
          <a:noFill/>
          <a:ln/>
        </p:spPr>
        <p:txBody>
          <a:bodyPr wrap="square" rtlCol="0" anchor="ctr"/>
          <a:lstStyle/>
          <a:p>
            <a:pPr algn="ctr" indent="0" marL="0">
              <a:buNone/>
            </a:pPr>
            <a:r>
              <a:rPr lang="en-US" sz="800" dirty="0">
                <a:solidFill>
                  <a:srgbClr val="FFFFFF"/>
                </a:solidFill>
                <a:latin typeface="Arial" pitchFamily="34" charset="0"/>
                <a:ea typeface="Arial" pitchFamily="34" charset="-122"/>
                <a:cs typeface="Arial" pitchFamily="34" charset="-120"/>
              </a:rPr>
              <a:t>AST &amp; COMPACT STATE</a:t>
            </a:r>
            <a:endParaRPr lang="en-US" sz="800" dirty="0"/>
          </a:p>
        </p:txBody>
      </p:sp>
      <p:sp>
        <p:nvSpPr>
          <p:cNvPr id="21" name="Text 19"/>
          <p:cNvSpPr/>
          <p:nvPr/>
        </p:nvSpPr>
        <p:spPr>
          <a:xfrm>
            <a:off x="3520440" y="2734056"/>
            <a:ext cx="6949440" cy="320040"/>
          </a:xfrm>
          <a:prstGeom prst="rect">
            <a:avLst/>
          </a:prstGeom>
          <a:noFill/>
          <a:ln/>
        </p:spPr>
        <p:txBody>
          <a:bodyPr wrap="square" rtlCol="0" anchor="ctr"/>
          <a:lstStyle/>
          <a:p>
            <a:pPr indent="0" marL="0">
              <a:buNone/>
            </a:pPr>
            <a:r>
              <a:rPr lang="en-US" sz="1300" b="1" dirty="0">
                <a:solidFill>
                  <a:srgbClr val="1C1917"/>
                </a:solidFill>
                <a:latin typeface="Arial" pitchFamily="34" charset="0"/>
                <a:ea typeface="Arial" pitchFamily="34" charset="-122"/>
                <a:cs typeface="Arial" pitchFamily="34" charset="-120"/>
              </a:rPr>
              <a:t>上下文压缩与工作记忆 (AST Working Memory)</a:t>
            </a:r>
            <a:endParaRPr lang="en-US" sz="1300" dirty="0"/>
          </a:p>
        </p:txBody>
      </p:sp>
      <p:sp>
        <p:nvSpPr>
          <p:cNvPr id="22" name="Shape 20"/>
          <p:cNvSpPr/>
          <p:nvPr/>
        </p:nvSpPr>
        <p:spPr>
          <a:xfrm>
            <a:off x="3520440" y="3081528"/>
            <a:ext cx="6949440" cy="0"/>
          </a:xfrm>
          <a:prstGeom prst="line">
            <a:avLst/>
          </a:prstGeom>
          <a:noFill/>
          <a:ln w="9525">
            <a:solidFill>
              <a:srgbClr val="E2DCD2"/>
            </a:solidFill>
            <a:prstDash val="solid"/>
          </a:ln>
        </p:spPr>
      </p:sp>
      <p:sp>
        <p:nvSpPr>
          <p:cNvPr id="23" name="Text 21"/>
          <p:cNvSpPr/>
          <p:nvPr/>
        </p:nvSpPr>
        <p:spPr>
          <a:xfrm>
            <a:off x="3520440" y="3172968"/>
            <a:ext cx="6949440" cy="438912"/>
          </a:xfrm>
          <a:prstGeom prst="rect">
            <a:avLst/>
          </a:prstGeom>
          <a:noFill/>
          <a:ln/>
        </p:spPr>
        <p:txBody>
          <a:bodyPr wrap="square" rtlCol="0" anchor="ctr"/>
          <a:lstStyle/>
          <a:p>
            <a:pPr indent="0" marL="0">
              <a:lnSpc>
                <a:spcPts val="1400"/>
              </a:lnSpc>
              <a:buNone/>
            </a:pPr>
            <a:r>
              <a:rPr lang="en-US" sz="950" dirty="0">
                <a:solidFill>
                  <a:srgbClr val="57534E"/>
                </a:solidFill>
                <a:latin typeface="Arial" pitchFamily="34" charset="0"/>
                <a:ea typeface="Arial" pitchFamily="34" charset="-122"/>
                <a:cs typeface="Arial" pitchFamily="34" charset="-120"/>
              </a:rPr>
              <a:t>利用抽象语法树与符号表，将海量非结构化文本动态提炼为高密度的状态图谱，彻底抵御注意力遗忘。</a:t>
            </a:r>
            <a:endParaRPr lang="en-US" sz="950" dirty="0"/>
          </a:p>
        </p:txBody>
      </p:sp>
      <p:sp>
        <p:nvSpPr>
          <p:cNvPr id="24" name="Shape 22"/>
          <p:cNvSpPr/>
          <p:nvPr/>
        </p:nvSpPr>
        <p:spPr>
          <a:xfrm>
            <a:off x="1463040" y="3776472"/>
            <a:ext cx="9262872" cy="1115568"/>
          </a:xfrm>
          <a:prstGeom prst="rect">
            <a:avLst/>
          </a:prstGeom>
          <a:solidFill>
            <a:srgbClr val="FFFFFF"/>
          </a:solidFill>
          <a:ln w="12700">
            <a:solidFill>
              <a:srgbClr val="E2DCD2"/>
            </a:solidFill>
            <a:prstDash val="solid"/>
          </a:ln>
        </p:spPr>
      </p:sp>
      <p:sp>
        <p:nvSpPr>
          <p:cNvPr id="25" name="Shape 23"/>
          <p:cNvSpPr/>
          <p:nvPr/>
        </p:nvSpPr>
        <p:spPr>
          <a:xfrm>
            <a:off x="1463040" y="3776472"/>
            <a:ext cx="1828800" cy="1115568"/>
          </a:xfrm>
          <a:prstGeom prst="rect">
            <a:avLst/>
          </a:prstGeom>
          <a:solidFill>
            <a:srgbClr val="16A34A"/>
          </a:solidFill>
          <a:ln/>
        </p:spPr>
      </p:sp>
      <p:sp>
        <p:nvSpPr>
          <p:cNvPr id="26" name="Text 24"/>
          <p:cNvSpPr/>
          <p:nvPr/>
        </p:nvSpPr>
        <p:spPr>
          <a:xfrm>
            <a:off x="1508760" y="4005072"/>
            <a:ext cx="1737360" cy="292608"/>
          </a:xfrm>
          <a:prstGeom prst="rect">
            <a:avLst/>
          </a:prstGeom>
          <a:noFill/>
          <a:ln/>
        </p:spPr>
        <p:txBody>
          <a:bodyPr wrap="square" rtlCol="0" anchor="ctr"/>
          <a:lstStyle/>
          <a:p>
            <a:pPr algn="ctr" indent="0" marL="0">
              <a:buNone/>
            </a:pPr>
            <a:r>
              <a:rPr lang="en-US" sz="1200" b="1" spc="120" kern="0" dirty="0">
                <a:solidFill>
                  <a:srgbClr val="FFFFFF"/>
                </a:solidFill>
                <a:latin typeface="Arial" pitchFamily="34" charset="0"/>
                <a:ea typeface="Arial" pitchFamily="34" charset="-122"/>
                <a:cs typeface="Arial" pitchFamily="34" charset="-120"/>
              </a:rPr>
              <a:t>LAYER 02</a:t>
            </a:r>
            <a:endParaRPr lang="en-US" sz="1200" dirty="0"/>
          </a:p>
        </p:txBody>
      </p:sp>
      <p:sp>
        <p:nvSpPr>
          <p:cNvPr id="27" name="Text 25"/>
          <p:cNvSpPr/>
          <p:nvPr/>
        </p:nvSpPr>
        <p:spPr>
          <a:xfrm>
            <a:off x="1508760" y="4343400"/>
            <a:ext cx="1737360" cy="256032"/>
          </a:xfrm>
          <a:prstGeom prst="rect">
            <a:avLst/>
          </a:prstGeom>
          <a:noFill/>
          <a:ln/>
        </p:spPr>
        <p:txBody>
          <a:bodyPr wrap="square" rtlCol="0" anchor="ctr"/>
          <a:lstStyle/>
          <a:p>
            <a:pPr algn="ctr" indent="0" marL="0">
              <a:buNone/>
            </a:pPr>
            <a:r>
              <a:rPr lang="en-US" sz="800" dirty="0">
                <a:solidFill>
                  <a:srgbClr val="FFFFFF"/>
                </a:solidFill>
                <a:latin typeface="Arial" pitchFamily="34" charset="0"/>
                <a:ea typeface="Arial" pitchFamily="34" charset="-122"/>
                <a:cs typeface="Arial" pitchFamily="34" charset="-120"/>
              </a:rPr>
              <a:t>BASH &amp; IO CONTROLLER</a:t>
            </a:r>
            <a:endParaRPr lang="en-US" sz="800" dirty="0"/>
          </a:p>
        </p:txBody>
      </p:sp>
      <p:sp>
        <p:nvSpPr>
          <p:cNvPr id="28" name="Text 26"/>
          <p:cNvSpPr/>
          <p:nvPr/>
        </p:nvSpPr>
        <p:spPr>
          <a:xfrm>
            <a:off x="3520440" y="3959352"/>
            <a:ext cx="6949440" cy="320040"/>
          </a:xfrm>
          <a:prstGeom prst="rect">
            <a:avLst/>
          </a:prstGeom>
          <a:noFill/>
          <a:ln/>
        </p:spPr>
        <p:txBody>
          <a:bodyPr wrap="square" rtlCol="0" anchor="ctr"/>
          <a:lstStyle/>
          <a:p>
            <a:pPr indent="0" marL="0">
              <a:buNone/>
            </a:pPr>
            <a:r>
              <a:rPr lang="en-US" sz="1300" b="1" dirty="0">
                <a:solidFill>
                  <a:srgbClr val="1C1917"/>
                </a:solidFill>
                <a:latin typeface="Arial" pitchFamily="34" charset="0"/>
                <a:ea typeface="Arial" pitchFamily="34" charset="-122"/>
                <a:cs typeface="Arial" pitchFamily="34" charset="-120"/>
              </a:rPr>
              <a:t>物理动作与执行调度总线 (Action Dispatch)</a:t>
            </a:r>
            <a:endParaRPr lang="en-US" sz="1300" dirty="0"/>
          </a:p>
        </p:txBody>
      </p:sp>
      <p:sp>
        <p:nvSpPr>
          <p:cNvPr id="29" name="Shape 27"/>
          <p:cNvSpPr/>
          <p:nvPr/>
        </p:nvSpPr>
        <p:spPr>
          <a:xfrm>
            <a:off x="3520440" y="4306824"/>
            <a:ext cx="6949440" cy="0"/>
          </a:xfrm>
          <a:prstGeom prst="line">
            <a:avLst/>
          </a:prstGeom>
          <a:noFill/>
          <a:ln w="9525">
            <a:solidFill>
              <a:srgbClr val="E2DCD2"/>
            </a:solidFill>
            <a:prstDash val="solid"/>
          </a:ln>
        </p:spPr>
      </p:sp>
      <p:sp>
        <p:nvSpPr>
          <p:cNvPr id="30" name="Text 28"/>
          <p:cNvSpPr/>
          <p:nvPr/>
        </p:nvSpPr>
        <p:spPr>
          <a:xfrm>
            <a:off x="3520440" y="4398264"/>
            <a:ext cx="6949440" cy="438912"/>
          </a:xfrm>
          <a:prstGeom prst="rect">
            <a:avLst/>
          </a:prstGeom>
          <a:noFill/>
          <a:ln/>
        </p:spPr>
        <p:txBody>
          <a:bodyPr wrap="square" rtlCol="0" anchor="ctr"/>
          <a:lstStyle/>
          <a:p>
            <a:pPr indent="0" marL="0">
              <a:lnSpc>
                <a:spcPts val="1400"/>
              </a:lnSpc>
              <a:buNone/>
            </a:pPr>
            <a:r>
              <a:rPr lang="en-US" sz="950" dirty="0">
                <a:solidFill>
                  <a:srgbClr val="57534E"/>
                </a:solidFill>
                <a:latin typeface="Arial" pitchFamily="34" charset="0"/>
                <a:ea typeface="Arial" pitchFamily="34" charset="-122"/>
                <a:cs typeface="Arial" pitchFamily="34" charset="-120"/>
              </a:rPr>
              <a:t>下发管道命令、启动网络请求、管理文件系统与进程生命周期，将内部思考直接转化为外部物理世界的影响。</a:t>
            </a:r>
            <a:endParaRPr lang="en-US" sz="950" dirty="0"/>
          </a:p>
        </p:txBody>
      </p:sp>
      <p:sp>
        <p:nvSpPr>
          <p:cNvPr id="31" name="Shape 29"/>
          <p:cNvSpPr/>
          <p:nvPr/>
        </p:nvSpPr>
        <p:spPr>
          <a:xfrm>
            <a:off x="1463040" y="5001768"/>
            <a:ext cx="9262872" cy="1115568"/>
          </a:xfrm>
          <a:prstGeom prst="rect">
            <a:avLst/>
          </a:prstGeom>
          <a:solidFill>
            <a:srgbClr val="FFFFFF"/>
          </a:solidFill>
          <a:ln w="12700">
            <a:solidFill>
              <a:srgbClr val="E2DCD2"/>
            </a:solidFill>
            <a:prstDash val="solid"/>
          </a:ln>
        </p:spPr>
      </p:sp>
      <p:sp>
        <p:nvSpPr>
          <p:cNvPr id="32" name="Shape 30"/>
          <p:cNvSpPr/>
          <p:nvPr/>
        </p:nvSpPr>
        <p:spPr>
          <a:xfrm>
            <a:off x="1463040" y="5001768"/>
            <a:ext cx="1828800" cy="1115568"/>
          </a:xfrm>
          <a:prstGeom prst="rect">
            <a:avLst/>
          </a:prstGeom>
          <a:solidFill>
            <a:srgbClr val="475569"/>
          </a:solidFill>
          <a:ln/>
        </p:spPr>
      </p:sp>
      <p:sp>
        <p:nvSpPr>
          <p:cNvPr id="33" name="Text 31"/>
          <p:cNvSpPr/>
          <p:nvPr/>
        </p:nvSpPr>
        <p:spPr>
          <a:xfrm>
            <a:off x="1508760" y="5230368"/>
            <a:ext cx="1737360" cy="292608"/>
          </a:xfrm>
          <a:prstGeom prst="rect">
            <a:avLst/>
          </a:prstGeom>
          <a:noFill/>
          <a:ln/>
        </p:spPr>
        <p:txBody>
          <a:bodyPr wrap="square" rtlCol="0" anchor="ctr"/>
          <a:lstStyle/>
          <a:p>
            <a:pPr algn="ctr" indent="0" marL="0">
              <a:buNone/>
            </a:pPr>
            <a:r>
              <a:rPr lang="en-US" sz="1200" b="1" spc="120" kern="0" dirty="0">
                <a:solidFill>
                  <a:srgbClr val="FFFFFF"/>
                </a:solidFill>
                <a:latin typeface="Arial" pitchFamily="34" charset="0"/>
                <a:ea typeface="Arial" pitchFamily="34" charset="-122"/>
                <a:cs typeface="Arial" pitchFamily="34" charset="-120"/>
              </a:rPr>
              <a:t>LAYER 01</a:t>
            </a:r>
            <a:endParaRPr lang="en-US" sz="1200" dirty="0"/>
          </a:p>
        </p:txBody>
      </p:sp>
      <p:sp>
        <p:nvSpPr>
          <p:cNvPr id="34" name="Text 32"/>
          <p:cNvSpPr/>
          <p:nvPr/>
        </p:nvSpPr>
        <p:spPr>
          <a:xfrm>
            <a:off x="1508760" y="5568696"/>
            <a:ext cx="1737360" cy="256032"/>
          </a:xfrm>
          <a:prstGeom prst="rect">
            <a:avLst/>
          </a:prstGeom>
          <a:noFill/>
          <a:ln/>
        </p:spPr>
        <p:txBody>
          <a:bodyPr wrap="square" rtlCol="0" anchor="ctr"/>
          <a:lstStyle/>
          <a:p>
            <a:pPr algn="ctr" indent="0" marL="0">
              <a:buNone/>
            </a:pPr>
            <a:r>
              <a:rPr lang="en-US" sz="800" dirty="0">
                <a:solidFill>
                  <a:srgbClr val="FFFFFF"/>
                </a:solidFill>
                <a:latin typeface="Arial" pitchFamily="34" charset="0"/>
                <a:ea typeface="Arial" pitchFamily="34" charset="-122"/>
                <a:cs typeface="Arial" pitchFamily="34" charset="-120"/>
              </a:rPr>
              <a:t>EXIT CODE &amp; ASSERTION</a:t>
            </a:r>
            <a:endParaRPr lang="en-US" sz="800" dirty="0"/>
          </a:p>
        </p:txBody>
      </p:sp>
      <p:sp>
        <p:nvSpPr>
          <p:cNvPr id="35" name="Text 33"/>
          <p:cNvSpPr/>
          <p:nvPr/>
        </p:nvSpPr>
        <p:spPr>
          <a:xfrm>
            <a:off x="3520440" y="5184648"/>
            <a:ext cx="6949440" cy="320040"/>
          </a:xfrm>
          <a:prstGeom prst="rect">
            <a:avLst/>
          </a:prstGeom>
          <a:noFill/>
          <a:ln/>
        </p:spPr>
        <p:txBody>
          <a:bodyPr wrap="square" rtlCol="0" anchor="ctr"/>
          <a:lstStyle/>
          <a:p>
            <a:pPr indent="0" marL="0">
              <a:buNone/>
            </a:pPr>
            <a:r>
              <a:rPr lang="en-US" sz="1300" b="1" dirty="0">
                <a:solidFill>
                  <a:srgbClr val="1C1917"/>
                </a:solidFill>
                <a:latin typeface="Arial" pitchFamily="34" charset="0"/>
                <a:ea typeface="Arial" pitchFamily="34" charset="-122"/>
                <a:cs typeface="Arial" pitchFamily="34" charset="-120"/>
              </a:rPr>
              <a:t>确定性物理真理地基 (Ground Truth Foundation)</a:t>
            </a:r>
            <a:endParaRPr lang="en-US" sz="1300" dirty="0"/>
          </a:p>
        </p:txBody>
      </p:sp>
      <p:sp>
        <p:nvSpPr>
          <p:cNvPr id="36" name="Shape 34"/>
          <p:cNvSpPr/>
          <p:nvPr/>
        </p:nvSpPr>
        <p:spPr>
          <a:xfrm>
            <a:off x="3520440" y="5532120"/>
            <a:ext cx="6949440" cy="0"/>
          </a:xfrm>
          <a:prstGeom prst="line">
            <a:avLst/>
          </a:prstGeom>
          <a:noFill/>
          <a:ln w="9525">
            <a:solidFill>
              <a:srgbClr val="E2DCD2"/>
            </a:solidFill>
            <a:prstDash val="solid"/>
          </a:ln>
        </p:spPr>
      </p:sp>
      <p:sp>
        <p:nvSpPr>
          <p:cNvPr id="37" name="Text 35"/>
          <p:cNvSpPr/>
          <p:nvPr/>
        </p:nvSpPr>
        <p:spPr>
          <a:xfrm>
            <a:off x="3520440" y="5623560"/>
            <a:ext cx="6949440" cy="438912"/>
          </a:xfrm>
          <a:prstGeom prst="rect">
            <a:avLst/>
          </a:prstGeom>
          <a:noFill/>
          <a:ln/>
        </p:spPr>
        <p:txBody>
          <a:bodyPr wrap="square" rtlCol="0" anchor="ctr"/>
          <a:lstStyle/>
          <a:p>
            <a:pPr indent="0" marL="0">
              <a:lnSpc>
                <a:spcPts val="1400"/>
              </a:lnSpc>
              <a:buNone/>
            </a:pPr>
            <a:r>
              <a:rPr lang="en-US" sz="950" dirty="0">
                <a:solidFill>
                  <a:srgbClr val="57534E"/>
                </a:solidFill>
                <a:latin typeface="Arial" pitchFamily="34" charset="0"/>
                <a:ea typeface="Arial" pitchFamily="34" charset="-122"/>
                <a:cs typeface="Arial" pitchFamily="34" charset="-120"/>
              </a:rPr>
              <a:t>以编译器断言、单元测试通过率、STDERR 与 Exit Code 0 为不可辩驳的物理硬边界，终结主观幻觉。</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BF9F5"/>
        </a:solidFill>
      </p:bgPr>
    </p:bg>
    <p:spTree>
      <p:nvGrpSpPr>
        <p:cNvPr id="1" name=""/>
        <p:cNvGrpSpPr/>
        <p:nvPr/>
      </p:nvGrpSpPr>
      <p:grpSpPr>
        <a:xfrm>
          <a:off x="0" y="0"/>
          <a:ext cx="0" cy="0"/>
          <a:chOff x="0" y="0"/>
          <a:chExt cx="0" cy="0"/>
        </a:xfrm>
      </p:grpSpPr>
      <p:sp>
        <p:nvSpPr>
          <p:cNvPr id="2" name="Shape 0"/>
          <p:cNvSpPr/>
          <p:nvPr/>
        </p:nvSpPr>
        <p:spPr>
          <a:xfrm>
            <a:off x="731520" y="384048"/>
            <a:ext cx="2560320" cy="256032"/>
          </a:xfrm>
          <a:prstGeom prst="rect">
            <a:avLst/>
          </a:prstGeom>
          <a:solidFill>
            <a:srgbClr val="FBF0EB"/>
          </a:solidFill>
          <a:ln w="12700">
            <a:solidFill>
              <a:srgbClr val="F0C2B2"/>
            </a:solidFill>
            <a:prstDash val="solid"/>
          </a:ln>
        </p:spPr>
      </p:sp>
      <p:sp>
        <p:nvSpPr>
          <p:cNvPr id="3" name="Text 1"/>
          <p:cNvSpPr/>
          <p:nvPr/>
        </p:nvSpPr>
        <p:spPr>
          <a:xfrm>
            <a:off x="731520" y="384048"/>
            <a:ext cx="2560320" cy="256032"/>
          </a:xfrm>
          <a:prstGeom prst="rect">
            <a:avLst/>
          </a:prstGeom>
          <a:noFill/>
          <a:ln/>
        </p:spPr>
        <p:txBody>
          <a:bodyPr wrap="square" rtlCol="0" anchor="ctr"/>
          <a:lstStyle/>
          <a:p>
            <a:pPr algn="ctr" indent="0" marL="0">
              <a:buNone/>
            </a:pPr>
            <a:r>
              <a:rPr lang="en-US" sz="900" b="1" spc="120" kern="0" dirty="0">
                <a:solidFill>
                  <a:srgbClr val="D97757"/>
                </a:solidFill>
                <a:latin typeface="Arial" pitchFamily="34" charset="0"/>
                <a:ea typeface="Arial" pitchFamily="34" charset="-122"/>
                <a:cs typeface="Arial" pitchFamily="34" charset="-120"/>
              </a:rPr>
              <a:t>CROSS-DOMAIN TRANSFER</a:t>
            </a:r>
            <a:endParaRPr lang="en-US" sz="900" dirty="0"/>
          </a:p>
        </p:txBody>
      </p:sp>
      <p:sp>
        <p:nvSpPr>
          <p:cNvPr id="4" name="Text 2"/>
          <p:cNvSpPr/>
          <p:nvPr/>
        </p:nvSpPr>
        <p:spPr>
          <a:xfrm>
            <a:off x="731520" y="676656"/>
            <a:ext cx="9875520" cy="475488"/>
          </a:xfrm>
          <a:prstGeom prst="rect">
            <a:avLst/>
          </a:prstGeom>
          <a:noFill/>
          <a:ln/>
        </p:spPr>
        <p:txBody>
          <a:bodyPr wrap="square" lIns="0" tIns="0" rIns="0" bIns="0" rtlCol="0" anchor="ctr"/>
          <a:lstStyle/>
          <a:p>
            <a:pPr indent="0" marL="0">
              <a:buNone/>
            </a:pPr>
            <a:r>
              <a:rPr lang="en-US" sz="2100" b="1" dirty="0">
                <a:solidFill>
                  <a:srgbClr val="1C1917"/>
                </a:solidFill>
                <a:latin typeface="Arial" pitchFamily="34" charset="0"/>
                <a:ea typeface="Arial" pitchFamily="34" charset="-122"/>
                <a:cs typeface="Arial" pitchFamily="34" charset="-120"/>
              </a:rPr>
              <a:t>跨领域的通用性铁证：Instinct 哲学逻辑与 Meta Muse 创作</a:t>
            </a:r>
            <a:endParaRPr lang="en-US" sz="2100" dirty="0"/>
          </a:p>
        </p:txBody>
      </p:sp>
      <p:sp>
        <p:nvSpPr>
          <p:cNvPr id="5" name="Text 3"/>
          <p:cNvSpPr/>
          <p:nvPr/>
        </p:nvSpPr>
        <p:spPr>
          <a:xfrm>
            <a:off x="10972800" y="384048"/>
            <a:ext cx="731520" cy="320040"/>
          </a:xfrm>
          <a:prstGeom prst="rect">
            <a:avLst/>
          </a:prstGeom>
          <a:noFill/>
          <a:ln/>
        </p:spPr>
        <p:txBody>
          <a:bodyPr wrap="square" rtlCol="0" anchor="ctr"/>
          <a:lstStyle/>
          <a:p>
            <a:pPr algn="r" indent="0" marL="0">
              <a:buNone/>
            </a:pPr>
            <a:r>
              <a:rPr lang="en-US" sz="1300" b="1" dirty="0">
                <a:solidFill>
                  <a:srgbClr val="8C857B"/>
                </a:solidFill>
                <a:latin typeface="Arial" pitchFamily="34" charset="0"/>
                <a:ea typeface="Arial" pitchFamily="34" charset="-122"/>
                <a:cs typeface="Arial" pitchFamily="34" charset="-120"/>
              </a:rPr>
              <a:t>19</a:t>
            </a:r>
            <a:endParaRPr lang="en-US" sz="1300" dirty="0"/>
          </a:p>
        </p:txBody>
      </p:sp>
      <p:sp>
        <p:nvSpPr>
          <p:cNvPr id="6" name="Shape 4"/>
          <p:cNvSpPr/>
          <p:nvPr/>
        </p:nvSpPr>
        <p:spPr>
          <a:xfrm>
            <a:off x="731520" y="1325880"/>
            <a:ext cx="5257800" cy="4892040"/>
          </a:xfrm>
          <a:prstGeom prst="rect">
            <a:avLst/>
          </a:prstGeom>
          <a:solidFill>
            <a:srgbClr val="FFFFFF"/>
          </a:solidFill>
          <a:ln w="12700">
            <a:solidFill>
              <a:srgbClr val="E2DCD2"/>
            </a:solidFill>
            <a:prstDash val="solid"/>
          </a:ln>
        </p:spPr>
      </p:sp>
      <p:sp>
        <p:nvSpPr>
          <p:cNvPr id="7" name="Shape 5"/>
          <p:cNvSpPr/>
          <p:nvPr/>
        </p:nvSpPr>
        <p:spPr>
          <a:xfrm>
            <a:off x="731520" y="1325880"/>
            <a:ext cx="5257800" cy="594360"/>
          </a:xfrm>
          <a:prstGeom prst="rect">
            <a:avLst/>
          </a:prstGeom>
          <a:solidFill>
            <a:srgbClr val="D97757"/>
          </a:solidFill>
          <a:ln/>
        </p:spPr>
      </p:sp>
      <p:sp>
        <p:nvSpPr>
          <p:cNvPr id="8" name="Text 6"/>
          <p:cNvSpPr/>
          <p:nvPr/>
        </p:nvSpPr>
        <p:spPr>
          <a:xfrm>
            <a:off x="1005840" y="1481328"/>
            <a:ext cx="4709160" cy="292608"/>
          </a:xfrm>
          <a:prstGeom prst="rect">
            <a:avLst/>
          </a:prstGeom>
          <a:noFill/>
          <a:ln/>
        </p:spPr>
        <p:txBody>
          <a:bodyPr wrap="square" rtlCol="0" anchor="ctr"/>
          <a:lstStyle/>
          <a:p>
            <a:pPr indent="0" marL="0">
              <a:buNone/>
            </a:pPr>
            <a:r>
              <a:rPr lang="en-US" sz="1150" b="1" dirty="0">
                <a:solidFill>
                  <a:srgbClr val="FFFFFF"/>
                </a:solidFill>
                <a:latin typeface="Arial" pitchFamily="34" charset="0"/>
                <a:ea typeface="Arial" pitchFamily="34" charset="-122"/>
                <a:cs typeface="Arial" pitchFamily="34" charset="-120"/>
              </a:rPr>
              <a:t>Instinct 案例：代码符号逻辑迁移至抽象哲学思辨</a:t>
            </a:r>
            <a:endParaRPr lang="en-US" sz="1150" dirty="0"/>
          </a:p>
        </p:txBody>
      </p:sp>
      <p:sp>
        <p:nvSpPr>
          <p:cNvPr id="9" name="Shape 7"/>
          <p:cNvSpPr/>
          <p:nvPr/>
        </p:nvSpPr>
        <p:spPr>
          <a:xfrm>
            <a:off x="1005840" y="2029968"/>
            <a:ext cx="73152" cy="1207008"/>
          </a:xfrm>
          <a:prstGeom prst="rect">
            <a:avLst/>
          </a:prstGeom>
          <a:solidFill>
            <a:srgbClr val="D97757"/>
          </a:solidFill>
          <a:ln/>
        </p:spPr>
      </p:sp>
      <p:sp>
        <p:nvSpPr>
          <p:cNvPr id="10" name="Shape 8"/>
          <p:cNvSpPr/>
          <p:nvPr/>
        </p:nvSpPr>
        <p:spPr>
          <a:xfrm>
            <a:off x="1078992" y="2029968"/>
            <a:ext cx="4636008" cy="1207008"/>
          </a:xfrm>
          <a:prstGeom prst="rect">
            <a:avLst/>
          </a:prstGeom>
          <a:solidFill>
            <a:srgbClr val="F5F2EB"/>
          </a:solidFill>
          <a:ln w="12700">
            <a:solidFill>
              <a:srgbClr val="E2DCD2"/>
            </a:solidFill>
            <a:prstDash val="solid"/>
          </a:ln>
        </p:spPr>
      </p:sp>
      <p:sp>
        <p:nvSpPr>
          <p:cNvPr id="11" name="Text 9"/>
          <p:cNvSpPr/>
          <p:nvPr/>
        </p:nvSpPr>
        <p:spPr>
          <a:xfrm>
            <a:off x="1207008" y="2121408"/>
            <a:ext cx="4389120" cy="201168"/>
          </a:xfrm>
          <a:prstGeom prst="rect">
            <a:avLst/>
          </a:prstGeom>
          <a:noFill/>
          <a:ln/>
        </p:spPr>
        <p:txBody>
          <a:bodyPr wrap="square" rtlCol="0" anchor="ctr"/>
          <a:lstStyle/>
          <a:p>
            <a:pPr indent="0" marL="0">
              <a:buNone/>
            </a:pPr>
            <a:r>
              <a:rPr lang="en-US" sz="850" b="1" dirty="0">
                <a:solidFill>
                  <a:srgbClr val="D97757"/>
                </a:solidFill>
                <a:latin typeface="Arial" pitchFamily="34" charset="0"/>
                <a:ea typeface="Arial" pitchFamily="34" charset="-122"/>
                <a:cs typeface="Arial" pitchFamily="34" charset="-120"/>
              </a:rPr>
              <a:t>01 · 严密性</a:t>
            </a:r>
            <a:endParaRPr lang="en-US" sz="850" dirty="0"/>
          </a:p>
        </p:txBody>
      </p:sp>
      <p:sp>
        <p:nvSpPr>
          <p:cNvPr id="12" name="Text 10"/>
          <p:cNvSpPr/>
          <p:nvPr/>
        </p:nvSpPr>
        <p:spPr>
          <a:xfrm>
            <a:off x="1207008" y="2340864"/>
            <a:ext cx="4389120" cy="256032"/>
          </a:xfrm>
          <a:prstGeom prst="rect">
            <a:avLst/>
          </a:prstGeom>
          <a:noFill/>
          <a:ln/>
        </p:spPr>
        <p:txBody>
          <a:bodyPr wrap="square" rtlCol="0" anchor="ctr"/>
          <a:lstStyle/>
          <a:p>
            <a:pPr indent="0" marL="0">
              <a:buNone/>
            </a:pPr>
            <a:r>
              <a:rPr lang="en-US" sz="1050" b="1" dirty="0">
                <a:solidFill>
                  <a:srgbClr val="1C1917"/>
                </a:solidFill>
                <a:latin typeface="Arial" pitchFamily="34" charset="0"/>
                <a:ea typeface="Arial" pitchFamily="34" charset="-122"/>
                <a:cs typeface="Arial" pitchFamily="34" charset="-120"/>
              </a:rPr>
              <a:t>符号严密性赋能高阶形式化论证</a:t>
            </a:r>
            <a:endParaRPr lang="en-US" sz="1050" dirty="0"/>
          </a:p>
        </p:txBody>
      </p:sp>
      <p:sp>
        <p:nvSpPr>
          <p:cNvPr id="13" name="Text 11"/>
          <p:cNvSpPr/>
          <p:nvPr/>
        </p:nvSpPr>
        <p:spPr>
          <a:xfrm>
            <a:off x="1207008" y="2596896"/>
            <a:ext cx="4389120" cy="594360"/>
          </a:xfrm>
          <a:prstGeom prst="rect">
            <a:avLst/>
          </a:prstGeom>
          <a:noFill/>
          <a:ln/>
        </p:spPr>
        <p:txBody>
          <a:bodyPr wrap="square" rtlCol="0" anchor="ctr"/>
          <a:lstStyle/>
          <a:p>
            <a:pPr indent="0" marL="0">
              <a:lnSpc>
                <a:spcPts val="1250"/>
              </a:lnSpc>
              <a:buNone/>
            </a:pPr>
            <a:r>
              <a:rPr lang="en-US" sz="880" dirty="0">
                <a:solidFill>
                  <a:srgbClr val="57534E"/>
                </a:solidFill>
                <a:latin typeface="Arial" pitchFamily="34" charset="0"/>
                <a:ea typeface="Arial" pitchFamily="34" charset="-122"/>
                <a:cs typeface="Arial" pitchFamily="34" charset="-120"/>
              </a:rPr>
              <a:t>代码训练培养了模型对前置条件、边界条件与逻辑矛盾的绝对敏感度。面对康德纯粹理性批判或维特根斯坦命题时，Claude 能以符号证明级的严谨性拆解反驳谬误。</a:t>
            </a:r>
            <a:endParaRPr lang="en-US" sz="880" dirty="0"/>
          </a:p>
        </p:txBody>
      </p:sp>
      <p:sp>
        <p:nvSpPr>
          <p:cNvPr id="14" name="Shape 12"/>
          <p:cNvSpPr/>
          <p:nvPr/>
        </p:nvSpPr>
        <p:spPr>
          <a:xfrm>
            <a:off x="1005840" y="3383280"/>
            <a:ext cx="73152" cy="1207008"/>
          </a:xfrm>
          <a:prstGeom prst="rect">
            <a:avLst/>
          </a:prstGeom>
          <a:solidFill>
            <a:srgbClr val="D97757"/>
          </a:solidFill>
          <a:ln/>
        </p:spPr>
      </p:sp>
      <p:sp>
        <p:nvSpPr>
          <p:cNvPr id="15" name="Shape 13"/>
          <p:cNvSpPr/>
          <p:nvPr/>
        </p:nvSpPr>
        <p:spPr>
          <a:xfrm>
            <a:off x="1078992" y="3383280"/>
            <a:ext cx="4636008" cy="1207008"/>
          </a:xfrm>
          <a:prstGeom prst="rect">
            <a:avLst/>
          </a:prstGeom>
          <a:solidFill>
            <a:srgbClr val="F5F2EB"/>
          </a:solidFill>
          <a:ln w="12700">
            <a:solidFill>
              <a:srgbClr val="E2DCD2"/>
            </a:solidFill>
            <a:prstDash val="solid"/>
          </a:ln>
        </p:spPr>
      </p:sp>
      <p:sp>
        <p:nvSpPr>
          <p:cNvPr id="16" name="Text 14"/>
          <p:cNvSpPr/>
          <p:nvPr/>
        </p:nvSpPr>
        <p:spPr>
          <a:xfrm>
            <a:off x="1207008" y="3474720"/>
            <a:ext cx="4389120" cy="201168"/>
          </a:xfrm>
          <a:prstGeom prst="rect">
            <a:avLst/>
          </a:prstGeom>
          <a:noFill/>
          <a:ln/>
        </p:spPr>
        <p:txBody>
          <a:bodyPr wrap="square" rtlCol="0" anchor="ctr"/>
          <a:lstStyle/>
          <a:p>
            <a:pPr indent="0" marL="0">
              <a:buNone/>
            </a:pPr>
            <a:r>
              <a:rPr lang="en-US" sz="850" b="1" dirty="0">
                <a:solidFill>
                  <a:srgbClr val="D97757"/>
                </a:solidFill>
                <a:latin typeface="Arial" pitchFamily="34" charset="0"/>
                <a:ea typeface="Arial" pitchFamily="34" charset="-122"/>
                <a:cs typeface="Arial" pitchFamily="34" charset="-120"/>
              </a:rPr>
              <a:t>02 · 反例搜索</a:t>
            </a:r>
            <a:endParaRPr lang="en-US" sz="850" dirty="0"/>
          </a:p>
        </p:txBody>
      </p:sp>
      <p:sp>
        <p:nvSpPr>
          <p:cNvPr id="17" name="Text 15"/>
          <p:cNvSpPr/>
          <p:nvPr/>
        </p:nvSpPr>
        <p:spPr>
          <a:xfrm>
            <a:off x="1207008" y="3694176"/>
            <a:ext cx="4389120" cy="256032"/>
          </a:xfrm>
          <a:prstGeom prst="rect">
            <a:avLst/>
          </a:prstGeom>
          <a:noFill/>
          <a:ln/>
        </p:spPr>
        <p:txBody>
          <a:bodyPr wrap="square" rtlCol="0" anchor="ctr"/>
          <a:lstStyle/>
          <a:p>
            <a:pPr indent="0" marL="0">
              <a:buNone/>
            </a:pPr>
            <a:r>
              <a:rPr lang="en-US" sz="1050" b="1" dirty="0">
                <a:solidFill>
                  <a:srgbClr val="1C1917"/>
                </a:solidFill>
                <a:latin typeface="Arial" pitchFamily="34" charset="0"/>
                <a:ea typeface="Arial" pitchFamily="34" charset="-122"/>
                <a:cs typeface="Arial" pitchFamily="34" charset="-120"/>
              </a:rPr>
              <a:t>形式化反例搜索与边界探查</a:t>
            </a:r>
            <a:endParaRPr lang="en-US" sz="1050" dirty="0"/>
          </a:p>
        </p:txBody>
      </p:sp>
      <p:sp>
        <p:nvSpPr>
          <p:cNvPr id="18" name="Text 16"/>
          <p:cNvSpPr/>
          <p:nvPr/>
        </p:nvSpPr>
        <p:spPr>
          <a:xfrm>
            <a:off x="1207008" y="3950208"/>
            <a:ext cx="4389120" cy="594360"/>
          </a:xfrm>
          <a:prstGeom prst="rect">
            <a:avLst/>
          </a:prstGeom>
          <a:noFill/>
          <a:ln/>
        </p:spPr>
        <p:txBody>
          <a:bodyPr wrap="square" rtlCol="0" anchor="ctr"/>
          <a:lstStyle/>
          <a:p>
            <a:pPr indent="0" marL="0">
              <a:lnSpc>
                <a:spcPts val="1250"/>
              </a:lnSpc>
              <a:buNone/>
            </a:pPr>
            <a:r>
              <a:rPr lang="en-US" sz="880" dirty="0">
                <a:solidFill>
                  <a:srgbClr val="57534E"/>
                </a:solidFill>
                <a:latin typeface="Arial" pitchFamily="34" charset="0"/>
                <a:ea typeface="Arial" pitchFamily="34" charset="-122"/>
                <a:cs typeface="Arial" pitchFamily="34" charset="-120"/>
              </a:rPr>
              <a:t>类似于代码排错中的边缘用例挖掘（Edge Cases），模型能自主构建精巧的思想实验，在复杂伦理与法学长文本中快速揪出隐蔽的逻辑漏洞。</a:t>
            </a:r>
            <a:endParaRPr lang="en-US" sz="880" dirty="0"/>
          </a:p>
        </p:txBody>
      </p:sp>
      <p:sp>
        <p:nvSpPr>
          <p:cNvPr id="19" name="Shape 17"/>
          <p:cNvSpPr/>
          <p:nvPr/>
        </p:nvSpPr>
        <p:spPr>
          <a:xfrm>
            <a:off x="1005840" y="4736592"/>
            <a:ext cx="73152" cy="1207008"/>
          </a:xfrm>
          <a:prstGeom prst="rect">
            <a:avLst/>
          </a:prstGeom>
          <a:solidFill>
            <a:srgbClr val="D97757"/>
          </a:solidFill>
          <a:ln/>
        </p:spPr>
      </p:sp>
      <p:sp>
        <p:nvSpPr>
          <p:cNvPr id="20" name="Shape 18"/>
          <p:cNvSpPr/>
          <p:nvPr/>
        </p:nvSpPr>
        <p:spPr>
          <a:xfrm>
            <a:off x="1078992" y="4736592"/>
            <a:ext cx="4636008" cy="1207008"/>
          </a:xfrm>
          <a:prstGeom prst="rect">
            <a:avLst/>
          </a:prstGeom>
          <a:solidFill>
            <a:srgbClr val="F5F2EB"/>
          </a:solidFill>
          <a:ln w="12700">
            <a:solidFill>
              <a:srgbClr val="E2DCD2"/>
            </a:solidFill>
            <a:prstDash val="solid"/>
          </a:ln>
        </p:spPr>
      </p:sp>
      <p:sp>
        <p:nvSpPr>
          <p:cNvPr id="21" name="Text 19"/>
          <p:cNvSpPr/>
          <p:nvPr/>
        </p:nvSpPr>
        <p:spPr>
          <a:xfrm>
            <a:off x="1207008" y="4828032"/>
            <a:ext cx="4389120" cy="201168"/>
          </a:xfrm>
          <a:prstGeom prst="rect">
            <a:avLst/>
          </a:prstGeom>
          <a:noFill/>
          <a:ln/>
        </p:spPr>
        <p:txBody>
          <a:bodyPr wrap="square" rtlCol="0" anchor="ctr"/>
          <a:lstStyle/>
          <a:p>
            <a:pPr indent="0" marL="0">
              <a:buNone/>
            </a:pPr>
            <a:r>
              <a:rPr lang="en-US" sz="850" b="1" dirty="0">
                <a:solidFill>
                  <a:srgbClr val="D97757"/>
                </a:solidFill>
                <a:latin typeface="Arial" pitchFamily="34" charset="0"/>
                <a:ea typeface="Arial" pitchFamily="34" charset="-122"/>
                <a:cs typeface="Arial" pitchFamily="34" charset="-120"/>
              </a:rPr>
              <a:t>03 · 确定性</a:t>
            </a:r>
            <a:endParaRPr lang="en-US" sz="850" dirty="0"/>
          </a:p>
        </p:txBody>
      </p:sp>
      <p:sp>
        <p:nvSpPr>
          <p:cNvPr id="22" name="Text 20"/>
          <p:cNvSpPr/>
          <p:nvPr/>
        </p:nvSpPr>
        <p:spPr>
          <a:xfrm>
            <a:off x="1207008" y="5047488"/>
            <a:ext cx="4389120" cy="256032"/>
          </a:xfrm>
          <a:prstGeom prst="rect">
            <a:avLst/>
          </a:prstGeom>
          <a:noFill/>
          <a:ln/>
        </p:spPr>
        <p:txBody>
          <a:bodyPr wrap="square" rtlCol="0" anchor="ctr"/>
          <a:lstStyle/>
          <a:p>
            <a:pPr indent="0" marL="0">
              <a:buNone/>
            </a:pPr>
            <a:r>
              <a:rPr lang="en-US" sz="1050" b="1" dirty="0">
                <a:solidFill>
                  <a:srgbClr val="1C1917"/>
                </a:solidFill>
                <a:latin typeface="Arial" pitchFamily="34" charset="0"/>
                <a:ea typeface="Arial" pitchFamily="34" charset="-122"/>
                <a:cs typeface="Arial" pitchFamily="34" charset="-120"/>
              </a:rPr>
              <a:t>跨越“常识语义”的概率模糊</a:t>
            </a:r>
            <a:endParaRPr lang="en-US" sz="1050" dirty="0"/>
          </a:p>
        </p:txBody>
      </p:sp>
      <p:sp>
        <p:nvSpPr>
          <p:cNvPr id="23" name="Text 21"/>
          <p:cNvSpPr/>
          <p:nvPr/>
        </p:nvSpPr>
        <p:spPr>
          <a:xfrm>
            <a:off x="1207008" y="5303520"/>
            <a:ext cx="4389120" cy="594360"/>
          </a:xfrm>
          <a:prstGeom prst="rect">
            <a:avLst/>
          </a:prstGeom>
          <a:noFill/>
          <a:ln/>
        </p:spPr>
        <p:txBody>
          <a:bodyPr wrap="square" rtlCol="0" anchor="ctr"/>
          <a:lstStyle/>
          <a:p>
            <a:pPr indent="0" marL="0">
              <a:lnSpc>
                <a:spcPts val="1250"/>
              </a:lnSpc>
              <a:buNone/>
            </a:pPr>
            <a:r>
              <a:rPr lang="en-US" sz="880" dirty="0">
                <a:solidFill>
                  <a:srgbClr val="57534E"/>
                </a:solidFill>
                <a:latin typeface="Arial" pitchFamily="34" charset="0"/>
                <a:ea typeface="Arial" pitchFamily="34" charset="-122"/>
                <a:cs typeface="Arial" pitchFamily="34" charset="-120"/>
              </a:rPr>
              <a:t>普通 Chatbot 容易被修辞话术迷惑，而具备深度代码基因的模型视文本为严密的状态机推演，展现出断层级的高维思辨定力。</a:t>
            </a:r>
            <a:endParaRPr lang="en-US" sz="880" dirty="0"/>
          </a:p>
        </p:txBody>
      </p:sp>
      <p:sp>
        <p:nvSpPr>
          <p:cNvPr id="24" name="Shape 22"/>
          <p:cNvSpPr/>
          <p:nvPr/>
        </p:nvSpPr>
        <p:spPr>
          <a:xfrm>
            <a:off x="6199632" y="1325880"/>
            <a:ext cx="5257800" cy="4892040"/>
          </a:xfrm>
          <a:prstGeom prst="rect">
            <a:avLst/>
          </a:prstGeom>
          <a:solidFill>
            <a:srgbClr val="FFFFFF"/>
          </a:solidFill>
          <a:ln w="12700">
            <a:solidFill>
              <a:srgbClr val="E2DCD2"/>
            </a:solidFill>
            <a:prstDash val="solid"/>
          </a:ln>
        </p:spPr>
      </p:sp>
      <p:sp>
        <p:nvSpPr>
          <p:cNvPr id="25" name="Shape 23"/>
          <p:cNvSpPr/>
          <p:nvPr/>
        </p:nvSpPr>
        <p:spPr>
          <a:xfrm>
            <a:off x="6199632" y="1325880"/>
            <a:ext cx="5257800" cy="594360"/>
          </a:xfrm>
          <a:prstGeom prst="rect">
            <a:avLst/>
          </a:prstGeom>
          <a:solidFill>
            <a:srgbClr val="D97706"/>
          </a:solidFill>
          <a:ln/>
        </p:spPr>
      </p:sp>
      <p:sp>
        <p:nvSpPr>
          <p:cNvPr id="26" name="Text 24"/>
          <p:cNvSpPr/>
          <p:nvPr/>
        </p:nvSpPr>
        <p:spPr>
          <a:xfrm>
            <a:off x="6473952" y="1481328"/>
            <a:ext cx="4709160" cy="292608"/>
          </a:xfrm>
          <a:prstGeom prst="rect">
            <a:avLst/>
          </a:prstGeom>
          <a:noFill/>
          <a:ln/>
        </p:spPr>
        <p:txBody>
          <a:bodyPr wrap="square" rtlCol="0" anchor="ctr"/>
          <a:lstStyle/>
          <a:p>
            <a:pPr indent="0" marL="0">
              <a:buNone/>
            </a:pPr>
            <a:r>
              <a:rPr lang="en-US" sz="1150" b="1" dirty="0">
                <a:solidFill>
                  <a:srgbClr val="FFFFFF"/>
                </a:solidFill>
                <a:latin typeface="Arial" pitchFamily="34" charset="0"/>
                <a:ea typeface="Arial" pitchFamily="34" charset="-122"/>
                <a:cs typeface="Arial" pitchFamily="34" charset="-120"/>
              </a:rPr>
              <a:t>Meta Muse 案例：代码解耦架构反哺复杂艺术创作</a:t>
            </a:r>
            <a:endParaRPr lang="en-US" sz="1150" dirty="0"/>
          </a:p>
        </p:txBody>
      </p:sp>
      <p:sp>
        <p:nvSpPr>
          <p:cNvPr id="27" name="Shape 25"/>
          <p:cNvSpPr/>
          <p:nvPr/>
        </p:nvSpPr>
        <p:spPr>
          <a:xfrm>
            <a:off x="6473952" y="2029968"/>
            <a:ext cx="73152" cy="1207008"/>
          </a:xfrm>
          <a:prstGeom prst="rect">
            <a:avLst/>
          </a:prstGeom>
          <a:solidFill>
            <a:srgbClr val="D97706"/>
          </a:solidFill>
          <a:ln/>
        </p:spPr>
      </p:sp>
      <p:sp>
        <p:nvSpPr>
          <p:cNvPr id="28" name="Shape 26"/>
          <p:cNvSpPr/>
          <p:nvPr/>
        </p:nvSpPr>
        <p:spPr>
          <a:xfrm>
            <a:off x="6547104" y="2029968"/>
            <a:ext cx="4636008" cy="1207008"/>
          </a:xfrm>
          <a:prstGeom prst="rect">
            <a:avLst/>
          </a:prstGeom>
          <a:solidFill>
            <a:srgbClr val="F5F2EB"/>
          </a:solidFill>
          <a:ln w="12700">
            <a:solidFill>
              <a:srgbClr val="E2DCD2"/>
            </a:solidFill>
            <a:prstDash val="solid"/>
          </a:ln>
        </p:spPr>
      </p:sp>
      <p:sp>
        <p:nvSpPr>
          <p:cNvPr id="29" name="Text 27"/>
          <p:cNvSpPr/>
          <p:nvPr/>
        </p:nvSpPr>
        <p:spPr>
          <a:xfrm>
            <a:off x="6675120" y="2121408"/>
            <a:ext cx="4389120" cy="201168"/>
          </a:xfrm>
          <a:prstGeom prst="rect">
            <a:avLst/>
          </a:prstGeom>
          <a:noFill/>
          <a:ln/>
        </p:spPr>
        <p:txBody>
          <a:bodyPr wrap="square" rtlCol="0" anchor="ctr"/>
          <a:lstStyle/>
          <a:p>
            <a:pPr indent="0" marL="0">
              <a:buNone/>
            </a:pPr>
            <a:r>
              <a:rPr lang="en-US" sz="850" b="1" dirty="0">
                <a:solidFill>
                  <a:srgbClr val="D97706"/>
                </a:solidFill>
                <a:latin typeface="Arial" pitchFamily="34" charset="0"/>
                <a:ea typeface="Arial" pitchFamily="34" charset="-122"/>
                <a:cs typeface="Arial" pitchFamily="34" charset="-120"/>
              </a:rPr>
              <a:t>01 · 模块化</a:t>
            </a:r>
            <a:endParaRPr lang="en-US" sz="850" dirty="0"/>
          </a:p>
        </p:txBody>
      </p:sp>
      <p:sp>
        <p:nvSpPr>
          <p:cNvPr id="30" name="Text 28"/>
          <p:cNvSpPr/>
          <p:nvPr/>
        </p:nvSpPr>
        <p:spPr>
          <a:xfrm>
            <a:off x="6675120" y="2340864"/>
            <a:ext cx="4389120" cy="256032"/>
          </a:xfrm>
          <a:prstGeom prst="rect">
            <a:avLst/>
          </a:prstGeom>
          <a:noFill/>
          <a:ln/>
        </p:spPr>
        <p:txBody>
          <a:bodyPr wrap="square" rtlCol="0" anchor="ctr"/>
          <a:lstStyle/>
          <a:p>
            <a:pPr indent="0" marL="0">
              <a:buNone/>
            </a:pPr>
            <a:r>
              <a:rPr lang="en-US" sz="1050" b="1" dirty="0">
                <a:solidFill>
                  <a:srgbClr val="1C1917"/>
                </a:solidFill>
                <a:latin typeface="Arial" pitchFamily="34" charset="0"/>
                <a:ea typeface="Arial" pitchFamily="34" charset="-122"/>
                <a:cs typeface="Arial" pitchFamily="34" charset="-120"/>
              </a:rPr>
              <a:t>解耦架构重塑宏大长篇叙事</a:t>
            </a:r>
            <a:endParaRPr lang="en-US" sz="1050" dirty="0"/>
          </a:p>
        </p:txBody>
      </p:sp>
      <p:sp>
        <p:nvSpPr>
          <p:cNvPr id="31" name="Text 29"/>
          <p:cNvSpPr/>
          <p:nvPr/>
        </p:nvSpPr>
        <p:spPr>
          <a:xfrm>
            <a:off x="6675120" y="2596896"/>
            <a:ext cx="4389120" cy="594360"/>
          </a:xfrm>
          <a:prstGeom prst="rect">
            <a:avLst/>
          </a:prstGeom>
          <a:noFill/>
          <a:ln/>
        </p:spPr>
        <p:txBody>
          <a:bodyPr wrap="square" rtlCol="0" anchor="ctr"/>
          <a:lstStyle/>
          <a:p>
            <a:pPr indent="0" marL="0">
              <a:lnSpc>
                <a:spcPts val="1250"/>
              </a:lnSpc>
              <a:buNone/>
            </a:pPr>
            <a:r>
              <a:rPr lang="en-US" sz="880" dirty="0">
                <a:solidFill>
                  <a:srgbClr val="57534E"/>
                </a:solidFill>
                <a:latin typeface="Arial" pitchFamily="34" charset="0"/>
                <a:ea typeface="Arial" pitchFamily="34" charset="-122"/>
                <a:cs typeface="Arial" pitchFamily="34" charset="-120"/>
              </a:rPr>
              <a:t>长篇小说或复杂剧本创作不再是随机信马由缰，模型采用类似“高内聚低耦合”的微服务解耦设计，严格管理伏笔、人物属性字典与故事线依赖图。</a:t>
            </a:r>
            <a:endParaRPr lang="en-US" sz="880" dirty="0"/>
          </a:p>
        </p:txBody>
      </p:sp>
      <p:sp>
        <p:nvSpPr>
          <p:cNvPr id="32" name="Shape 30"/>
          <p:cNvSpPr/>
          <p:nvPr/>
        </p:nvSpPr>
        <p:spPr>
          <a:xfrm>
            <a:off x="6473952" y="3383280"/>
            <a:ext cx="73152" cy="1207008"/>
          </a:xfrm>
          <a:prstGeom prst="rect">
            <a:avLst/>
          </a:prstGeom>
          <a:solidFill>
            <a:srgbClr val="D97706"/>
          </a:solidFill>
          <a:ln/>
        </p:spPr>
      </p:sp>
      <p:sp>
        <p:nvSpPr>
          <p:cNvPr id="33" name="Shape 31"/>
          <p:cNvSpPr/>
          <p:nvPr/>
        </p:nvSpPr>
        <p:spPr>
          <a:xfrm>
            <a:off x="6547104" y="3383280"/>
            <a:ext cx="4636008" cy="1207008"/>
          </a:xfrm>
          <a:prstGeom prst="rect">
            <a:avLst/>
          </a:prstGeom>
          <a:solidFill>
            <a:srgbClr val="F5F2EB"/>
          </a:solidFill>
          <a:ln w="12700">
            <a:solidFill>
              <a:srgbClr val="E2DCD2"/>
            </a:solidFill>
            <a:prstDash val="solid"/>
          </a:ln>
        </p:spPr>
      </p:sp>
      <p:sp>
        <p:nvSpPr>
          <p:cNvPr id="34" name="Text 32"/>
          <p:cNvSpPr/>
          <p:nvPr/>
        </p:nvSpPr>
        <p:spPr>
          <a:xfrm>
            <a:off x="6675120" y="3474720"/>
            <a:ext cx="4389120" cy="201168"/>
          </a:xfrm>
          <a:prstGeom prst="rect">
            <a:avLst/>
          </a:prstGeom>
          <a:noFill/>
          <a:ln/>
        </p:spPr>
        <p:txBody>
          <a:bodyPr wrap="square" rtlCol="0" anchor="ctr"/>
          <a:lstStyle/>
          <a:p>
            <a:pPr indent="0" marL="0">
              <a:buNone/>
            </a:pPr>
            <a:r>
              <a:rPr lang="en-US" sz="850" b="1" dirty="0">
                <a:solidFill>
                  <a:srgbClr val="D97706"/>
                </a:solidFill>
                <a:latin typeface="Arial" pitchFamily="34" charset="0"/>
                <a:ea typeface="Arial" pitchFamily="34" charset="-122"/>
                <a:cs typeface="Arial" pitchFamily="34" charset="-120"/>
              </a:rPr>
              <a:t>02 · 算法编排</a:t>
            </a:r>
            <a:endParaRPr lang="en-US" sz="850" dirty="0"/>
          </a:p>
        </p:txBody>
      </p:sp>
      <p:sp>
        <p:nvSpPr>
          <p:cNvPr id="35" name="Text 33"/>
          <p:cNvSpPr/>
          <p:nvPr/>
        </p:nvSpPr>
        <p:spPr>
          <a:xfrm>
            <a:off x="6675120" y="3694176"/>
            <a:ext cx="4389120" cy="256032"/>
          </a:xfrm>
          <a:prstGeom prst="rect">
            <a:avLst/>
          </a:prstGeom>
          <a:noFill/>
          <a:ln/>
        </p:spPr>
        <p:txBody>
          <a:bodyPr wrap="square" rtlCol="0" anchor="ctr"/>
          <a:lstStyle/>
          <a:p>
            <a:pPr indent="0" marL="0">
              <a:buNone/>
            </a:pPr>
            <a:r>
              <a:rPr lang="en-US" sz="1050" b="1" dirty="0">
                <a:solidFill>
                  <a:srgbClr val="1C1917"/>
                </a:solidFill>
                <a:latin typeface="Arial" pitchFamily="34" charset="0"/>
                <a:ea typeface="Arial" pitchFamily="34" charset="-122"/>
                <a:cs typeface="Arial" pitchFamily="34" charset="-120"/>
              </a:rPr>
              <a:t>算法级视听节奏与视觉渲染编排</a:t>
            </a:r>
            <a:endParaRPr lang="en-US" sz="1050" dirty="0"/>
          </a:p>
        </p:txBody>
      </p:sp>
      <p:sp>
        <p:nvSpPr>
          <p:cNvPr id="36" name="Text 34"/>
          <p:cNvSpPr/>
          <p:nvPr/>
        </p:nvSpPr>
        <p:spPr>
          <a:xfrm>
            <a:off x="6675120" y="3950208"/>
            <a:ext cx="4389120" cy="594360"/>
          </a:xfrm>
          <a:prstGeom prst="rect">
            <a:avLst/>
          </a:prstGeom>
          <a:noFill/>
          <a:ln/>
        </p:spPr>
        <p:txBody>
          <a:bodyPr wrap="square" rtlCol="0" anchor="ctr"/>
          <a:lstStyle/>
          <a:p>
            <a:pPr indent="0" marL="0">
              <a:lnSpc>
                <a:spcPts val="1250"/>
              </a:lnSpc>
              <a:buNone/>
            </a:pPr>
            <a:r>
              <a:rPr lang="en-US" sz="880" dirty="0">
                <a:solidFill>
                  <a:srgbClr val="57534E"/>
                </a:solidFill>
                <a:latin typeface="Arial" pitchFamily="34" charset="0"/>
                <a:ea typeface="Arial" pitchFamily="34" charset="-122"/>
                <a:cs typeface="Arial" pitchFamily="34" charset="-120"/>
              </a:rPr>
              <a:t>在影视分镜、三维场景设计与乐谱编排中，Claude 直接通过 Python 脚本或 SVG 几何向量生成中间表达，将灵感精确量化为毫秒级的时间线。</a:t>
            </a:r>
            <a:endParaRPr lang="en-US" sz="880" dirty="0"/>
          </a:p>
        </p:txBody>
      </p:sp>
      <p:sp>
        <p:nvSpPr>
          <p:cNvPr id="37" name="Shape 35"/>
          <p:cNvSpPr/>
          <p:nvPr/>
        </p:nvSpPr>
        <p:spPr>
          <a:xfrm>
            <a:off x="6473952" y="4736592"/>
            <a:ext cx="73152" cy="1207008"/>
          </a:xfrm>
          <a:prstGeom prst="rect">
            <a:avLst/>
          </a:prstGeom>
          <a:solidFill>
            <a:srgbClr val="D97706"/>
          </a:solidFill>
          <a:ln/>
        </p:spPr>
      </p:sp>
      <p:sp>
        <p:nvSpPr>
          <p:cNvPr id="38" name="Shape 36"/>
          <p:cNvSpPr/>
          <p:nvPr/>
        </p:nvSpPr>
        <p:spPr>
          <a:xfrm>
            <a:off x="6547104" y="4736592"/>
            <a:ext cx="4636008" cy="1207008"/>
          </a:xfrm>
          <a:prstGeom prst="rect">
            <a:avLst/>
          </a:prstGeom>
          <a:solidFill>
            <a:srgbClr val="F5F2EB"/>
          </a:solidFill>
          <a:ln w="12700">
            <a:solidFill>
              <a:srgbClr val="E2DCD2"/>
            </a:solidFill>
            <a:prstDash val="solid"/>
          </a:ln>
        </p:spPr>
      </p:sp>
      <p:sp>
        <p:nvSpPr>
          <p:cNvPr id="39" name="Text 37"/>
          <p:cNvSpPr/>
          <p:nvPr/>
        </p:nvSpPr>
        <p:spPr>
          <a:xfrm>
            <a:off x="6675120" y="4828032"/>
            <a:ext cx="4389120" cy="201168"/>
          </a:xfrm>
          <a:prstGeom prst="rect">
            <a:avLst/>
          </a:prstGeom>
          <a:noFill/>
          <a:ln/>
        </p:spPr>
        <p:txBody>
          <a:bodyPr wrap="square" rtlCol="0" anchor="ctr"/>
          <a:lstStyle/>
          <a:p>
            <a:pPr indent="0" marL="0">
              <a:buNone/>
            </a:pPr>
            <a:r>
              <a:rPr lang="en-US" sz="850" b="1" dirty="0">
                <a:solidFill>
                  <a:srgbClr val="D97706"/>
                </a:solidFill>
                <a:latin typeface="Arial" pitchFamily="34" charset="0"/>
                <a:ea typeface="Arial" pitchFamily="34" charset="-122"/>
                <a:cs typeface="Arial" pitchFamily="34" charset="-120"/>
              </a:rPr>
              <a:t>03 · 思维微积分</a:t>
            </a:r>
            <a:endParaRPr lang="en-US" sz="850" dirty="0"/>
          </a:p>
        </p:txBody>
      </p:sp>
      <p:sp>
        <p:nvSpPr>
          <p:cNvPr id="40" name="Text 38"/>
          <p:cNvSpPr/>
          <p:nvPr/>
        </p:nvSpPr>
        <p:spPr>
          <a:xfrm>
            <a:off x="6675120" y="5047488"/>
            <a:ext cx="4389120" cy="256032"/>
          </a:xfrm>
          <a:prstGeom prst="rect">
            <a:avLst/>
          </a:prstGeom>
          <a:noFill/>
          <a:ln/>
        </p:spPr>
        <p:txBody>
          <a:bodyPr wrap="square" rtlCol="0" anchor="ctr"/>
          <a:lstStyle/>
          <a:p>
            <a:pPr indent="0" marL="0">
              <a:buNone/>
            </a:pPr>
            <a:r>
              <a:rPr lang="en-US" sz="1050" b="1" dirty="0">
                <a:solidFill>
                  <a:srgbClr val="1C1917"/>
                </a:solidFill>
                <a:latin typeface="Arial" pitchFamily="34" charset="0"/>
                <a:ea typeface="Arial" pitchFamily="34" charset="-122"/>
                <a:cs typeface="Arial" pitchFamily="34" charset="-120"/>
              </a:rPr>
              <a:t>结论：代码即思维的形式化微积分</a:t>
            </a:r>
            <a:endParaRPr lang="en-US" sz="1050" dirty="0"/>
          </a:p>
        </p:txBody>
      </p:sp>
      <p:sp>
        <p:nvSpPr>
          <p:cNvPr id="41" name="Text 39"/>
          <p:cNvSpPr/>
          <p:nvPr/>
        </p:nvSpPr>
        <p:spPr>
          <a:xfrm>
            <a:off x="6675120" y="5303520"/>
            <a:ext cx="4389120" cy="594360"/>
          </a:xfrm>
          <a:prstGeom prst="rect">
            <a:avLst/>
          </a:prstGeom>
          <a:noFill/>
          <a:ln/>
        </p:spPr>
        <p:txBody>
          <a:bodyPr wrap="square" rtlCol="0" anchor="ctr"/>
          <a:lstStyle/>
          <a:p>
            <a:pPr indent="0" marL="0">
              <a:lnSpc>
                <a:spcPts val="1250"/>
              </a:lnSpc>
              <a:buNone/>
            </a:pPr>
            <a:r>
              <a:rPr lang="en-US" sz="880" dirty="0">
                <a:solidFill>
                  <a:srgbClr val="57534E"/>
                </a:solidFill>
                <a:latin typeface="Arial" pitchFamily="34" charset="0"/>
                <a:ea typeface="Arial" pitchFamily="34" charset="-122"/>
                <a:cs typeface="Arial" pitchFamily="34" charset="-120"/>
              </a:rPr>
              <a:t>代码不是一门狭隘的计算机专业技术，而是人类文明史上唯一一套完全无歧义、能够自我演化并映射万物的思想数学。</a:t>
            </a:r>
            <a:endParaRPr lang="en-US" sz="88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BF9F5"/>
        </a:solidFill>
      </p:bgPr>
    </p:bg>
    <p:spTree>
      <p:nvGrpSpPr>
        <p:cNvPr id="1" name=""/>
        <p:cNvGrpSpPr/>
        <p:nvPr/>
      </p:nvGrpSpPr>
      <p:grpSpPr>
        <a:xfrm>
          <a:off x="0" y="0"/>
          <a:ext cx="0" cy="0"/>
          <a:chOff x="0" y="0"/>
          <a:chExt cx="0" cy="0"/>
        </a:xfrm>
      </p:grpSpPr>
      <p:sp>
        <p:nvSpPr>
          <p:cNvPr id="2" name="Shape 0"/>
          <p:cNvSpPr/>
          <p:nvPr/>
        </p:nvSpPr>
        <p:spPr>
          <a:xfrm>
            <a:off x="731520" y="384048"/>
            <a:ext cx="2560320" cy="256032"/>
          </a:xfrm>
          <a:prstGeom prst="rect">
            <a:avLst/>
          </a:prstGeom>
          <a:solidFill>
            <a:srgbClr val="FBF0EB"/>
          </a:solidFill>
          <a:ln w="12700">
            <a:solidFill>
              <a:srgbClr val="F0C2B2"/>
            </a:solidFill>
            <a:prstDash val="solid"/>
          </a:ln>
        </p:spPr>
      </p:sp>
      <p:sp>
        <p:nvSpPr>
          <p:cNvPr id="3" name="Text 1"/>
          <p:cNvSpPr/>
          <p:nvPr/>
        </p:nvSpPr>
        <p:spPr>
          <a:xfrm>
            <a:off x="731520" y="384048"/>
            <a:ext cx="2560320" cy="256032"/>
          </a:xfrm>
          <a:prstGeom prst="rect">
            <a:avLst/>
          </a:prstGeom>
          <a:noFill/>
          <a:ln/>
        </p:spPr>
        <p:txBody>
          <a:bodyPr wrap="square" rtlCol="0" anchor="ctr"/>
          <a:lstStyle/>
          <a:p>
            <a:pPr algn="ctr" indent="0" marL="0">
              <a:buNone/>
            </a:pPr>
            <a:r>
              <a:rPr lang="en-US" sz="900" b="1" spc="120" kern="0" dirty="0">
                <a:solidFill>
                  <a:srgbClr val="D97757"/>
                </a:solidFill>
                <a:latin typeface="Arial" pitchFamily="34" charset="0"/>
                <a:ea typeface="Arial" pitchFamily="34" charset="-122"/>
                <a:cs typeface="Arial" pitchFamily="34" charset="-120"/>
              </a:rPr>
              <a:t>SOFTWARE 3.0 MATRIX</a:t>
            </a:r>
            <a:endParaRPr lang="en-US" sz="900" dirty="0"/>
          </a:p>
        </p:txBody>
      </p:sp>
      <p:sp>
        <p:nvSpPr>
          <p:cNvPr id="4" name="Text 2"/>
          <p:cNvSpPr/>
          <p:nvPr/>
        </p:nvSpPr>
        <p:spPr>
          <a:xfrm>
            <a:off x="731520" y="676656"/>
            <a:ext cx="9875520" cy="475488"/>
          </a:xfrm>
          <a:prstGeom prst="rect">
            <a:avLst/>
          </a:prstGeom>
          <a:noFill/>
          <a:ln/>
        </p:spPr>
        <p:txBody>
          <a:bodyPr wrap="square" lIns="0" tIns="0" rIns="0" bIns="0" rtlCol="0" anchor="ctr"/>
          <a:lstStyle/>
          <a:p>
            <a:pPr indent="0" marL="0">
              <a:buNone/>
            </a:pPr>
            <a:r>
              <a:rPr lang="en-US" sz="2100" b="1" dirty="0">
                <a:solidFill>
                  <a:srgbClr val="1C1917"/>
                </a:solidFill>
                <a:latin typeface="Arial" pitchFamily="34" charset="0"/>
                <a:ea typeface="Arial" pitchFamily="34" charset="-122"/>
                <a:cs typeface="Arial" pitchFamily="34" charset="-120"/>
              </a:rPr>
              <a:t>Software 3.0 革命：从编写代码到自然语言直接编排</a:t>
            </a:r>
            <a:endParaRPr lang="en-US" sz="2100" dirty="0"/>
          </a:p>
        </p:txBody>
      </p:sp>
      <p:sp>
        <p:nvSpPr>
          <p:cNvPr id="5" name="Text 3"/>
          <p:cNvSpPr/>
          <p:nvPr/>
        </p:nvSpPr>
        <p:spPr>
          <a:xfrm>
            <a:off x="10972800" y="384048"/>
            <a:ext cx="731520" cy="320040"/>
          </a:xfrm>
          <a:prstGeom prst="rect">
            <a:avLst/>
          </a:prstGeom>
          <a:noFill/>
          <a:ln/>
        </p:spPr>
        <p:txBody>
          <a:bodyPr wrap="square" rtlCol="0" anchor="ctr"/>
          <a:lstStyle/>
          <a:p>
            <a:pPr algn="r" indent="0" marL="0">
              <a:buNone/>
            </a:pPr>
            <a:r>
              <a:rPr lang="en-US" sz="1300" b="1" dirty="0">
                <a:solidFill>
                  <a:srgbClr val="8C857B"/>
                </a:solidFill>
                <a:latin typeface="Arial" pitchFamily="34" charset="0"/>
                <a:ea typeface="Arial" pitchFamily="34" charset="-122"/>
                <a:cs typeface="Arial" pitchFamily="34" charset="-120"/>
              </a:rPr>
              <a:t>20</a:t>
            </a:r>
            <a:endParaRPr lang="en-US" sz="1300" dirty="0"/>
          </a:p>
        </p:txBody>
      </p:sp>
      <p:sp>
        <p:nvSpPr>
          <p:cNvPr id="6" name="Shape 4"/>
          <p:cNvSpPr/>
          <p:nvPr/>
        </p:nvSpPr>
        <p:spPr>
          <a:xfrm>
            <a:off x="731520" y="1325880"/>
            <a:ext cx="2011680" cy="411480"/>
          </a:xfrm>
          <a:prstGeom prst="rect">
            <a:avLst/>
          </a:prstGeom>
          <a:solidFill>
            <a:srgbClr val="1C1917"/>
          </a:solidFill>
          <a:ln/>
        </p:spPr>
      </p:sp>
      <p:sp>
        <p:nvSpPr>
          <p:cNvPr id="7" name="Text 5"/>
          <p:cNvSpPr/>
          <p:nvPr/>
        </p:nvSpPr>
        <p:spPr>
          <a:xfrm>
            <a:off x="822960" y="1408176"/>
            <a:ext cx="1828800" cy="256032"/>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对比维度</a:t>
            </a:r>
            <a:endParaRPr lang="en-US" sz="1000" dirty="0"/>
          </a:p>
        </p:txBody>
      </p:sp>
      <p:sp>
        <p:nvSpPr>
          <p:cNvPr id="8" name="Shape 6"/>
          <p:cNvSpPr/>
          <p:nvPr/>
        </p:nvSpPr>
        <p:spPr>
          <a:xfrm>
            <a:off x="2788920" y="1325880"/>
            <a:ext cx="2651760" cy="411480"/>
          </a:xfrm>
          <a:prstGeom prst="rect">
            <a:avLst/>
          </a:prstGeom>
          <a:solidFill>
            <a:srgbClr val="475569"/>
          </a:solidFill>
          <a:ln/>
        </p:spPr>
      </p:sp>
      <p:sp>
        <p:nvSpPr>
          <p:cNvPr id="9" name="Text 7"/>
          <p:cNvSpPr/>
          <p:nvPr/>
        </p:nvSpPr>
        <p:spPr>
          <a:xfrm>
            <a:off x="2880360" y="1408176"/>
            <a:ext cx="2468880" cy="256032"/>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Software 1.0 (1950–2012)</a:t>
            </a:r>
            <a:endParaRPr lang="en-US" sz="1000" dirty="0"/>
          </a:p>
        </p:txBody>
      </p:sp>
      <p:sp>
        <p:nvSpPr>
          <p:cNvPr id="10" name="Shape 8"/>
          <p:cNvSpPr/>
          <p:nvPr/>
        </p:nvSpPr>
        <p:spPr>
          <a:xfrm>
            <a:off x="5486400" y="1325880"/>
            <a:ext cx="2651760" cy="411480"/>
          </a:xfrm>
          <a:prstGeom prst="rect">
            <a:avLst/>
          </a:prstGeom>
          <a:solidFill>
            <a:srgbClr val="D97706"/>
          </a:solidFill>
          <a:ln/>
        </p:spPr>
      </p:sp>
      <p:sp>
        <p:nvSpPr>
          <p:cNvPr id="11" name="Text 9"/>
          <p:cNvSpPr/>
          <p:nvPr/>
        </p:nvSpPr>
        <p:spPr>
          <a:xfrm>
            <a:off x="5577840" y="1408176"/>
            <a:ext cx="2468880" cy="256032"/>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Software 2.0 (2012–2024)</a:t>
            </a:r>
            <a:endParaRPr lang="en-US" sz="1000" dirty="0"/>
          </a:p>
        </p:txBody>
      </p:sp>
      <p:sp>
        <p:nvSpPr>
          <p:cNvPr id="12" name="Shape 10"/>
          <p:cNvSpPr/>
          <p:nvPr/>
        </p:nvSpPr>
        <p:spPr>
          <a:xfrm>
            <a:off x="8183880" y="1325880"/>
            <a:ext cx="3273552" cy="411480"/>
          </a:xfrm>
          <a:prstGeom prst="rect">
            <a:avLst/>
          </a:prstGeom>
          <a:solidFill>
            <a:srgbClr val="D97757"/>
          </a:solidFill>
          <a:ln/>
        </p:spPr>
      </p:sp>
      <p:sp>
        <p:nvSpPr>
          <p:cNvPr id="13" name="Text 11"/>
          <p:cNvSpPr/>
          <p:nvPr/>
        </p:nvSpPr>
        <p:spPr>
          <a:xfrm>
            <a:off x="8275320" y="1408176"/>
            <a:ext cx="3090672" cy="256032"/>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Software 3.0 (2025–2026+) ★</a:t>
            </a:r>
            <a:endParaRPr lang="en-US" sz="1000" dirty="0"/>
          </a:p>
        </p:txBody>
      </p:sp>
      <p:sp>
        <p:nvSpPr>
          <p:cNvPr id="14" name="Shape 12"/>
          <p:cNvSpPr/>
          <p:nvPr/>
        </p:nvSpPr>
        <p:spPr>
          <a:xfrm>
            <a:off x="731520" y="1783080"/>
            <a:ext cx="2011680" cy="1078992"/>
          </a:xfrm>
          <a:prstGeom prst="rect">
            <a:avLst/>
          </a:prstGeom>
          <a:solidFill>
            <a:srgbClr val="EFEBE1"/>
          </a:solidFill>
          <a:ln w="12700">
            <a:solidFill>
              <a:srgbClr val="E2DCD2"/>
            </a:solidFill>
            <a:prstDash val="solid"/>
          </a:ln>
        </p:spPr>
      </p:sp>
      <p:sp>
        <p:nvSpPr>
          <p:cNvPr id="15" name="Text 13"/>
          <p:cNvSpPr/>
          <p:nvPr/>
        </p:nvSpPr>
        <p:spPr>
          <a:xfrm>
            <a:off x="822960" y="2039112"/>
            <a:ext cx="1828800" cy="274320"/>
          </a:xfrm>
          <a:prstGeom prst="rect">
            <a:avLst/>
          </a:prstGeom>
          <a:noFill/>
          <a:ln/>
        </p:spPr>
        <p:txBody>
          <a:bodyPr wrap="square" rtlCol="0" anchor="ctr"/>
          <a:lstStyle/>
          <a:p>
            <a:pPr indent="0" marL="0">
              <a:buNone/>
            </a:pPr>
            <a:r>
              <a:rPr lang="en-US" sz="1000" b="1" dirty="0">
                <a:solidFill>
                  <a:srgbClr val="1C1917"/>
                </a:solidFill>
                <a:latin typeface="Arial" pitchFamily="34" charset="0"/>
                <a:ea typeface="Arial" pitchFamily="34" charset="-122"/>
                <a:cs typeface="Arial" pitchFamily="34" charset="-120"/>
              </a:rPr>
              <a:t>核心实现机制</a:t>
            </a:r>
            <a:endParaRPr lang="en-US" sz="1000" dirty="0"/>
          </a:p>
        </p:txBody>
      </p:sp>
      <p:sp>
        <p:nvSpPr>
          <p:cNvPr id="16" name="Text 14"/>
          <p:cNvSpPr/>
          <p:nvPr/>
        </p:nvSpPr>
        <p:spPr>
          <a:xfrm>
            <a:off x="822960" y="2331720"/>
            <a:ext cx="1828800" cy="228600"/>
          </a:xfrm>
          <a:prstGeom prst="rect">
            <a:avLst/>
          </a:prstGeom>
          <a:noFill/>
          <a:ln/>
        </p:spPr>
        <p:txBody>
          <a:bodyPr wrap="square" rtlCol="0" anchor="ctr"/>
          <a:lstStyle/>
          <a:p>
            <a:pPr indent="0" marL="0">
              <a:buNone/>
            </a:pPr>
            <a:r>
              <a:rPr lang="en-US" sz="850" dirty="0">
                <a:solidFill>
                  <a:srgbClr val="57534E"/>
                </a:solidFill>
                <a:latin typeface="Arial" pitchFamily="34" charset="0"/>
                <a:ea typeface="Arial" pitchFamily="34" charset="-122"/>
                <a:cs typeface="Arial" pitchFamily="34" charset="-120"/>
              </a:rPr>
              <a:t>指令生成方式</a:t>
            </a:r>
            <a:endParaRPr lang="en-US" sz="850" dirty="0"/>
          </a:p>
        </p:txBody>
      </p:sp>
      <p:sp>
        <p:nvSpPr>
          <p:cNvPr id="17" name="Shape 15"/>
          <p:cNvSpPr/>
          <p:nvPr/>
        </p:nvSpPr>
        <p:spPr>
          <a:xfrm>
            <a:off x="2788920" y="1783080"/>
            <a:ext cx="2651760" cy="1078992"/>
          </a:xfrm>
          <a:prstGeom prst="rect">
            <a:avLst/>
          </a:prstGeom>
          <a:solidFill>
            <a:srgbClr val="FFFFFF"/>
          </a:solidFill>
          <a:ln w="12700">
            <a:solidFill>
              <a:srgbClr val="E2DCD2"/>
            </a:solidFill>
            <a:prstDash val="solid"/>
          </a:ln>
        </p:spPr>
      </p:sp>
      <p:sp>
        <p:nvSpPr>
          <p:cNvPr id="18" name="Text 16"/>
          <p:cNvSpPr/>
          <p:nvPr/>
        </p:nvSpPr>
        <p:spPr>
          <a:xfrm>
            <a:off x="2880360" y="1947672"/>
            <a:ext cx="2468880" cy="777240"/>
          </a:xfrm>
          <a:prstGeom prst="rect">
            <a:avLst/>
          </a:prstGeom>
          <a:noFill/>
          <a:ln/>
        </p:spPr>
        <p:txBody>
          <a:bodyPr wrap="square" rtlCol="0" anchor="ctr"/>
          <a:lstStyle/>
          <a:p>
            <a:pPr algn="ctr" indent="0" marL="0">
              <a:lnSpc>
                <a:spcPts val="1300"/>
              </a:lnSpc>
              <a:buNone/>
            </a:pPr>
            <a:r>
              <a:rPr lang="en-US" sz="880" dirty="0">
                <a:solidFill>
                  <a:srgbClr val="57534E"/>
                </a:solidFill>
                <a:latin typeface="Arial" pitchFamily="34" charset="0"/>
                <a:ea typeface="Arial" pitchFamily="34" charset="-122"/>
                <a:cs typeface="Arial" pitchFamily="34" charset="-120"/>
              </a:rPr>
              <a:t>人类显式编写指令</a:t>
            </a:r>
            <a:endParaRPr lang="en-US" sz="880" dirty="0"/>
          </a:p>
          <a:p>
            <a:pPr algn="ctr" indent="0" marL="0">
              <a:lnSpc>
                <a:spcPts val="1300"/>
              </a:lnSpc>
              <a:buNone/>
            </a:pPr>
            <a:r>
              <a:rPr lang="en-US" sz="880" dirty="0">
                <a:solidFill>
                  <a:srgbClr val="57534E"/>
                </a:solidFill>
                <a:latin typeface="Arial" pitchFamily="34" charset="0"/>
                <a:ea typeface="Arial" pitchFamily="34" charset="-122"/>
                <a:cs typeface="Arial" pitchFamily="34" charset="-120"/>
              </a:rPr>
              <a:t>大脑构思算法，用字符逐行编写 C++/Java</a:t>
            </a:r>
            <a:endParaRPr lang="en-US" sz="880" dirty="0"/>
          </a:p>
        </p:txBody>
      </p:sp>
      <p:sp>
        <p:nvSpPr>
          <p:cNvPr id="19" name="Shape 17"/>
          <p:cNvSpPr/>
          <p:nvPr/>
        </p:nvSpPr>
        <p:spPr>
          <a:xfrm>
            <a:off x="5486400" y="1783080"/>
            <a:ext cx="2651760" cy="1078992"/>
          </a:xfrm>
          <a:prstGeom prst="rect">
            <a:avLst/>
          </a:prstGeom>
          <a:solidFill>
            <a:srgbClr val="FFFFFF"/>
          </a:solidFill>
          <a:ln w="12700">
            <a:solidFill>
              <a:srgbClr val="E2DCD2"/>
            </a:solidFill>
            <a:prstDash val="solid"/>
          </a:ln>
        </p:spPr>
      </p:sp>
      <p:sp>
        <p:nvSpPr>
          <p:cNvPr id="20" name="Text 18"/>
          <p:cNvSpPr/>
          <p:nvPr/>
        </p:nvSpPr>
        <p:spPr>
          <a:xfrm>
            <a:off x="5577840" y="1947672"/>
            <a:ext cx="2468880" cy="777240"/>
          </a:xfrm>
          <a:prstGeom prst="rect">
            <a:avLst/>
          </a:prstGeom>
          <a:noFill/>
          <a:ln/>
        </p:spPr>
        <p:txBody>
          <a:bodyPr wrap="square" rtlCol="0" anchor="ctr"/>
          <a:lstStyle/>
          <a:p>
            <a:pPr algn="ctr" indent="0" marL="0">
              <a:lnSpc>
                <a:spcPts val="1300"/>
              </a:lnSpc>
              <a:buNone/>
            </a:pPr>
            <a:r>
              <a:rPr lang="en-US" sz="880" dirty="0">
                <a:solidFill>
                  <a:srgbClr val="1C1917"/>
                </a:solidFill>
                <a:latin typeface="Arial" pitchFamily="34" charset="0"/>
                <a:ea typeface="Arial" pitchFamily="34" charset="-122"/>
                <a:cs typeface="Arial" pitchFamily="34" charset="-120"/>
              </a:rPr>
              <a:t>数据驱动权重搜索</a:t>
            </a:r>
            <a:endParaRPr lang="en-US" sz="880" dirty="0"/>
          </a:p>
          <a:p>
            <a:pPr algn="ctr" indent="0" marL="0">
              <a:lnSpc>
                <a:spcPts val="1300"/>
              </a:lnSpc>
              <a:buNone/>
            </a:pPr>
            <a:r>
              <a:rPr lang="en-US" sz="880" dirty="0">
                <a:solidFill>
                  <a:srgbClr val="1C1917"/>
                </a:solidFill>
                <a:latin typeface="Arial" pitchFamily="34" charset="0"/>
                <a:ea typeface="Arial" pitchFamily="34" charset="-122"/>
                <a:cs typeface="Arial" pitchFamily="34" charset="-120"/>
              </a:rPr>
              <a:t>人类定义损失函数，神经网络优化浮点张量</a:t>
            </a:r>
            <a:endParaRPr lang="en-US" sz="880" dirty="0"/>
          </a:p>
        </p:txBody>
      </p:sp>
      <p:sp>
        <p:nvSpPr>
          <p:cNvPr id="21" name="Shape 19"/>
          <p:cNvSpPr/>
          <p:nvPr/>
        </p:nvSpPr>
        <p:spPr>
          <a:xfrm>
            <a:off x="8183880" y="1783080"/>
            <a:ext cx="3273552" cy="1078992"/>
          </a:xfrm>
          <a:prstGeom prst="rect">
            <a:avLst/>
          </a:prstGeom>
          <a:solidFill>
            <a:srgbClr val="FBF0EB"/>
          </a:solidFill>
          <a:ln w="12700">
            <a:solidFill>
              <a:srgbClr val="F0C2B2"/>
            </a:solidFill>
            <a:prstDash val="solid"/>
          </a:ln>
        </p:spPr>
      </p:sp>
      <p:sp>
        <p:nvSpPr>
          <p:cNvPr id="22" name="Text 20"/>
          <p:cNvSpPr/>
          <p:nvPr/>
        </p:nvSpPr>
        <p:spPr>
          <a:xfrm>
            <a:off x="8275320" y="1947672"/>
            <a:ext cx="3090672" cy="777240"/>
          </a:xfrm>
          <a:prstGeom prst="rect">
            <a:avLst/>
          </a:prstGeom>
          <a:noFill/>
          <a:ln/>
        </p:spPr>
        <p:txBody>
          <a:bodyPr wrap="square" rtlCol="0" anchor="ctr"/>
          <a:lstStyle/>
          <a:p>
            <a:pPr algn="ctr" indent="0" marL="0">
              <a:lnSpc>
                <a:spcPts val="1300"/>
              </a:lnSpc>
              <a:buNone/>
            </a:pPr>
            <a:r>
              <a:rPr lang="en-US" sz="900" b="1" dirty="0">
                <a:solidFill>
                  <a:srgbClr val="D97757"/>
                </a:solidFill>
                <a:latin typeface="Arial" pitchFamily="34" charset="0"/>
                <a:ea typeface="Arial" pitchFamily="34" charset="-122"/>
                <a:cs typeface="Arial" pitchFamily="34" charset="-120"/>
              </a:rPr>
              <a:t>自然语言即时编译</a:t>
            </a:r>
            <a:endParaRPr lang="en-US" sz="900" dirty="0"/>
          </a:p>
          <a:p>
            <a:pPr algn="ctr" indent="0" marL="0">
              <a:lnSpc>
                <a:spcPts val="1300"/>
              </a:lnSpc>
              <a:buNone/>
            </a:pPr>
            <a:r>
              <a:rPr lang="en-US" sz="900" b="1" dirty="0">
                <a:solidFill>
                  <a:srgbClr val="D97757"/>
                </a:solidFill>
                <a:latin typeface="Arial" pitchFamily="34" charset="0"/>
                <a:ea typeface="Arial" pitchFamily="34" charset="-122"/>
                <a:cs typeface="Arial" pitchFamily="34" charset="-120"/>
              </a:rPr>
              <a:t>人类表达高层意图，智能体沙箱动态生成临时代码</a:t>
            </a:r>
            <a:endParaRPr lang="en-US" sz="900" dirty="0"/>
          </a:p>
        </p:txBody>
      </p:sp>
      <p:sp>
        <p:nvSpPr>
          <p:cNvPr id="23" name="Shape 21"/>
          <p:cNvSpPr/>
          <p:nvPr/>
        </p:nvSpPr>
        <p:spPr>
          <a:xfrm>
            <a:off x="731520" y="2926080"/>
            <a:ext cx="2011680" cy="1078992"/>
          </a:xfrm>
          <a:prstGeom prst="rect">
            <a:avLst/>
          </a:prstGeom>
          <a:solidFill>
            <a:srgbClr val="EFEBE1"/>
          </a:solidFill>
          <a:ln w="12700">
            <a:solidFill>
              <a:srgbClr val="E2DCD2"/>
            </a:solidFill>
            <a:prstDash val="solid"/>
          </a:ln>
        </p:spPr>
      </p:sp>
      <p:sp>
        <p:nvSpPr>
          <p:cNvPr id="24" name="Text 22"/>
          <p:cNvSpPr/>
          <p:nvPr/>
        </p:nvSpPr>
        <p:spPr>
          <a:xfrm>
            <a:off x="822960" y="3182112"/>
            <a:ext cx="1828800" cy="274320"/>
          </a:xfrm>
          <a:prstGeom prst="rect">
            <a:avLst/>
          </a:prstGeom>
          <a:noFill/>
          <a:ln/>
        </p:spPr>
        <p:txBody>
          <a:bodyPr wrap="square" rtlCol="0" anchor="ctr"/>
          <a:lstStyle/>
          <a:p>
            <a:pPr indent="0" marL="0">
              <a:buNone/>
            </a:pPr>
            <a:r>
              <a:rPr lang="en-US" sz="1000" b="1" dirty="0">
                <a:solidFill>
                  <a:srgbClr val="1C1917"/>
                </a:solidFill>
                <a:latin typeface="Arial" pitchFamily="34" charset="0"/>
                <a:ea typeface="Arial" pitchFamily="34" charset="-122"/>
                <a:cs typeface="Arial" pitchFamily="34" charset="-120"/>
              </a:rPr>
              <a:t>核心资产交付物</a:t>
            </a:r>
            <a:endParaRPr lang="en-US" sz="1000" dirty="0"/>
          </a:p>
        </p:txBody>
      </p:sp>
      <p:sp>
        <p:nvSpPr>
          <p:cNvPr id="25" name="Text 23"/>
          <p:cNvSpPr/>
          <p:nvPr/>
        </p:nvSpPr>
        <p:spPr>
          <a:xfrm>
            <a:off x="822960" y="3474720"/>
            <a:ext cx="1828800" cy="228600"/>
          </a:xfrm>
          <a:prstGeom prst="rect">
            <a:avLst/>
          </a:prstGeom>
          <a:noFill/>
          <a:ln/>
        </p:spPr>
        <p:txBody>
          <a:bodyPr wrap="square" rtlCol="0" anchor="ctr"/>
          <a:lstStyle/>
          <a:p>
            <a:pPr indent="0" marL="0">
              <a:buNone/>
            </a:pPr>
            <a:r>
              <a:rPr lang="en-US" sz="850" dirty="0">
                <a:solidFill>
                  <a:srgbClr val="57534E"/>
                </a:solidFill>
                <a:latin typeface="Arial" pitchFamily="34" charset="0"/>
                <a:ea typeface="Arial" pitchFamily="34" charset="-122"/>
                <a:cs typeface="Arial" pitchFamily="34" charset="-120"/>
              </a:rPr>
              <a:t>代码存在形式</a:t>
            </a:r>
            <a:endParaRPr lang="en-US" sz="850" dirty="0"/>
          </a:p>
        </p:txBody>
      </p:sp>
      <p:sp>
        <p:nvSpPr>
          <p:cNvPr id="26" name="Shape 24"/>
          <p:cNvSpPr/>
          <p:nvPr/>
        </p:nvSpPr>
        <p:spPr>
          <a:xfrm>
            <a:off x="2788920" y="2926080"/>
            <a:ext cx="2651760" cy="1078992"/>
          </a:xfrm>
          <a:prstGeom prst="rect">
            <a:avLst/>
          </a:prstGeom>
          <a:solidFill>
            <a:srgbClr val="F5F2EB"/>
          </a:solidFill>
          <a:ln w="12700">
            <a:solidFill>
              <a:srgbClr val="E2DCD2"/>
            </a:solidFill>
            <a:prstDash val="solid"/>
          </a:ln>
        </p:spPr>
      </p:sp>
      <p:sp>
        <p:nvSpPr>
          <p:cNvPr id="27" name="Text 25"/>
          <p:cNvSpPr/>
          <p:nvPr/>
        </p:nvSpPr>
        <p:spPr>
          <a:xfrm>
            <a:off x="2880360" y="3090672"/>
            <a:ext cx="2468880" cy="777240"/>
          </a:xfrm>
          <a:prstGeom prst="rect">
            <a:avLst/>
          </a:prstGeom>
          <a:noFill/>
          <a:ln/>
        </p:spPr>
        <p:txBody>
          <a:bodyPr wrap="square" rtlCol="0" anchor="ctr"/>
          <a:lstStyle/>
          <a:p>
            <a:pPr algn="ctr" indent="0" marL="0">
              <a:lnSpc>
                <a:spcPts val="1300"/>
              </a:lnSpc>
              <a:buNone/>
            </a:pPr>
            <a:r>
              <a:rPr lang="en-US" sz="880" dirty="0">
                <a:solidFill>
                  <a:srgbClr val="57534E"/>
                </a:solidFill>
                <a:latin typeface="Arial" pitchFamily="34" charset="0"/>
                <a:ea typeface="Arial" pitchFamily="34" charset="-122"/>
                <a:cs typeface="Arial" pitchFamily="34" charset="-120"/>
              </a:rPr>
              <a:t>静态源代码文件</a:t>
            </a:r>
            <a:endParaRPr lang="en-US" sz="880" dirty="0"/>
          </a:p>
          <a:p>
            <a:pPr algn="ctr" indent="0" marL="0">
              <a:lnSpc>
                <a:spcPts val="1300"/>
              </a:lnSpc>
              <a:buNone/>
            </a:pPr>
            <a:r>
              <a:rPr lang="en-US" sz="880" dirty="0">
                <a:solidFill>
                  <a:srgbClr val="57534E"/>
                </a:solidFill>
                <a:latin typeface="Arial" pitchFamily="34" charset="0"/>
                <a:ea typeface="Arial" pitchFamily="34" charset="-122"/>
                <a:cs typeface="Arial" pitchFamily="34" charset="-120"/>
              </a:rPr>
              <a:t>需要永久存储维护的二进制或脚本仓库</a:t>
            </a:r>
            <a:endParaRPr lang="en-US" sz="880" dirty="0"/>
          </a:p>
        </p:txBody>
      </p:sp>
      <p:sp>
        <p:nvSpPr>
          <p:cNvPr id="28" name="Shape 26"/>
          <p:cNvSpPr/>
          <p:nvPr/>
        </p:nvSpPr>
        <p:spPr>
          <a:xfrm>
            <a:off x="5486400" y="2926080"/>
            <a:ext cx="2651760" cy="1078992"/>
          </a:xfrm>
          <a:prstGeom prst="rect">
            <a:avLst/>
          </a:prstGeom>
          <a:solidFill>
            <a:srgbClr val="F5F2EB"/>
          </a:solidFill>
          <a:ln w="12700">
            <a:solidFill>
              <a:srgbClr val="E2DCD2"/>
            </a:solidFill>
            <a:prstDash val="solid"/>
          </a:ln>
        </p:spPr>
      </p:sp>
      <p:sp>
        <p:nvSpPr>
          <p:cNvPr id="29" name="Text 27"/>
          <p:cNvSpPr/>
          <p:nvPr/>
        </p:nvSpPr>
        <p:spPr>
          <a:xfrm>
            <a:off x="5577840" y="3090672"/>
            <a:ext cx="2468880" cy="777240"/>
          </a:xfrm>
          <a:prstGeom prst="rect">
            <a:avLst/>
          </a:prstGeom>
          <a:noFill/>
          <a:ln/>
        </p:spPr>
        <p:txBody>
          <a:bodyPr wrap="square" rtlCol="0" anchor="ctr"/>
          <a:lstStyle/>
          <a:p>
            <a:pPr algn="ctr" indent="0" marL="0">
              <a:lnSpc>
                <a:spcPts val="1300"/>
              </a:lnSpc>
              <a:buNone/>
            </a:pPr>
            <a:r>
              <a:rPr lang="en-US" sz="880" dirty="0">
                <a:solidFill>
                  <a:srgbClr val="1C1917"/>
                </a:solidFill>
                <a:latin typeface="Arial" pitchFamily="34" charset="0"/>
                <a:ea typeface="Arial" pitchFamily="34" charset="-122"/>
                <a:cs typeface="Arial" pitchFamily="34" charset="-120"/>
              </a:rPr>
              <a:t>黑盒模型权重</a:t>
            </a:r>
            <a:endParaRPr lang="en-US" sz="880" dirty="0"/>
          </a:p>
          <a:p>
            <a:pPr algn="ctr" indent="0" marL="0">
              <a:lnSpc>
                <a:spcPts val="1300"/>
              </a:lnSpc>
              <a:buNone/>
            </a:pPr>
            <a:r>
              <a:rPr lang="en-US" sz="880" dirty="0">
                <a:solidFill>
                  <a:srgbClr val="1C1917"/>
                </a:solidFill>
                <a:latin typeface="Arial" pitchFamily="34" charset="0"/>
                <a:ea typeface="Arial" pitchFamily="34" charset="-122"/>
                <a:cs typeface="Arial" pitchFamily="34" charset="-120"/>
              </a:rPr>
              <a:t>以 Checkpoints 形式存在的稠密/稀疏矩阵</a:t>
            </a:r>
            <a:endParaRPr lang="en-US" sz="880" dirty="0"/>
          </a:p>
        </p:txBody>
      </p:sp>
      <p:sp>
        <p:nvSpPr>
          <p:cNvPr id="30" name="Shape 28"/>
          <p:cNvSpPr/>
          <p:nvPr/>
        </p:nvSpPr>
        <p:spPr>
          <a:xfrm>
            <a:off x="8183880" y="2926080"/>
            <a:ext cx="3273552" cy="1078992"/>
          </a:xfrm>
          <a:prstGeom prst="rect">
            <a:avLst/>
          </a:prstGeom>
          <a:solidFill>
            <a:srgbClr val="FBF0EB"/>
          </a:solidFill>
          <a:ln w="12700">
            <a:solidFill>
              <a:srgbClr val="F0C2B2"/>
            </a:solidFill>
            <a:prstDash val="solid"/>
          </a:ln>
        </p:spPr>
      </p:sp>
      <p:sp>
        <p:nvSpPr>
          <p:cNvPr id="31" name="Text 29"/>
          <p:cNvSpPr/>
          <p:nvPr/>
        </p:nvSpPr>
        <p:spPr>
          <a:xfrm>
            <a:off x="8275320" y="3090672"/>
            <a:ext cx="3090672" cy="777240"/>
          </a:xfrm>
          <a:prstGeom prst="rect">
            <a:avLst/>
          </a:prstGeom>
          <a:noFill/>
          <a:ln/>
        </p:spPr>
        <p:txBody>
          <a:bodyPr wrap="square" rtlCol="0" anchor="ctr"/>
          <a:lstStyle/>
          <a:p>
            <a:pPr algn="ctr" indent="0" marL="0">
              <a:lnSpc>
                <a:spcPts val="1300"/>
              </a:lnSpc>
              <a:buNone/>
            </a:pPr>
            <a:r>
              <a:rPr lang="en-US" sz="900" b="1" dirty="0">
                <a:solidFill>
                  <a:srgbClr val="D97757"/>
                </a:solidFill>
                <a:latin typeface="Arial" pitchFamily="34" charset="0"/>
                <a:ea typeface="Arial" pitchFamily="34" charset="-122"/>
                <a:cs typeface="Arial" pitchFamily="34" charset="-120"/>
              </a:rPr>
              <a:t>业务计算结果</a:t>
            </a:r>
            <a:endParaRPr lang="en-US" sz="900" dirty="0"/>
          </a:p>
          <a:p>
            <a:pPr algn="ctr" indent="0" marL="0">
              <a:lnSpc>
                <a:spcPts val="1300"/>
              </a:lnSpc>
              <a:buNone/>
            </a:pPr>
            <a:r>
              <a:rPr lang="en-US" sz="900" b="1" dirty="0">
                <a:solidFill>
                  <a:srgbClr val="D97757"/>
                </a:solidFill>
                <a:latin typeface="Arial" pitchFamily="34" charset="0"/>
                <a:ea typeface="Arial" pitchFamily="34" charset="-122"/>
                <a:cs typeface="Arial" pitchFamily="34" charset="-120"/>
              </a:rPr>
              <a:t>代码沦为即生即灭的“思维运行时中间态”</a:t>
            </a:r>
            <a:endParaRPr lang="en-US" sz="900" dirty="0"/>
          </a:p>
        </p:txBody>
      </p:sp>
      <p:sp>
        <p:nvSpPr>
          <p:cNvPr id="32" name="Shape 30"/>
          <p:cNvSpPr/>
          <p:nvPr/>
        </p:nvSpPr>
        <p:spPr>
          <a:xfrm>
            <a:off x="731520" y="4069080"/>
            <a:ext cx="2011680" cy="1078992"/>
          </a:xfrm>
          <a:prstGeom prst="rect">
            <a:avLst/>
          </a:prstGeom>
          <a:solidFill>
            <a:srgbClr val="EFEBE1"/>
          </a:solidFill>
          <a:ln w="12700">
            <a:solidFill>
              <a:srgbClr val="E2DCD2"/>
            </a:solidFill>
            <a:prstDash val="solid"/>
          </a:ln>
        </p:spPr>
      </p:sp>
      <p:sp>
        <p:nvSpPr>
          <p:cNvPr id="33" name="Text 31"/>
          <p:cNvSpPr/>
          <p:nvPr/>
        </p:nvSpPr>
        <p:spPr>
          <a:xfrm>
            <a:off x="822960" y="4325112"/>
            <a:ext cx="1828800" cy="274320"/>
          </a:xfrm>
          <a:prstGeom prst="rect">
            <a:avLst/>
          </a:prstGeom>
          <a:noFill/>
          <a:ln/>
        </p:spPr>
        <p:txBody>
          <a:bodyPr wrap="square" rtlCol="0" anchor="ctr"/>
          <a:lstStyle/>
          <a:p>
            <a:pPr indent="0" marL="0">
              <a:buNone/>
            </a:pPr>
            <a:r>
              <a:rPr lang="en-US" sz="1000" b="1" dirty="0">
                <a:solidFill>
                  <a:srgbClr val="1C1917"/>
                </a:solidFill>
                <a:latin typeface="Arial" pitchFamily="34" charset="0"/>
                <a:ea typeface="Arial" pitchFamily="34" charset="-122"/>
                <a:cs typeface="Arial" pitchFamily="34" charset="-120"/>
              </a:rPr>
              <a:t>工程生命周期</a:t>
            </a:r>
            <a:endParaRPr lang="en-US" sz="1000" dirty="0"/>
          </a:p>
        </p:txBody>
      </p:sp>
      <p:sp>
        <p:nvSpPr>
          <p:cNvPr id="34" name="Text 32"/>
          <p:cNvSpPr/>
          <p:nvPr/>
        </p:nvSpPr>
        <p:spPr>
          <a:xfrm>
            <a:off x="822960" y="4617720"/>
            <a:ext cx="1828800" cy="228600"/>
          </a:xfrm>
          <a:prstGeom prst="rect">
            <a:avLst/>
          </a:prstGeom>
          <a:noFill/>
          <a:ln/>
        </p:spPr>
        <p:txBody>
          <a:bodyPr wrap="square" rtlCol="0" anchor="ctr"/>
          <a:lstStyle/>
          <a:p>
            <a:pPr indent="0" marL="0">
              <a:buNone/>
            </a:pPr>
            <a:r>
              <a:rPr lang="en-US" sz="850" dirty="0">
                <a:solidFill>
                  <a:srgbClr val="57534E"/>
                </a:solidFill>
                <a:latin typeface="Arial" pitchFamily="34" charset="0"/>
                <a:ea typeface="Arial" pitchFamily="34" charset="-122"/>
                <a:cs typeface="Arial" pitchFamily="34" charset="-120"/>
              </a:rPr>
              <a:t>维护与进化成本</a:t>
            </a:r>
            <a:endParaRPr lang="en-US" sz="850" dirty="0"/>
          </a:p>
        </p:txBody>
      </p:sp>
      <p:sp>
        <p:nvSpPr>
          <p:cNvPr id="35" name="Shape 33"/>
          <p:cNvSpPr/>
          <p:nvPr/>
        </p:nvSpPr>
        <p:spPr>
          <a:xfrm>
            <a:off x="2788920" y="4069080"/>
            <a:ext cx="2651760" cy="1078992"/>
          </a:xfrm>
          <a:prstGeom prst="rect">
            <a:avLst/>
          </a:prstGeom>
          <a:solidFill>
            <a:srgbClr val="FFFFFF"/>
          </a:solidFill>
          <a:ln w="12700">
            <a:solidFill>
              <a:srgbClr val="E2DCD2"/>
            </a:solidFill>
            <a:prstDash val="solid"/>
          </a:ln>
        </p:spPr>
      </p:sp>
      <p:sp>
        <p:nvSpPr>
          <p:cNvPr id="36" name="Text 34"/>
          <p:cNvSpPr/>
          <p:nvPr/>
        </p:nvSpPr>
        <p:spPr>
          <a:xfrm>
            <a:off x="2880360" y="4233672"/>
            <a:ext cx="2468880" cy="777240"/>
          </a:xfrm>
          <a:prstGeom prst="rect">
            <a:avLst/>
          </a:prstGeom>
          <a:noFill/>
          <a:ln/>
        </p:spPr>
        <p:txBody>
          <a:bodyPr wrap="square" rtlCol="0" anchor="ctr"/>
          <a:lstStyle/>
          <a:p>
            <a:pPr algn="ctr" indent="0" marL="0">
              <a:lnSpc>
                <a:spcPts val="1300"/>
              </a:lnSpc>
              <a:buNone/>
            </a:pPr>
            <a:r>
              <a:rPr lang="en-US" sz="880" dirty="0">
                <a:solidFill>
                  <a:srgbClr val="57534E"/>
                </a:solidFill>
                <a:latin typeface="Arial" pitchFamily="34" charset="0"/>
                <a:ea typeface="Arial" pitchFamily="34" charset="-122"/>
                <a:cs typeface="Arial" pitchFamily="34" charset="-120"/>
              </a:rPr>
              <a:t>年/月为单位人工维护</a:t>
            </a:r>
            <a:endParaRPr lang="en-US" sz="880" dirty="0"/>
          </a:p>
          <a:p>
            <a:pPr algn="ctr" indent="0" marL="0">
              <a:lnSpc>
                <a:spcPts val="1300"/>
              </a:lnSpc>
              <a:buNone/>
            </a:pPr>
            <a:r>
              <a:rPr lang="en-US" sz="880" dirty="0">
                <a:solidFill>
                  <a:srgbClr val="57534E"/>
                </a:solidFill>
                <a:latin typeface="Arial" pitchFamily="34" charset="0"/>
                <a:ea typeface="Arial" pitchFamily="34" charset="-122"/>
                <a:cs typeface="Arial" pitchFamily="34" charset="-120"/>
              </a:rPr>
              <a:t>面临不可避免的技术债务、腐化与重构</a:t>
            </a:r>
            <a:endParaRPr lang="en-US" sz="880" dirty="0"/>
          </a:p>
        </p:txBody>
      </p:sp>
      <p:sp>
        <p:nvSpPr>
          <p:cNvPr id="37" name="Shape 35"/>
          <p:cNvSpPr/>
          <p:nvPr/>
        </p:nvSpPr>
        <p:spPr>
          <a:xfrm>
            <a:off x="5486400" y="4069080"/>
            <a:ext cx="2651760" cy="1078992"/>
          </a:xfrm>
          <a:prstGeom prst="rect">
            <a:avLst/>
          </a:prstGeom>
          <a:solidFill>
            <a:srgbClr val="FFFFFF"/>
          </a:solidFill>
          <a:ln w="12700">
            <a:solidFill>
              <a:srgbClr val="E2DCD2"/>
            </a:solidFill>
            <a:prstDash val="solid"/>
          </a:ln>
        </p:spPr>
      </p:sp>
      <p:sp>
        <p:nvSpPr>
          <p:cNvPr id="38" name="Text 36"/>
          <p:cNvSpPr/>
          <p:nvPr/>
        </p:nvSpPr>
        <p:spPr>
          <a:xfrm>
            <a:off x="5577840" y="4233672"/>
            <a:ext cx="2468880" cy="777240"/>
          </a:xfrm>
          <a:prstGeom prst="rect">
            <a:avLst/>
          </a:prstGeom>
          <a:noFill/>
          <a:ln/>
        </p:spPr>
        <p:txBody>
          <a:bodyPr wrap="square" rtlCol="0" anchor="ctr"/>
          <a:lstStyle/>
          <a:p>
            <a:pPr algn="ctr" indent="0" marL="0">
              <a:lnSpc>
                <a:spcPts val="1300"/>
              </a:lnSpc>
              <a:buNone/>
            </a:pPr>
            <a:r>
              <a:rPr lang="en-US" sz="880" dirty="0">
                <a:solidFill>
                  <a:srgbClr val="1C1917"/>
                </a:solidFill>
                <a:latin typeface="Arial" pitchFamily="34" charset="0"/>
                <a:ea typeface="Arial" pitchFamily="34" charset="-122"/>
                <a:cs typeface="Arial" pitchFamily="34" charset="-120"/>
              </a:rPr>
              <a:t>数据收集与重训练</a:t>
            </a:r>
            <a:endParaRPr lang="en-US" sz="880" dirty="0"/>
          </a:p>
          <a:p>
            <a:pPr algn="ctr" indent="0" marL="0">
              <a:lnSpc>
                <a:spcPts val="1300"/>
              </a:lnSpc>
              <a:buNone/>
            </a:pPr>
            <a:r>
              <a:rPr lang="en-US" sz="880" dirty="0">
                <a:solidFill>
                  <a:srgbClr val="1C1917"/>
                </a:solidFill>
                <a:latin typeface="Arial" pitchFamily="34" charset="0"/>
                <a:ea typeface="Arial" pitchFamily="34" charset="-122"/>
                <a:cs typeface="Arial" pitchFamily="34" charset="-120"/>
              </a:rPr>
              <a:t>依赖海量算力与长周期微调更新</a:t>
            </a:r>
            <a:endParaRPr lang="en-US" sz="880" dirty="0"/>
          </a:p>
        </p:txBody>
      </p:sp>
      <p:sp>
        <p:nvSpPr>
          <p:cNvPr id="39" name="Shape 37"/>
          <p:cNvSpPr/>
          <p:nvPr/>
        </p:nvSpPr>
        <p:spPr>
          <a:xfrm>
            <a:off x="8183880" y="4069080"/>
            <a:ext cx="3273552" cy="1078992"/>
          </a:xfrm>
          <a:prstGeom prst="rect">
            <a:avLst/>
          </a:prstGeom>
          <a:solidFill>
            <a:srgbClr val="FBF0EB"/>
          </a:solidFill>
          <a:ln w="12700">
            <a:solidFill>
              <a:srgbClr val="F0C2B2"/>
            </a:solidFill>
            <a:prstDash val="solid"/>
          </a:ln>
        </p:spPr>
      </p:sp>
      <p:sp>
        <p:nvSpPr>
          <p:cNvPr id="40" name="Text 38"/>
          <p:cNvSpPr/>
          <p:nvPr/>
        </p:nvSpPr>
        <p:spPr>
          <a:xfrm>
            <a:off x="8275320" y="4233672"/>
            <a:ext cx="3090672" cy="777240"/>
          </a:xfrm>
          <a:prstGeom prst="rect">
            <a:avLst/>
          </a:prstGeom>
          <a:noFill/>
          <a:ln/>
        </p:spPr>
        <p:txBody>
          <a:bodyPr wrap="square" rtlCol="0" anchor="ctr"/>
          <a:lstStyle/>
          <a:p>
            <a:pPr algn="ctr" indent="0" marL="0">
              <a:lnSpc>
                <a:spcPts val="1300"/>
              </a:lnSpc>
              <a:buNone/>
            </a:pPr>
            <a:r>
              <a:rPr lang="en-US" sz="900" b="1" dirty="0">
                <a:solidFill>
                  <a:srgbClr val="D97757"/>
                </a:solidFill>
                <a:latin typeface="Arial" pitchFamily="34" charset="0"/>
                <a:ea typeface="Arial" pitchFamily="34" charset="-122"/>
                <a:cs typeface="Arial" pitchFamily="34" charset="-120"/>
              </a:rPr>
              <a:t>零维护即时动态生成</a:t>
            </a:r>
            <a:endParaRPr lang="en-US" sz="900" dirty="0"/>
          </a:p>
          <a:p>
            <a:pPr algn="ctr" indent="0" marL="0">
              <a:lnSpc>
                <a:spcPts val="1300"/>
              </a:lnSpc>
              <a:buNone/>
            </a:pPr>
            <a:r>
              <a:rPr lang="en-US" sz="900" b="1" dirty="0">
                <a:solidFill>
                  <a:srgbClr val="D97757"/>
                </a:solidFill>
                <a:latin typeface="Arial" pitchFamily="34" charset="0"/>
                <a:ea typeface="Arial" pitchFamily="34" charset="-122"/>
                <a:cs typeface="Arial" pitchFamily="34" charset="-120"/>
              </a:rPr>
              <a:t>每次调用根据当前现实环境实时合成执行</a:t>
            </a:r>
            <a:endParaRPr lang="en-US" sz="900" dirty="0"/>
          </a:p>
        </p:txBody>
      </p:sp>
      <p:sp>
        <p:nvSpPr>
          <p:cNvPr id="41" name="Shape 39"/>
          <p:cNvSpPr/>
          <p:nvPr/>
        </p:nvSpPr>
        <p:spPr>
          <a:xfrm>
            <a:off x="731520" y="5358384"/>
            <a:ext cx="10725912" cy="868680"/>
          </a:xfrm>
          <a:prstGeom prst="rect">
            <a:avLst/>
          </a:prstGeom>
          <a:solidFill>
            <a:srgbClr val="FFFFFF"/>
          </a:solidFill>
          <a:ln w="12700">
            <a:solidFill>
              <a:srgbClr val="F0C2B2"/>
            </a:solidFill>
            <a:prstDash val="solid"/>
          </a:ln>
        </p:spPr>
      </p:sp>
      <p:sp>
        <p:nvSpPr>
          <p:cNvPr id="42" name="Shape 40"/>
          <p:cNvSpPr/>
          <p:nvPr/>
        </p:nvSpPr>
        <p:spPr>
          <a:xfrm>
            <a:off x="960120" y="5532120"/>
            <a:ext cx="1645920" cy="502920"/>
          </a:xfrm>
          <a:prstGeom prst="rect">
            <a:avLst/>
          </a:prstGeom>
          <a:solidFill>
            <a:srgbClr val="D97757"/>
          </a:solidFill>
          <a:ln/>
        </p:spPr>
      </p:sp>
      <p:sp>
        <p:nvSpPr>
          <p:cNvPr id="43" name="Text 41"/>
          <p:cNvSpPr/>
          <p:nvPr/>
        </p:nvSpPr>
        <p:spPr>
          <a:xfrm>
            <a:off x="960120" y="5596128"/>
            <a:ext cx="1645920" cy="384048"/>
          </a:xfrm>
          <a:prstGeom prst="rect">
            <a:avLst/>
          </a:prstGeom>
          <a:noFill/>
          <a:ln/>
        </p:spPr>
        <p:txBody>
          <a:bodyPr wrap="square" rtlCol="0" anchor="ctr"/>
          <a:lstStyle/>
          <a:p>
            <a:pPr algn="ctr" indent="0" marL="0">
              <a:lnSpc>
                <a:spcPts val="1100"/>
              </a:lnSpc>
              <a:buNone/>
            </a:pPr>
            <a:r>
              <a:rPr lang="en-US" sz="850" b="1" dirty="0">
                <a:solidFill>
                  <a:srgbClr val="FFFFFF"/>
                </a:solidFill>
                <a:latin typeface="Arial" pitchFamily="34" charset="0"/>
                <a:ea typeface="Arial" pitchFamily="34" charset="-122"/>
                <a:cs typeface="Arial" pitchFamily="34" charset="-120"/>
              </a:rPr>
              <a:t>范式跃迁定论</a:t>
            </a:r>
            <a:endParaRPr lang="en-US" sz="850" dirty="0"/>
          </a:p>
          <a:p>
            <a:pPr algn="ctr" indent="0" marL="0">
              <a:lnSpc>
                <a:spcPts val="1100"/>
              </a:lnSpc>
              <a:buNone/>
            </a:pPr>
            <a:r>
              <a:rPr lang="en-US" sz="850" b="1" dirty="0">
                <a:solidFill>
                  <a:srgbClr val="FFFFFF"/>
                </a:solidFill>
                <a:latin typeface="Arial" pitchFamily="34" charset="0"/>
                <a:ea typeface="Arial" pitchFamily="34" charset="-122"/>
                <a:cs typeface="Arial" pitchFamily="34" charset="-120"/>
              </a:rPr>
              <a:t>SOFTWARE 3.0</a:t>
            </a:r>
            <a:endParaRPr lang="en-US" sz="850" dirty="0"/>
          </a:p>
        </p:txBody>
      </p:sp>
      <p:sp>
        <p:nvSpPr>
          <p:cNvPr id="44" name="Text 42"/>
          <p:cNvSpPr/>
          <p:nvPr/>
        </p:nvSpPr>
        <p:spPr>
          <a:xfrm>
            <a:off x="2788920" y="5532120"/>
            <a:ext cx="8458200" cy="548640"/>
          </a:xfrm>
          <a:prstGeom prst="rect">
            <a:avLst/>
          </a:prstGeom>
          <a:noFill/>
          <a:ln/>
        </p:spPr>
        <p:txBody>
          <a:bodyPr wrap="square" rtlCol="0" anchor="ctr"/>
          <a:lstStyle/>
          <a:p>
            <a:pPr indent="0" marL="0">
              <a:lnSpc>
                <a:spcPts val="1400"/>
              </a:lnSpc>
              <a:buNone/>
            </a:pPr>
            <a:r>
              <a:rPr lang="en-US" sz="950" b="1" dirty="0">
                <a:solidFill>
                  <a:srgbClr val="1C1917"/>
                </a:solidFill>
                <a:latin typeface="Arial" pitchFamily="34" charset="0"/>
                <a:ea typeface="Arial" pitchFamily="34" charset="-122"/>
                <a:cs typeface="Arial" pitchFamily="34" charset="-120"/>
              </a:rPr>
              <a:t>“在 Software 3.0 时代，代码不再是需要人类永久存储、维护的静态资产，而是沦为智能体在沙箱中动态编译、执行一次即刻销毁的思维中间态。代码成为了机器自己的原生肌肉。”</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BF9F5"/>
        </a:solidFill>
      </p:bgPr>
    </p:bg>
    <p:spTree>
      <p:nvGrpSpPr>
        <p:cNvPr id="1" name=""/>
        <p:cNvGrpSpPr/>
        <p:nvPr/>
      </p:nvGrpSpPr>
      <p:grpSpPr>
        <a:xfrm>
          <a:off x="0" y="0"/>
          <a:ext cx="0" cy="0"/>
          <a:chOff x="0" y="0"/>
          <a:chExt cx="0" cy="0"/>
        </a:xfrm>
      </p:grpSpPr>
      <p:sp>
        <p:nvSpPr>
          <p:cNvPr id="2" name="Shape 0"/>
          <p:cNvSpPr/>
          <p:nvPr/>
        </p:nvSpPr>
        <p:spPr>
          <a:xfrm>
            <a:off x="731520" y="384048"/>
            <a:ext cx="2560320" cy="256032"/>
          </a:xfrm>
          <a:prstGeom prst="rect">
            <a:avLst/>
          </a:prstGeom>
          <a:solidFill>
            <a:srgbClr val="FBF0EB"/>
          </a:solidFill>
          <a:ln w="12700">
            <a:solidFill>
              <a:srgbClr val="F0C2B2"/>
            </a:solidFill>
            <a:prstDash val="solid"/>
          </a:ln>
        </p:spPr>
      </p:sp>
      <p:sp>
        <p:nvSpPr>
          <p:cNvPr id="3" name="Text 1"/>
          <p:cNvSpPr/>
          <p:nvPr/>
        </p:nvSpPr>
        <p:spPr>
          <a:xfrm>
            <a:off x="731520" y="384048"/>
            <a:ext cx="2560320" cy="256032"/>
          </a:xfrm>
          <a:prstGeom prst="rect">
            <a:avLst/>
          </a:prstGeom>
          <a:noFill/>
          <a:ln/>
        </p:spPr>
        <p:txBody>
          <a:bodyPr wrap="square" rtlCol="0" anchor="ctr"/>
          <a:lstStyle/>
          <a:p>
            <a:pPr algn="ctr" indent="0" marL="0">
              <a:buNone/>
            </a:pPr>
            <a:r>
              <a:rPr lang="en-US" sz="900" b="1" spc="120" kern="0" dirty="0">
                <a:solidFill>
                  <a:srgbClr val="D97757"/>
                </a:solidFill>
                <a:latin typeface="Arial" pitchFamily="34" charset="0"/>
                <a:ea typeface="Arial" pitchFamily="34" charset="-122"/>
                <a:cs typeface="Arial" pitchFamily="34" charset="-120"/>
              </a:rPr>
              <a:t>BENCHMARK PARADIGM SHIFT</a:t>
            </a:r>
            <a:endParaRPr lang="en-US" sz="900" dirty="0"/>
          </a:p>
        </p:txBody>
      </p:sp>
      <p:sp>
        <p:nvSpPr>
          <p:cNvPr id="4" name="Text 2"/>
          <p:cNvSpPr/>
          <p:nvPr/>
        </p:nvSpPr>
        <p:spPr>
          <a:xfrm>
            <a:off x="731520" y="676656"/>
            <a:ext cx="9875520" cy="475488"/>
          </a:xfrm>
          <a:prstGeom prst="rect">
            <a:avLst/>
          </a:prstGeom>
          <a:noFill/>
          <a:ln/>
        </p:spPr>
        <p:txBody>
          <a:bodyPr wrap="square" lIns="0" tIns="0" rIns="0" bIns="0" rtlCol="0" anchor="ctr"/>
          <a:lstStyle/>
          <a:p>
            <a:pPr indent="0" marL="0">
              <a:buNone/>
            </a:pPr>
            <a:r>
              <a:rPr lang="en-US" sz="2100" b="1" dirty="0">
                <a:solidFill>
                  <a:srgbClr val="1C1917"/>
                </a:solidFill>
                <a:latin typeface="Arial" pitchFamily="34" charset="0"/>
                <a:ea typeface="Arial" pitchFamily="34" charset="-122"/>
                <a:cs typeface="Arial" pitchFamily="34" charset="-120"/>
              </a:rPr>
              <a:t>评测体系的范式转移：从刷榜做题到生产自愈</a:t>
            </a:r>
            <a:endParaRPr lang="en-US" sz="2100" dirty="0"/>
          </a:p>
        </p:txBody>
      </p:sp>
      <p:sp>
        <p:nvSpPr>
          <p:cNvPr id="5" name="Text 3"/>
          <p:cNvSpPr/>
          <p:nvPr/>
        </p:nvSpPr>
        <p:spPr>
          <a:xfrm>
            <a:off x="10972800" y="384048"/>
            <a:ext cx="731520" cy="320040"/>
          </a:xfrm>
          <a:prstGeom prst="rect">
            <a:avLst/>
          </a:prstGeom>
          <a:noFill/>
          <a:ln/>
        </p:spPr>
        <p:txBody>
          <a:bodyPr wrap="square" rtlCol="0" anchor="ctr"/>
          <a:lstStyle/>
          <a:p>
            <a:pPr algn="r" indent="0" marL="0">
              <a:buNone/>
            </a:pPr>
            <a:r>
              <a:rPr lang="en-US" sz="1300" b="1" dirty="0">
                <a:solidFill>
                  <a:srgbClr val="8C857B"/>
                </a:solidFill>
                <a:latin typeface="Arial" pitchFamily="34" charset="0"/>
                <a:ea typeface="Arial" pitchFamily="34" charset="-122"/>
                <a:cs typeface="Arial" pitchFamily="34" charset="-120"/>
              </a:rPr>
              <a:t>21</a:t>
            </a:r>
            <a:endParaRPr lang="en-US" sz="1300" dirty="0"/>
          </a:p>
        </p:txBody>
      </p:sp>
      <p:sp>
        <p:nvSpPr>
          <p:cNvPr id="6" name="Shape 4"/>
          <p:cNvSpPr/>
          <p:nvPr/>
        </p:nvSpPr>
        <p:spPr>
          <a:xfrm>
            <a:off x="731520" y="1325880"/>
            <a:ext cx="5669280" cy="4892040"/>
          </a:xfrm>
          <a:prstGeom prst="rect">
            <a:avLst/>
          </a:prstGeom>
          <a:solidFill>
            <a:srgbClr val="FFFFFF"/>
          </a:solidFill>
          <a:ln w="12700">
            <a:solidFill>
              <a:srgbClr val="E2DCD2"/>
            </a:solidFill>
            <a:prstDash val="solid"/>
          </a:ln>
        </p:spPr>
      </p:sp>
      <p:sp>
        <p:nvSpPr>
          <p:cNvPr id="7" name="Text 5"/>
          <p:cNvSpPr/>
          <p:nvPr/>
        </p:nvSpPr>
        <p:spPr>
          <a:xfrm>
            <a:off x="1005840" y="1600200"/>
            <a:ext cx="2377440" cy="320040"/>
          </a:xfrm>
          <a:prstGeom prst="rect">
            <a:avLst/>
          </a:prstGeom>
          <a:noFill/>
          <a:ln/>
        </p:spPr>
        <p:txBody>
          <a:bodyPr wrap="square" rtlCol="0" anchor="ctr"/>
          <a:lstStyle/>
          <a:p>
            <a:pPr indent="0" marL="0">
              <a:buNone/>
            </a:pPr>
            <a:r>
              <a:rPr lang="en-US" sz="1100" b="1" dirty="0">
                <a:solidFill>
                  <a:srgbClr val="1C1917"/>
                </a:solidFill>
                <a:latin typeface="Arial" pitchFamily="34" charset="0"/>
                <a:ea typeface="Arial" pitchFamily="34" charset="-122"/>
                <a:cs typeface="Arial" pitchFamily="34" charset="-120"/>
              </a:rPr>
              <a:t>Claude 5.5 Sonnet</a:t>
            </a:r>
            <a:endParaRPr lang="en-US" sz="1100" dirty="0"/>
          </a:p>
        </p:txBody>
      </p:sp>
      <p:sp>
        <p:nvSpPr>
          <p:cNvPr id="8" name="Shape 6"/>
          <p:cNvSpPr/>
          <p:nvPr/>
        </p:nvSpPr>
        <p:spPr>
          <a:xfrm>
            <a:off x="3474720" y="1673352"/>
            <a:ext cx="1645920" cy="201168"/>
          </a:xfrm>
          <a:prstGeom prst="rect">
            <a:avLst/>
          </a:prstGeom>
          <a:solidFill>
            <a:srgbClr val="EFEBE1"/>
          </a:solidFill>
          <a:ln/>
        </p:spPr>
      </p:sp>
      <p:sp>
        <p:nvSpPr>
          <p:cNvPr id="9" name="Shape 7"/>
          <p:cNvSpPr/>
          <p:nvPr/>
        </p:nvSpPr>
        <p:spPr>
          <a:xfrm>
            <a:off x="3474720" y="1673352"/>
            <a:ext cx="1162020" cy="201168"/>
          </a:xfrm>
          <a:prstGeom prst="rect">
            <a:avLst/>
          </a:prstGeom>
          <a:solidFill>
            <a:srgbClr val="D97757"/>
          </a:solidFill>
          <a:ln/>
        </p:spPr>
      </p:sp>
      <p:sp>
        <p:nvSpPr>
          <p:cNvPr id="10" name="Text 8"/>
          <p:cNvSpPr/>
          <p:nvPr/>
        </p:nvSpPr>
        <p:spPr>
          <a:xfrm>
            <a:off x="5257800" y="1600200"/>
            <a:ext cx="1005840" cy="320040"/>
          </a:xfrm>
          <a:prstGeom prst="rect">
            <a:avLst/>
          </a:prstGeom>
          <a:noFill/>
          <a:ln/>
        </p:spPr>
        <p:txBody>
          <a:bodyPr wrap="square" rtlCol="0" anchor="ctr"/>
          <a:lstStyle/>
          <a:p>
            <a:pPr indent="0" marL="0">
              <a:buNone/>
            </a:pPr>
            <a:r>
              <a:rPr lang="en-US" sz="1100" b="1" dirty="0">
                <a:solidFill>
                  <a:srgbClr val="D97757"/>
                </a:solidFill>
                <a:latin typeface="Arial" pitchFamily="34" charset="0"/>
                <a:ea typeface="Arial" pitchFamily="34" charset="-122"/>
                <a:cs typeface="Arial" pitchFamily="34" charset="-120"/>
              </a:rPr>
              <a:t>70.6%</a:t>
            </a:r>
            <a:endParaRPr lang="en-US" sz="1100" dirty="0"/>
          </a:p>
        </p:txBody>
      </p:sp>
      <p:sp>
        <p:nvSpPr>
          <p:cNvPr id="11" name="Text 9"/>
          <p:cNvSpPr/>
          <p:nvPr/>
        </p:nvSpPr>
        <p:spPr>
          <a:xfrm>
            <a:off x="1005840" y="2686050"/>
            <a:ext cx="2377440" cy="320040"/>
          </a:xfrm>
          <a:prstGeom prst="rect">
            <a:avLst/>
          </a:prstGeom>
          <a:noFill/>
          <a:ln/>
        </p:spPr>
        <p:txBody>
          <a:bodyPr wrap="square" rtlCol="0" anchor="ctr"/>
          <a:lstStyle/>
          <a:p>
            <a:pPr indent="0" marL="0">
              <a:buNone/>
            </a:pPr>
            <a:r>
              <a:rPr lang="en-US" sz="1100" b="1" dirty="0">
                <a:solidFill>
                  <a:srgbClr val="1C1917"/>
                </a:solidFill>
                <a:latin typeface="Arial" pitchFamily="34" charset="0"/>
                <a:ea typeface="Arial" pitchFamily="34" charset="-122"/>
                <a:cs typeface="Arial" pitchFamily="34" charset="-120"/>
              </a:rPr>
              <a:t>OpenAI o-series (o3)</a:t>
            </a:r>
            <a:endParaRPr lang="en-US" sz="1100" dirty="0"/>
          </a:p>
        </p:txBody>
      </p:sp>
      <p:sp>
        <p:nvSpPr>
          <p:cNvPr id="12" name="Shape 10"/>
          <p:cNvSpPr/>
          <p:nvPr/>
        </p:nvSpPr>
        <p:spPr>
          <a:xfrm>
            <a:off x="3474720" y="2759202"/>
            <a:ext cx="1645920" cy="201168"/>
          </a:xfrm>
          <a:prstGeom prst="rect">
            <a:avLst/>
          </a:prstGeom>
          <a:solidFill>
            <a:srgbClr val="EFEBE1"/>
          </a:solidFill>
          <a:ln/>
        </p:spPr>
      </p:sp>
      <p:sp>
        <p:nvSpPr>
          <p:cNvPr id="13" name="Shape 11"/>
          <p:cNvSpPr/>
          <p:nvPr/>
        </p:nvSpPr>
        <p:spPr>
          <a:xfrm>
            <a:off x="3474720" y="2759202"/>
            <a:ext cx="1022116" cy="201168"/>
          </a:xfrm>
          <a:prstGeom prst="rect">
            <a:avLst/>
          </a:prstGeom>
          <a:solidFill>
            <a:srgbClr val="475569"/>
          </a:solidFill>
          <a:ln/>
        </p:spPr>
      </p:sp>
      <p:sp>
        <p:nvSpPr>
          <p:cNvPr id="14" name="Text 12"/>
          <p:cNvSpPr/>
          <p:nvPr/>
        </p:nvSpPr>
        <p:spPr>
          <a:xfrm>
            <a:off x="5257800" y="2686050"/>
            <a:ext cx="1005840" cy="320040"/>
          </a:xfrm>
          <a:prstGeom prst="rect">
            <a:avLst/>
          </a:prstGeom>
          <a:noFill/>
          <a:ln/>
        </p:spPr>
        <p:txBody>
          <a:bodyPr wrap="square" rtlCol="0" anchor="ctr"/>
          <a:lstStyle/>
          <a:p>
            <a:pPr indent="0" marL="0">
              <a:buNone/>
            </a:pPr>
            <a:r>
              <a:rPr lang="en-US" sz="1100" b="1" dirty="0">
                <a:solidFill>
                  <a:srgbClr val="475569"/>
                </a:solidFill>
                <a:latin typeface="Arial" pitchFamily="34" charset="0"/>
                <a:ea typeface="Arial" pitchFamily="34" charset="-122"/>
                <a:cs typeface="Arial" pitchFamily="34" charset="-120"/>
              </a:rPr>
              <a:t>62.1%</a:t>
            </a:r>
            <a:endParaRPr lang="en-US" sz="1100" dirty="0"/>
          </a:p>
        </p:txBody>
      </p:sp>
      <p:sp>
        <p:nvSpPr>
          <p:cNvPr id="15" name="Text 13"/>
          <p:cNvSpPr/>
          <p:nvPr/>
        </p:nvSpPr>
        <p:spPr>
          <a:xfrm>
            <a:off x="1005840" y="3771900"/>
            <a:ext cx="2377440" cy="320040"/>
          </a:xfrm>
          <a:prstGeom prst="rect">
            <a:avLst/>
          </a:prstGeom>
          <a:noFill/>
          <a:ln/>
        </p:spPr>
        <p:txBody>
          <a:bodyPr wrap="square" rtlCol="0" anchor="ctr"/>
          <a:lstStyle/>
          <a:p>
            <a:pPr indent="0" marL="0">
              <a:buNone/>
            </a:pPr>
            <a:r>
              <a:rPr lang="en-US" sz="1100" b="1" dirty="0">
                <a:solidFill>
                  <a:srgbClr val="1C1917"/>
                </a:solidFill>
                <a:latin typeface="Arial" pitchFamily="34" charset="0"/>
                <a:ea typeface="Arial" pitchFamily="34" charset="-122"/>
                <a:cs typeface="Arial" pitchFamily="34" charset="-120"/>
              </a:rPr>
              <a:t>Claude 4.5 Opus</a:t>
            </a:r>
            <a:endParaRPr lang="en-US" sz="1100" dirty="0"/>
          </a:p>
        </p:txBody>
      </p:sp>
      <p:sp>
        <p:nvSpPr>
          <p:cNvPr id="16" name="Shape 14"/>
          <p:cNvSpPr/>
          <p:nvPr/>
        </p:nvSpPr>
        <p:spPr>
          <a:xfrm>
            <a:off x="3474720" y="3845052"/>
            <a:ext cx="1645920" cy="201168"/>
          </a:xfrm>
          <a:prstGeom prst="rect">
            <a:avLst/>
          </a:prstGeom>
          <a:solidFill>
            <a:srgbClr val="EFEBE1"/>
          </a:solidFill>
          <a:ln/>
        </p:spPr>
      </p:sp>
      <p:sp>
        <p:nvSpPr>
          <p:cNvPr id="17" name="Shape 15"/>
          <p:cNvSpPr/>
          <p:nvPr/>
        </p:nvSpPr>
        <p:spPr>
          <a:xfrm>
            <a:off x="3474720" y="3845052"/>
            <a:ext cx="961217" cy="201168"/>
          </a:xfrm>
          <a:prstGeom prst="rect">
            <a:avLst/>
          </a:prstGeom>
          <a:solidFill>
            <a:srgbClr val="D97706"/>
          </a:solidFill>
          <a:ln/>
        </p:spPr>
      </p:sp>
      <p:sp>
        <p:nvSpPr>
          <p:cNvPr id="18" name="Text 16"/>
          <p:cNvSpPr/>
          <p:nvPr/>
        </p:nvSpPr>
        <p:spPr>
          <a:xfrm>
            <a:off x="5257800" y="3771900"/>
            <a:ext cx="1005840" cy="320040"/>
          </a:xfrm>
          <a:prstGeom prst="rect">
            <a:avLst/>
          </a:prstGeom>
          <a:noFill/>
          <a:ln/>
        </p:spPr>
        <p:txBody>
          <a:bodyPr wrap="square" rtlCol="0" anchor="ctr"/>
          <a:lstStyle/>
          <a:p>
            <a:pPr indent="0" marL="0">
              <a:buNone/>
            </a:pPr>
            <a:r>
              <a:rPr lang="en-US" sz="1100" b="1" dirty="0">
                <a:solidFill>
                  <a:srgbClr val="D97706"/>
                </a:solidFill>
                <a:latin typeface="Arial" pitchFamily="34" charset="0"/>
                <a:ea typeface="Arial" pitchFamily="34" charset="-122"/>
                <a:cs typeface="Arial" pitchFamily="34" charset="-120"/>
              </a:rPr>
              <a:t>58.4%</a:t>
            </a:r>
            <a:endParaRPr lang="en-US" sz="1100" dirty="0"/>
          </a:p>
        </p:txBody>
      </p:sp>
      <p:sp>
        <p:nvSpPr>
          <p:cNvPr id="19" name="Text 17"/>
          <p:cNvSpPr/>
          <p:nvPr/>
        </p:nvSpPr>
        <p:spPr>
          <a:xfrm>
            <a:off x="1005840" y="4857750"/>
            <a:ext cx="2377440" cy="320040"/>
          </a:xfrm>
          <a:prstGeom prst="rect">
            <a:avLst/>
          </a:prstGeom>
          <a:noFill/>
          <a:ln/>
        </p:spPr>
        <p:txBody>
          <a:bodyPr wrap="square" rtlCol="0" anchor="ctr"/>
          <a:lstStyle/>
          <a:p>
            <a:pPr indent="0" marL="0">
              <a:buNone/>
            </a:pPr>
            <a:r>
              <a:rPr lang="en-US" sz="1100" b="1" dirty="0">
                <a:solidFill>
                  <a:srgbClr val="1C1917"/>
                </a:solidFill>
                <a:latin typeface="Arial" pitchFamily="34" charset="0"/>
                <a:ea typeface="Arial" pitchFamily="34" charset="-122"/>
                <a:cs typeface="Arial" pitchFamily="34" charset="-120"/>
              </a:rPr>
              <a:t>Gemini 3.0 Pro</a:t>
            </a:r>
            <a:endParaRPr lang="en-US" sz="1100" dirty="0"/>
          </a:p>
        </p:txBody>
      </p:sp>
      <p:sp>
        <p:nvSpPr>
          <p:cNvPr id="20" name="Shape 18"/>
          <p:cNvSpPr/>
          <p:nvPr/>
        </p:nvSpPr>
        <p:spPr>
          <a:xfrm>
            <a:off x="3474720" y="4930902"/>
            <a:ext cx="1645920" cy="201168"/>
          </a:xfrm>
          <a:prstGeom prst="rect">
            <a:avLst/>
          </a:prstGeom>
          <a:solidFill>
            <a:srgbClr val="EFEBE1"/>
          </a:solidFill>
          <a:ln/>
        </p:spPr>
      </p:sp>
      <p:sp>
        <p:nvSpPr>
          <p:cNvPr id="21" name="Shape 19"/>
          <p:cNvSpPr/>
          <p:nvPr/>
        </p:nvSpPr>
        <p:spPr>
          <a:xfrm>
            <a:off x="3474720" y="4930902"/>
            <a:ext cx="179405" cy="201168"/>
          </a:xfrm>
          <a:prstGeom prst="rect">
            <a:avLst/>
          </a:prstGeom>
          <a:solidFill>
            <a:srgbClr val="DC2626"/>
          </a:solidFill>
          <a:ln/>
        </p:spPr>
      </p:sp>
      <p:sp>
        <p:nvSpPr>
          <p:cNvPr id="22" name="Text 20"/>
          <p:cNvSpPr/>
          <p:nvPr/>
        </p:nvSpPr>
        <p:spPr>
          <a:xfrm>
            <a:off x="5257800" y="4857750"/>
            <a:ext cx="1005840" cy="320040"/>
          </a:xfrm>
          <a:prstGeom prst="rect">
            <a:avLst/>
          </a:prstGeom>
          <a:noFill/>
          <a:ln/>
        </p:spPr>
        <p:txBody>
          <a:bodyPr wrap="square" rtlCol="0" anchor="ctr"/>
          <a:lstStyle/>
          <a:p>
            <a:pPr indent="0" marL="0">
              <a:buNone/>
            </a:pPr>
            <a:r>
              <a:rPr lang="en-US" sz="1100" b="1" dirty="0">
                <a:solidFill>
                  <a:srgbClr val="DC2626"/>
                </a:solidFill>
                <a:latin typeface="Arial" pitchFamily="34" charset="0"/>
                <a:ea typeface="Arial" pitchFamily="34" charset="-122"/>
                <a:cs typeface="Arial" pitchFamily="34" charset="-120"/>
              </a:rPr>
              <a:t>10.9%</a:t>
            </a:r>
            <a:endParaRPr lang="en-US" sz="1100" dirty="0"/>
          </a:p>
        </p:txBody>
      </p:sp>
      <p:sp>
        <p:nvSpPr>
          <p:cNvPr id="23" name="Text 21"/>
          <p:cNvSpPr/>
          <p:nvPr/>
        </p:nvSpPr>
        <p:spPr>
          <a:xfrm>
            <a:off x="1005840" y="5669280"/>
            <a:ext cx="5120640" cy="320040"/>
          </a:xfrm>
          <a:prstGeom prst="rect">
            <a:avLst/>
          </a:prstGeom>
          <a:noFill/>
          <a:ln/>
        </p:spPr>
        <p:txBody>
          <a:bodyPr wrap="square" rtlCol="0" anchor="ctr"/>
          <a:lstStyle/>
          <a:p>
            <a:pPr indent="0" marL="0">
              <a:buNone/>
            </a:pPr>
            <a:r>
              <a:rPr lang="en-US" sz="880" i="1" dirty="0">
                <a:solidFill>
                  <a:srgbClr val="8C857B"/>
                </a:solidFill>
                <a:latin typeface="Arial" pitchFamily="34" charset="0"/>
                <a:ea typeface="Arial" pitchFamily="34" charset="-122"/>
                <a:cs typeface="Arial" pitchFamily="34" charset="-120"/>
              </a:rPr>
              <a:t>Terminal-Bench 4.0：真实容器环境下跨多文件自愈排障终极评测 (2026)</a:t>
            </a:r>
            <a:endParaRPr lang="en-US" sz="880" dirty="0"/>
          </a:p>
        </p:txBody>
      </p:sp>
      <p:sp>
        <p:nvSpPr>
          <p:cNvPr id="24" name="Shape 22"/>
          <p:cNvSpPr/>
          <p:nvPr/>
        </p:nvSpPr>
        <p:spPr>
          <a:xfrm>
            <a:off x="6601968" y="1325880"/>
            <a:ext cx="4846320" cy="1115568"/>
          </a:xfrm>
          <a:prstGeom prst="rect">
            <a:avLst/>
          </a:prstGeom>
          <a:solidFill>
            <a:srgbClr val="FFFFFF"/>
          </a:solidFill>
          <a:ln w="12700">
            <a:solidFill>
              <a:srgbClr val="E2DCD2"/>
            </a:solidFill>
            <a:prstDash val="solid"/>
          </a:ln>
        </p:spPr>
      </p:sp>
      <p:sp>
        <p:nvSpPr>
          <p:cNvPr id="25" name="Shape 23"/>
          <p:cNvSpPr/>
          <p:nvPr/>
        </p:nvSpPr>
        <p:spPr>
          <a:xfrm>
            <a:off x="6601968" y="1325880"/>
            <a:ext cx="73152" cy="1115568"/>
          </a:xfrm>
          <a:prstGeom prst="rect">
            <a:avLst/>
          </a:prstGeom>
          <a:solidFill>
            <a:srgbClr val="D1C9BC"/>
          </a:solidFill>
          <a:ln/>
        </p:spPr>
      </p:sp>
      <p:sp>
        <p:nvSpPr>
          <p:cNvPr id="26" name="Shape 24"/>
          <p:cNvSpPr/>
          <p:nvPr/>
        </p:nvSpPr>
        <p:spPr>
          <a:xfrm>
            <a:off x="6784848" y="1453896"/>
            <a:ext cx="2011680" cy="219456"/>
          </a:xfrm>
          <a:prstGeom prst="rect">
            <a:avLst/>
          </a:prstGeom>
          <a:solidFill>
            <a:srgbClr val="F5F2EB"/>
          </a:solidFill>
          <a:ln w="12700">
            <a:solidFill>
              <a:srgbClr val="D1C9BC"/>
            </a:solidFill>
            <a:prstDash val="solid"/>
          </a:ln>
        </p:spPr>
      </p:sp>
      <p:sp>
        <p:nvSpPr>
          <p:cNvPr id="27" name="Text 25"/>
          <p:cNvSpPr/>
          <p:nvPr/>
        </p:nvSpPr>
        <p:spPr>
          <a:xfrm>
            <a:off x="6784848" y="1453896"/>
            <a:ext cx="2011680" cy="219456"/>
          </a:xfrm>
          <a:prstGeom prst="rect">
            <a:avLst/>
          </a:prstGeom>
          <a:noFill/>
          <a:ln/>
        </p:spPr>
        <p:txBody>
          <a:bodyPr wrap="square" rtlCol="0" anchor="ctr"/>
          <a:lstStyle/>
          <a:p>
            <a:pPr algn="ctr" indent="0" marL="0">
              <a:buNone/>
            </a:pPr>
            <a:r>
              <a:rPr lang="en-US" sz="800" b="1" dirty="0">
                <a:solidFill>
                  <a:srgbClr val="D1C9BC"/>
                </a:solidFill>
                <a:latin typeface="Arial" pitchFamily="34" charset="0"/>
                <a:ea typeface="Arial" pitchFamily="34" charset="-122"/>
                <a:cs typeface="Arial" pitchFamily="34" charset="-120"/>
              </a:rPr>
              <a:t>GEN 1 · 刷题饱和</a:t>
            </a:r>
            <a:endParaRPr lang="en-US" sz="800" dirty="0"/>
          </a:p>
        </p:txBody>
      </p:sp>
      <p:sp>
        <p:nvSpPr>
          <p:cNvPr id="28" name="Text 26"/>
          <p:cNvSpPr/>
          <p:nvPr/>
        </p:nvSpPr>
        <p:spPr>
          <a:xfrm>
            <a:off x="6784848" y="1728216"/>
            <a:ext cx="4389120" cy="256032"/>
          </a:xfrm>
          <a:prstGeom prst="rect">
            <a:avLst/>
          </a:prstGeom>
          <a:noFill/>
          <a:ln/>
        </p:spPr>
        <p:txBody>
          <a:bodyPr wrap="square" rtlCol="0" anchor="ctr"/>
          <a:lstStyle/>
          <a:p>
            <a:pPr indent="0" marL="0">
              <a:buNone/>
            </a:pPr>
            <a:r>
              <a:rPr lang="en-US" sz="1050" b="1" dirty="0">
                <a:solidFill>
                  <a:srgbClr val="1C1917"/>
                </a:solidFill>
                <a:latin typeface="Arial" pitchFamily="34" charset="0"/>
                <a:ea typeface="Arial" pitchFamily="34" charset="-122"/>
                <a:cs typeface="Arial" pitchFamily="34" charset="-120"/>
              </a:rPr>
              <a:t>第一代：语法填空 (HumanEval, 2021)</a:t>
            </a:r>
            <a:endParaRPr lang="en-US" sz="1050" dirty="0"/>
          </a:p>
        </p:txBody>
      </p:sp>
      <p:sp>
        <p:nvSpPr>
          <p:cNvPr id="29" name="Text 27"/>
          <p:cNvSpPr/>
          <p:nvPr/>
        </p:nvSpPr>
        <p:spPr>
          <a:xfrm>
            <a:off x="6784848" y="1984248"/>
            <a:ext cx="4434840" cy="411480"/>
          </a:xfrm>
          <a:prstGeom prst="rect">
            <a:avLst/>
          </a:prstGeom>
          <a:noFill/>
          <a:ln/>
        </p:spPr>
        <p:txBody>
          <a:bodyPr wrap="square" rtlCol="0" anchor="ctr"/>
          <a:lstStyle/>
          <a:p>
            <a:pPr indent="0" marL="0">
              <a:lnSpc>
                <a:spcPts val="1250"/>
              </a:lnSpc>
              <a:buNone/>
            </a:pPr>
            <a:r>
              <a:rPr lang="en-US" sz="880" dirty="0">
                <a:solidFill>
                  <a:srgbClr val="57534E"/>
                </a:solidFill>
                <a:latin typeface="Arial" pitchFamily="34" charset="0"/>
                <a:ea typeface="Arial" pitchFamily="34" charset="-122"/>
                <a:cs typeface="Arial" pitchFamily="34" charset="-120"/>
              </a:rPr>
              <a:t>164 道独立函数题，完全无外部依赖。各家模型早已刷到 98%+ 严重饱和，对工业生产毫无参考价值。</a:t>
            </a:r>
            <a:endParaRPr lang="en-US" sz="880" dirty="0"/>
          </a:p>
        </p:txBody>
      </p:sp>
      <p:sp>
        <p:nvSpPr>
          <p:cNvPr id="30" name="Shape 28"/>
          <p:cNvSpPr/>
          <p:nvPr/>
        </p:nvSpPr>
        <p:spPr>
          <a:xfrm>
            <a:off x="6601968" y="2551176"/>
            <a:ext cx="4846320" cy="1115568"/>
          </a:xfrm>
          <a:prstGeom prst="rect">
            <a:avLst/>
          </a:prstGeom>
          <a:solidFill>
            <a:srgbClr val="FFFFFF"/>
          </a:solidFill>
          <a:ln w="12700">
            <a:solidFill>
              <a:srgbClr val="E2DCD2"/>
            </a:solidFill>
            <a:prstDash val="solid"/>
          </a:ln>
        </p:spPr>
      </p:sp>
      <p:sp>
        <p:nvSpPr>
          <p:cNvPr id="31" name="Shape 29"/>
          <p:cNvSpPr/>
          <p:nvPr/>
        </p:nvSpPr>
        <p:spPr>
          <a:xfrm>
            <a:off x="6601968" y="2551176"/>
            <a:ext cx="73152" cy="1115568"/>
          </a:xfrm>
          <a:prstGeom prst="rect">
            <a:avLst/>
          </a:prstGeom>
          <a:solidFill>
            <a:srgbClr val="475569"/>
          </a:solidFill>
          <a:ln/>
        </p:spPr>
      </p:sp>
      <p:sp>
        <p:nvSpPr>
          <p:cNvPr id="32" name="Shape 30"/>
          <p:cNvSpPr/>
          <p:nvPr/>
        </p:nvSpPr>
        <p:spPr>
          <a:xfrm>
            <a:off x="6784848" y="2679192"/>
            <a:ext cx="2011680" cy="219456"/>
          </a:xfrm>
          <a:prstGeom prst="rect">
            <a:avLst/>
          </a:prstGeom>
          <a:solidFill>
            <a:srgbClr val="F5F2EB"/>
          </a:solidFill>
          <a:ln w="12700">
            <a:solidFill>
              <a:srgbClr val="475569"/>
            </a:solidFill>
            <a:prstDash val="solid"/>
          </a:ln>
        </p:spPr>
      </p:sp>
      <p:sp>
        <p:nvSpPr>
          <p:cNvPr id="33" name="Text 31"/>
          <p:cNvSpPr/>
          <p:nvPr/>
        </p:nvSpPr>
        <p:spPr>
          <a:xfrm>
            <a:off x="6784848" y="2679192"/>
            <a:ext cx="2011680" cy="219456"/>
          </a:xfrm>
          <a:prstGeom prst="rect">
            <a:avLst/>
          </a:prstGeom>
          <a:noFill/>
          <a:ln/>
        </p:spPr>
        <p:txBody>
          <a:bodyPr wrap="square" rtlCol="0" anchor="ctr"/>
          <a:lstStyle/>
          <a:p>
            <a:pPr algn="ctr" indent="0" marL="0">
              <a:buNone/>
            </a:pPr>
            <a:r>
              <a:rPr lang="en-US" sz="800" b="1" dirty="0">
                <a:solidFill>
                  <a:srgbClr val="475569"/>
                </a:solidFill>
                <a:latin typeface="Arial" pitchFamily="34" charset="0"/>
                <a:ea typeface="Arial" pitchFamily="34" charset="-122"/>
                <a:cs typeface="Arial" pitchFamily="34" charset="-120"/>
              </a:rPr>
              <a:t>GEN 2 · 静态盲猜</a:t>
            </a:r>
            <a:endParaRPr lang="en-US" sz="800" dirty="0"/>
          </a:p>
        </p:txBody>
      </p:sp>
      <p:sp>
        <p:nvSpPr>
          <p:cNvPr id="34" name="Text 32"/>
          <p:cNvSpPr/>
          <p:nvPr/>
        </p:nvSpPr>
        <p:spPr>
          <a:xfrm>
            <a:off x="6784848" y="2953512"/>
            <a:ext cx="4389120" cy="256032"/>
          </a:xfrm>
          <a:prstGeom prst="rect">
            <a:avLst/>
          </a:prstGeom>
          <a:noFill/>
          <a:ln/>
        </p:spPr>
        <p:txBody>
          <a:bodyPr wrap="square" rtlCol="0" anchor="ctr"/>
          <a:lstStyle/>
          <a:p>
            <a:pPr indent="0" marL="0">
              <a:buNone/>
            </a:pPr>
            <a:r>
              <a:rPr lang="en-US" sz="1050" b="1" dirty="0">
                <a:solidFill>
                  <a:srgbClr val="1C1917"/>
                </a:solidFill>
                <a:latin typeface="Arial" pitchFamily="34" charset="0"/>
                <a:ea typeface="Arial" pitchFamily="34" charset="-122"/>
                <a:cs typeface="Arial" pitchFamily="34" charset="-120"/>
              </a:rPr>
              <a:t>第二代：静态 Issue 修补 (SWE-bench Lite, 2023)</a:t>
            </a:r>
            <a:endParaRPr lang="en-US" sz="1050" dirty="0"/>
          </a:p>
        </p:txBody>
      </p:sp>
      <p:sp>
        <p:nvSpPr>
          <p:cNvPr id="35" name="Text 33"/>
          <p:cNvSpPr/>
          <p:nvPr/>
        </p:nvSpPr>
        <p:spPr>
          <a:xfrm>
            <a:off x="6784848" y="3209544"/>
            <a:ext cx="4434840" cy="411480"/>
          </a:xfrm>
          <a:prstGeom prst="rect">
            <a:avLst/>
          </a:prstGeom>
          <a:noFill/>
          <a:ln/>
        </p:spPr>
        <p:txBody>
          <a:bodyPr wrap="square" rtlCol="0" anchor="ctr"/>
          <a:lstStyle/>
          <a:p>
            <a:pPr indent="0" marL="0">
              <a:lnSpc>
                <a:spcPts val="1250"/>
              </a:lnSpc>
              <a:buNone/>
            </a:pPr>
            <a:r>
              <a:rPr lang="en-US" sz="880" dirty="0">
                <a:solidFill>
                  <a:srgbClr val="57534E"/>
                </a:solidFill>
                <a:latin typeface="Arial" pitchFamily="34" charset="0"/>
                <a:ea typeface="Arial" pitchFamily="34" charset="-122"/>
                <a:cs typeface="Arial" pitchFamily="34" charset="-120"/>
              </a:rPr>
              <a:t>从 GitHub 真实 Issue 抽取，单次盲猜生成 Patch。暴露了模型缺乏环境反馈时的严重不适应。</a:t>
            </a:r>
            <a:endParaRPr lang="en-US" sz="880" dirty="0"/>
          </a:p>
        </p:txBody>
      </p:sp>
      <p:sp>
        <p:nvSpPr>
          <p:cNvPr id="36" name="Shape 34"/>
          <p:cNvSpPr/>
          <p:nvPr/>
        </p:nvSpPr>
        <p:spPr>
          <a:xfrm>
            <a:off x="6601968" y="3776472"/>
            <a:ext cx="4846320" cy="1115568"/>
          </a:xfrm>
          <a:prstGeom prst="rect">
            <a:avLst/>
          </a:prstGeom>
          <a:solidFill>
            <a:srgbClr val="FFFFFF"/>
          </a:solidFill>
          <a:ln w="12700">
            <a:solidFill>
              <a:srgbClr val="E2DCD2"/>
            </a:solidFill>
            <a:prstDash val="solid"/>
          </a:ln>
        </p:spPr>
      </p:sp>
      <p:sp>
        <p:nvSpPr>
          <p:cNvPr id="37" name="Shape 35"/>
          <p:cNvSpPr/>
          <p:nvPr/>
        </p:nvSpPr>
        <p:spPr>
          <a:xfrm>
            <a:off x="6601968" y="3776472"/>
            <a:ext cx="73152" cy="1115568"/>
          </a:xfrm>
          <a:prstGeom prst="rect">
            <a:avLst/>
          </a:prstGeom>
          <a:solidFill>
            <a:srgbClr val="D97706"/>
          </a:solidFill>
          <a:ln/>
        </p:spPr>
      </p:sp>
      <p:sp>
        <p:nvSpPr>
          <p:cNvPr id="38" name="Shape 36"/>
          <p:cNvSpPr/>
          <p:nvPr/>
        </p:nvSpPr>
        <p:spPr>
          <a:xfrm>
            <a:off x="6784848" y="3904488"/>
            <a:ext cx="2011680" cy="219456"/>
          </a:xfrm>
          <a:prstGeom prst="rect">
            <a:avLst/>
          </a:prstGeom>
          <a:solidFill>
            <a:srgbClr val="F5F2EB"/>
          </a:solidFill>
          <a:ln w="12700">
            <a:solidFill>
              <a:srgbClr val="D97706"/>
            </a:solidFill>
            <a:prstDash val="solid"/>
          </a:ln>
        </p:spPr>
      </p:sp>
      <p:sp>
        <p:nvSpPr>
          <p:cNvPr id="39" name="Text 37"/>
          <p:cNvSpPr/>
          <p:nvPr/>
        </p:nvSpPr>
        <p:spPr>
          <a:xfrm>
            <a:off x="6784848" y="3904488"/>
            <a:ext cx="2011680" cy="219456"/>
          </a:xfrm>
          <a:prstGeom prst="rect">
            <a:avLst/>
          </a:prstGeom>
          <a:noFill/>
          <a:ln/>
        </p:spPr>
        <p:txBody>
          <a:bodyPr wrap="square" rtlCol="0" anchor="ctr"/>
          <a:lstStyle/>
          <a:p>
            <a:pPr algn="ctr" indent="0" marL="0">
              <a:buNone/>
            </a:pPr>
            <a:r>
              <a:rPr lang="en-US" sz="800" b="1" dirty="0">
                <a:solidFill>
                  <a:srgbClr val="D97706"/>
                </a:solidFill>
                <a:latin typeface="Arial" pitchFamily="34" charset="0"/>
                <a:ea typeface="Arial" pitchFamily="34" charset="-122"/>
                <a:cs typeface="Arial" pitchFamily="34" charset="-120"/>
              </a:rPr>
              <a:t>GEN 3 · 多文件协同</a:t>
            </a:r>
            <a:endParaRPr lang="en-US" sz="800" dirty="0"/>
          </a:p>
        </p:txBody>
      </p:sp>
      <p:sp>
        <p:nvSpPr>
          <p:cNvPr id="40" name="Text 38"/>
          <p:cNvSpPr/>
          <p:nvPr/>
        </p:nvSpPr>
        <p:spPr>
          <a:xfrm>
            <a:off x="6784848" y="4178808"/>
            <a:ext cx="4389120" cy="256032"/>
          </a:xfrm>
          <a:prstGeom prst="rect">
            <a:avLst/>
          </a:prstGeom>
          <a:noFill/>
          <a:ln/>
        </p:spPr>
        <p:txBody>
          <a:bodyPr wrap="square" rtlCol="0" anchor="ctr"/>
          <a:lstStyle/>
          <a:p>
            <a:pPr indent="0" marL="0">
              <a:buNone/>
            </a:pPr>
            <a:r>
              <a:rPr lang="en-US" sz="1050" b="1" dirty="0">
                <a:solidFill>
                  <a:srgbClr val="1C1917"/>
                </a:solidFill>
                <a:latin typeface="Arial" pitchFamily="34" charset="0"/>
                <a:ea typeface="Arial" pitchFamily="34" charset="-122"/>
                <a:cs typeface="Arial" pitchFamily="34" charset="-120"/>
              </a:rPr>
              <a:t>第三代：人工清洗验证 (SWE-bench Verified, 2024)</a:t>
            </a:r>
            <a:endParaRPr lang="en-US" sz="1050" dirty="0"/>
          </a:p>
        </p:txBody>
      </p:sp>
      <p:sp>
        <p:nvSpPr>
          <p:cNvPr id="41" name="Text 39"/>
          <p:cNvSpPr/>
          <p:nvPr/>
        </p:nvSpPr>
        <p:spPr>
          <a:xfrm>
            <a:off x="6784848" y="4434840"/>
            <a:ext cx="4434840" cy="411480"/>
          </a:xfrm>
          <a:prstGeom prst="rect">
            <a:avLst/>
          </a:prstGeom>
          <a:noFill/>
          <a:ln/>
        </p:spPr>
        <p:txBody>
          <a:bodyPr wrap="square" rtlCol="0" anchor="ctr"/>
          <a:lstStyle/>
          <a:p>
            <a:pPr indent="0" marL="0">
              <a:lnSpc>
                <a:spcPts val="1250"/>
              </a:lnSpc>
              <a:buNone/>
            </a:pPr>
            <a:r>
              <a:rPr lang="en-US" sz="880" dirty="0">
                <a:solidFill>
                  <a:srgbClr val="57534E"/>
                </a:solidFill>
                <a:latin typeface="Arial" pitchFamily="34" charset="0"/>
                <a:ea typeface="Arial" pitchFamily="34" charset="-122"/>
                <a:cs typeface="Arial" pitchFamily="34" charset="-120"/>
              </a:rPr>
              <a:t>过滤单元测试瑕疵，考验多文件协同。Claude 率先突破 65% 临界点，确立全球研发优势。</a:t>
            </a:r>
            <a:endParaRPr lang="en-US" sz="880" dirty="0"/>
          </a:p>
        </p:txBody>
      </p:sp>
      <p:sp>
        <p:nvSpPr>
          <p:cNvPr id="42" name="Shape 40"/>
          <p:cNvSpPr/>
          <p:nvPr/>
        </p:nvSpPr>
        <p:spPr>
          <a:xfrm>
            <a:off x="6601968" y="5001768"/>
            <a:ext cx="4846320" cy="1115568"/>
          </a:xfrm>
          <a:prstGeom prst="rect">
            <a:avLst/>
          </a:prstGeom>
          <a:solidFill>
            <a:srgbClr val="FFFFFF"/>
          </a:solidFill>
          <a:ln w="12700">
            <a:solidFill>
              <a:srgbClr val="E2DCD2"/>
            </a:solidFill>
            <a:prstDash val="solid"/>
          </a:ln>
        </p:spPr>
      </p:sp>
      <p:sp>
        <p:nvSpPr>
          <p:cNvPr id="43" name="Shape 41"/>
          <p:cNvSpPr/>
          <p:nvPr/>
        </p:nvSpPr>
        <p:spPr>
          <a:xfrm>
            <a:off x="6601968" y="5001768"/>
            <a:ext cx="73152" cy="1115568"/>
          </a:xfrm>
          <a:prstGeom prst="rect">
            <a:avLst/>
          </a:prstGeom>
          <a:solidFill>
            <a:srgbClr val="D97757"/>
          </a:solidFill>
          <a:ln/>
        </p:spPr>
      </p:sp>
      <p:sp>
        <p:nvSpPr>
          <p:cNvPr id="44" name="Shape 42"/>
          <p:cNvSpPr/>
          <p:nvPr/>
        </p:nvSpPr>
        <p:spPr>
          <a:xfrm>
            <a:off x="6784848" y="5129784"/>
            <a:ext cx="2011680" cy="219456"/>
          </a:xfrm>
          <a:prstGeom prst="rect">
            <a:avLst/>
          </a:prstGeom>
          <a:solidFill>
            <a:srgbClr val="F5F2EB"/>
          </a:solidFill>
          <a:ln w="12700">
            <a:solidFill>
              <a:srgbClr val="D97757"/>
            </a:solidFill>
            <a:prstDash val="solid"/>
          </a:ln>
        </p:spPr>
      </p:sp>
      <p:sp>
        <p:nvSpPr>
          <p:cNvPr id="45" name="Text 43"/>
          <p:cNvSpPr/>
          <p:nvPr/>
        </p:nvSpPr>
        <p:spPr>
          <a:xfrm>
            <a:off x="6784848" y="5129784"/>
            <a:ext cx="2011680" cy="219456"/>
          </a:xfrm>
          <a:prstGeom prst="rect">
            <a:avLst/>
          </a:prstGeom>
          <a:noFill/>
          <a:ln/>
        </p:spPr>
        <p:txBody>
          <a:bodyPr wrap="square" rtlCol="0" anchor="ctr"/>
          <a:lstStyle/>
          <a:p>
            <a:pPr algn="ctr" indent="0" marL="0">
              <a:buNone/>
            </a:pPr>
            <a:r>
              <a:rPr lang="en-US" sz="800" b="1" dirty="0">
                <a:solidFill>
                  <a:srgbClr val="D97757"/>
                </a:solidFill>
                <a:latin typeface="Arial" pitchFamily="34" charset="0"/>
                <a:ea typeface="Arial" pitchFamily="34" charset="-122"/>
                <a:cs typeface="Arial" pitchFamily="34" charset="-120"/>
              </a:rPr>
              <a:t>GEN 4 · 容器终极排位</a:t>
            </a:r>
            <a:endParaRPr lang="en-US" sz="800" dirty="0"/>
          </a:p>
        </p:txBody>
      </p:sp>
      <p:sp>
        <p:nvSpPr>
          <p:cNvPr id="46" name="Text 44"/>
          <p:cNvSpPr/>
          <p:nvPr/>
        </p:nvSpPr>
        <p:spPr>
          <a:xfrm>
            <a:off x="6784848" y="5404104"/>
            <a:ext cx="4389120" cy="256032"/>
          </a:xfrm>
          <a:prstGeom prst="rect">
            <a:avLst/>
          </a:prstGeom>
          <a:noFill/>
          <a:ln/>
        </p:spPr>
        <p:txBody>
          <a:bodyPr wrap="square" rtlCol="0" anchor="ctr"/>
          <a:lstStyle/>
          <a:p>
            <a:pPr indent="0" marL="0">
              <a:buNone/>
            </a:pPr>
            <a:r>
              <a:rPr lang="en-US" sz="1050" b="1" dirty="0">
                <a:solidFill>
                  <a:srgbClr val="1C1917"/>
                </a:solidFill>
                <a:latin typeface="Arial" pitchFamily="34" charset="0"/>
                <a:ea typeface="Arial" pitchFamily="34" charset="-122"/>
                <a:cs typeface="Arial" pitchFamily="34" charset="-120"/>
              </a:rPr>
              <a:t>第四代：终端全域自愈 (Terminal-Bench 4.0, 2026)</a:t>
            </a:r>
            <a:endParaRPr lang="en-US" sz="1050" dirty="0"/>
          </a:p>
        </p:txBody>
      </p:sp>
      <p:sp>
        <p:nvSpPr>
          <p:cNvPr id="47" name="Text 45"/>
          <p:cNvSpPr/>
          <p:nvPr/>
        </p:nvSpPr>
        <p:spPr>
          <a:xfrm>
            <a:off x="6784848" y="5660136"/>
            <a:ext cx="4434840" cy="411480"/>
          </a:xfrm>
          <a:prstGeom prst="rect">
            <a:avLst/>
          </a:prstGeom>
          <a:noFill/>
          <a:ln/>
        </p:spPr>
        <p:txBody>
          <a:bodyPr wrap="square" rtlCol="0" anchor="ctr"/>
          <a:lstStyle/>
          <a:p>
            <a:pPr indent="0" marL="0">
              <a:lnSpc>
                <a:spcPts val="1250"/>
              </a:lnSpc>
              <a:buNone/>
            </a:pPr>
            <a:r>
              <a:rPr lang="en-US" sz="880" dirty="0">
                <a:solidFill>
                  <a:srgbClr val="57534E"/>
                </a:solidFill>
                <a:latin typeface="Arial" pitchFamily="34" charset="0"/>
                <a:ea typeface="Arial" pitchFamily="34" charset="-122"/>
                <a:cs typeface="Arial" pitchFamily="34" charset="-120"/>
              </a:rPr>
              <a:t>全交互式 Bash 容器环境，模拟网络抖动、内核死锁与依赖冲突，只有具备自愈飞轮的模型才能存活。</a:t>
            </a:r>
            <a:endParaRPr lang="en-US" sz="88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BF9F5"/>
        </a:solidFill>
      </p:bgPr>
    </p:bg>
    <p:spTree>
      <p:nvGrpSpPr>
        <p:cNvPr id="1" name=""/>
        <p:cNvGrpSpPr/>
        <p:nvPr/>
      </p:nvGrpSpPr>
      <p:grpSpPr>
        <a:xfrm>
          <a:off x="0" y="0"/>
          <a:ext cx="0" cy="0"/>
          <a:chOff x="0" y="0"/>
          <a:chExt cx="0" cy="0"/>
        </a:xfrm>
      </p:grpSpPr>
      <p:sp>
        <p:nvSpPr>
          <p:cNvPr id="2" name="Shape 0"/>
          <p:cNvSpPr/>
          <p:nvPr/>
        </p:nvSpPr>
        <p:spPr>
          <a:xfrm>
            <a:off x="731520" y="384048"/>
            <a:ext cx="2560320" cy="256032"/>
          </a:xfrm>
          <a:prstGeom prst="rect">
            <a:avLst/>
          </a:prstGeom>
          <a:solidFill>
            <a:srgbClr val="FBF0EB"/>
          </a:solidFill>
          <a:ln w="12700">
            <a:solidFill>
              <a:srgbClr val="F0C2B2"/>
            </a:solidFill>
            <a:prstDash val="solid"/>
          </a:ln>
        </p:spPr>
      </p:sp>
      <p:sp>
        <p:nvSpPr>
          <p:cNvPr id="3" name="Text 1"/>
          <p:cNvSpPr/>
          <p:nvPr/>
        </p:nvSpPr>
        <p:spPr>
          <a:xfrm>
            <a:off x="731520" y="384048"/>
            <a:ext cx="2560320" cy="256032"/>
          </a:xfrm>
          <a:prstGeom prst="rect">
            <a:avLst/>
          </a:prstGeom>
          <a:noFill/>
          <a:ln/>
        </p:spPr>
        <p:txBody>
          <a:bodyPr wrap="square" rtlCol="0" anchor="ctr"/>
          <a:lstStyle/>
          <a:p>
            <a:pPr algn="ctr" indent="0" marL="0">
              <a:buNone/>
            </a:pPr>
            <a:r>
              <a:rPr lang="en-US" sz="900" b="1" spc="120" kern="0" dirty="0">
                <a:solidFill>
                  <a:srgbClr val="D97757"/>
                </a:solidFill>
                <a:latin typeface="Arial" pitchFamily="34" charset="0"/>
                <a:ea typeface="Arial" pitchFamily="34" charset="-122"/>
                <a:cs typeface="Arial" pitchFamily="34" charset="-120"/>
              </a:rPr>
              <a:t>GROUND TRUTH VS ILLUSION</a:t>
            </a:r>
            <a:endParaRPr lang="en-US" sz="900" dirty="0"/>
          </a:p>
        </p:txBody>
      </p:sp>
      <p:sp>
        <p:nvSpPr>
          <p:cNvPr id="4" name="Text 2"/>
          <p:cNvSpPr/>
          <p:nvPr/>
        </p:nvSpPr>
        <p:spPr>
          <a:xfrm>
            <a:off x="731520" y="676656"/>
            <a:ext cx="9875520" cy="475488"/>
          </a:xfrm>
          <a:prstGeom prst="rect">
            <a:avLst/>
          </a:prstGeom>
          <a:noFill/>
          <a:ln/>
        </p:spPr>
        <p:txBody>
          <a:bodyPr wrap="square" lIns="0" tIns="0" rIns="0" bIns="0" rtlCol="0" anchor="ctr"/>
          <a:lstStyle/>
          <a:p>
            <a:pPr indent="0" marL="0">
              <a:buNone/>
            </a:pPr>
            <a:r>
              <a:rPr lang="en-US" sz="2100" b="1" dirty="0">
                <a:solidFill>
                  <a:srgbClr val="1C1917"/>
                </a:solidFill>
                <a:latin typeface="Arial" pitchFamily="34" charset="0"/>
                <a:ea typeface="Arial" pitchFamily="34" charset="-122"/>
                <a:cs typeface="Arial" pitchFamily="34" charset="-120"/>
              </a:rPr>
              <a:t>为什么做题家模型成不了 AGI：确定性反馈与语言自欺</a:t>
            </a:r>
            <a:endParaRPr lang="en-US" sz="2100" dirty="0"/>
          </a:p>
        </p:txBody>
      </p:sp>
      <p:sp>
        <p:nvSpPr>
          <p:cNvPr id="5" name="Text 3"/>
          <p:cNvSpPr/>
          <p:nvPr/>
        </p:nvSpPr>
        <p:spPr>
          <a:xfrm>
            <a:off x="10972800" y="384048"/>
            <a:ext cx="731520" cy="320040"/>
          </a:xfrm>
          <a:prstGeom prst="rect">
            <a:avLst/>
          </a:prstGeom>
          <a:noFill/>
          <a:ln/>
        </p:spPr>
        <p:txBody>
          <a:bodyPr wrap="square" rtlCol="0" anchor="ctr"/>
          <a:lstStyle/>
          <a:p>
            <a:pPr algn="r" indent="0" marL="0">
              <a:buNone/>
            </a:pPr>
            <a:r>
              <a:rPr lang="en-US" sz="1300" b="1" dirty="0">
                <a:solidFill>
                  <a:srgbClr val="8C857B"/>
                </a:solidFill>
                <a:latin typeface="Arial" pitchFamily="34" charset="0"/>
                <a:ea typeface="Arial" pitchFamily="34" charset="-122"/>
                <a:cs typeface="Arial" pitchFamily="34" charset="-120"/>
              </a:rPr>
              <a:t>22</a:t>
            </a:r>
            <a:endParaRPr lang="en-US" sz="1300" dirty="0"/>
          </a:p>
        </p:txBody>
      </p:sp>
      <p:sp>
        <p:nvSpPr>
          <p:cNvPr id="6" name="Shape 4"/>
          <p:cNvSpPr/>
          <p:nvPr/>
        </p:nvSpPr>
        <p:spPr>
          <a:xfrm>
            <a:off x="731520" y="1325880"/>
            <a:ext cx="5257800" cy="4023360"/>
          </a:xfrm>
          <a:prstGeom prst="rect">
            <a:avLst/>
          </a:prstGeom>
          <a:solidFill>
            <a:srgbClr val="FFFFFF"/>
          </a:solidFill>
          <a:ln w="12700">
            <a:solidFill>
              <a:srgbClr val="E2DCD2"/>
            </a:solidFill>
            <a:prstDash val="solid"/>
          </a:ln>
        </p:spPr>
      </p:sp>
      <p:sp>
        <p:nvSpPr>
          <p:cNvPr id="7" name="Shape 5"/>
          <p:cNvSpPr/>
          <p:nvPr/>
        </p:nvSpPr>
        <p:spPr>
          <a:xfrm>
            <a:off x="731520" y="1325880"/>
            <a:ext cx="5257800" cy="594360"/>
          </a:xfrm>
          <a:prstGeom prst="rect">
            <a:avLst/>
          </a:prstGeom>
          <a:solidFill>
            <a:srgbClr val="DC2626"/>
          </a:solidFill>
          <a:ln/>
        </p:spPr>
      </p:sp>
      <p:sp>
        <p:nvSpPr>
          <p:cNvPr id="8" name="Text 6"/>
          <p:cNvSpPr/>
          <p:nvPr/>
        </p:nvSpPr>
        <p:spPr>
          <a:xfrm>
            <a:off x="1005840" y="1481328"/>
            <a:ext cx="4709160" cy="292608"/>
          </a:xfrm>
          <a:prstGeom prst="rect">
            <a:avLst/>
          </a:prstGeom>
          <a:noFill/>
          <a:ln/>
        </p:spPr>
        <p:txBody>
          <a:bodyPr wrap="square" rtlCol="0" anchor="ctr"/>
          <a:lstStyle/>
          <a:p>
            <a:pPr indent="0" marL="0">
              <a:buNone/>
            </a:pPr>
            <a:r>
              <a:rPr lang="en-US" sz="1150" b="1" dirty="0">
                <a:solidFill>
                  <a:srgbClr val="FFFFFF"/>
                </a:solidFill>
                <a:latin typeface="Arial" pitchFamily="34" charset="0"/>
                <a:ea typeface="Arial" pitchFamily="34" charset="-122"/>
                <a:cs typeface="Arial" pitchFamily="34" charset="-120"/>
              </a:rPr>
              <a:t>自然语言的陷阱：修辞自欺、无摩擦滑行与幻觉</a:t>
            </a:r>
            <a:endParaRPr lang="en-US" sz="1150" dirty="0"/>
          </a:p>
        </p:txBody>
      </p:sp>
      <p:sp>
        <p:nvSpPr>
          <p:cNvPr id="9" name="Shape 7"/>
          <p:cNvSpPr/>
          <p:nvPr/>
        </p:nvSpPr>
        <p:spPr>
          <a:xfrm>
            <a:off x="1005840" y="2029968"/>
            <a:ext cx="73152" cy="960120"/>
          </a:xfrm>
          <a:prstGeom prst="rect">
            <a:avLst/>
          </a:prstGeom>
          <a:solidFill>
            <a:srgbClr val="DC2626"/>
          </a:solidFill>
          <a:ln/>
        </p:spPr>
      </p:sp>
      <p:sp>
        <p:nvSpPr>
          <p:cNvPr id="10" name="Shape 8"/>
          <p:cNvSpPr/>
          <p:nvPr/>
        </p:nvSpPr>
        <p:spPr>
          <a:xfrm>
            <a:off x="1078992" y="2029968"/>
            <a:ext cx="4636008" cy="960120"/>
          </a:xfrm>
          <a:prstGeom prst="rect">
            <a:avLst/>
          </a:prstGeom>
          <a:solidFill>
            <a:srgbClr val="F5F2EB"/>
          </a:solidFill>
          <a:ln w="12700">
            <a:solidFill>
              <a:srgbClr val="E2DCD2"/>
            </a:solidFill>
            <a:prstDash val="solid"/>
          </a:ln>
        </p:spPr>
      </p:sp>
      <p:sp>
        <p:nvSpPr>
          <p:cNvPr id="11" name="Text 9"/>
          <p:cNvSpPr/>
          <p:nvPr/>
        </p:nvSpPr>
        <p:spPr>
          <a:xfrm>
            <a:off x="1207008" y="2139696"/>
            <a:ext cx="4389120" cy="237744"/>
          </a:xfrm>
          <a:prstGeom prst="rect">
            <a:avLst/>
          </a:prstGeom>
          <a:noFill/>
          <a:ln/>
        </p:spPr>
        <p:txBody>
          <a:bodyPr wrap="square" rtlCol="0" anchor="ctr"/>
          <a:lstStyle/>
          <a:p>
            <a:pPr indent="0" marL="0">
              <a:buNone/>
            </a:pPr>
            <a:r>
              <a:rPr lang="en-US" sz="1000" b="1" dirty="0">
                <a:solidFill>
                  <a:srgbClr val="DC2626"/>
                </a:solidFill>
                <a:latin typeface="Arial" pitchFamily="34" charset="0"/>
                <a:ea typeface="Arial" pitchFamily="34" charset="-122"/>
                <a:cs typeface="Arial" pitchFamily="34" charset="-120"/>
              </a:rPr>
              <a:t>01 · 零摩擦 · 无阻力滑行：流利的虚假陈述</a:t>
            </a:r>
            <a:endParaRPr lang="en-US" sz="1000" dirty="0"/>
          </a:p>
        </p:txBody>
      </p:sp>
      <p:sp>
        <p:nvSpPr>
          <p:cNvPr id="12" name="Text 10"/>
          <p:cNvSpPr/>
          <p:nvPr/>
        </p:nvSpPr>
        <p:spPr>
          <a:xfrm>
            <a:off x="1207008" y="2414016"/>
            <a:ext cx="4389120" cy="502920"/>
          </a:xfrm>
          <a:prstGeom prst="rect">
            <a:avLst/>
          </a:prstGeom>
          <a:noFill/>
          <a:ln/>
        </p:spPr>
        <p:txBody>
          <a:bodyPr wrap="square" rtlCol="0" anchor="ctr"/>
          <a:lstStyle/>
          <a:p>
            <a:pPr indent="0" marL="0">
              <a:lnSpc>
                <a:spcPts val="1250"/>
              </a:lnSpc>
              <a:buNone/>
            </a:pPr>
            <a:r>
              <a:rPr lang="en-US" sz="880" dirty="0">
                <a:solidFill>
                  <a:srgbClr val="57534E"/>
                </a:solidFill>
                <a:latin typeface="Arial" pitchFamily="34" charset="0"/>
                <a:ea typeface="Arial" pitchFamily="34" charset="-122"/>
                <a:cs typeface="Arial" pitchFamily="34" charset="-120"/>
              </a:rPr>
              <a:t>纯自然语言推理缺乏物理阻力，模型可以用极其华丽流畅的句式编造错误事实而毫无自知。</a:t>
            </a:r>
            <a:endParaRPr lang="en-US" sz="880" dirty="0"/>
          </a:p>
        </p:txBody>
      </p:sp>
      <p:sp>
        <p:nvSpPr>
          <p:cNvPr id="13" name="Shape 11"/>
          <p:cNvSpPr/>
          <p:nvPr/>
        </p:nvSpPr>
        <p:spPr>
          <a:xfrm>
            <a:off x="1005840" y="3108960"/>
            <a:ext cx="73152" cy="960120"/>
          </a:xfrm>
          <a:prstGeom prst="rect">
            <a:avLst/>
          </a:prstGeom>
          <a:solidFill>
            <a:srgbClr val="DC2626"/>
          </a:solidFill>
          <a:ln/>
        </p:spPr>
      </p:sp>
      <p:sp>
        <p:nvSpPr>
          <p:cNvPr id="14" name="Shape 12"/>
          <p:cNvSpPr/>
          <p:nvPr/>
        </p:nvSpPr>
        <p:spPr>
          <a:xfrm>
            <a:off x="1078992" y="3108960"/>
            <a:ext cx="4636008" cy="960120"/>
          </a:xfrm>
          <a:prstGeom prst="rect">
            <a:avLst/>
          </a:prstGeom>
          <a:solidFill>
            <a:srgbClr val="F5F2EB"/>
          </a:solidFill>
          <a:ln w="12700">
            <a:solidFill>
              <a:srgbClr val="E2DCD2"/>
            </a:solidFill>
            <a:prstDash val="solid"/>
          </a:ln>
        </p:spPr>
      </p:sp>
      <p:sp>
        <p:nvSpPr>
          <p:cNvPr id="15" name="Text 13"/>
          <p:cNvSpPr/>
          <p:nvPr/>
        </p:nvSpPr>
        <p:spPr>
          <a:xfrm>
            <a:off x="1207008" y="3218688"/>
            <a:ext cx="4389120" cy="237744"/>
          </a:xfrm>
          <a:prstGeom prst="rect">
            <a:avLst/>
          </a:prstGeom>
          <a:noFill/>
          <a:ln/>
        </p:spPr>
        <p:txBody>
          <a:bodyPr wrap="square" rtlCol="0" anchor="ctr"/>
          <a:lstStyle/>
          <a:p>
            <a:pPr indent="0" marL="0">
              <a:buNone/>
            </a:pPr>
            <a:r>
              <a:rPr lang="en-US" sz="1000" b="1" dirty="0">
                <a:solidFill>
                  <a:srgbClr val="DC2626"/>
                </a:solidFill>
                <a:latin typeface="Arial" pitchFamily="34" charset="0"/>
                <a:ea typeface="Arial" pitchFamily="34" charset="-122"/>
                <a:cs typeface="Arial" pitchFamily="34" charset="-120"/>
              </a:rPr>
              <a:t>02 · 难证伪 · 无法被客观裁决：陷入诡辩沼泽</a:t>
            </a:r>
            <a:endParaRPr lang="en-US" sz="1000" dirty="0"/>
          </a:p>
        </p:txBody>
      </p:sp>
      <p:sp>
        <p:nvSpPr>
          <p:cNvPr id="16" name="Text 14"/>
          <p:cNvSpPr/>
          <p:nvPr/>
        </p:nvSpPr>
        <p:spPr>
          <a:xfrm>
            <a:off x="1207008" y="3493008"/>
            <a:ext cx="4389120" cy="502920"/>
          </a:xfrm>
          <a:prstGeom prst="rect">
            <a:avLst/>
          </a:prstGeom>
          <a:noFill/>
          <a:ln/>
        </p:spPr>
        <p:txBody>
          <a:bodyPr wrap="square" rtlCol="0" anchor="ctr"/>
          <a:lstStyle/>
          <a:p>
            <a:pPr indent="0" marL="0">
              <a:lnSpc>
                <a:spcPts val="1250"/>
              </a:lnSpc>
              <a:buNone/>
            </a:pPr>
            <a:r>
              <a:rPr lang="en-US" sz="880" dirty="0">
                <a:solidFill>
                  <a:srgbClr val="57534E"/>
                </a:solidFill>
                <a:latin typeface="Arial" pitchFamily="34" charset="0"/>
                <a:ea typeface="Arial" pitchFamily="34" charset="-122"/>
                <a:cs typeface="Arial" pitchFamily="34" charset="-120"/>
              </a:rPr>
              <a:t>在商业分析或纯文本对话中，人类很难当场判定模型是深刻洞见还是巧言令色的伪造。</a:t>
            </a:r>
            <a:endParaRPr lang="en-US" sz="880" dirty="0"/>
          </a:p>
        </p:txBody>
      </p:sp>
      <p:sp>
        <p:nvSpPr>
          <p:cNvPr id="17" name="Shape 15"/>
          <p:cNvSpPr/>
          <p:nvPr/>
        </p:nvSpPr>
        <p:spPr>
          <a:xfrm>
            <a:off x="1005840" y="4187952"/>
            <a:ext cx="73152" cy="960120"/>
          </a:xfrm>
          <a:prstGeom prst="rect">
            <a:avLst/>
          </a:prstGeom>
          <a:solidFill>
            <a:srgbClr val="DC2626"/>
          </a:solidFill>
          <a:ln/>
        </p:spPr>
      </p:sp>
      <p:sp>
        <p:nvSpPr>
          <p:cNvPr id="18" name="Shape 16"/>
          <p:cNvSpPr/>
          <p:nvPr/>
        </p:nvSpPr>
        <p:spPr>
          <a:xfrm>
            <a:off x="1078992" y="4187952"/>
            <a:ext cx="4636008" cy="960120"/>
          </a:xfrm>
          <a:prstGeom prst="rect">
            <a:avLst/>
          </a:prstGeom>
          <a:solidFill>
            <a:srgbClr val="F5F2EB"/>
          </a:solidFill>
          <a:ln w="12700">
            <a:solidFill>
              <a:srgbClr val="E2DCD2"/>
            </a:solidFill>
            <a:prstDash val="solid"/>
          </a:ln>
        </p:spPr>
      </p:sp>
      <p:sp>
        <p:nvSpPr>
          <p:cNvPr id="19" name="Text 17"/>
          <p:cNvSpPr/>
          <p:nvPr/>
        </p:nvSpPr>
        <p:spPr>
          <a:xfrm>
            <a:off x="1207008" y="4297680"/>
            <a:ext cx="4389120" cy="237744"/>
          </a:xfrm>
          <a:prstGeom prst="rect">
            <a:avLst/>
          </a:prstGeom>
          <a:noFill/>
          <a:ln/>
        </p:spPr>
        <p:txBody>
          <a:bodyPr wrap="square" rtlCol="0" anchor="ctr"/>
          <a:lstStyle/>
          <a:p>
            <a:pPr indent="0" marL="0">
              <a:buNone/>
            </a:pPr>
            <a:r>
              <a:rPr lang="en-US" sz="1000" b="1" dirty="0">
                <a:solidFill>
                  <a:srgbClr val="DC2626"/>
                </a:solidFill>
                <a:latin typeface="Arial" pitchFamily="34" charset="0"/>
                <a:ea typeface="Arial" pitchFamily="34" charset="-122"/>
                <a:cs typeface="Arial" pitchFamily="34" charset="-120"/>
              </a:rPr>
              <a:t>03 · 偏好作弊 · RLHF 强化学习盲区：讨好人类裁判</a:t>
            </a:r>
            <a:endParaRPr lang="en-US" sz="1000" dirty="0"/>
          </a:p>
        </p:txBody>
      </p:sp>
      <p:sp>
        <p:nvSpPr>
          <p:cNvPr id="20" name="Text 18"/>
          <p:cNvSpPr/>
          <p:nvPr/>
        </p:nvSpPr>
        <p:spPr>
          <a:xfrm>
            <a:off x="1207008" y="4572000"/>
            <a:ext cx="4389120" cy="502920"/>
          </a:xfrm>
          <a:prstGeom prst="rect">
            <a:avLst/>
          </a:prstGeom>
          <a:noFill/>
          <a:ln/>
        </p:spPr>
        <p:txBody>
          <a:bodyPr wrap="square" rtlCol="0" anchor="ctr"/>
          <a:lstStyle/>
          <a:p>
            <a:pPr indent="0" marL="0">
              <a:lnSpc>
                <a:spcPts val="1250"/>
              </a:lnSpc>
              <a:buNone/>
            </a:pPr>
            <a:r>
              <a:rPr lang="en-US" sz="880" dirty="0">
                <a:solidFill>
                  <a:srgbClr val="57534E"/>
                </a:solidFill>
                <a:latin typeface="Arial" pitchFamily="34" charset="0"/>
                <a:ea typeface="Arial" pitchFamily="34" charset="-122"/>
                <a:cs typeface="Arial" pitchFamily="34" charset="-120"/>
              </a:rPr>
              <a:t>基于人类表面偏好的对齐容易促使模型“投其所好”，最终演化为道貌岸然的合规说教。</a:t>
            </a:r>
            <a:endParaRPr lang="en-US" sz="880" dirty="0"/>
          </a:p>
        </p:txBody>
      </p:sp>
      <p:sp>
        <p:nvSpPr>
          <p:cNvPr id="21" name="Shape 19"/>
          <p:cNvSpPr/>
          <p:nvPr/>
        </p:nvSpPr>
        <p:spPr>
          <a:xfrm>
            <a:off x="6199632" y="1325880"/>
            <a:ext cx="5257800" cy="4023360"/>
          </a:xfrm>
          <a:prstGeom prst="rect">
            <a:avLst/>
          </a:prstGeom>
          <a:solidFill>
            <a:srgbClr val="FFFFFF"/>
          </a:solidFill>
          <a:ln w="12700">
            <a:solidFill>
              <a:srgbClr val="E2DCD2"/>
            </a:solidFill>
            <a:prstDash val="solid"/>
          </a:ln>
        </p:spPr>
      </p:sp>
      <p:sp>
        <p:nvSpPr>
          <p:cNvPr id="22" name="Shape 20"/>
          <p:cNvSpPr/>
          <p:nvPr/>
        </p:nvSpPr>
        <p:spPr>
          <a:xfrm>
            <a:off x="6199632" y="1325880"/>
            <a:ext cx="5257800" cy="594360"/>
          </a:xfrm>
          <a:prstGeom prst="rect">
            <a:avLst/>
          </a:prstGeom>
          <a:solidFill>
            <a:srgbClr val="16A34A"/>
          </a:solidFill>
          <a:ln/>
        </p:spPr>
      </p:sp>
      <p:sp>
        <p:nvSpPr>
          <p:cNvPr id="23" name="Text 21"/>
          <p:cNvSpPr/>
          <p:nvPr/>
        </p:nvSpPr>
        <p:spPr>
          <a:xfrm>
            <a:off x="6473952" y="1481328"/>
            <a:ext cx="4709160" cy="292608"/>
          </a:xfrm>
          <a:prstGeom prst="rect">
            <a:avLst/>
          </a:prstGeom>
          <a:noFill/>
          <a:ln/>
        </p:spPr>
        <p:txBody>
          <a:bodyPr wrap="square" rtlCol="0" anchor="ctr"/>
          <a:lstStyle/>
          <a:p>
            <a:pPr indent="0" marL="0">
              <a:buNone/>
            </a:pPr>
            <a:r>
              <a:rPr lang="en-US" sz="1150" b="1" dirty="0">
                <a:solidFill>
                  <a:srgbClr val="FFFFFF"/>
                </a:solidFill>
                <a:latin typeface="Arial" pitchFamily="34" charset="0"/>
                <a:ea typeface="Arial" pitchFamily="34" charset="-122"/>
                <a:cs typeface="Arial" pitchFamily="34" charset="-120"/>
              </a:rPr>
              <a:t>代码执行的真理：不可收买的物理硬碰撞裁决</a:t>
            </a:r>
            <a:endParaRPr lang="en-US" sz="1150" dirty="0"/>
          </a:p>
        </p:txBody>
      </p:sp>
      <p:sp>
        <p:nvSpPr>
          <p:cNvPr id="24" name="Shape 22"/>
          <p:cNvSpPr/>
          <p:nvPr/>
        </p:nvSpPr>
        <p:spPr>
          <a:xfrm>
            <a:off x="6473952" y="2029968"/>
            <a:ext cx="73152" cy="960120"/>
          </a:xfrm>
          <a:prstGeom prst="rect">
            <a:avLst/>
          </a:prstGeom>
          <a:solidFill>
            <a:srgbClr val="16A34A"/>
          </a:solidFill>
          <a:ln/>
        </p:spPr>
      </p:sp>
      <p:sp>
        <p:nvSpPr>
          <p:cNvPr id="25" name="Shape 23"/>
          <p:cNvSpPr/>
          <p:nvPr/>
        </p:nvSpPr>
        <p:spPr>
          <a:xfrm>
            <a:off x="6547104" y="2029968"/>
            <a:ext cx="4636008" cy="960120"/>
          </a:xfrm>
          <a:prstGeom prst="rect">
            <a:avLst/>
          </a:prstGeom>
          <a:solidFill>
            <a:srgbClr val="F5F2EB"/>
          </a:solidFill>
          <a:ln w="12700">
            <a:solidFill>
              <a:srgbClr val="E2DCD2"/>
            </a:solidFill>
            <a:prstDash val="solid"/>
          </a:ln>
        </p:spPr>
      </p:sp>
      <p:sp>
        <p:nvSpPr>
          <p:cNvPr id="26" name="Text 24"/>
          <p:cNvSpPr/>
          <p:nvPr/>
        </p:nvSpPr>
        <p:spPr>
          <a:xfrm>
            <a:off x="6675120" y="2139696"/>
            <a:ext cx="4389120" cy="237744"/>
          </a:xfrm>
          <a:prstGeom prst="rect">
            <a:avLst/>
          </a:prstGeom>
          <a:noFill/>
          <a:ln/>
        </p:spPr>
        <p:txBody>
          <a:bodyPr wrap="square" rtlCol="0" anchor="ctr"/>
          <a:lstStyle/>
          <a:p>
            <a:pPr indent="0" marL="0">
              <a:buNone/>
            </a:pPr>
            <a:r>
              <a:rPr lang="en-US" sz="1000" b="1" dirty="0">
                <a:solidFill>
                  <a:srgbClr val="16A34A"/>
                </a:solidFill>
                <a:latin typeface="Arial" pitchFamily="34" charset="0"/>
                <a:ea typeface="Arial" pitchFamily="34" charset="-122"/>
                <a:cs typeface="Arial" pitchFamily="34" charset="-120"/>
              </a:rPr>
              <a:t>01 · 二元判定 · Exit Code 0 vs 1：绝对黑白分明</a:t>
            </a:r>
            <a:endParaRPr lang="en-US" sz="1000" dirty="0"/>
          </a:p>
        </p:txBody>
      </p:sp>
      <p:sp>
        <p:nvSpPr>
          <p:cNvPr id="27" name="Text 25"/>
          <p:cNvSpPr/>
          <p:nvPr/>
        </p:nvSpPr>
        <p:spPr>
          <a:xfrm>
            <a:off x="6675120" y="2414016"/>
            <a:ext cx="4389120" cy="502920"/>
          </a:xfrm>
          <a:prstGeom prst="rect">
            <a:avLst/>
          </a:prstGeom>
          <a:noFill/>
          <a:ln/>
        </p:spPr>
        <p:txBody>
          <a:bodyPr wrap="square" rtlCol="0" anchor="ctr"/>
          <a:lstStyle/>
          <a:p>
            <a:pPr indent="0" marL="0">
              <a:lnSpc>
                <a:spcPts val="1250"/>
              </a:lnSpc>
              <a:buNone/>
            </a:pPr>
            <a:r>
              <a:rPr lang="en-US" sz="880" dirty="0">
                <a:solidFill>
                  <a:srgbClr val="57534E"/>
                </a:solidFill>
                <a:latin typeface="Arial" pitchFamily="34" charset="0"/>
                <a:ea typeface="Arial" pitchFamily="34" charset="-122"/>
                <a:cs typeface="Arial" pitchFamily="34" charset="-120"/>
              </a:rPr>
              <a:t>编译器和单元测试不接受辩解。要么跑通返回 0，要么报错非零中断，没有任何中间灰色地带。</a:t>
            </a:r>
            <a:endParaRPr lang="en-US" sz="880" dirty="0"/>
          </a:p>
        </p:txBody>
      </p:sp>
      <p:sp>
        <p:nvSpPr>
          <p:cNvPr id="28" name="Shape 26"/>
          <p:cNvSpPr/>
          <p:nvPr/>
        </p:nvSpPr>
        <p:spPr>
          <a:xfrm>
            <a:off x="6473952" y="3108960"/>
            <a:ext cx="73152" cy="960120"/>
          </a:xfrm>
          <a:prstGeom prst="rect">
            <a:avLst/>
          </a:prstGeom>
          <a:solidFill>
            <a:srgbClr val="16A34A"/>
          </a:solidFill>
          <a:ln/>
        </p:spPr>
      </p:sp>
      <p:sp>
        <p:nvSpPr>
          <p:cNvPr id="29" name="Shape 27"/>
          <p:cNvSpPr/>
          <p:nvPr/>
        </p:nvSpPr>
        <p:spPr>
          <a:xfrm>
            <a:off x="6547104" y="3108960"/>
            <a:ext cx="4636008" cy="960120"/>
          </a:xfrm>
          <a:prstGeom prst="rect">
            <a:avLst/>
          </a:prstGeom>
          <a:solidFill>
            <a:srgbClr val="F5F2EB"/>
          </a:solidFill>
          <a:ln w="12700">
            <a:solidFill>
              <a:srgbClr val="E2DCD2"/>
            </a:solidFill>
            <a:prstDash val="solid"/>
          </a:ln>
        </p:spPr>
      </p:sp>
      <p:sp>
        <p:nvSpPr>
          <p:cNvPr id="30" name="Text 28"/>
          <p:cNvSpPr/>
          <p:nvPr/>
        </p:nvSpPr>
        <p:spPr>
          <a:xfrm>
            <a:off x="6675120" y="3218688"/>
            <a:ext cx="4389120" cy="237744"/>
          </a:xfrm>
          <a:prstGeom prst="rect">
            <a:avLst/>
          </a:prstGeom>
          <a:noFill/>
          <a:ln/>
        </p:spPr>
        <p:txBody>
          <a:bodyPr wrap="square" rtlCol="0" anchor="ctr"/>
          <a:lstStyle/>
          <a:p>
            <a:pPr indent="0" marL="0">
              <a:buNone/>
            </a:pPr>
            <a:r>
              <a:rPr lang="en-US" sz="1000" b="1" dirty="0">
                <a:solidFill>
                  <a:srgbClr val="16A34A"/>
                </a:solidFill>
                <a:latin typeface="Arial" pitchFamily="34" charset="0"/>
                <a:ea typeface="Arial" pitchFamily="34" charset="-122"/>
                <a:cs typeface="Arial" pitchFamily="34" charset="-120"/>
              </a:rPr>
              <a:t>02 · 无穷数据 · 取之不尽的自动可验证合成语料</a:t>
            </a:r>
            <a:endParaRPr lang="en-US" sz="1000" dirty="0"/>
          </a:p>
        </p:txBody>
      </p:sp>
      <p:sp>
        <p:nvSpPr>
          <p:cNvPr id="31" name="Text 29"/>
          <p:cNvSpPr/>
          <p:nvPr/>
        </p:nvSpPr>
        <p:spPr>
          <a:xfrm>
            <a:off x="6675120" y="3493008"/>
            <a:ext cx="4389120" cy="502920"/>
          </a:xfrm>
          <a:prstGeom prst="rect">
            <a:avLst/>
          </a:prstGeom>
          <a:noFill/>
          <a:ln/>
        </p:spPr>
        <p:txBody>
          <a:bodyPr wrap="square" rtlCol="0" anchor="ctr"/>
          <a:lstStyle/>
          <a:p>
            <a:pPr indent="0" marL="0">
              <a:lnSpc>
                <a:spcPts val="1250"/>
              </a:lnSpc>
              <a:buNone/>
            </a:pPr>
            <a:r>
              <a:rPr lang="en-US" sz="880" dirty="0">
                <a:solidFill>
                  <a:srgbClr val="57534E"/>
                </a:solidFill>
                <a:latin typeface="Arial" pitchFamily="34" charset="0"/>
                <a:ea typeface="Arial" pitchFamily="34" charset="-122"/>
                <a:cs typeface="Arial" pitchFamily="34" charset="-120"/>
              </a:rPr>
              <a:t>只要有编译器和沙箱，机器就能自主生成百亿行代码并自动验证，彻底摆脱人类标注瓶颈。</a:t>
            </a:r>
            <a:endParaRPr lang="en-US" sz="880" dirty="0"/>
          </a:p>
        </p:txBody>
      </p:sp>
      <p:sp>
        <p:nvSpPr>
          <p:cNvPr id="32" name="Shape 30"/>
          <p:cNvSpPr/>
          <p:nvPr/>
        </p:nvSpPr>
        <p:spPr>
          <a:xfrm>
            <a:off x="6473952" y="4187952"/>
            <a:ext cx="73152" cy="960120"/>
          </a:xfrm>
          <a:prstGeom prst="rect">
            <a:avLst/>
          </a:prstGeom>
          <a:solidFill>
            <a:srgbClr val="16A34A"/>
          </a:solidFill>
          <a:ln/>
        </p:spPr>
      </p:sp>
      <p:sp>
        <p:nvSpPr>
          <p:cNvPr id="33" name="Shape 31"/>
          <p:cNvSpPr/>
          <p:nvPr/>
        </p:nvSpPr>
        <p:spPr>
          <a:xfrm>
            <a:off x="6547104" y="4187952"/>
            <a:ext cx="4636008" cy="960120"/>
          </a:xfrm>
          <a:prstGeom prst="rect">
            <a:avLst/>
          </a:prstGeom>
          <a:solidFill>
            <a:srgbClr val="F5F2EB"/>
          </a:solidFill>
          <a:ln w="12700">
            <a:solidFill>
              <a:srgbClr val="E2DCD2"/>
            </a:solidFill>
            <a:prstDash val="solid"/>
          </a:ln>
        </p:spPr>
      </p:sp>
      <p:sp>
        <p:nvSpPr>
          <p:cNvPr id="34" name="Text 32"/>
          <p:cNvSpPr/>
          <p:nvPr/>
        </p:nvSpPr>
        <p:spPr>
          <a:xfrm>
            <a:off x="6675120" y="4297680"/>
            <a:ext cx="4389120" cy="237744"/>
          </a:xfrm>
          <a:prstGeom prst="rect">
            <a:avLst/>
          </a:prstGeom>
          <a:noFill/>
          <a:ln/>
        </p:spPr>
        <p:txBody>
          <a:bodyPr wrap="square" rtlCol="0" anchor="ctr"/>
          <a:lstStyle/>
          <a:p>
            <a:pPr indent="0" marL="0">
              <a:buNone/>
            </a:pPr>
            <a:r>
              <a:rPr lang="en-US" sz="1000" b="1" dirty="0">
                <a:solidFill>
                  <a:srgbClr val="16A34A"/>
                </a:solidFill>
                <a:latin typeface="Arial" pitchFamily="34" charset="0"/>
                <a:ea typeface="Arial" pitchFamily="34" charset="-122"/>
                <a:cs typeface="Arial" pitchFamily="34" charset="-120"/>
              </a:rPr>
              <a:t>03 · 演化直梯 · 物理硬反馈：通向 AGI 的唯一直梯</a:t>
            </a:r>
            <a:endParaRPr lang="en-US" sz="1000" dirty="0"/>
          </a:p>
        </p:txBody>
      </p:sp>
      <p:sp>
        <p:nvSpPr>
          <p:cNvPr id="35" name="Text 33"/>
          <p:cNvSpPr/>
          <p:nvPr/>
        </p:nvSpPr>
        <p:spPr>
          <a:xfrm>
            <a:off x="6675120" y="4572000"/>
            <a:ext cx="4389120" cy="502920"/>
          </a:xfrm>
          <a:prstGeom prst="rect">
            <a:avLst/>
          </a:prstGeom>
          <a:noFill/>
          <a:ln/>
        </p:spPr>
        <p:txBody>
          <a:bodyPr wrap="square" rtlCol="0" anchor="ctr"/>
          <a:lstStyle/>
          <a:p>
            <a:pPr indent="0" marL="0">
              <a:lnSpc>
                <a:spcPts val="1250"/>
              </a:lnSpc>
              <a:buNone/>
            </a:pPr>
            <a:r>
              <a:rPr lang="en-US" sz="880" dirty="0">
                <a:solidFill>
                  <a:srgbClr val="57534E"/>
                </a:solidFill>
                <a:latin typeface="Arial" pitchFamily="34" charset="0"/>
                <a:ea typeface="Arial" pitchFamily="34" charset="-122"/>
                <a:cs typeface="Arial" pitchFamily="34" charset="-120"/>
              </a:rPr>
              <a:t>唯有在具备绝对硬反馈的物理环境中经历数亿次撞击与自校正，系统才能演化出真正坚固的通用智能。</a:t>
            </a:r>
            <a:endParaRPr lang="en-US" sz="880" dirty="0"/>
          </a:p>
        </p:txBody>
      </p:sp>
      <p:sp>
        <p:nvSpPr>
          <p:cNvPr id="36" name="Shape 34"/>
          <p:cNvSpPr/>
          <p:nvPr/>
        </p:nvSpPr>
        <p:spPr>
          <a:xfrm>
            <a:off x="731520" y="5486400"/>
            <a:ext cx="10725912" cy="731520"/>
          </a:xfrm>
          <a:prstGeom prst="rect">
            <a:avLst/>
          </a:prstGeom>
          <a:solidFill>
            <a:srgbClr val="FFFFFF"/>
          </a:solidFill>
          <a:ln w="12700">
            <a:solidFill>
              <a:srgbClr val="F0C2B2"/>
            </a:solidFill>
            <a:prstDash val="solid"/>
          </a:ln>
        </p:spPr>
      </p:sp>
      <p:sp>
        <p:nvSpPr>
          <p:cNvPr id="37" name="Text 35"/>
          <p:cNvSpPr/>
          <p:nvPr/>
        </p:nvSpPr>
        <p:spPr>
          <a:xfrm>
            <a:off x="1005840" y="5669280"/>
            <a:ext cx="10177272" cy="411480"/>
          </a:xfrm>
          <a:prstGeom prst="rect">
            <a:avLst/>
          </a:prstGeom>
          <a:noFill/>
          <a:ln/>
        </p:spPr>
        <p:txBody>
          <a:bodyPr wrap="square" rtlCol="0" anchor="ctr"/>
          <a:lstStyle/>
          <a:p>
            <a:pPr algn="ctr" indent="0" marL="0">
              <a:buNone/>
            </a:pPr>
            <a:r>
              <a:rPr lang="en-US" sz="1050" b="1" dirty="0">
                <a:solidFill>
                  <a:srgbClr val="1C1917"/>
                </a:solidFill>
                <a:latin typeface="Arial" pitchFamily="34" charset="0"/>
                <a:ea typeface="Arial" pitchFamily="34" charset="-122"/>
                <a:cs typeface="Arial" pitchFamily="34" charset="-120"/>
              </a:rPr>
              <a:t>文明认知定律：聪明的做题家只会刷高试卷分数，但真正的文明创造者必须直面残酷物理现实的检验。代码是连接二者的唯一不可动摇的脐带。</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41210"/>
        </a:solidFill>
      </p:bgPr>
    </p:bg>
    <p:spTree>
      <p:nvGrpSpPr>
        <p:cNvPr id="1" name=""/>
        <p:cNvGrpSpPr/>
        <p:nvPr/>
      </p:nvGrpSpPr>
      <p:grpSpPr>
        <a:xfrm>
          <a:off x="0" y="0"/>
          <a:ext cx="0" cy="0"/>
          <a:chOff x="0" y="0"/>
          <a:chExt cx="0" cy="0"/>
        </a:xfrm>
      </p:grpSpPr>
      <p:sp>
        <p:nvSpPr>
          <p:cNvPr id="2" name="Shape 0"/>
          <p:cNvSpPr/>
          <p:nvPr/>
        </p:nvSpPr>
        <p:spPr>
          <a:xfrm>
            <a:off x="731520" y="1097280"/>
            <a:ext cx="137160" cy="4663440"/>
          </a:xfrm>
          <a:prstGeom prst="rect">
            <a:avLst/>
          </a:prstGeom>
          <a:solidFill>
            <a:srgbClr val="D97757"/>
          </a:solidFill>
          <a:ln/>
        </p:spPr>
      </p:sp>
      <p:sp>
        <p:nvSpPr>
          <p:cNvPr id="3" name="Shape 1"/>
          <p:cNvSpPr/>
          <p:nvPr/>
        </p:nvSpPr>
        <p:spPr>
          <a:xfrm>
            <a:off x="1188720" y="1097280"/>
            <a:ext cx="10241280" cy="4663440"/>
          </a:xfrm>
          <a:prstGeom prst="rect">
            <a:avLst/>
          </a:prstGeom>
          <a:solidFill>
            <a:srgbClr val="1E1B18"/>
          </a:solidFill>
          <a:ln w="12700">
            <a:solidFill>
              <a:srgbClr val="38332E"/>
            </a:solidFill>
            <a:prstDash val="solid"/>
          </a:ln>
        </p:spPr>
      </p:sp>
      <p:sp>
        <p:nvSpPr>
          <p:cNvPr id="4" name="Shape 2"/>
          <p:cNvSpPr/>
          <p:nvPr/>
        </p:nvSpPr>
        <p:spPr>
          <a:xfrm>
            <a:off x="1737360" y="1554480"/>
            <a:ext cx="3108960" cy="320040"/>
          </a:xfrm>
          <a:prstGeom prst="rect">
            <a:avLst/>
          </a:prstGeom>
          <a:solidFill>
            <a:srgbClr val="261F1A"/>
          </a:solidFill>
          <a:ln w="12700">
            <a:solidFill>
              <a:srgbClr val="D97757"/>
            </a:solidFill>
            <a:prstDash val="solid"/>
          </a:ln>
        </p:spPr>
      </p:sp>
      <p:sp>
        <p:nvSpPr>
          <p:cNvPr id="5" name="Text 3"/>
          <p:cNvSpPr/>
          <p:nvPr/>
        </p:nvSpPr>
        <p:spPr>
          <a:xfrm>
            <a:off x="1737360" y="1554480"/>
            <a:ext cx="3108960" cy="320040"/>
          </a:xfrm>
          <a:prstGeom prst="rect">
            <a:avLst/>
          </a:prstGeom>
          <a:noFill/>
          <a:ln/>
        </p:spPr>
        <p:txBody>
          <a:bodyPr wrap="square" rtlCol="0" anchor="ctr"/>
          <a:lstStyle/>
          <a:p>
            <a:pPr algn="ctr" indent="0" marL="0">
              <a:buNone/>
            </a:pPr>
            <a:r>
              <a:rPr lang="en-US" sz="950" b="1" spc="150" kern="0" dirty="0">
                <a:solidFill>
                  <a:srgbClr val="D97757"/>
                </a:solidFill>
                <a:latin typeface="Arial" pitchFamily="34" charset="0"/>
                <a:ea typeface="Arial" pitchFamily="34" charset="-122"/>
                <a:cs typeface="Arial" pitchFamily="34" charset="-120"/>
              </a:rPr>
              <a:t>RECURSIVE SELF-IMPROVEMENT</a:t>
            </a:r>
            <a:endParaRPr lang="en-US" sz="950" dirty="0"/>
          </a:p>
        </p:txBody>
      </p:sp>
      <p:sp>
        <p:nvSpPr>
          <p:cNvPr id="6" name="Text 4"/>
          <p:cNvSpPr/>
          <p:nvPr/>
        </p:nvSpPr>
        <p:spPr>
          <a:xfrm>
            <a:off x="1737360" y="2103120"/>
            <a:ext cx="9144000" cy="685800"/>
          </a:xfrm>
          <a:prstGeom prst="rect">
            <a:avLst/>
          </a:prstGeom>
          <a:noFill/>
          <a:ln/>
        </p:spPr>
        <p:txBody>
          <a:bodyPr wrap="square" lIns="0" tIns="0" rIns="0" bIns="0" rtlCol="0" anchor="ctr"/>
          <a:lstStyle/>
          <a:p>
            <a:pPr indent="0" marL="0">
              <a:buNone/>
            </a:pPr>
            <a:r>
              <a:rPr lang="en-US" sz="3800" b="1" spc="150" kern="0" dirty="0">
                <a:solidFill>
                  <a:srgbClr val="D97757"/>
                </a:solidFill>
                <a:latin typeface="Arial" pitchFamily="34" charset="0"/>
                <a:ea typeface="Arial" pitchFamily="34" charset="-122"/>
                <a:cs typeface="Arial" pitchFamily="34" charset="-120"/>
              </a:rPr>
              <a:t>PART 04</a:t>
            </a:r>
            <a:endParaRPr lang="en-US" sz="3800" dirty="0"/>
          </a:p>
        </p:txBody>
      </p:sp>
      <p:sp>
        <p:nvSpPr>
          <p:cNvPr id="7" name="Text 5"/>
          <p:cNvSpPr/>
          <p:nvPr/>
        </p:nvSpPr>
        <p:spPr>
          <a:xfrm>
            <a:off x="1737360" y="2880360"/>
            <a:ext cx="9144000" cy="77724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终极自举：Dario Amodei 哲学与 RSI</a:t>
            </a:r>
            <a:endParaRPr lang="en-US" sz="3000" dirty="0"/>
          </a:p>
        </p:txBody>
      </p:sp>
      <p:sp>
        <p:nvSpPr>
          <p:cNvPr id="8" name="Shape 6"/>
          <p:cNvSpPr/>
          <p:nvPr/>
        </p:nvSpPr>
        <p:spPr>
          <a:xfrm>
            <a:off x="1737360" y="3794760"/>
            <a:ext cx="8961120" cy="0"/>
          </a:xfrm>
          <a:prstGeom prst="line">
            <a:avLst/>
          </a:prstGeom>
          <a:noFill/>
          <a:ln w="12700">
            <a:solidFill>
              <a:srgbClr val="38332E"/>
            </a:solidFill>
            <a:prstDash val="solid"/>
          </a:ln>
        </p:spPr>
      </p:sp>
      <p:sp>
        <p:nvSpPr>
          <p:cNvPr id="9" name="Text 7"/>
          <p:cNvSpPr/>
          <p:nvPr/>
        </p:nvSpPr>
        <p:spPr>
          <a:xfrm>
            <a:off x="1737360" y="3977640"/>
            <a:ext cx="8961120" cy="777240"/>
          </a:xfrm>
          <a:prstGeom prst="rect">
            <a:avLst/>
          </a:prstGeom>
          <a:noFill/>
          <a:ln/>
        </p:spPr>
        <p:txBody>
          <a:bodyPr wrap="square" lIns="0" tIns="0" rIns="0" bIns="0" rtlCol="0" anchor="ctr"/>
          <a:lstStyle/>
          <a:p>
            <a:pPr indent="0" marL="0">
              <a:lnSpc>
                <a:spcPts val="2200"/>
              </a:lnSpc>
              <a:buNone/>
            </a:pPr>
            <a:r>
              <a:rPr lang="en-US" sz="1500" dirty="0">
                <a:solidFill>
                  <a:srgbClr val="D6D0C7"/>
                </a:solidFill>
                <a:latin typeface="Arial" pitchFamily="34" charset="0"/>
                <a:ea typeface="Arial" pitchFamily="34" charset="-122"/>
                <a:cs typeface="Arial" pitchFamily="34" charset="-120"/>
              </a:rPr>
              <a:t>当模型开始编写训练自身的代码：探秘硅谷最神秘的智能递归自举实验。</a:t>
            </a:r>
            <a:endParaRPr lang="en-US" sz="1500" dirty="0"/>
          </a:p>
        </p:txBody>
      </p:sp>
      <p:sp>
        <p:nvSpPr>
          <p:cNvPr id="10" name="Text 8"/>
          <p:cNvSpPr/>
          <p:nvPr/>
        </p:nvSpPr>
        <p:spPr>
          <a:xfrm>
            <a:off x="10332720" y="1371600"/>
            <a:ext cx="822960" cy="411480"/>
          </a:xfrm>
          <a:prstGeom prst="rect">
            <a:avLst/>
          </a:prstGeom>
          <a:noFill/>
          <a:ln/>
        </p:spPr>
        <p:txBody>
          <a:bodyPr wrap="square" rtlCol="0" anchor="ctr"/>
          <a:lstStyle/>
          <a:p>
            <a:pPr algn="r" indent="0" marL="0">
              <a:buNone/>
            </a:pPr>
            <a:r>
              <a:rPr lang="en-US" sz="1600" b="1" dirty="0">
                <a:solidFill>
                  <a:srgbClr val="666059"/>
                </a:solidFill>
                <a:latin typeface="Arial" pitchFamily="34" charset="0"/>
                <a:ea typeface="Arial" pitchFamily="34" charset="-122"/>
                <a:cs typeface="Arial" pitchFamily="34" charset="-120"/>
              </a:rPr>
              <a:t>23</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BF9F5"/>
        </a:solidFill>
      </p:bgPr>
    </p:bg>
    <p:spTree>
      <p:nvGrpSpPr>
        <p:cNvPr id="1" name=""/>
        <p:cNvGrpSpPr/>
        <p:nvPr/>
      </p:nvGrpSpPr>
      <p:grpSpPr>
        <a:xfrm>
          <a:off x="0" y="0"/>
          <a:ext cx="0" cy="0"/>
          <a:chOff x="0" y="0"/>
          <a:chExt cx="0" cy="0"/>
        </a:xfrm>
      </p:grpSpPr>
      <p:sp>
        <p:nvSpPr>
          <p:cNvPr id="2" name="Shape 0"/>
          <p:cNvSpPr/>
          <p:nvPr/>
        </p:nvSpPr>
        <p:spPr>
          <a:xfrm>
            <a:off x="731520" y="384048"/>
            <a:ext cx="2560320" cy="256032"/>
          </a:xfrm>
          <a:prstGeom prst="rect">
            <a:avLst/>
          </a:prstGeom>
          <a:solidFill>
            <a:srgbClr val="FBF0EB"/>
          </a:solidFill>
          <a:ln w="12700">
            <a:solidFill>
              <a:srgbClr val="F0C2B2"/>
            </a:solidFill>
            <a:prstDash val="solid"/>
          </a:ln>
        </p:spPr>
      </p:sp>
      <p:sp>
        <p:nvSpPr>
          <p:cNvPr id="3" name="Text 1"/>
          <p:cNvSpPr/>
          <p:nvPr/>
        </p:nvSpPr>
        <p:spPr>
          <a:xfrm>
            <a:off x="731520" y="384048"/>
            <a:ext cx="2560320" cy="256032"/>
          </a:xfrm>
          <a:prstGeom prst="rect">
            <a:avLst/>
          </a:prstGeom>
          <a:noFill/>
          <a:ln/>
        </p:spPr>
        <p:txBody>
          <a:bodyPr wrap="square" rtlCol="0" anchor="ctr"/>
          <a:lstStyle/>
          <a:p>
            <a:pPr algn="ctr" indent="0" marL="0">
              <a:buNone/>
            </a:pPr>
            <a:r>
              <a:rPr lang="en-US" sz="900" b="1" spc="120" kern="0" dirty="0">
                <a:solidFill>
                  <a:srgbClr val="D97757"/>
                </a:solidFill>
                <a:latin typeface="Arial" pitchFamily="34" charset="0"/>
                <a:ea typeface="Arial" pitchFamily="34" charset="-122"/>
                <a:cs typeface="Arial" pitchFamily="34" charset="-120"/>
              </a:rPr>
              <a:t>AMODEI WORLDVIEW</a:t>
            </a:r>
            <a:endParaRPr lang="en-US" sz="900" dirty="0"/>
          </a:p>
        </p:txBody>
      </p:sp>
      <p:sp>
        <p:nvSpPr>
          <p:cNvPr id="4" name="Text 2"/>
          <p:cNvSpPr/>
          <p:nvPr/>
        </p:nvSpPr>
        <p:spPr>
          <a:xfrm>
            <a:off x="731520" y="676656"/>
            <a:ext cx="9875520" cy="475488"/>
          </a:xfrm>
          <a:prstGeom prst="rect">
            <a:avLst/>
          </a:prstGeom>
          <a:noFill/>
          <a:ln/>
        </p:spPr>
        <p:txBody>
          <a:bodyPr wrap="square" lIns="0" tIns="0" rIns="0" bIns="0" rtlCol="0" anchor="ctr"/>
          <a:lstStyle/>
          <a:p>
            <a:pPr indent="0" marL="0">
              <a:buNone/>
            </a:pPr>
            <a:r>
              <a:rPr lang="en-US" sz="2100" b="1" dirty="0">
                <a:solidFill>
                  <a:srgbClr val="1C1917"/>
                </a:solidFill>
                <a:latin typeface="Arial" pitchFamily="34" charset="0"/>
                <a:ea typeface="Arial" pitchFamily="34" charset="-122"/>
                <a:cs typeface="Arial" pitchFamily="34" charset="-120"/>
              </a:rPr>
              <a:t>Dario Amodei 的生物物理哲学与《仁慈的机器》</a:t>
            </a:r>
            <a:endParaRPr lang="en-US" sz="2100" dirty="0"/>
          </a:p>
        </p:txBody>
      </p:sp>
      <p:sp>
        <p:nvSpPr>
          <p:cNvPr id="5" name="Text 3"/>
          <p:cNvSpPr/>
          <p:nvPr/>
        </p:nvSpPr>
        <p:spPr>
          <a:xfrm>
            <a:off x="10972800" y="384048"/>
            <a:ext cx="731520" cy="320040"/>
          </a:xfrm>
          <a:prstGeom prst="rect">
            <a:avLst/>
          </a:prstGeom>
          <a:noFill/>
          <a:ln/>
        </p:spPr>
        <p:txBody>
          <a:bodyPr wrap="square" rtlCol="0" anchor="ctr"/>
          <a:lstStyle/>
          <a:p>
            <a:pPr algn="r" indent="0" marL="0">
              <a:buNone/>
            </a:pPr>
            <a:r>
              <a:rPr lang="en-US" sz="1300" b="1" dirty="0">
                <a:solidFill>
                  <a:srgbClr val="8C857B"/>
                </a:solidFill>
                <a:latin typeface="Arial" pitchFamily="34" charset="0"/>
                <a:ea typeface="Arial" pitchFamily="34" charset="-122"/>
                <a:cs typeface="Arial" pitchFamily="34" charset="-120"/>
              </a:rPr>
              <a:t>24</a:t>
            </a:r>
            <a:endParaRPr lang="en-US" sz="1300" dirty="0"/>
          </a:p>
        </p:txBody>
      </p:sp>
      <p:sp>
        <p:nvSpPr>
          <p:cNvPr id="6" name="Shape 4"/>
          <p:cNvSpPr/>
          <p:nvPr/>
        </p:nvSpPr>
        <p:spPr>
          <a:xfrm>
            <a:off x="731520" y="1325880"/>
            <a:ext cx="5257800" cy="4892040"/>
          </a:xfrm>
          <a:prstGeom prst="rect">
            <a:avLst/>
          </a:prstGeom>
          <a:solidFill>
            <a:srgbClr val="FFFFFF"/>
          </a:solidFill>
          <a:ln w="12700">
            <a:solidFill>
              <a:srgbClr val="E2DCD2"/>
            </a:solidFill>
            <a:prstDash val="solid"/>
          </a:ln>
        </p:spPr>
      </p:sp>
      <p:sp>
        <p:nvSpPr>
          <p:cNvPr id="7" name="Shape 5"/>
          <p:cNvSpPr/>
          <p:nvPr/>
        </p:nvSpPr>
        <p:spPr>
          <a:xfrm>
            <a:off x="731520" y="1325880"/>
            <a:ext cx="5257800" cy="594360"/>
          </a:xfrm>
          <a:prstGeom prst="rect">
            <a:avLst/>
          </a:prstGeom>
          <a:solidFill>
            <a:srgbClr val="D97757"/>
          </a:solidFill>
          <a:ln/>
        </p:spPr>
      </p:sp>
      <p:sp>
        <p:nvSpPr>
          <p:cNvPr id="8" name="Text 6"/>
          <p:cNvSpPr/>
          <p:nvPr/>
        </p:nvSpPr>
        <p:spPr>
          <a:xfrm>
            <a:off x="1005840" y="1481328"/>
            <a:ext cx="4709160" cy="292608"/>
          </a:xfrm>
          <a:prstGeom prst="rect">
            <a:avLst/>
          </a:prstGeom>
          <a:noFill/>
          <a:ln/>
        </p:spPr>
        <p:txBody>
          <a:bodyPr wrap="square" rtlCol="0" anchor="ctr"/>
          <a:lstStyle/>
          <a:p>
            <a:pPr indent="0" marL="0">
              <a:buNone/>
            </a:pPr>
            <a:r>
              <a:rPr lang="en-US" sz="1150" b="1" dirty="0">
                <a:solidFill>
                  <a:srgbClr val="FFFFFF"/>
                </a:solidFill>
                <a:latin typeface="Arial" pitchFamily="34" charset="0"/>
                <a:ea typeface="Arial" pitchFamily="34" charset="-122"/>
                <a:cs typeface="Arial" pitchFamily="34" charset="-120"/>
              </a:rPr>
              <a:t>世界观：普林斯顿生物物理学者底色与标度律</a:t>
            </a:r>
            <a:endParaRPr lang="en-US" sz="1150" dirty="0"/>
          </a:p>
        </p:txBody>
      </p:sp>
      <p:sp>
        <p:nvSpPr>
          <p:cNvPr id="9" name="Shape 7"/>
          <p:cNvSpPr/>
          <p:nvPr/>
        </p:nvSpPr>
        <p:spPr>
          <a:xfrm>
            <a:off x="1005840" y="2029968"/>
            <a:ext cx="73152" cy="1207008"/>
          </a:xfrm>
          <a:prstGeom prst="rect">
            <a:avLst/>
          </a:prstGeom>
          <a:solidFill>
            <a:srgbClr val="D97757"/>
          </a:solidFill>
          <a:ln/>
        </p:spPr>
      </p:sp>
      <p:sp>
        <p:nvSpPr>
          <p:cNvPr id="10" name="Shape 8"/>
          <p:cNvSpPr/>
          <p:nvPr/>
        </p:nvSpPr>
        <p:spPr>
          <a:xfrm>
            <a:off x="1078992" y="2029968"/>
            <a:ext cx="4636008" cy="1207008"/>
          </a:xfrm>
          <a:prstGeom prst="rect">
            <a:avLst/>
          </a:prstGeom>
          <a:solidFill>
            <a:srgbClr val="F5F2EB"/>
          </a:solidFill>
          <a:ln w="12700">
            <a:solidFill>
              <a:srgbClr val="E2DCD2"/>
            </a:solidFill>
            <a:prstDash val="solid"/>
          </a:ln>
        </p:spPr>
      </p:sp>
      <p:sp>
        <p:nvSpPr>
          <p:cNvPr id="11" name="Text 9"/>
          <p:cNvSpPr/>
          <p:nvPr/>
        </p:nvSpPr>
        <p:spPr>
          <a:xfrm>
            <a:off x="1207008" y="2121408"/>
            <a:ext cx="4389120" cy="201168"/>
          </a:xfrm>
          <a:prstGeom prst="rect">
            <a:avLst/>
          </a:prstGeom>
          <a:noFill/>
          <a:ln/>
        </p:spPr>
        <p:txBody>
          <a:bodyPr wrap="square" rtlCol="0" anchor="ctr"/>
          <a:lstStyle/>
          <a:p>
            <a:pPr indent="0" marL="0">
              <a:buNone/>
            </a:pPr>
            <a:r>
              <a:rPr lang="en-US" sz="850" b="1" dirty="0">
                <a:solidFill>
                  <a:srgbClr val="D97757"/>
                </a:solidFill>
                <a:latin typeface="Arial" pitchFamily="34" charset="0"/>
                <a:ea typeface="Arial" pitchFamily="34" charset="-122"/>
                <a:cs typeface="Arial" pitchFamily="34" charset="-120"/>
              </a:rPr>
              <a:t>01 · 热力学演化</a:t>
            </a:r>
            <a:endParaRPr lang="en-US" sz="850" dirty="0"/>
          </a:p>
        </p:txBody>
      </p:sp>
      <p:sp>
        <p:nvSpPr>
          <p:cNvPr id="12" name="Text 10"/>
          <p:cNvSpPr/>
          <p:nvPr/>
        </p:nvSpPr>
        <p:spPr>
          <a:xfrm>
            <a:off x="1207008" y="2340864"/>
            <a:ext cx="4389120" cy="256032"/>
          </a:xfrm>
          <a:prstGeom prst="rect">
            <a:avLst/>
          </a:prstGeom>
          <a:noFill/>
          <a:ln/>
        </p:spPr>
        <p:txBody>
          <a:bodyPr wrap="square" rtlCol="0" anchor="ctr"/>
          <a:lstStyle/>
          <a:p>
            <a:pPr indent="0" marL="0">
              <a:buNone/>
            </a:pPr>
            <a:r>
              <a:rPr lang="en-US" sz="1050" b="1" dirty="0">
                <a:solidFill>
                  <a:srgbClr val="1C1917"/>
                </a:solidFill>
                <a:latin typeface="Arial" pitchFamily="34" charset="0"/>
                <a:ea typeface="Arial" pitchFamily="34" charset="-122"/>
                <a:cs typeface="Arial" pitchFamily="34" charset="-120"/>
              </a:rPr>
              <a:t>智能的物理本质：信息热力学耗散演化</a:t>
            </a:r>
            <a:endParaRPr lang="en-US" sz="1050" dirty="0"/>
          </a:p>
        </p:txBody>
      </p:sp>
      <p:sp>
        <p:nvSpPr>
          <p:cNvPr id="13" name="Text 11"/>
          <p:cNvSpPr/>
          <p:nvPr/>
        </p:nvSpPr>
        <p:spPr>
          <a:xfrm>
            <a:off x="1207008" y="2596896"/>
            <a:ext cx="4389120" cy="594360"/>
          </a:xfrm>
          <a:prstGeom prst="rect">
            <a:avLst/>
          </a:prstGeom>
          <a:noFill/>
          <a:ln/>
        </p:spPr>
        <p:txBody>
          <a:bodyPr wrap="square" rtlCol="0" anchor="ctr"/>
          <a:lstStyle/>
          <a:p>
            <a:pPr indent="0" marL="0">
              <a:lnSpc>
                <a:spcPts val="1250"/>
              </a:lnSpc>
              <a:buNone/>
            </a:pPr>
            <a:r>
              <a:rPr lang="en-US" sz="880" dirty="0">
                <a:solidFill>
                  <a:srgbClr val="57534E"/>
                </a:solidFill>
                <a:latin typeface="Arial" pitchFamily="34" charset="0"/>
                <a:ea typeface="Arial" pitchFamily="34" charset="-122"/>
                <a:cs typeface="Arial" pitchFamily="34" charset="-120"/>
              </a:rPr>
              <a:t>Dario Amodei 拒绝将 AGI 视作神秘不可捉摸的产物，而是将其还原为遵循确定性标度律（Scaling Laws）的物理演化过程。算力与硬反馈如同热力学能量注入。</a:t>
            </a:r>
            <a:endParaRPr lang="en-US" sz="880" dirty="0"/>
          </a:p>
        </p:txBody>
      </p:sp>
      <p:sp>
        <p:nvSpPr>
          <p:cNvPr id="14" name="Shape 12"/>
          <p:cNvSpPr/>
          <p:nvPr/>
        </p:nvSpPr>
        <p:spPr>
          <a:xfrm>
            <a:off x="1005840" y="3383280"/>
            <a:ext cx="73152" cy="1207008"/>
          </a:xfrm>
          <a:prstGeom prst="rect">
            <a:avLst/>
          </a:prstGeom>
          <a:solidFill>
            <a:srgbClr val="D97757"/>
          </a:solidFill>
          <a:ln/>
        </p:spPr>
      </p:sp>
      <p:sp>
        <p:nvSpPr>
          <p:cNvPr id="15" name="Shape 13"/>
          <p:cNvSpPr/>
          <p:nvPr/>
        </p:nvSpPr>
        <p:spPr>
          <a:xfrm>
            <a:off x="1078992" y="3383280"/>
            <a:ext cx="4636008" cy="1207008"/>
          </a:xfrm>
          <a:prstGeom prst="rect">
            <a:avLst/>
          </a:prstGeom>
          <a:solidFill>
            <a:srgbClr val="F5F2EB"/>
          </a:solidFill>
          <a:ln w="12700">
            <a:solidFill>
              <a:srgbClr val="E2DCD2"/>
            </a:solidFill>
            <a:prstDash val="solid"/>
          </a:ln>
        </p:spPr>
      </p:sp>
      <p:sp>
        <p:nvSpPr>
          <p:cNvPr id="16" name="Text 14"/>
          <p:cNvSpPr/>
          <p:nvPr/>
        </p:nvSpPr>
        <p:spPr>
          <a:xfrm>
            <a:off x="1207008" y="3474720"/>
            <a:ext cx="4389120" cy="201168"/>
          </a:xfrm>
          <a:prstGeom prst="rect">
            <a:avLst/>
          </a:prstGeom>
          <a:noFill/>
          <a:ln/>
        </p:spPr>
        <p:txBody>
          <a:bodyPr wrap="square" rtlCol="0" anchor="ctr"/>
          <a:lstStyle/>
          <a:p>
            <a:pPr indent="0" marL="0">
              <a:buNone/>
            </a:pPr>
            <a:r>
              <a:rPr lang="en-US" sz="850" b="1" dirty="0">
                <a:solidFill>
                  <a:srgbClr val="D97757"/>
                </a:solidFill>
                <a:latin typeface="Arial" pitchFamily="34" charset="0"/>
                <a:ea typeface="Arial" pitchFamily="34" charset="-122"/>
                <a:cs typeface="Arial" pitchFamily="34" charset="-120"/>
              </a:rPr>
              <a:t>02 · 生物学映射</a:t>
            </a:r>
            <a:endParaRPr lang="en-US" sz="850" dirty="0"/>
          </a:p>
        </p:txBody>
      </p:sp>
      <p:sp>
        <p:nvSpPr>
          <p:cNvPr id="17" name="Text 15"/>
          <p:cNvSpPr/>
          <p:nvPr/>
        </p:nvSpPr>
        <p:spPr>
          <a:xfrm>
            <a:off x="1207008" y="3694176"/>
            <a:ext cx="4389120" cy="256032"/>
          </a:xfrm>
          <a:prstGeom prst="rect">
            <a:avLst/>
          </a:prstGeom>
          <a:noFill/>
          <a:ln/>
        </p:spPr>
        <p:txBody>
          <a:bodyPr wrap="square" rtlCol="0" anchor="ctr"/>
          <a:lstStyle/>
          <a:p>
            <a:pPr indent="0" marL="0">
              <a:buNone/>
            </a:pPr>
            <a:r>
              <a:rPr lang="en-US" sz="1050" b="1" dirty="0">
                <a:solidFill>
                  <a:srgbClr val="1C1917"/>
                </a:solidFill>
                <a:latin typeface="Arial" pitchFamily="34" charset="0"/>
                <a:ea typeface="Arial" pitchFamily="34" charset="-122"/>
                <a:cs typeface="Arial" pitchFamily="34" charset="-120"/>
              </a:rPr>
              <a:t>生物学作为最高阶的复杂系统参考系</a:t>
            </a:r>
            <a:endParaRPr lang="en-US" sz="1050" dirty="0"/>
          </a:p>
        </p:txBody>
      </p:sp>
      <p:sp>
        <p:nvSpPr>
          <p:cNvPr id="18" name="Text 16"/>
          <p:cNvSpPr/>
          <p:nvPr/>
        </p:nvSpPr>
        <p:spPr>
          <a:xfrm>
            <a:off x="1207008" y="3950208"/>
            <a:ext cx="4389120" cy="594360"/>
          </a:xfrm>
          <a:prstGeom prst="rect">
            <a:avLst/>
          </a:prstGeom>
          <a:noFill/>
          <a:ln/>
        </p:spPr>
        <p:txBody>
          <a:bodyPr wrap="square" rtlCol="0" anchor="ctr"/>
          <a:lstStyle/>
          <a:p>
            <a:pPr indent="0" marL="0">
              <a:lnSpc>
                <a:spcPts val="1250"/>
              </a:lnSpc>
              <a:buNone/>
            </a:pPr>
            <a:r>
              <a:rPr lang="en-US" sz="880" dirty="0">
                <a:solidFill>
                  <a:srgbClr val="57534E"/>
                </a:solidFill>
                <a:latin typeface="Arial" pitchFamily="34" charset="0"/>
                <a:ea typeface="Arial" pitchFamily="34" charset="-122"/>
                <a:cs typeface="Arial" pitchFamily="34" charset="-120"/>
              </a:rPr>
              <a:t>自然界用数十亿年演化出人类神经元网络；而在硅基芯片中，通过高度形式化的代码控制流，人类能够在数年内完成生物演化数千万年的知识压缩。</a:t>
            </a:r>
            <a:endParaRPr lang="en-US" sz="880" dirty="0"/>
          </a:p>
        </p:txBody>
      </p:sp>
      <p:sp>
        <p:nvSpPr>
          <p:cNvPr id="19" name="Shape 17"/>
          <p:cNvSpPr/>
          <p:nvPr/>
        </p:nvSpPr>
        <p:spPr>
          <a:xfrm>
            <a:off x="1005840" y="4736592"/>
            <a:ext cx="73152" cy="1207008"/>
          </a:xfrm>
          <a:prstGeom prst="rect">
            <a:avLst/>
          </a:prstGeom>
          <a:solidFill>
            <a:srgbClr val="D97757"/>
          </a:solidFill>
          <a:ln/>
        </p:spPr>
      </p:sp>
      <p:sp>
        <p:nvSpPr>
          <p:cNvPr id="20" name="Shape 18"/>
          <p:cNvSpPr/>
          <p:nvPr/>
        </p:nvSpPr>
        <p:spPr>
          <a:xfrm>
            <a:off x="1078992" y="4736592"/>
            <a:ext cx="4636008" cy="1207008"/>
          </a:xfrm>
          <a:prstGeom prst="rect">
            <a:avLst/>
          </a:prstGeom>
          <a:solidFill>
            <a:srgbClr val="F5F2EB"/>
          </a:solidFill>
          <a:ln w="12700">
            <a:solidFill>
              <a:srgbClr val="E2DCD2"/>
            </a:solidFill>
            <a:prstDash val="solid"/>
          </a:ln>
        </p:spPr>
      </p:sp>
      <p:sp>
        <p:nvSpPr>
          <p:cNvPr id="21" name="Text 19"/>
          <p:cNvSpPr/>
          <p:nvPr/>
        </p:nvSpPr>
        <p:spPr>
          <a:xfrm>
            <a:off x="1207008" y="4828032"/>
            <a:ext cx="4389120" cy="201168"/>
          </a:xfrm>
          <a:prstGeom prst="rect">
            <a:avLst/>
          </a:prstGeom>
          <a:noFill/>
          <a:ln/>
        </p:spPr>
        <p:txBody>
          <a:bodyPr wrap="square" rtlCol="0" anchor="ctr"/>
          <a:lstStyle/>
          <a:p>
            <a:pPr indent="0" marL="0">
              <a:buNone/>
            </a:pPr>
            <a:r>
              <a:rPr lang="en-US" sz="850" b="1" dirty="0">
                <a:solidFill>
                  <a:srgbClr val="D97757"/>
                </a:solidFill>
                <a:latin typeface="Arial" pitchFamily="34" charset="0"/>
                <a:ea typeface="Arial" pitchFamily="34" charset="-122"/>
                <a:cs typeface="Arial" pitchFamily="34" charset="-120"/>
              </a:rPr>
              <a:t>03 · 严谨科学主义</a:t>
            </a:r>
            <a:endParaRPr lang="en-US" sz="850" dirty="0"/>
          </a:p>
        </p:txBody>
      </p:sp>
      <p:sp>
        <p:nvSpPr>
          <p:cNvPr id="22" name="Text 20"/>
          <p:cNvSpPr/>
          <p:nvPr/>
        </p:nvSpPr>
        <p:spPr>
          <a:xfrm>
            <a:off x="1207008" y="5047488"/>
            <a:ext cx="4389120" cy="256032"/>
          </a:xfrm>
          <a:prstGeom prst="rect">
            <a:avLst/>
          </a:prstGeom>
          <a:noFill/>
          <a:ln/>
        </p:spPr>
        <p:txBody>
          <a:bodyPr wrap="square" rtlCol="0" anchor="ctr"/>
          <a:lstStyle/>
          <a:p>
            <a:pPr indent="0" marL="0">
              <a:buNone/>
            </a:pPr>
            <a:r>
              <a:rPr lang="en-US" sz="1050" b="1" dirty="0">
                <a:solidFill>
                  <a:srgbClr val="1C1917"/>
                </a:solidFill>
                <a:latin typeface="Arial" pitchFamily="34" charset="0"/>
                <a:ea typeface="Arial" pitchFamily="34" charset="-122"/>
                <a:cs typeface="Arial" pitchFamily="34" charset="-120"/>
              </a:rPr>
              <a:t>谨慎而坚定的技术理性乐观主义</a:t>
            </a:r>
            <a:endParaRPr lang="en-US" sz="1050" dirty="0"/>
          </a:p>
        </p:txBody>
      </p:sp>
      <p:sp>
        <p:nvSpPr>
          <p:cNvPr id="23" name="Text 21"/>
          <p:cNvSpPr/>
          <p:nvPr/>
        </p:nvSpPr>
        <p:spPr>
          <a:xfrm>
            <a:off x="1207008" y="5303520"/>
            <a:ext cx="4389120" cy="594360"/>
          </a:xfrm>
          <a:prstGeom prst="rect">
            <a:avLst/>
          </a:prstGeom>
          <a:noFill/>
          <a:ln/>
        </p:spPr>
        <p:txBody>
          <a:bodyPr wrap="square" rtlCol="0" anchor="ctr"/>
          <a:lstStyle/>
          <a:p>
            <a:pPr indent="0" marL="0">
              <a:lnSpc>
                <a:spcPts val="1250"/>
              </a:lnSpc>
              <a:buNone/>
            </a:pPr>
            <a:r>
              <a:rPr lang="en-US" sz="880" dirty="0">
                <a:solidFill>
                  <a:srgbClr val="57534E"/>
                </a:solidFill>
                <a:latin typeface="Arial" pitchFamily="34" charset="0"/>
                <a:ea typeface="Arial" pitchFamily="34" charset="-122"/>
                <a:cs typeface="Arial" pitchFamily="34" charset="-120"/>
              </a:rPr>
              <a:t>与单纯追求商业变现的巨头不同，Anthropic 将“确保前沿智能造福人类”写入公司宪法，主张通过极度严谨的实验物理科学去驾驭这股浩瀚的计算力量。</a:t>
            </a:r>
            <a:endParaRPr lang="en-US" sz="880" dirty="0"/>
          </a:p>
        </p:txBody>
      </p:sp>
      <p:sp>
        <p:nvSpPr>
          <p:cNvPr id="24" name="Shape 22"/>
          <p:cNvSpPr/>
          <p:nvPr/>
        </p:nvSpPr>
        <p:spPr>
          <a:xfrm>
            <a:off x="6199632" y="1325880"/>
            <a:ext cx="5257800" cy="4892040"/>
          </a:xfrm>
          <a:prstGeom prst="rect">
            <a:avLst/>
          </a:prstGeom>
          <a:solidFill>
            <a:srgbClr val="FFFFFF"/>
          </a:solidFill>
          <a:ln w="12700">
            <a:solidFill>
              <a:srgbClr val="E2DCD2"/>
            </a:solidFill>
            <a:prstDash val="solid"/>
          </a:ln>
        </p:spPr>
      </p:sp>
      <p:sp>
        <p:nvSpPr>
          <p:cNvPr id="25" name="Shape 23"/>
          <p:cNvSpPr/>
          <p:nvPr/>
        </p:nvSpPr>
        <p:spPr>
          <a:xfrm>
            <a:off x="6199632" y="1325880"/>
            <a:ext cx="5257800" cy="594360"/>
          </a:xfrm>
          <a:prstGeom prst="rect">
            <a:avLst/>
          </a:prstGeom>
          <a:solidFill>
            <a:srgbClr val="D97706"/>
          </a:solidFill>
          <a:ln/>
        </p:spPr>
      </p:sp>
      <p:sp>
        <p:nvSpPr>
          <p:cNvPr id="26" name="Text 24"/>
          <p:cNvSpPr/>
          <p:nvPr/>
        </p:nvSpPr>
        <p:spPr>
          <a:xfrm>
            <a:off x="6473952" y="1481328"/>
            <a:ext cx="4709160" cy="292608"/>
          </a:xfrm>
          <a:prstGeom prst="rect">
            <a:avLst/>
          </a:prstGeom>
          <a:noFill/>
          <a:ln/>
        </p:spPr>
        <p:txBody>
          <a:bodyPr wrap="square" rtlCol="0" anchor="ctr"/>
          <a:lstStyle/>
          <a:p>
            <a:pPr indent="0" marL="0">
              <a:buNone/>
            </a:pPr>
            <a:r>
              <a:rPr lang="en-US" sz="1150" b="1" dirty="0">
                <a:solidFill>
                  <a:srgbClr val="FFFFFF"/>
                </a:solidFill>
                <a:latin typeface="Arial" pitchFamily="34" charset="0"/>
                <a:ea typeface="Arial" pitchFamily="34" charset="-122"/>
                <a:cs typeface="Arial" pitchFamily="34" charset="-120"/>
              </a:rPr>
              <a:t>宏伟愿景：《仁慈的机器》终极科学图景</a:t>
            </a:r>
            <a:endParaRPr lang="en-US" sz="1150" dirty="0"/>
          </a:p>
        </p:txBody>
      </p:sp>
      <p:sp>
        <p:nvSpPr>
          <p:cNvPr id="27" name="Shape 25"/>
          <p:cNvSpPr/>
          <p:nvPr/>
        </p:nvSpPr>
        <p:spPr>
          <a:xfrm>
            <a:off x="6473952" y="2029968"/>
            <a:ext cx="73152" cy="1207008"/>
          </a:xfrm>
          <a:prstGeom prst="rect">
            <a:avLst/>
          </a:prstGeom>
          <a:solidFill>
            <a:srgbClr val="D97706"/>
          </a:solidFill>
          <a:ln/>
        </p:spPr>
      </p:sp>
      <p:sp>
        <p:nvSpPr>
          <p:cNvPr id="28" name="Shape 26"/>
          <p:cNvSpPr/>
          <p:nvPr/>
        </p:nvSpPr>
        <p:spPr>
          <a:xfrm>
            <a:off x="6547104" y="2029968"/>
            <a:ext cx="4636008" cy="1207008"/>
          </a:xfrm>
          <a:prstGeom prst="rect">
            <a:avLst/>
          </a:prstGeom>
          <a:solidFill>
            <a:srgbClr val="F5F2EB"/>
          </a:solidFill>
          <a:ln w="12700">
            <a:solidFill>
              <a:srgbClr val="E2DCD2"/>
            </a:solidFill>
            <a:prstDash val="solid"/>
          </a:ln>
        </p:spPr>
      </p:sp>
      <p:sp>
        <p:nvSpPr>
          <p:cNvPr id="29" name="Text 27"/>
          <p:cNvSpPr/>
          <p:nvPr/>
        </p:nvSpPr>
        <p:spPr>
          <a:xfrm>
            <a:off x="6675120" y="2121408"/>
            <a:ext cx="4389120" cy="201168"/>
          </a:xfrm>
          <a:prstGeom prst="rect">
            <a:avLst/>
          </a:prstGeom>
          <a:noFill/>
          <a:ln/>
        </p:spPr>
        <p:txBody>
          <a:bodyPr wrap="square" rtlCol="0" anchor="ctr"/>
          <a:lstStyle/>
          <a:p>
            <a:pPr indent="0" marL="0">
              <a:buNone/>
            </a:pPr>
            <a:r>
              <a:rPr lang="en-US" sz="850" b="1" dirty="0">
                <a:solidFill>
                  <a:srgbClr val="D97706"/>
                </a:solidFill>
                <a:latin typeface="Arial" pitchFamily="34" charset="0"/>
                <a:ea typeface="Arial" pitchFamily="34" charset="-122"/>
                <a:cs typeface="Arial" pitchFamily="34" charset="-120"/>
              </a:rPr>
              <a:t>01 · 医学压缩</a:t>
            </a:r>
            <a:endParaRPr lang="en-US" sz="850" dirty="0"/>
          </a:p>
        </p:txBody>
      </p:sp>
      <p:sp>
        <p:nvSpPr>
          <p:cNvPr id="30" name="Text 28"/>
          <p:cNvSpPr/>
          <p:nvPr/>
        </p:nvSpPr>
        <p:spPr>
          <a:xfrm>
            <a:off x="6675120" y="2340864"/>
            <a:ext cx="4389120" cy="256032"/>
          </a:xfrm>
          <a:prstGeom prst="rect">
            <a:avLst/>
          </a:prstGeom>
          <a:noFill/>
          <a:ln/>
        </p:spPr>
        <p:txBody>
          <a:bodyPr wrap="square" rtlCol="0" anchor="ctr"/>
          <a:lstStyle/>
          <a:p>
            <a:pPr indent="0" marL="0">
              <a:buNone/>
            </a:pPr>
            <a:r>
              <a:rPr lang="en-US" sz="1050" b="1" dirty="0">
                <a:solidFill>
                  <a:srgbClr val="1C1917"/>
                </a:solidFill>
                <a:latin typeface="Arial" pitchFamily="34" charset="0"/>
                <a:ea typeface="Arial" pitchFamily="34" charset="-122"/>
                <a:cs typeface="Arial" pitchFamily="34" charset="-120"/>
              </a:rPr>
              <a:t>“50 年人类医学科研进展压缩至 5 年”</a:t>
            </a:r>
            <a:endParaRPr lang="en-US" sz="1050" dirty="0"/>
          </a:p>
        </p:txBody>
      </p:sp>
      <p:sp>
        <p:nvSpPr>
          <p:cNvPr id="31" name="Text 29"/>
          <p:cNvSpPr/>
          <p:nvPr/>
        </p:nvSpPr>
        <p:spPr>
          <a:xfrm>
            <a:off x="6675120" y="2596896"/>
            <a:ext cx="4389120" cy="594360"/>
          </a:xfrm>
          <a:prstGeom prst="rect">
            <a:avLst/>
          </a:prstGeom>
          <a:noFill/>
          <a:ln/>
        </p:spPr>
        <p:txBody>
          <a:bodyPr wrap="square" rtlCol="0" anchor="ctr"/>
          <a:lstStyle/>
          <a:p>
            <a:pPr indent="0" marL="0">
              <a:lnSpc>
                <a:spcPts val="1250"/>
              </a:lnSpc>
              <a:buNone/>
            </a:pPr>
            <a:r>
              <a:rPr lang="en-US" sz="880" dirty="0">
                <a:solidFill>
                  <a:srgbClr val="57534E"/>
                </a:solidFill>
                <a:latin typeface="Arial" pitchFamily="34" charset="0"/>
                <a:ea typeface="Arial" pitchFamily="34" charset="-122"/>
                <a:cs typeface="Arial" pitchFamily="34" charset="-120"/>
              </a:rPr>
              <a:t>Amodei 论证：借助具备自主代码编写与实验控制能力的超级智能，癌症攻克、传染病根除与神经退行性疾病逆转等宏伟科研，将在未来 5 到 10 年内集中爆发。</a:t>
            </a:r>
            <a:endParaRPr lang="en-US" sz="880" dirty="0"/>
          </a:p>
        </p:txBody>
      </p:sp>
      <p:sp>
        <p:nvSpPr>
          <p:cNvPr id="32" name="Shape 30"/>
          <p:cNvSpPr/>
          <p:nvPr/>
        </p:nvSpPr>
        <p:spPr>
          <a:xfrm>
            <a:off x="6473952" y="3383280"/>
            <a:ext cx="73152" cy="1207008"/>
          </a:xfrm>
          <a:prstGeom prst="rect">
            <a:avLst/>
          </a:prstGeom>
          <a:solidFill>
            <a:srgbClr val="D97706"/>
          </a:solidFill>
          <a:ln/>
        </p:spPr>
      </p:sp>
      <p:sp>
        <p:nvSpPr>
          <p:cNvPr id="33" name="Shape 31"/>
          <p:cNvSpPr/>
          <p:nvPr/>
        </p:nvSpPr>
        <p:spPr>
          <a:xfrm>
            <a:off x="6547104" y="3383280"/>
            <a:ext cx="4636008" cy="1207008"/>
          </a:xfrm>
          <a:prstGeom prst="rect">
            <a:avLst/>
          </a:prstGeom>
          <a:solidFill>
            <a:srgbClr val="F5F2EB"/>
          </a:solidFill>
          <a:ln w="12700">
            <a:solidFill>
              <a:srgbClr val="E2DCD2"/>
            </a:solidFill>
            <a:prstDash val="solid"/>
          </a:ln>
        </p:spPr>
      </p:sp>
      <p:sp>
        <p:nvSpPr>
          <p:cNvPr id="34" name="Text 32"/>
          <p:cNvSpPr/>
          <p:nvPr/>
        </p:nvSpPr>
        <p:spPr>
          <a:xfrm>
            <a:off x="6675120" y="3474720"/>
            <a:ext cx="4389120" cy="201168"/>
          </a:xfrm>
          <a:prstGeom prst="rect">
            <a:avLst/>
          </a:prstGeom>
          <a:noFill/>
          <a:ln/>
        </p:spPr>
        <p:txBody>
          <a:bodyPr wrap="square" rtlCol="0" anchor="ctr"/>
          <a:lstStyle/>
          <a:p>
            <a:pPr indent="0" marL="0">
              <a:buNone/>
            </a:pPr>
            <a:r>
              <a:rPr lang="en-US" sz="850" b="1" dirty="0">
                <a:solidFill>
                  <a:srgbClr val="D97706"/>
                </a:solidFill>
                <a:latin typeface="Arial" pitchFamily="34" charset="0"/>
                <a:ea typeface="Arial" pitchFamily="34" charset="-122"/>
                <a:cs typeface="Arial" pitchFamily="34" charset="-120"/>
              </a:rPr>
              <a:t>02 · 信息同构</a:t>
            </a:r>
            <a:endParaRPr lang="en-US" sz="850" dirty="0"/>
          </a:p>
        </p:txBody>
      </p:sp>
      <p:sp>
        <p:nvSpPr>
          <p:cNvPr id="35" name="Text 33"/>
          <p:cNvSpPr/>
          <p:nvPr/>
        </p:nvSpPr>
        <p:spPr>
          <a:xfrm>
            <a:off x="6675120" y="3694176"/>
            <a:ext cx="4389120" cy="256032"/>
          </a:xfrm>
          <a:prstGeom prst="rect">
            <a:avLst/>
          </a:prstGeom>
          <a:noFill/>
          <a:ln/>
        </p:spPr>
        <p:txBody>
          <a:bodyPr wrap="square" rtlCol="0" anchor="ctr"/>
          <a:lstStyle/>
          <a:p>
            <a:pPr indent="0" marL="0">
              <a:buNone/>
            </a:pPr>
            <a:r>
              <a:rPr lang="en-US" sz="1050" b="1" dirty="0">
                <a:solidFill>
                  <a:srgbClr val="1C1917"/>
                </a:solidFill>
                <a:latin typeface="Arial" pitchFamily="34" charset="0"/>
                <a:ea typeface="Arial" pitchFamily="34" charset="-122"/>
                <a:cs typeface="Arial" pitchFamily="34" charset="-120"/>
              </a:rPr>
              <a:t>从数字代码跃迁到基因与生命碱基代码</a:t>
            </a:r>
            <a:endParaRPr lang="en-US" sz="1050" dirty="0"/>
          </a:p>
        </p:txBody>
      </p:sp>
      <p:sp>
        <p:nvSpPr>
          <p:cNvPr id="36" name="Text 34"/>
          <p:cNvSpPr/>
          <p:nvPr/>
        </p:nvSpPr>
        <p:spPr>
          <a:xfrm>
            <a:off x="6675120" y="3950208"/>
            <a:ext cx="4389120" cy="594360"/>
          </a:xfrm>
          <a:prstGeom prst="rect">
            <a:avLst/>
          </a:prstGeom>
          <a:noFill/>
          <a:ln/>
        </p:spPr>
        <p:txBody>
          <a:bodyPr wrap="square" rtlCol="0" anchor="ctr"/>
          <a:lstStyle/>
          <a:p>
            <a:pPr indent="0" marL="0">
              <a:lnSpc>
                <a:spcPts val="1250"/>
              </a:lnSpc>
              <a:buNone/>
            </a:pPr>
            <a:r>
              <a:rPr lang="en-US" sz="880" dirty="0">
                <a:solidFill>
                  <a:srgbClr val="57534E"/>
                </a:solidFill>
                <a:latin typeface="Arial" pitchFamily="34" charset="0"/>
                <a:ea typeface="Arial" pitchFamily="34" charset="-122"/>
                <a:cs typeface="Arial" pitchFamily="34" charset="-120"/>
              </a:rPr>
              <a:t>软件工程代码与生物界 DNA/RNA 碱基序列在信息论上具有同构性。掌握了复杂系统代码编译的模型，将无缝接管湿实验室的自动化机器人。</a:t>
            </a:r>
            <a:endParaRPr lang="en-US" sz="880" dirty="0"/>
          </a:p>
        </p:txBody>
      </p:sp>
      <p:sp>
        <p:nvSpPr>
          <p:cNvPr id="37" name="Shape 35"/>
          <p:cNvSpPr/>
          <p:nvPr/>
        </p:nvSpPr>
        <p:spPr>
          <a:xfrm>
            <a:off x="6473952" y="4736592"/>
            <a:ext cx="73152" cy="1207008"/>
          </a:xfrm>
          <a:prstGeom prst="rect">
            <a:avLst/>
          </a:prstGeom>
          <a:solidFill>
            <a:srgbClr val="D97706"/>
          </a:solidFill>
          <a:ln/>
        </p:spPr>
      </p:sp>
      <p:sp>
        <p:nvSpPr>
          <p:cNvPr id="38" name="Shape 36"/>
          <p:cNvSpPr/>
          <p:nvPr/>
        </p:nvSpPr>
        <p:spPr>
          <a:xfrm>
            <a:off x="6547104" y="4736592"/>
            <a:ext cx="4636008" cy="1207008"/>
          </a:xfrm>
          <a:prstGeom prst="rect">
            <a:avLst/>
          </a:prstGeom>
          <a:solidFill>
            <a:srgbClr val="F5F2EB"/>
          </a:solidFill>
          <a:ln w="12700">
            <a:solidFill>
              <a:srgbClr val="E2DCD2"/>
            </a:solidFill>
            <a:prstDash val="solid"/>
          </a:ln>
        </p:spPr>
      </p:sp>
      <p:sp>
        <p:nvSpPr>
          <p:cNvPr id="39" name="Text 37"/>
          <p:cNvSpPr/>
          <p:nvPr/>
        </p:nvSpPr>
        <p:spPr>
          <a:xfrm>
            <a:off x="6675120" y="4828032"/>
            <a:ext cx="4389120" cy="201168"/>
          </a:xfrm>
          <a:prstGeom prst="rect">
            <a:avLst/>
          </a:prstGeom>
          <a:noFill/>
          <a:ln/>
        </p:spPr>
        <p:txBody>
          <a:bodyPr wrap="square" rtlCol="0" anchor="ctr"/>
          <a:lstStyle/>
          <a:p>
            <a:pPr indent="0" marL="0">
              <a:buNone/>
            </a:pPr>
            <a:r>
              <a:rPr lang="en-US" sz="850" b="1" dirty="0">
                <a:solidFill>
                  <a:srgbClr val="D97706"/>
                </a:solidFill>
                <a:latin typeface="Arial" pitchFamily="34" charset="0"/>
                <a:ea typeface="Arial" pitchFamily="34" charset="-122"/>
                <a:cs typeface="Arial" pitchFamily="34" charset="-120"/>
              </a:rPr>
              <a:t>03 · 唯一定盘星</a:t>
            </a:r>
            <a:endParaRPr lang="en-US" sz="850" dirty="0"/>
          </a:p>
        </p:txBody>
      </p:sp>
      <p:sp>
        <p:nvSpPr>
          <p:cNvPr id="40" name="Text 38"/>
          <p:cNvSpPr/>
          <p:nvPr/>
        </p:nvSpPr>
        <p:spPr>
          <a:xfrm>
            <a:off x="6675120" y="5047488"/>
            <a:ext cx="4389120" cy="256032"/>
          </a:xfrm>
          <a:prstGeom prst="rect">
            <a:avLst/>
          </a:prstGeom>
          <a:noFill/>
          <a:ln/>
        </p:spPr>
        <p:txBody>
          <a:bodyPr wrap="square" rtlCol="0" anchor="ctr"/>
          <a:lstStyle/>
          <a:p>
            <a:pPr indent="0" marL="0">
              <a:buNone/>
            </a:pPr>
            <a:r>
              <a:rPr lang="en-US" sz="1050" b="1" dirty="0">
                <a:solidFill>
                  <a:srgbClr val="1C1917"/>
                </a:solidFill>
                <a:latin typeface="Arial" pitchFamily="34" charset="0"/>
                <a:ea typeface="Arial" pitchFamily="34" charset="-122"/>
                <a:cs typeface="Arial" pitchFamily="34" charset="-120"/>
              </a:rPr>
              <a:t>代码是通往物理世界奇迹的唯一硬基石</a:t>
            </a:r>
            <a:endParaRPr lang="en-US" sz="1050" dirty="0"/>
          </a:p>
        </p:txBody>
      </p:sp>
      <p:sp>
        <p:nvSpPr>
          <p:cNvPr id="41" name="Text 39"/>
          <p:cNvSpPr/>
          <p:nvPr/>
        </p:nvSpPr>
        <p:spPr>
          <a:xfrm>
            <a:off x="6675120" y="5303520"/>
            <a:ext cx="4389120" cy="594360"/>
          </a:xfrm>
          <a:prstGeom prst="rect">
            <a:avLst/>
          </a:prstGeom>
          <a:noFill/>
          <a:ln/>
        </p:spPr>
        <p:txBody>
          <a:bodyPr wrap="square" rtlCol="0" anchor="ctr"/>
          <a:lstStyle/>
          <a:p>
            <a:pPr indent="0" marL="0">
              <a:lnSpc>
                <a:spcPts val="1250"/>
              </a:lnSpc>
              <a:buNone/>
            </a:pPr>
            <a:r>
              <a:rPr lang="en-US" sz="880" dirty="0">
                <a:solidFill>
                  <a:srgbClr val="57534E"/>
                </a:solidFill>
                <a:latin typeface="Arial" pitchFamily="34" charset="0"/>
                <a:ea typeface="Arial" pitchFamily="34" charset="-122"/>
                <a:cs typeface="Arial" pitchFamily="34" charset="-120"/>
              </a:rPr>
              <a:t>所有这一切跨越的先决条件，依然是机器必须具备 100% 绝对严密的代码逻辑——因为一个致命的基因编辑排错失误，现实世界将付出无可挽回的代价。</a:t>
            </a:r>
            <a:endParaRPr lang="en-US" sz="88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BF9F5"/>
        </a:solidFill>
      </p:bgPr>
    </p:bg>
    <p:spTree>
      <p:nvGrpSpPr>
        <p:cNvPr id="1" name=""/>
        <p:cNvGrpSpPr/>
        <p:nvPr/>
      </p:nvGrpSpPr>
      <p:grpSpPr>
        <a:xfrm>
          <a:off x="0" y="0"/>
          <a:ext cx="0" cy="0"/>
          <a:chOff x="0" y="0"/>
          <a:chExt cx="0" cy="0"/>
        </a:xfrm>
      </p:grpSpPr>
      <p:sp>
        <p:nvSpPr>
          <p:cNvPr id="2" name="Shape 0"/>
          <p:cNvSpPr/>
          <p:nvPr/>
        </p:nvSpPr>
        <p:spPr>
          <a:xfrm>
            <a:off x="731520" y="384048"/>
            <a:ext cx="2560320" cy="256032"/>
          </a:xfrm>
          <a:prstGeom prst="rect">
            <a:avLst/>
          </a:prstGeom>
          <a:solidFill>
            <a:srgbClr val="FBF0EB"/>
          </a:solidFill>
          <a:ln w="12700">
            <a:solidFill>
              <a:srgbClr val="F0C2B2"/>
            </a:solidFill>
            <a:prstDash val="solid"/>
          </a:ln>
        </p:spPr>
      </p:sp>
      <p:sp>
        <p:nvSpPr>
          <p:cNvPr id="3" name="Text 1"/>
          <p:cNvSpPr/>
          <p:nvPr/>
        </p:nvSpPr>
        <p:spPr>
          <a:xfrm>
            <a:off x="731520" y="384048"/>
            <a:ext cx="2560320" cy="256032"/>
          </a:xfrm>
          <a:prstGeom prst="rect">
            <a:avLst/>
          </a:prstGeom>
          <a:noFill/>
          <a:ln/>
        </p:spPr>
        <p:txBody>
          <a:bodyPr wrap="square" rtlCol="0" anchor="ctr"/>
          <a:lstStyle/>
          <a:p>
            <a:pPr algn="ctr" indent="0" marL="0">
              <a:buNone/>
            </a:pPr>
            <a:r>
              <a:rPr lang="en-US" sz="900" b="1" spc="120" kern="0" dirty="0">
                <a:solidFill>
                  <a:srgbClr val="D97757"/>
                </a:solidFill>
                <a:latin typeface="Arial" pitchFamily="34" charset="0"/>
                <a:ea typeface="Arial" pitchFamily="34" charset="-122"/>
                <a:cs typeface="Arial" pitchFamily="34" charset="-120"/>
              </a:rPr>
              <a:t>RSI FLYWHEELS</a:t>
            </a:r>
            <a:endParaRPr lang="en-US" sz="900" dirty="0"/>
          </a:p>
        </p:txBody>
      </p:sp>
      <p:sp>
        <p:nvSpPr>
          <p:cNvPr id="4" name="Text 2"/>
          <p:cNvSpPr/>
          <p:nvPr/>
        </p:nvSpPr>
        <p:spPr>
          <a:xfrm>
            <a:off x="731520" y="676656"/>
            <a:ext cx="9875520" cy="475488"/>
          </a:xfrm>
          <a:prstGeom prst="rect">
            <a:avLst/>
          </a:prstGeom>
          <a:noFill/>
          <a:ln/>
        </p:spPr>
        <p:txBody>
          <a:bodyPr wrap="square" lIns="0" tIns="0" rIns="0" bIns="0" rtlCol="0" anchor="ctr"/>
          <a:lstStyle/>
          <a:p>
            <a:pPr indent="0" marL="0">
              <a:buNone/>
            </a:pPr>
            <a:r>
              <a:rPr lang="en-US" sz="2100" b="1" dirty="0">
                <a:solidFill>
                  <a:srgbClr val="1C1917"/>
                </a:solidFill>
                <a:latin typeface="Arial" pitchFamily="34" charset="0"/>
                <a:ea typeface="Arial" pitchFamily="34" charset="-122"/>
                <a:cs typeface="Arial" pitchFamily="34" charset="-120"/>
              </a:rPr>
              <a:t>递归自我改进 (RSI) 的四大自训练飞轮</a:t>
            </a:r>
            <a:endParaRPr lang="en-US" sz="2100" dirty="0"/>
          </a:p>
        </p:txBody>
      </p:sp>
      <p:sp>
        <p:nvSpPr>
          <p:cNvPr id="5" name="Text 3"/>
          <p:cNvSpPr/>
          <p:nvPr/>
        </p:nvSpPr>
        <p:spPr>
          <a:xfrm>
            <a:off x="10972800" y="384048"/>
            <a:ext cx="731520" cy="320040"/>
          </a:xfrm>
          <a:prstGeom prst="rect">
            <a:avLst/>
          </a:prstGeom>
          <a:noFill/>
          <a:ln/>
        </p:spPr>
        <p:txBody>
          <a:bodyPr wrap="square" rtlCol="0" anchor="ctr"/>
          <a:lstStyle/>
          <a:p>
            <a:pPr algn="r" indent="0" marL="0">
              <a:buNone/>
            </a:pPr>
            <a:r>
              <a:rPr lang="en-US" sz="1300" b="1" dirty="0">
                <a:solidFill>
                  <a:srgbClr val="8C857B"/>
                </a:solidFill>
                <a:latin typeface="Arial" pitchFamily="34" charset="0"/>
                <a:ea typeface="Arial" pitchFamily="34" charset="-122"/>
                <a:cs typeface="Arial" pitchFamily="34" charset="-120"/>
              </a:rPr>
              <a:t>25</a:t>
            </a:r>
            <a:endParaRPr lang="en-US" sz="1300" dirty="0"/>
          </a:p>
        </p:txBody>
      </p:sp>
      <p:sp>
        <p:nvSpPr>
          <p:cNvPr id="6" name="Shape 4"/>
          <p:cNvSpPr/>
          <p:nvPr/>
        </p:nvSpPr>
        <p:spPr>
          <a:xfrm>
            <a:off x="731520" y="1325880"/>
            <a:ext cx="2560320" cy="4892040"/>
          </a:xfrm>
          <a:prstGeom prst="rect">
            <a:avLst/>
          </a:prstGeom>
          <a:solidFill>
            <a:srgbClr val="FFFFFF"/>
          </a:solidFill>
          <a:ln w="12700">
            <a:solidFill>
              <a:srgbClr val="E2DCD2"/>
            </a:solidFill>
            <a:prstDash val="solid"/>
          </a:ln>
        </p:spPr>
      </p:sp>
      <p:sp>
        <p:nvSpPr>
          <p:cNvPr id="7" name="Shape 5"/>
          <p:cNvSpPr/>
          <p:nvPr/>
        </p:nvSpPr>
        <p:spPr>
          <a:xfrm>
            <a:off x="731520" y="1325880"/>
            <a:ext cx="2560320" cy="868680"/>
          </a:xfrm>
          <a:prstGeom prst="rect">
            <a:avLst/>
          </a:prstGeom>
          <a:solidFill>
            <a:srgbClr val="D97757"/>
          </a:solidFill>
          <a:ln/>
        </p:spPr>
      </p:sp>
      <p:sp>
        <p:nvSpPr>
          <p:cNvPr id="8" name="Text 6"/>
          <p:cNvSpPr/>
          <p:nvPr/>
        </p:nvSpPr>
        <p:spPr>
          <a:xfrm>
            <a:off x="868680" y="1408176"/>
            <a:ext cx="2286000" cy="201168"/>
          </a:xfrm>
          <a:prstGeom prst="rect">
            <a:avLst/>
          </a:prstGeom>
          <a:noFill/>
          <a:ln/>
        </p:spPr>
        <p:txBody>
          <a:bodyPr wrap="square" rtlCol="0" anchor="ctr"/>
          <a:lstStyle/>
          <a:p>
            <a:pPr indent="0" marL="0">
              <a:buNone/>
            </a:pPr>
            <a:r>
              <a:rPr lang="en-US" sz="850" b="1" spc="110" kern="0" dirty="0">
                <a:solidFill>
                  <a:srgbClr val="FFFFFF"/>
                </a:solidFill>
                <a:latin typeface="Arial" pitchFamily="34" charset="0"/>
                <a:ea typeface="Arial" pitchFamily="34" charset="-122"/>
                <a:cs typeface="Arial" pitchFamily="34" charset="-120"/>
              </a:rPr>
              <a:t>WHEEL 01</a:t>
            </a:r>
            <a:endParaRPr lang="en-US" sz="850" dirty="0"/>
          </a:p>
        </p:txBody>
      </p:sp>
      <p:sp>
        <p:nvSpPr>
          <p:cNvPr id="9" name="Text 7"/>
          <p:cNvSpPr/>
          <p:nvPr/>
        </p:nvSpPr>
        <p:spPr>
          <a:xfrm>
            <a:off x="868680" y="1609344"/>
            <a:ext cx="2286000" cy="502920"/>
          </a:xfrm>
          <a:prstGeom prst="rect">
            <a:avLst/>
          </a:prstGeom>
          <a:noFill/>
          <a:ln/>
        </p:spPr>
        <p:txBody>
          <a:bodyPr wrap="square" rtlCol="0" anchor="ctr"/>
          <a:lstStyle/>
          <a:p>
            <a:pPr indent="0" marL="0">
              <a:lnSpc>
                <a:spcPts val="1500"/>
              </a:lnSpc>
              <a:buNone/>
            </a:pPr>
            <a:r>
              <a:rPr lang="en-US" sz="1250" b="1" dirty="0">
                <a:solidFill>
                  <a:srgbClr val="FFFFFF"/>
                </a:solidFill>
                <a:latin typeface="Arial" pitchFamily="34" charset="0"/>
                <a:ea typeface="Arial" pitchFamily="34" charset="-122"/>
                <a:cs typeface="Arial" pitchFamily="34" charset="-120"/>
              </a:rPr>
              <a:t>合成单测用例对抗生成</a:t>
            </a:r>
            <a:endParaRPr lang="en-US" sz="1250" dirty="0"/>
          </a:p>
        </p:txBody>
      </p:sp>
      <p:sp>
        <p:nvSpPr>
          <p:cNvPr id="10" name="Text 8"/>
          <p:cNvSpPr/>
          <p:nvPr/>
        </p:nvSpPr>
        <p:spPr>
          <a:xfrm>
            <a:off x="914400" y="2423160"/>
            <a:ext cx="2194560" cy="3017520"/>
          </a:xfrm>
          <a:prstGeom prst="rect">
            <a:avLst/>
          </a:prstGeom>
          <a:noFill/>
          <a:ln/>
        </p:spPr>
        <p:txBody>
          <a:bodyPr wrap="square" rtlCol="0" anchor="ctr"/>
          <a:lstStyle/>
          <a:p>
            <a:pPr indent="0" marL="0">
              <a:lnSpc>
                <a:spcPts val="1500"/>
              </a:lnSpc>
              <a:buNone/>
            </a:pPr>
            <a:r>
              <a:rPr lang="en-US" sz="950" dirty="0">
                <a:solidFill>
                  <a:srgbClr val="57534E"/>
                </a:solidFill>
                <a:latin typeface="Arial" pitchFamily="34" charset="0"/>
                <a:ea typeface="Arial" pitchFamily="34" charset="-122"/>
                <a:cs typeface="Arial" pitchFamily="34" charset="-120"/>
              </a:rPr>
              <a:t>Claude 负责为下一代候选模型自动构建上千万个包含极端边界条件、死锁与内存溢出的高难度测试套件，倒逼模型突破能力天花板。</a:t>
            </a:r>
            <a:endParaRPr lang="en-US" sz="950" dirty="0"/>
          </a:p>
        </p:txBody>
      </p:sp>
      <p:sp>
        <p:nvSpPr>
          <p:cNvPr id="11" name="Shape 9"/>
          <p:cNvSpPr/>
          <p:nvPr/>
        </p:nvSpPr>
        <p:spPr>
          <a:xfrm>
            <a:off x="868680" y="5650992"/>
            <a:ext cx="2286000" cy="438912"/>
          </a:xfrm>
          <a:prstGeom prst="rect">
            <a:avLst/>
          </a:prstGeom>
          <a:solidFill>
            <a:srgbClr val="EFEBE1"/>
          </a:solidFill>
          <a:ln w="12700">
            <a:solidFill>
              <a:srgbClr val="E2DCD2"/>
            </a:solidFill>
            <a:prstDash val="solid"/>
          </a:ln>
        </p:spPr>
      </p:sp>
      <p:sp>
        <p:nvSpPr>
          <p:cNvPr id="12" name="Text 10"/>
          <p:cNvSpPr/>
          <p:nvPr/>
        </p:nvSpPr>
        <p:spPr>
          <a:xfrm>
            <a:off x="914400" y="5705856"/>
            <a:ext cx="2194560" cy="329184"/>
          </a:xfrm>
          <a:prstGeom prst="rect">
            <a:avLst/>
          </a:prstGeom>
          <a:noFill/>
          <a:ln/>
        </p:spPr>
        <p:txBody>
          <a:bodyPr wrap="square" rtlCol="0" anchor="ctr"/>
          <a:lstStyle/>
          <a:p>
            <a:pPr algn="ctr" indent="0" marL="0">
              <a:buNone/>
            </a:pPr>
            <a:r>
              <a:rPr lang="en-US" sz="850" b="1" dirty="0">
                <a:solidFill>
                  <a:srgbClr val="D97757"/>
                </a:solidFill>
                <a:latin typeface="Arial" pitchFamily="34" charset="0"/>
                <a:ea typeface="Arial" pitchFamily="34" charset="-122"/>
                <a:cs typeface="Arial" pitchFamily="34" charset="-120"/>
              </a:rPr>
              <a:t>▸ 自动化生成千亿级高难度对抗样本</a:t>
            </a:r>
            <a:endParaRPr lang="en-US" sz="850" dirty="0"/>
          </a:p>
        </p:txBody>
      </p:sp>
      <p:sp>
        <p:nvSpPr>
          <p:cNvPr id="13" name="Shape 11"/>
          <p:cNvSpPr/>
          <p:nvPr/>
        </p:nvSpPr>
        <p:spPr>
          <a:xfrm>
            <a:off x="3429000" y="1325880"/>
            <a:ext cx="2560320" cy="4892040"/>
          </a:xfrm>
          <a:prstGeom prst="rect">
            <a:avLst/>
          </a:prstGeom>
          <a:solidFill>
            <a:srgbClr val="FFFFFF"/>
          </a:solidFill>
          <a:ln w="12700">
            <a:solidFill>
              <a:srgbClr val="E2DCD2"/>
            </a:solidFill>
            <a:prstDash val="solid"/>
          </a:ln>
        </p:spPr>
      </p:sp>
      <p:sp>
        <p:nvSpPr>
          <p:cNvPr id="14" name="Shape 12"/>
          <p:cNvSpPr/>
          <p:nvPr/>
        </p:nvSpPr>
        <p:spPr>
          <a:xfrm>
            <a:off x="3429000" y="1325880"/>
            <a:ext cx="2560320" cy="868680"/>
          </a:xfrm>
          <a:prstGeom prst="rect">
            <a:avLst/>
          </a:prstGeom>
          <a:solidFill>
            <a:srgbClr val="D97706"/>
          </a:solidFill>
          <a:ln/>
        </p:spPr>
      </p:sp>
      <p:sp>
        <p:nvSpPr>
          <p:cNvPr id="15" name="Text 13"/>
          <p:cNvSpPr/>
          <p:nvPr/>
        </p:nvSpPr>
        <p:spPr>
          <a:xfrm>
            <a:off x="3566160" y="1408176"/>
            <a:ext cx="2286000" cy="201168"/>
          </a:xfrm>
          <a:prstGeom prst="rect">
            <a:avLst/>
          </a:prstGeom>
          <a:noFill/>
          <a:ln/>
        </p:spPr>
        <p:txBody>
          <a:bodyPr wrap="square" rtlCol="0" anchor="ctr"/>
          <a:lstStyle/>
          <a:p>
            <a:pPr indent="0" marL="0">
              <a:buNone/>
            </a:pPr>
            <a:r>
              <a:rPr lang="en-US" sz="850" b="1" spc="110" kern="0" dirty="0">
                <a:solidFill>
                  <a:srgbClr val="FFFFFF"/>
                </a:solidFill>
                <a:latin typeface="Arial" pitchFamily="34" charset="0"/>
                <a:ea typeface="Arial" pitchFamily="34" charset="-122"/>
                <a:cs typeface="Arial" pitchFamily="34" charset="-120"/>
              </a:rPr>
              <a:t>WHEEL 02</a:t>
            </a:r>
            <a:endParaRPr lang="en-US" sz="850" dirty="0"/>
          </a:p>
        </p:txBody>
      </p:sp>
      <p:sp>
        <p:nvSpPr>
          <p:cNvPr id="16" name="Text 14"/>
          <p:cNvSpPr/>
          <p:nvPr/>
        </p:nvSpPr>
        <p:spPr>
          <a:xfrm>
            <a:off x="3566160" y="1609344"/>
            <a:ext cx="2286000" cy="502920"/>
          </a:xfrm>
          <a:prstGeom prst="rect">
            <a:avLst/>
          </a:prstGeom>
          <a:noFill/>
          <a:ln/>
        </p:spPr>
        <p:txBody>
          <a:bodyPr wrap="square" rtlCol="0" anchor="ctr"/>
          <a:lstStyle/>
          <a:p>
            <a:pPr indent="0" marL="0">
              <a:lnSpc>
                <a:spcPts val="1500"/>
              </a:lnSpc>
              <a:buNone/>
            </a:pPr>
            <a:r>
              <a:rPr lang="en-US" sz="1250" b="1" dirty="0">
                <a:solidFill>
                  <a:srgbClr val="FFFFFF"/>
                </a:solidFill>
                <a:latin typeface="Arial" pitchFamily="34" charset="0"/>
                <a:ea typeface="Arial" pitchFamily="34" charset="-122"/>
                <a:cs typeface="Arial" pitchFamily="34" charset="-120"/>
              </a:rPr>
              <a:t>终端自愈轨迹挖掘蒸馏</a:t>
            </a:r>
            <a:endParaRPr lang="en-US" sz="1250" dirty="0"/>
          </a:p>
        </p:txBody>
      </p:sp>
      <p:sp>
        <p:nvSpPr>
          <p:cNvPr id="17" name="Text 15"/>
          <p:cNvSpPr/>
          <p:nvPr/>
        </p:nvSpPr>
        <p:spPr>
          <a:xfrm>
            <a:off x="3611880" y="2423160"/>
            <a:ext cx="2194560" cy="3017520"/>
          </a:xfrm>
          <a:prstGeom prst="rect">
            <a:avLst/>
          </a:prstGeom>
          <a:noFill/>
          <a:ln/>
        </p:spPr>
        <p:txBody>
          <a:bodyPr wrap="square" rtlCol="0" anchor="ctr"/>
          <a:lstStyle/>
          <a:p>
            <a:pPr indent="0" marL="0">
              <a:lnSpc>
                <a:spcPts val="1500"/>
              </a:lnSpc>
              <a:buNone/>
            </a:pPr>
            <a:r>
              <a:rPr lang="en-US" sz="950" dirty="0">
                <a:solidFill>
                  <a:srgbClr val="57534E"/>
                </a:solidFill>
                <a:latin typeface="Arial" pitchFamily="34" charset="0"/>
                <a:ea typeface="Arial" pitchFamily="34" charset="-122"/>
                <a:cs typeface="Arial" pitchFamily="34" charset="-120"/>
              </a:rPr>
              <a:t>从数百万次真实终端交互中提取“报错 ➔ 假设 ➔ 修复”的黄金自校正轨迹，经过剪枝与压缩，转化为强化学习的高信噪比训练语料。</a:t>
            </a:r>
            <a:endParaRPr lang="en-US" sz="950" dirty="0"/>
          </a:p>
        </p:txBody>
      </p:sp>
      <p:sp>
        <p:nvSpPr>
          <p:cNvPr id="18" name="Shape 16"/>
          <p:cNvSpPr/>
          <p:nvPr/>
        </p:nvSpPr>
        <p:spPr>
          <a:xfrm>
            <a:off x="3566160" y="5650992"/>
            <a:ext cx="2286000" cy="438912"/>
          </a:xfrm>
          <a:prstGeom prst="rect">
            <a:avLst/>
          </a:prstGeom>
          <a:solidFill>
            <a:srgbClr val="EFEBE1"/>
          </a:solidFill>
          <a:ln w="12700">
            <a:solidFill>
              <a:srgbClr val="E2DCD2"/>
            </a:solidFill>
            <a:prstDash val="solid"/>
          </a:ln>
        </p:spPr>
      </p:sp>
      <p:sp>
        <p:nvSpPr>
          <p:cNvPr id="19" name="Text 17"/>
          <p:cNvSpPr/>
          <p:nvPr/>
        </p:nvSpPr>
        <p:spPr>
          <a:xfrm>
            <a:off x="3611880" y="5705856"/>
            <a:ext cx="2194560" cy="329184"/>
          </a:xfrm>
          <a:prstGeom prst="rect">
            <a:avLst/>
          </a:prstGeom>
          <a:noFill/>
          <a:ln/>
        </p:spPr>
        <p:txBody>
          <a:bodyPr wrap="square" rtlCol="0" anchor="ctr"/>
          <a:lstStyle/>
          <a:p>
            <a:pPr algn="ctr" indent="0" marL="0">
              <a:buNone/>
            </a:pPr>
            <a:r>
              <a:rPr lang="en-US" sz="850" b="1" dirty="0">
                <a:solidFill>
                  <a:srgbClr val="D97706"/>
                </a:solidFill>
                <a:latin typeface="Arial" pitchFamily="34" charset="0"/>
                <a:ea typeface="Arial" pitchFamily="34" charset="-122"/>
                <a:cs typeface="Arial" pitchFamily="34" charset="-120"/>
              </a:rPr>
              <a:t>▸ 终结纯人工专家标注的产能天花板</a:t>
            </a:r>
            <a:endParaRPr lang="en-US" sz="850" dirty="0"/>
          </a:p>
        </p:txBody>
      </p:sp>
      <p:sp>
        <p:nvSpPr>
          <p:cNvPr id="20" name="Shape 18"/>
          <p:cNvSpPr/>
          <p:nvPr/>
        </p:nvSpPr>
        <p:spPr>
          <a:xfrm>
            <a:off x="6126480" y="1325880"/>
            <a:ext cx="2560320" cy="4892040"/>
          </a:xfrm>
          <a:prstGeom prst="rect">
            <a:avLst/>
          </a:prstGeom>
          <a:solidFill>
            <a:srgbClr val="FFFFFF"/>
          </a:solidFill>
          <a:ln w="12700">
            <a:solidFill>
              <a:srgbClr val="E2DCD2"/>
            </a:solidFill>
            <a:prstDash val="solid"/>
          </a:ln>
        </p:spPr>
      </p:sp>
      <p:sp>
        <p:nvSpPr>
          <p:cNvPr id="21" name="Shape 19"/>
          <p:cNvSpPr/>
          <p:nvPr/>
        </p:nvSpPr>
        <p:spPr>
          <a:xfrm>
            <a:off x="6126480" y="1325880"/>
            <a:ext cx="2560320" cy="868680"/>
          </a:xfrm>
          <a:prstGeom prst="rect">
            <a:avLst/>
          </a:prstGeom>
          <a:solidFill>
            <a:srgbClr val="16A34A"/>
          </a:solidFill>
          <a:ln/>
        </p:spPr>
      </p:sp>
      <p:sp>
        <p:nvSpPr>
          <p:cNvPr id="22" name="Text 20"/>
          <p:cNvSpPr/>
          <p:nvPr/>
        </p:nvSpPr>
        <p:spPr>
          <a:xfrm>
            <a:off x="6263640" y="1408176"/>
            <a:ext cx="2286000" cy="201168"/>
          </a:xfrm>
          <a:prstGeom prst="rect">
            <a:avLst/>
          </a:prstGeom>
          <a:noFill/>
          <a:ln/>
        </p:spPr>
        <p:txBody>
          <a:bodyPr wrap="square" rtlCol="0" anchor="ctr"/>
          <a:lstStyle/>
          <a:p>
            <a:pPr indent="0" marL="0">
              <a:buNone/>
            </a:pPr>
            <a:r>
              <a:rPr lang="en-US" sz="850" b="1" spc="110" kern="0" dirty="0">
                <a:solidFill>
                  <a:srgbClr val="FFFFFF"/>
                </a:solidFill>
                <a:latin typeface="Arial" pitchFamily="34" charset="0"/>
                <a:ea typeface="Arial" pitchFamily="34" charset="-122"/>
                <a:cs typeface="Arial" pitchFamily="34" charset="-120"/>
              </a:rPr>
              <a:t>WHEEL 03</a:t>
            </a:r>
            <a:endParaRPr lang="en-US" sz="850" dirty="0"/>
          </a:p>
        </p:txBody>
      </p:sp>
      <p:sp>
        <p:nvSpPr>
          <p:cNvPr id="23" name="Text 21"/>
          <p:cNvSpPr/>
          <p:nvPr/>
        </p:nvSpPr>
        <p:spPr>
          <a:xfrm>
            <a:off x="6263640" y="1609344"/>
            <a:ext cx="2286000" cy="502920"/>
          </a:xfrm>
          <a:prstGeom prst="rect">
            <a:avLst/>
          </a:prstGeom>
          <a:noFill/>
          <a:ln/>
        </p:spPr>
        <p:txBody>
          <a:bodyPr wrap="square" rtlCol="0" anchor="ctr"/>
          <a:lstStyle/>
          <a:p>
            <a:pPr indent="0" marL="0">
              <a:lnSpc>
                <a:spcPts val="1500"/>
              </a:lnSpc>
              <a:buNone/>
            </a:pPr>
            <a:r>
              <a:rPr lang="en-US" sz="1250" b="1" dirty="0">
                <a:solidFill>
                  <a:srgbClr val="FFFFFF"/>
                </a:solidFill>
                <a:latin typeface="Arial" pitchFamily="34" charset="0"/>
                <a:ea typeface="Arial" pitchFamily="34" charset="-122"/>
                <a:cs typeface="Arial" pitchFamily="34" charset="-120"/>
              </a:rPr>
              <a:t>编译器硬反馈奖励模型</a:t>
            </a:r>
            <a:endParaRPr lang="en-US" sz="1250" dirty="0"/>
          </a:p>
        </p:txBody>
      </p:sp>
      <p:sp>
        <p:nvSpPr>
          <p:cNvPr id="24" name="Text 22"/>
          <p:cNvSpPr/>
          <p:nvPr/>
        </p:nvSpPr>
        <p:spPr>
          <a:xfrm>
            <a:off x="6309360" y="2423160"/>
            <a:ext cx="2194560" cy="3017520"/>
          </a:xfrm>
          <a:prstGeom prst="rect">
            <a:avLst/>
          </a:prstGeom>
          <a:noFill/>
          <a:ln/>
        </p:spPr>
        <p:txBody>
          <a:bodyPr wrap="square" rtlCol="0" anchor="ctr"/>
          <a:lstStyle/>
          <a:p>
            <a:pPr indent="0" marL="0">
              <a:lnSpc>
                <a:spcPts val="1500"/>
              </a:lnSpc>
              <a:buNone/>
            </a:pPr>
            <a:r>
              <a:rPr lang="en-US" sz="950" dirty="0">
                <a:solidFill>
                  <a:srgbClr val="57534E"/>
                </a:solidFill>
                <a:latin typeface="Arial" pitchFamily="34" charset="0"/>
                <a:ea typeface="Arial" pitchFamily="34" charset="-122"/>
                <a:cs typeface="Arial" pitchFamily="34" charset="-120"/>
              </a:rPr>
              <a:t>摒弃主观、昂贵且脆弱的人工 RLHF，引入 GCC/Clang、Rust 编译器与形式化逻辑验证器作为奖励函数，杜绝奖励作弊与刷分投机。</a:t>
            </a:r>
            <a:endParaRPr lang="en-US" sz="950" dirty="0"/>
          </a:p>
        </p:txBody>
      </p:sp>
      <p:sp>
        <p:nvSpPr>
          <p:cNvPr id="25" name="Shape 23"/>
          <p:cNvSpPr/>
          <p:nvPr/>
        </p:nvSpPr>
        <p:spPr>
          <a:xfrm>
            <a:off x="6263640" y="5650992"/>
            <a:ext cx="2286000" cy="438912"/>
          </a:xfrm>
          <a:prstGeom prst="rect">
            <a:avLst/>
          </a:prstGeom>
          <a:solidFill>
            <a:srgbClr val="EFEBE1"/>
          </a:solidFill>
          <a:ln w="12700">
            <a:solidFill>
              <a:srgbClr val="E2DCD2"/>
            </a:solidFill>
            <a:prstDash val="solid"/>
          </a:ln>
        </p:spPr>
      </p:sp>
      <p:sp>
        <p:nvSpPr>
          <p:cNvPr id="26" name="Text 24"/>
          <p:cNvSpPr/>
          <p:nvPr/>
        </p:nvSpPr>
        <p:spPr>
          <a:xfrm>
            <a:off x="6309360" y="5705856"/>
            <a:ext cx="2194560" cy="329184"/>
          </a:xfrm>
          <a:prstGeom prst="rect">
            <a:avLst/>
          </a:prstGeom>
          <a:noFill/>
          <a:ln/>
        </p:spPr>
        <p:txBody>
          <a:bodyPr wrap="square" rtlCol="0" anchor="ctr"/>
          <a:lstStyle/>
          <a:p>
            <a:pPr algn="ctr" indent="0" marL="0">
              <a:buNone/>
            </a:pPr>
            <a:r>
              <a:rPr lang="en-US" sz="850" b="1" dirty="0">
                <a:solidFill>
                  <a:srgbClr val="16A34A"/>
                </a:solidFill>
                <a:latin typeface="Arial" pitchFamily="34" charset="0"/>
                <a:ea typeface="Arial" pitchFamily="34" charset="-122"/>
                <a:cs typeface="Arial" pitchFamily="34" charset="-120"/>
              </a:rPr>
              <a:t>▸ 构建不可贿赂的形式化真理裁判</a:t>
            </a:r>
            <a:endParaRPr lang="en-US" sz="850" dirty="0"/>
          </a:p>
        </p:txBody>
      </p:sp>
      <p:sp>
        <p:nvSpPr>
          <p:cNvPr id="27" name="Shape 25"/>
          <p:cNvSpPr/>
          <p:nvPr/>
        </p:nvSpPr>
        <p:spPr>
          <a:xfrm>
            <a:off x="8823960" y="1325880"/>
            <a:ext cx="2560320" cy="4892040"/>
          </a:xfrm>
          <a:prstGeom prst="rect">
            <a:avLst/>
          </a:prstGeom>
          <a:solidFill>
            <a:srgbClr val="FFFFFF"/>
          </a:solidFill>
          <a:ln w="12700">
            <a:solidFill>
              <a:srgbClr val="E2DCD2"/>
            </a:solidFill>
            <a:prstDash val="solid"/>
          </a:ln>
        </p:spPr>
      </p:sp>
      <p:sp>
        <p:nvSpPr>
          <p:cNvPr id="28" name="Shape 26"/>
          <p:cNvSpPr/>
          <p:nvPr/>
        </p:nvSpPr>
        <p:spPr>
          <a:xfrm>
            <a:off x="8823960" y="1325880"/>
            <a:ext cx="2560320" cy="868680"/>
          </a:xfrm>
          <a:prstGeom prst="rect">
            <a:avLst/>
          </a:prstGeom>
          <a:solidFill>
            <a:srgbClr val="475569"/>
          </a:solidFill>
          <a:ln/>
        </p:spPr>
      </p:sp>
      <p:sp>
        <p:nvSpPr>
          <p:cNvPr id="29" name="Text 27"/>
          <p:cNvSpPr/>
          <p:nvPr/>
        </p:nvSpPr>
        <p:spPr>
          <a:xfrm>
            <a:off x="8961120" y="1408176"/>
            <a:ext cx="2286000" cy="201168"/>
          </a:xfrm>
          <a:prstGeom prst="rect">
            <a:avLst/>
          </a:prstGeom>
          <a:noFill/>
          <a:ln/>
        </p:spPr>
        <p:txBody>
          <a:bodyPr wrap="square" rtlCol="0" anchor="ctr"/>
          <a:lstStyle/>
          <a:p>
            <a:pPr indent="0" marL="0">
              <a:buNone/>
            </a:pPr>
            <a:r>
              <a:rPr lang="en-US" sz="850" b="1" spc="110" kern="0" dirty="0">
                <a:solidFill>
                  <a:srgbClr val="FFFFFF"/>
                </a:solidFill>
                <a:latin typeface="Arial" pitchFamily="34" charset="0"/>
                <a:ea typeface="Arial" pitchFamily="34" charset="-122"/>
                <a:cs typeface="Arial" pitchFamily="34" charset="-120"/>
              </a:rPr>
              <a:t>WHEEL 04</a:t>
            </a:r>
            <a:endParaRPr lang="en-US" sz="850" dirty="0"/>
          </a:p>
        </p:txBody>
      </p:sp>
      <p:sp>
        <p:nvSpPr>
          <p:cNvPr id="30" name="Text 28"/>
          <p:cNvSpPr/>
          <p:nvPr/>
        </p:nvSpPr>
        <p:spPr>
          <a:xfrm>
            <a:off x="8961120" y="1609344"/>
            <a:ext cx="2286000" cy="502920"/>
          </a:xfrm>
          <a:prstGeom prst="rect">
            <a:avLst/>
          </a:prstGeom>
          <a:noFill/>
          <a:ln/>
        </p:spPr>
        <p:txBody>
          <a:bodyPr wrap="square" rtlCol="0" anchor="ctr"/>
          <a:lstStyle/>
          <a:p>
            <a:pPr indent="0" marL="0">
              <a:lnSpc>
                <a:spcPts val="1500"/>
              </a:lnSpc>
              <a:buNone/>
            </a:pPr>
            <a:r>
              <a:rPr lang="en-US" sz="1250" b="1" dirty="0">
                <a:solidFill>
                  <a:srgbClr val="FFFFFF"/>
                </a:solidFill>
                <a:latin typeface="Arial" pitchFamily="34" charset="0"/>
                <a:ea typeface="Arial" pitchFamily="34" charset="-122"/>
                <a:cs typeface="Arial" pitchFamily="34" charset="-120"/>
              </a:rPr>
              <a:t>底层 GPU 训练内核自主调优</a:t>
            </a:r>
            <a:endParaRPr lang="en-US" sz="1250" dirty="0"/>
          </a:p>
        </p:txBody>
      </p:sp>
      <p:sp>
        <p:nvSpPr>
          <p:cNvPr id="31" name="Text 29"/>
          <p:cNvSpPr/>
          <p:nvPr/>
        </p:nvSpPr>
        <p:spPr>
          <a:xfrm>
            <a:off x="9006840" y="2423160"/>
            <a:ext cx="2194560" cy="3017520"/>
          </a:xfrm>
          <a:prstGeom prst="rect">
            <a:avLst/>
          </a:prstGeom>
          <a:noFill/>
          <a:ln/>
        </p:spPr>
        <p:txBody>
          <a:bodyPr wrap="square" rtlCol="0" anchor="ctr"/>
          <a:lstStyle/>
          <a:p>
            <a:pPr indent="0" marL="0">
              <a:lnSpc>
                <a:spcPts val="1500"/>
              </a:lnSpc>
              <a:buNone/>
            </a:pPr>
            <a:r>
              <a:rPr lang="en-US" sz="950" dirty="0">
                <a:solidFill>
                  <a:srgbClr val="57534E"/>
                </a:solidFill>
                <a:latin typeface="Arial" pitchFamily="34" charset="0"/>
                <a:ea typeface="Arial" pitchFamily="34" charset="-122"/>
                <a:cs typeface="Arial" pitchFamily="34" charset="-120"/>
              </a:rPr>
              <a:t>Claude 自主分析集群分布式通信瓶颈，手写 Triton / CUDA 高性能算子，将集群整体训练吞吐量显著拉升 14% 以上。</a:t>
            </a:r>
            <a:endParaRPr lang="en-US" sz="950" dirty="0"/>
          </a:p>
        </p:txBody>
      </p:sp>
      <p:sp>
        <p:nvSpPr>
          <p:cNvPr id="32" name="Shape 30"/>
          <p:cNvSpPr/>
          <p:nvPr/>
        </p:nvSpPr>
        <p:spPr>
          <a:xfrm>
            <a:off x="8961120" y="5650992"/>
            <a:ext cx="2286000" cy="438912"/>
          </a:xfrm>
          <a:prstGeom prst="rect">
            <a:avLst/>
          </a:prstGeom>
          <a:solidFill>
            <a:srgbClr val="EFEBE1"/>
          </a:solidFill>
          <a:ln w="12700">
            <a:solidFill>
              <a:srgbClr val="E2DCD2"/>
            </a:solidFill>
            <a:prstDash val="solid"/>
          </a:ln>
        </p:spPr>
      </p:sp>
      <p:sp>
        <p:nvSpPr>
          <p:cNvPr id="33" name="Text 31"/>
          <p:cNvSpPr/>
          <p:nvPr/>
        </p:nvSpPr>
        <p:spPr>
          <a:xfrm>
            <a:off x="9006840" y="5705856"/>
            <a:ext cx="2194560" cy="329184"/>
          </a:xfrm>
          <a:prstGeom prst="rect">
            <a:avLst/>
          </a:prstGeom>
          <a:noFill/>
          <a:ln/>
        </p:spPr>
        <p:txBody>
          <a:bodyPr wrap="square" rtlCol="0" anchor="ctr"/>
          <a:lstStyle/>
          <a:p>
            <a:pPr algn="ctr" indent="0" marL="0">
              <a:buNone/>
            </a:pPr>
            <a:r>
              <a:rPr lang="en-US" sz="850" b="1" dirty="0">
                <a:solidFill>
                  <a:srgbClr val="475569"/>
                </a:solidFill>
                <a:latin typeface="Arial" pitchFamily="34" charset="0"/>
                <a:ea typeface="Arial" pitchFamily="34" charset="-122"/>
                <a:cs typeface="Arial" pitchFamily="34" charset="-120"/>
              </a:rPr>
              <a:t>▸ 智能体直接优化自身运转的物理基建</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BF9F5"/>
        </a:solidFill>
      </p:bgPr>
    </p:bg>
    <p:spTree>
      <p:nvGrpSpPr>
        <p:cNvPr id="1" name=""/>
        <p:cNvGrpSpPr/>
        <p:nvPr/>
      </p:nvGrpSpPr>
      <p:grpSpPr>
        <a:xfrm>
          <a:off x="0" y="0"/>
          <a:ext cx="0" cy="0"/>
          <a:chOff x="0" y="0"/>
          <a:chExt cx="0" cy="0"/>
        </a:xfrm>
      </p:grpSpPr>
      <p:sp>
        <p:nvSpPr>
          <p:cNvPr id="2" name="Shape 0"/>
          <p:cNvSpPr/>
          <p:nvPr/>
        </p:nvSpPr>
        <p:spPr>
          <a:xfrm>
            <a:off x="731520" y="384048"/>
            <a:ext cx="2560320" cy="256032"/>
          </a:xfrm>
          <a:prstGeom prst="rect">
            <a:avLst/>
          </a:prstGeom>
          <a:solidFill>
            <a:srgbClr val="FBF0EB"/>
          </a:solidFill>
          <a:ln w="12700">
            <a:solidFill>
              <a:srgbClr val="F0C2B2"/>
            </a:solidFill>
            <a:prstDash val="solid"/>
          </a:ln>
        </p:spPr>
      </p:sp>
      <p:sp>
        <p:nvSpPr>
          <p:cNvPr id="3" name="Text 1"/>
          <p:cNvSpPr/>
          <p:nvPr/>
        </p:nvSpPr>
        <p:spPr>
          <a:xfrm>
            <a:off x="731520" y="384048"/>
            <a:ext cx="2560320" cy="256032"/>
          </a:xfrm>
          <a:prstGeom prst="rect">
            <a:avLst/>
          </a:prstGeom>
          <a:noFill/>
          <a:ln/>
        </p:spPr>
        <p:txBody>
          <a:bodyPr wrap="square" rtlCol="0" anchor="ctr"/>
          <a:lstStyle/>
          <a:p>
            <a:pPr algn="ctr" indent="0" marL="0">
              <a:buNone/>
            </a:pPr>
            <a:r>
              <a:rPr lang="en-US" sz="900" b="1" spc="120" kern="0" dirty="0">
                <a:solidFill>
                  <a:srgbClr val="D97757"/>
                </a:solidFill>
                <a:latin typeface="Arial" pitchFamily="34" charset="0"/>
                <a:ea typeface="Arial" pitchFamily="34" charset="-122"/>
                <a:cs typeface="Arial" pitchFamily="34" charset="-120"/>
              </a:rPr>
              <a:t>SELF-AUTHORING REALITY</a:t>
            </a:r>
            <a:endParaRPr lang="en-US" sz="900" dirty="0"/>
          </a:p>
        </p:txBody>
      </p:sp>
      <p:sp>
        <p:nvSpPr>
          <p:cNvPr id="4" name="Text 2"/>
          <p:cNvSpPr/>
          <p:nvPr/>
        </p:nvSpPr>
        <p:spPr>
          <a:xfrm>
            <a:off x="731520" y="676656"/>
            <a:ext cx="9875520" cy="475488"/>
          </a:xfrm>
          <a:prstGeom prst="rect">
            <a:avLst/>
          </a:prstGeom>
          <a:noFill/>
          <a:ln/>
        </p:spPr>
        <p:txBody>
          <a:bodyPr wrap="square" lIns="0" tIns="0" rIns="0" bIns="0" rtlCol="0" anchor="ctr"/>
          <a:lstStyle/>
          <a:p>
            <a:pPr indent="0" marL="0">
              <a:buNone/>
            </a:pPr>
            <a:r>
              <a:rPr lang="en-US" sz="2100" b="1" dirty="0">
                <a:solidFill>
                  <a:srgbClr val="1C1917"/>
                </a:solidFill>
                <a:latin typeface="Arial" pitchFamily="34" charset="0"/>
                <a:ea typeface="Arial" pitchFamily="34" charset="-122"/>
                <a:cs typeface="Arial" pitchFamily="34" charset="-120"/>
              </a:rPr>
              <a:t>26.4% 内部代码自研真相：智能自举临界点与研发重构</a:t>
            </a:r>
            <a:endParaRPr lang="en-US" sz="2100" dirty="0"/>
          </a:p>
        </p:txBody>
      </p:sp>
      <p:sp>
        <p:nvSpPr>
          <p:cNvPr id="5" name="Text 3"/>
          <p:cNvSpPr/>
          <p:nvPr/>
        </p:nvSpPr>
        <p:spPr>
          <a:xfrm>
            <a:off x="10972800" y="384048"/>
            <a:ext cx="731520" cy="320040"/>
          </a:xfrm>
          <a:prstGeom prst="rect">
            <a:avLst/>
          </a:prstGeom>
          <a:noFill/>
          <a:ln/>
        </p:spPr>
        <p:txBody>
          <a:bodyPr wrap="square" rtlCol="0" anchor="ctr"/>
          <a:lstStyle/>
          <a:p>
            <a:pPr algn="r" indent="0" marL="0">
              <a:buNone/>
            </a:pPr>
            <a:r>
              <a:rPr lang="en-US" sz="1300" b="1" dirty="0">
                <a:solidFill>
                  <a:srgbClr val="8C857B"/>
                </a:solidFill>
                <a:latin typeface="Arial" pitchFamily="34" charset="0"/>
                <a:ea typeface="Arial" pitchFamily="34" charset="-122"/>
                <a:cs typeface="Arial" pitchFamily="34" charset="-120"/>
              </a:rPr>
              <a:t>26</a:t>
            </a:r>
            <a:endParaRPr lang="en-US" sz="1300" dirty="0"/>
          </a:p>
        </p:txBody>
      </p:sp>
      <p:sp>
        <p:nvSpPr>
          <p:cNvPr id="6" name="Shape 4"/>
          <p:cNvSpPr/>
          <p:nvPr/>
        </p:nvSpPr>
        <p:spPr>
          <a:xfrm>
            <a:off x="731520" y="1325880"/>
            <a:ext cx="5669280" cy="4892040"/>
          </a:xfrm>
          <a:prstGeom prst="rect">
            <a:avLst/>
          </a:prstGeom>
          <a:solidFill>
            <a:srgbClr val="FFFFFF"/>
          </a:solidFill>
          <a:ln w="12700">
            <a:solidFill>
              <a:srgbClr val="E2DCD2"/>
            </a:solidFill>
            <a:prstDash val="solid"/>
          </a:ln>
        </p:spPr>
      </p:sp>
      <p:sp>
        <p:nvSpPr>
          <p:cNvPr id="7" name="Text 5"/>
          <p:cNvSpPr/>
          <p:nvPr/>
        </p:nvSpPr>
        <p:spPr>
          <a:xfrm>
            <a:off x="1005840" y="1600200"/>
            <a:ext cx="2377440" cy="320040"/>
          </a:xfrm>
          <a:prstGeom prst="rect">
            <a:avLst/>
          </a:prstGeom>
          <a:noFill/>
          <a:ln/>
        </p:spPr>
        <p:txBody>
          <a:bodyPr wrap="square" rtlCol="0" anchor="ctr"/>
          <a:lstStyle/>
          <a:p>
            <a:pPr indent="0" marL="0">
              <a:buNone/>
            </a:pPr>
            <a:r>
              <a:rPr lang="en-US" sz="1100" b="1" dirty="0">
                <a:solidFill>
                  <a:srgbClr val="1C1917"/>
                </a:solidFill>
                <a:latin typeface="Arial" pitchFamily="34" charset="0"/>
                <a:ea typeface="Arial" pitchFamily="34" charset="-122"/>
                <a:cs typeface="Arial" pitchFamily="34" charset="-120"/>
              </a:rPr>
              <a:t>2026 Q1 (当前基线)</a:t>
            </a:r>
            <a:endParaRPr lang="en-US" sz="1100" dirty="0"/>
          </a:p>
        </p:txBody>
      </p:sp>
      <p:sp>
        <p:nvSpPr>
          <p:cNvPr id="8" name="Shape 6"/>
          <p:cNvSpPr/>
          <p:nvPr/>
        </p:nvSpPr>
        <p:spPr>
          <a:xfrm>
            <a:off x="3474720" y="1673352"/>
            <a:ext cx="1645920" cy="201168"/>
          </a:xfrm>
          <a:prstGeom prst="rect">
            <a:avLst/>
          </a:prstGeom>
          <a:solidFill>
            <a:srgbClr val="EFEBE1"/>
          </a:solidFill>
          <a:ln/>
        </p:spPr>
      </p:sp>
      <p:sp>
        <p:nvSpPr>
          <p:cNvPr id="9" name="Shape 7"/>
          <p:cNvSpPr/>
          <p:nvPr/>
        </p:nvSpPr>
        <p:spPr>
          <a:xfrm>
            <a:off x="3474720" y="1673352"/>
            <a:ext cx="434523" cy="201168"/>
          </a:xfrm>
          <a:prstGeom prst="rect">
            <a:avLst/>
          </a:prstGeom>
          <a:solidFill>
            <a:srgbClr val="D97757"/>
          </a:solidFill>
          <a:ln/>
        </p:spPr>
      </p:sp>
      <p:sp>
        <p:nvSpPr>
          <p:cNvPr id="10" name="Text 8"/>
          <p:cNvSpPr/>
          <p:nvPr/>
        </p:nvSpPr>
        <p:spPr>
          <a:xfrm>
            <a:off x="5257800" y="1600200"/>
            <a:ext cx="1005840" cy="320040"/>
          </a:xfrm>
          <a:prstGeom prst="rect">
            <a:avLst/>
          </a:prstGeom>
          <a:noFill/>
          <a:ln/>
        </p:spPr>
        <p:txBody>
          <a:bodyPr wrap="square" rtlCol="0" anchor="ctr"/>
          <a:lstStyle/>
          <a:p>
            <a:pPr indent="0" marL="0">
              <a:buNone/>
            </a:pPr>
            <a:r>
              <a:rPr lang="en-US" sz="1100" b="1" dirty="0">
                <a:solidFill>
                  <a:srgbClr val="D97757"/>
                </a:solidFill>
                <a:latin typeface="Arial" pitchFamily="34" charset="0"/>
                <a:ea typeface="Arial" pitchFamily="34" charset="-122"/>
                <a:cs typeface="Arial" pitchFamily="34" charset="-120"/>
              </a:rPr>
              <a:t>26.4%</a:t>
            </a:r>
            <a:endParaRPr lang="en-US" sz="1100" dirty="0"/>
          </a:p>
        </p:txBody>
      </p:sp>
      <p:sp>
        <p:nvSpPr>
          <p:cNvPr id="11" name="Text 9"/>
          <p:cNvSpPr/>
          <p:nvPr/>
        </p:nvSpPr>
        <p:spPr>
          <a:xfrm>
            <a:off x="1005840" y="2686050"/>
            <a:ext cx="2377440" cy="320040"/>
          </a:xfrm>
          <a:prstGeom prst="rect">
            <a:avLst/>
          </a:prstGeom>
          <a:noFill/>
          <a:ln/>
        </p:spPr>
        <p:txBody>
          <a:bodyPr wrap="square" rtlCol="0" anchor="ctr"/>
          <a:lstStyle/>
          <a:p>
            <a:pPr indent="0" marL="0">
              <a:buNone/>
            </a:pPr>
            <a:r>
              <a:rPr lang="en-US" sz="1100" b="1" dirty="0">
                <a:solidFill>
                  <a:srgbClr val="1C1917"/>
                </a:solidFill>
                <a:latin typeface="Arial" pitchFamily="34" charset="0"/>
                <a:ea typeface="Arial" pitchFamily="34" charset="-122"/>
                <a:cs typeface="Arial" pitchFamily="34" charset="-120"/>
              </a:rPr>
              <a:t>2025 Q1 (一年前)</a:t>
            </a:r>
            <a:endParaRPr lang="en-US" sz="1100" dirty="0"/>
          </a:p>
        </p:txBody>
      </p:sp>
      <p:sp>
        <p:nvSpPr>
          <p:cNvPr id="12" name="Shape 10"/>
          <p:cNvSpPr/>
          <p:nvPr/>
        </p:nvSpPr>
        <p:spPr>
          <a:xfrm>
            <a:off x="3474720" y="2759202"/>
            <a:ext cx="1645920" cy="201168"/>
          </a:xfrm>
          <a:prstGeom prst="rect">
            <a:avLst/>
          </a:prstGeom>
          <a:solidFill>
            <a:srgbClr val="EFEBE1"/>
          </a:solidFill>
          <a:ln/>
        </p:spPr>
      </p:sp>
      <p:sp>
        <p:nvSpPr>
          <p:cNvPr id="13" name="Shape 11"/>
          <p:cNvSpPr/>
          <p:nvPr/>
        </p:nvSpPr>
        <p:spPr>
          <a:xfrm>
            <a:off x="3474720" y="2759202"/>
            <a:ext cx="292974" cy="201168"/>
          </a:xfrm>
          <a:prstGeom prst="rect">
            <a:avLst/>
          </a:prstGeom>
          <a:solidFill>
            <a:srgbClr val="D97706"/>
          </a:solidFill>
          <a:ln/>
        </p:spPr>
      </p:sp>
      <p:sp>
        <p:nvSpPr>
          <p:cNvPr id="14" name="Text 12"/>
          <p:cNvSpPr/>
          <p:nvPr/>
        </p:nvSpPr>
        <p:spPr>
          <a:xfrm>
            <a:off x="5257800" y="2686050"/>
            <a:ext cx="1005840" cy="320040"/>
          </a:xfrm>
          <a:prstGeom prst="rect">
            <a:avLst/>
          </a:prstGeom>
          <a:noFill/>
          <a:ln/>
        </p:spPr>
        <p:txBody>
          <a:bodyPr wrap="square" rtlCol="0" anchor="ctr"/>
          <a:lstStyle/>
          <a:p>
            <a:pPr indent="0" marL="0">
              <a:buNone/>
            </a:pPr>
            <a:r>
              <a:rPr lang="en-US" sz="1100" b="1" dirty="0">
                <a:solidFill>
                  <a:srgbClr val="D97706"/>
                </a:solidFill>
                <a:latin typeface="Arial" pitchFamily="34" charset="0"/>
                <a:ea typeface="Arial" pitchFamily="34" charset="-122"/>
                <a:cs typeface="Arial" pitchFamily="34" charset="-120"/>
              </a:rPr>
              <a:t>17.8%</a:t>
            </a:r>
            <a:endParaRPr lang="en-US" sz="1100" dirty="0"/>
          </a:p>
        </p:txBody>
      </p:sp>
      <p:sp>
        <p:nvSpPr>
          <p:cNvPr id="15" name="Text 13"/>
          <p:cNvSpPr/>
          <p:nvPr/>
        </p:nvSpPr>
        <p:spPr>
          <a:xfrm>
            <a:off x="1005840" y="3771900"/>
            <a:ext cx="2377440" cy="320040"/>
          </a:xfrm>
          <a:prstGeom prst="rect">
            <a:avLst/>
          </a:prstGeom>
          <a:noFill/>
          <a:ln/>
        </p:spPr>
        <p:txBody>
          <a:bodyPr wrap="square" rtlCol="0" anchor="ctr"/>
          <a:lstStyle/>
          <a:p>
            <a:pPr indent="0" marL="0">
              <a:buNone/>
            </a:pPr>
            <a:r>
              <a:rPr lang="en-US" sz="1100" b="1" dirty="0">
                <a:solidFill>
                  <a:srgbClr val="1C1917"/>
                </a:solidFill>
                <a:latin typeface="Arial" pitchFamily="34" charset="0"/>
                <a:ea typeface="Arial" pitchFamily="34" charset="-122"/>
                <a:cs typeface="Arial" pitchFamily="34" charset="-120"/>
              </a:rPr>
              <a:t>2024 Q1 (两年前)</a:t>
            </a:r>
            <a:endParaRPr lang="en-US" sz="1100" dirty="0"/>
          </a:p>
        </p:txBody>
      </p:sp>
      <p:sp>
        <p:nvSpPr>
          <p:cNvPr id="16" name="Shape 14"/>
          <p:cNvSpPr/>
          <p:nvPr/>
        </p:nvSpPr>
        <p:spPr>
          <a:xfrm>
            <a:off x="3474720" y="3845052"/>
            <a:ext cx="1645920" cy="201168"/>
          </a:xfrm>
          <a:prstGeom prst="rect">
            <a:avLst/>
          </a:prstGeom>
          <a:solidFill>
            <a:srgbClr val="EFEBE1"/>
          </a:solidFill>
          <a:ln/>
        </p:spPr>
      </p:sp>
      <p:sp>
        <p:nvSpPr>
          <p:cNvPr id="17" name="Shape 15"/>
          <p:cNvSpPr/>
          <p:nvPr/>
        </p:nvSpPr>
        <p:spPr>
          <a:xfrm>
            <a:off x="3474720" y="3845052"/>
            <a:ext cx="139903" cy="201168"/>
          </a:xfrm>
          <a:prstGeom prst="rect">
            <a:avLst/>
          </a:prstGeom>
          <a:solidFill>
            <a:srgbClr val="475569"/>
          </a:solidFill>
          <a:ln/>
        </p:spPr>
      </p:sp>
      <p:sp>
        <p:nvSpPr>
          <p:cNvPr id="18" name="Text 16"/>
          <p:cNvSpPr/>
          <p:nvPr/>
        </p:nvSpPr>
        <p:spPr>
          <a:xfrm>
            <a:off x="5257800" y="3771900"/>
            <a:ext cx="1005840" cy="320040"/>
          </a:xfrm>
          <a:prstGeom prst="rect">
            <a:avLst/>
          </a:prstGeom>
          <a:noFill/>
          <a:ln/>
        </p:spPr>
        <p:txBody>
          <a:bodyPr wrap="square" rtlCol="0" anchor="ctr"/>
          <a:lstStyle/>
          <a:p>
            <a:pPr indent="0" marL="0">
              <a:buNone/>
            </a:pPr>
            <a:r>
              <a:rPr lang="en-US" sz="1100" b="1" dirty="0">
                <a:solidFill>
                  <a:srgbClr val="475569"/>
                </a:solidFill>
                <a:latin typeface="Arial" pitchFamily="34" charset="0"/>
                <a:ea typeface="Arial" pitchFamily="34" charset="-122"/>
                <a:cs typeface="Arial" pitchFamily="34" charset="-120"/>
              </a:rPr>
              <a:t>8.5%</a:t>
            </a:r>
            <a:endParaRPr lang="en-US" sz="1100" dirty="0"/>
          </a:p>
        </p:txBody>
      </p:sp>
      <p:sp>
        <p:nvSpPr>
          <p:cNvPr id="19" name="Text 17"/>
          <p:cNvSpPr/>
          <p:nvPr/>
        </p:nvSpPr>
        <p:spPr>
          <a:xfrm>
            <a:off x="1005840" y="4857750"/>
            <a:ext cx="2377440" cy="320040"/>
          </a:xfrm>
          <a:prstGeom prst="rect">
            <a:avLst/>
          </a:prstGeom>
          <a:noFill/>
          <a:ln/>
        </p:spPr>
        <p:txBody>
          <a:bodyPr wrap="square" rtlCol="0" anchor="ctr"/>
          <a:lstStyle/>
          <a:p>
            <a:pPr indent="0" marL="0">
              <a:buNone/>
            </a:pPr>
            <a:r>
              <a:rPr lang="en-US" sz="1100" b="1" dirty="0">
                <a:solidFill>
                  <a:srgbClr val="1C1917"/>
                </a:solidFill>
                <a:latin typeface="Arial" pitchFamily="34" charset="0"/>
                <a:ea typeface="Arial" pitchFamily="34" charset="-122"/>
                <a:cs typeface="Arial" pitchFamily="34" charset="-120"/>
              </a:rPr>
              <a:t>2023 Q1 (早期起步)</a:t>
            </a:r>
            <a:endParaRPr lang="en-US" sz="1100" dirty="0"/>
          </a:p>
        </p:txBody>
      </p:sp>
      <p:sp>
        <p:nvSpPr>
          <p:cNvPr id="20" name="Shape 18"/>
          <p:cNvSpPr/>
          <p:nvPr/>
        </p:nvSpPr>
        <p:spPr>
          <a:xfrm>
            <a:off x="3474720" y="4930902"/>
            <a:ext cx="1645920" cy="201168"/>
          </a:xfrm>
          <a:prstGeom prst="rect">
            <a:avLst/>
          </a:prstGeom>
          <a:solidFill>
            <a:srgbClr val="EFEBE1"/>
          </a:solidFill>
          <a:ln/>
        </p:spPr>
      </p:sp>
      <p:sp>
        <p:nvSpPr>
          <p:cNvPr id="21" name="Shape 19"/>
          <p:cNvSpPr/>
          <p:nvPr/>
        </p:nvSpPr>
        <p:spPr>
          <a:xfrm>
            <a:off x="3474720" y="4930902"/>
            <a:ext cx="91440" cy="201168"/>
          </a:xfrm>
          <a:prstGeom prst="rect">
            <a:avLst/>
          </a:prstGeom>
          <a:solidFill>
            <a:srgbClr val="D1C9BC"/>
          </a:solidFill>
          <a:ln/>
        </p:spPr>
      </p:sp>
      <p:sp>
        <p:nvSpPr>
          <p:cNvPr id="22" name="Text 20"/>
          <p:cNvSpPr/>
          <p:nvPr/>
        </p:nvSpPr>
        <p:spPr>
          <a:xfrm>
            <a:off x="5257800" y="4857750"/>
            <a:ext cx="1005840" cy="320040"/>
          </a:xfrm>
          <a:prstGeom prst="rect">
            <a:avLst/>
          </a:prstGeom>
          <a:noFill/>
          <a:ln/>
        </p:spPr>
        <p:txBody>
          <a:bodyPr wrap="square" rtlCol="0" anchor="ctr"/>
          <a:lstStyle/>
          <a:p>
            <a:pPr indent="0" marL="0">
              <a:buNone/>
            </a:pPr>
            <a:r>
              <a:rPr lang="en-US" sz="1100" b="1" dirty="0">
                <a:solidFill>
                  <a:srgbClr val="D1C9BC"/>
                </a:solidFill>
                <a:latin typeface="Arial" pitchFamily="34" charset="0"/>
                <a:ea typeface="Arial" pitchFamily="34" charset="-122"/>
                <a:cs typeface="Arial" pitchFamily="34" charset="-120"/>
              </a:rPr>
              <a:t>1.2%</a:t>
            </a:r>
            <a:endParaRPr lang="en-US" sz="1100" dirty="0"/>
          </a:p>
        </p:txBody>
      </p:sp>
      <p:sp>
        <p:nvSpPr>
          <p:cNvPr id="23" name="Text 21"/>
          <p:cNvSpPr/>
          <p:nvPr/>
        </p:nvSpPr>
        <p:spPr>
          <a:xfrm>
            <a:off x="1005840" y="5669280"/>
            <a:ext cx="5120640" cy="320040"/>
          </a:xfrm>
          <a:prstGeom prst="rect">
            <a:avLst/>
          </a:prstGeom>
          <a:noFill/>
          <a:ln/>
        </p:spPr>
        <p:txBody>
          <a:bodyPr wrap="square" rtlCol="0" anchor="ctr"/>
          <a:lstStyle/>
          <a:p>
            <a:pPr indent="0" marL="0">
              <a:buNone/>
            </a:pPr>
            <a:r>
              <a:rPr lang="en-US" sz="880" i="1" dirty="0">
                <a:solidFill>
                  <a:srgbClr val="8C857B"/>
                </a:solidFill>
                <a:latin typeface="Arial" pitchFamily="34" charset="0"/>
                <a:ea typeface="Arial" pitchFamily="34" charset="-122"/>
                <a:cs typeface="Arial" pitchFamily="34" charset="-120"/>
              </a:rPr>
              <a:t>数据源：Anthropic 内部工程大仓 Git 提交元数据审计 (不含第三方库导入)</a:t>
            </a:r>
            <a:endParaRPr lang="en-US" sz="880" dirty="0"/>
          </a:p>
        </p:txBody>
      </p:sp>
      <p:sp>
        <p:nvSpPr>
          <p:cNvPr id="24" name="Shape 22"/>
          <p:cNvSpPr/>
          <p:nvPr/>
        </p:nvSpPr>
        <p:spPr>
          <a:xfrm>
            <a:off x="6601968" y="1325880"/>
            <a:ext cx="4846320" cy="1481328"/>
          </a:xfrm>
          <a:prstGeom prst="rect">
            <a:avLst/>
          </a:prstGeom>
          <a:solidFill>
            <a:srgbClr val="FFFFFF"/>
          </a:solidFill>
          <a:ln w="12700">
            <a:solidFill>
              <a:srgbClr val="E2DCD2"/>
            </a:solidFill>
            <a:prstDash val="solid"/>
          </a:ln>
        </p:spPr>
      </p:sp>
      <p:sp>
        <p:nvSpPr>
          <p:cNvPr id="25" name="Shape 23"/>
          <p:cNvSpPr/>
          <p:nvPr/>
        </p:nvSpPr>
        <p:spPr>
          <a:xfrm>
            <a:off x="6601968" y="1325880"/>
            <a:ext cx="73152" cy="1481328"/>
          </a:xfrm>
          <a:prstGeom prst="rect">
            <a:avLst/>
          </a:prstGeom>
          <a:solidFill>
            <a:srgbClr val="D97757"/>
          </a:solidFill>
          <a:ln/>
        </p:spPr>
      </p:sp>
      <p:sp>
        <p:nvSpPr>
          <p:cNvPr id="26" name="Shape 24"/>
          <p:cNvSpPr/>
          <p:nvPr/>
        </p:nvSpPr>
        <p:spPr>
          <a:xfrm>
            <a:off x="6784848" y="1472184"/>
            <a:ext cx="2011680" cy="219456"/>
          </a:xfrm>
          <a:prstGeom prst="rect">
            <a:avLst/>
          </a:prstGeom>
          <a:solidFill>
            <a:srgbClr val="F5F2EB"/>
          </a:solidFill>
          <a:ln w="12700">
            <a:solidFill>
              <a:srgbClr val="D97757"/>
            </a:solidFill>
            <a:prstDash val="solid"/>
          </a:ln>
        </p:spPr>
      </p:sp>
      <p:sp>
        <p:nvSpPr>
          <p:cNvPr id="27" name="Text 25"/>
          <p:cNvSpPr/>
          <p:nvPr/>
        </p:nvSpPr>
        <p:spPr>
          <a:xfrm>
            <a:off x="6784848" y="1472184"/>
            <a:ext cx="2011680" cy="219456"/>
          </a:xfrm>
          <a:prstGeom prst="rect">
            <a:avLst/>
          </a:prstGeom>
          <a:noFill/>
          <a:ln/>
        </p:spPr>
        <p:txBody>
          <a:bodyPr wrap="square" rtlCol="0" anchor="ctr"/>
          <a:lstStyle/>
          <a:p>
            <a:pPr algn="ctr" indent="0" marL="0">
              <a:buNone/>
            </a:pPr>
            <a:r>
              <a:rPr lang="en-US" sz="800" b="1" dirty="0">
                <a:solidFill>
                  <a:srgbClr val="D97757"/>
                </a:solidFill>
                <a:latin typeface="Arial" pitchFamily="34" charset="0"/>
                <a:ea typeface="Arial" pitchFamily="34" charset="-122"/>
                <a:cs typeface="Arial" pitchFamily="34" charset="-120"/>
              </a:rPr>
              <a:t>INFRA &amp; TEST · 自动化渗透</a:t>
            </a:r>
            <a:endParaRPr lang="en-US" sz="800" dirty="0"/>
          </a:p>
        </p:txBody>
      </p:sp>
      <p:sp>
        <p:nvSpPr>
          <p:cNvPr id="28" name="Text 26"/>
          <p:cNvSpPr/>
          <p:nvPr/>
        </p:nvSpPr>
        <p:spPr>
          <a:xfrm>
            <a:off x="6784848" y="1737360"/>
            <a:ext cx="4389120" cy="292608"/>
          </a:xfrm>
          <a:prstGeom prst="rect">
            <a:avLst/>
          </a:prstGeom>
          <a:noFill/>
          <a:ln/>
        </p:spPr>
        <p:txBody>
          <a:bodyPr wrap="square" rtlCol="0" anchor="ctr"/>
          <a:lstStyle/>
          <a:p>
            <a:pPr indent="0" marL="0">
              <a:buNone/>
            </a:pPr>
            <a:r>
              <a:rPr lang="en-US" sz="1100" b="1" dirty="0">
                <a:solidFill>
                  <a:srgbClr val="1C1917"/>
                </a:solidFill>
                <a:latin typeface="Arial" pitchFamily="34" charset="0"/>
                <a:ea typeface="Arial" pitchFamily="34" charset="-122"/>
                <a:cs typeface="Arial" pitchFamily="34" charset="-120"/>
              </a:rPr>
              <a:t>基建与测试类代码渗透率超过 60%</a:t>
            </a:r>
            <a:endParaRPr lang="en-US" sz="1100" dirty="0"/>
          </a:p>
        </p:txBody>
      </p:sp>
      <p:sp>
        <p:nvSpPr>
          <p:cNvPr id="29" name="Text 27"/>
          <p:cNvSpPr/>
          <p:nvPr/>
        </p:nvSpPr>
        <p:spPr>
          <a:xfrm>
            <a:off x="6784848" y="2039112"/>
            <a:ext cx="4434840" cy="685800"/>
          </a:xfrm>
          <a:prstGeom prst="rect">
            <a:avLst/>
          </a:prstGeom>
          <a:noFill/>
          <a:ln/>
        </p:spPr>
        <p:txBody>
          <a:bodyPr wrap="square" rtlCol="0" anchor="ctr"/>
          <a:lstStyle/>
          <a:p>
            <a:pPr indent="0" marL="0">
              <a:lnSpc>
                <a:spcPts val="1300"/>
              </a:lnSpc>
              <a:buNone/>
            </a:pPr>
            <a:r>
              <a:rPr lang="en-US" sz="900" dirty="0">
                <a:solidFill>
                  <a:srgbClr val="57534E"/>
                </a:solidFill>
                <a:latin typeface="Arial" pitchFamily="34" charset="0"/>
                <a:ea typeface="Arial" pitchFamily="34" charset="-122"/>
                <a:cs typeface="Arial" pitchFamily="34" charset="-120"/>
              </a:rPr>
              <a:t>在分布式训练调度脚本、容灾迁移监控与自动化回归测试中，超过 60% 的代码已完全由 Claude 自主生成并合入主分支。</a:t>
            </a:r>
            <a:endParaRPr lang="en-US" sz="900" dirty="0"/>
          </a:p>
        </p:txBody>
      </p:sp>
      <p:sp>
        <p:nvSpPr>
          <p:cNvPr id="30" name="Shape 28"/>
          <p:cNvSpPr/>
          <p:nvPr/>
        </p:nvSpPr>
        <p:spPr>
          <a:xfrm>
            <a:off x="6601968" y="2953512"/>
            <a:ext cx="4846320" cy="1481328"/>
          </a:xfrm>
          <a:prstGeom prst="rect">
            <a:avLst/>
          </a:prstGeom>
          <a:solidFill>
            <a:srgbClr val="FFFFFF"/>
          </a:solidFill>
          <a:ln w="12700">
            <a:solidFill>
              <a:srgbClr val="E2DCD2"/>
            </a:solidFill>
            <a:prstDash val="solid"/>
          </a:ln>
        </p:spPr>
      </p:sp>
      <p:sp>
        <p:nvSpPr>
          <p:cNvPr id="31" name="Shape 29"/>
          <p:cNvSpPr/>
          <p:nvPr/>
        </p:nvSpPr>
        <p:spPr>
          <a:xfrm>
            <a:off x="6601968" y="2953512"/>
            <a:ext cx="73152" cy="1481328"/>
          </a:xfrm>
          <a:prstGeom prst="rect">
            <a:avLst/>
          </a:prstGeom>
          <a:solidFill>
            <a:srgbClr val="D97706"/>
          </a:solidFill>
          <a:ln/>
        </p:spPr>
      </p:sp>
      <p:sp>
        <p:nvSpPr>
          <p:cNvPr id="32" name="Shape 30"/>
          <p:cNvSpPr/>
          <p:nvPr/>
        </p:nvSpPr>
        <p:spPr>
          <a:xfrm>
            <a:off x="6784848" y="3099816"/>
            <a:ext cx="2011680" cy="219456"/>
          </a:xfrm>
          <a:prstGeom prst="rect">
            <a:avLst/>
          </a:prstGeom>
          <a:solidFill>
            <a:srgbClr val="F5F2EB"/>
          </a:solidFill>
          <a:ln w="12700">
            <a:solidFill>
              <a:srgbClr val="D97706"/>
            </a:solidFill>
            <a:prstDash val="solid"/>
          </a:ln>
        </p:spPr>
      </p:sp>
      <p:sp>
        <p:nvSpPr>
          <p:cNvPr id="33" name="Text 31"/>
          <p:cNvSpPr/>
          <p:nvPr/>
        </p:nvSpPr>
        <p:spPr>
          <a:xfrm>
            <a:off x="6784848" y="3099816"/>
            <a:ext cx="2011680" cy="219456"/>
          </a:xfrm>
          <a:prstGeom prst="rect">
            <a:avLst/>
          </a:prstGeom>
          <a:noFill/>
          <a:ln/>
        </p:spPr>
        <p:txBody>
          <a:bodyPr wrap="square" rtlCol="0" anchor="ctr"/>
          <a:lstStyle/>
          <a:p>
            <a:pPr algn="ctr" indent="0" marL="0">
              <a:buNone/>
            </a:pPr>
            <a:r>
              <a:rPr lang="en-US" sz="800" b="1" dirty="0">
                <a:solidFill>
                  <a:srgbClr val="D97706"/>
                </a:solidFill>
                <a:latin typeface="Arial" pitchFamily="34" charset="0"/>
                <a:ea typeface="Arial" pitchFamily="34" charset="-122"/>
                <a:cs typeface="Arial" pitchFamily="34" charset="-120"/>
              </a:rPr>
              <a:t>ROLE SHIFT · 架构审判官</a:t>
            </a:r>
            <a:endParaRPr lang="en-US" sz="800" dirty="0"/>
          </a:p>
        </p:txBody>
      </p:sp>
      <p:sp>
        <p:nvSpPr>
          <p:cNvPr id="34" name="Text 32"/>
          <p:cNvSpPr/>
          <p:nvPr/>
        </p:nvSpPr>
        <p:spPr>
          <a:xfrm>
            <a:off x="6784848" y="3364992"/>
            <a:ext cx="4389120" cy="292608"/>
          </a:xfrm>
          <a:prstGeom prst="rect">
            <a:avLst/>
          </a:prstGeom>
          <a:noFill/>
          <a:ln/>
        </p:spPr>
        <p:txBody>
          <a:bodyPr wrap="square" rtlCol="0" anchor="ctr"/>
          <a:lstStyle/>
          <a:p>
            <a:pPr indent="0" marL="0">
              <a:buNone/>
            </a:pPr>
            <a:r>
              <a:rPr lang="en-US" sz="1100" b="1" dirty="0">
                <a:solidFill>
                  <a:srgbClr val="1C1917"/>
                </a:solidFill>
                <a:latin typeface="Arial" pitchFamily="34" charset="0"/>
                <a:ea typeface="Arial" pitchFamily="34" charset="-122"/>
                <a:cs typeface="Arial" pitchFamily="34" charset="-120"/>
              </a:rPr>
              <a:t>人类角色的彻底重构：从码农到审判官</a:t>
            </a:r>
            <a:endParaRPr lang="en-US" sz="1100" dirty="0"/>
          </a:p>
        </p:txBody>
      </p:sp>
      <p:sp>
        <p:nvSpPr>
          <p:cNvPr id="35" name="Text 33"/>
          <p:cNvSpPr/>
          <p:nvPr/>
        </p:nvSpPr>
        <p:spPr>
          <a:xfrm>
            <a:off x="6784848" y="3666744"/>
            <a:ext cx="4434840" cy="685800"/>
          </a:xfrm>
          <a:prstGeom prst="rect">
            <a:avLst/>
          </a:prstGeom>
          <a:noFill/>
          <a:ln/>
        </p:spPr>
        <p:txBody>
          <a:bodyPr wrap="square" rtlCol="0" anchor="ctr"/>
          <a:lstStyle/>
          <a:p>
            <a:pPr indent="0" marL="0">
              <a:lnSpc>
                <a:spcPts val="1300"/>
              </a:lnSpc>
              <a:buNone/>
            </a:pPr>
            <a:r>
              <a:rPr lang="en-US" sz="900" dirty="0">
                <a:solidFill>
                  <a:srgbClr val="57534E"/>
                </a:solidFill>
                <a:latin typeface="Arial" pitchFamily="34" charset="0"/>
                <a:ea typeface="Arial" pitchFamily="34" charset="-122"/>
                <a:cs typeface="Arial" pitchFamily="34" charset="-120"/>
              </a:rPr>
              <a:t>Anthropic 科学家已不再手写常规业务代码，核心工作转型为定义顶层架构规范、编写反思提示词与检阅 Agent 提交的 PR。</a:t>
            </a:r>
            <a:endParaRPr lang="en-US" sz="900" dirty="0"/>
          </a:p>
        </p:txBody>
      </p:sp>
      <p:sp>
        <p:nvSpPr>
          <p:cNvPr id="36" name="Shape 34"/>
          <p:cNvSpPr/>
          <p:nvPr/>
        </p:nvSpPr>
        <p:spPr>
          <a:xfrm>
            <a:off x="6601968" y="4581144"/>
            <a:ext cx="4846320" cy="1481328"/>
          </a:xfrm>
          <a:prstGeom prst="rect">
            <a:avLst/>
          </a:prstGeom>
          <a:solidFill>
            <a:srgbClr val="FFFFFF"/>
          </a:solidFill>
          <a:ln w="12700">
            <a:solidFill>
              <a:srgbClr val="E2DCD2"/>
            </a:solidFill>
            <a:prstDash val="solid"/>
          </a:ln>
        </p:spPr>
      </p:sp>
      <p:sp>
        <p:nvSpPr>
          <p:cNvPr id="37" name="Shape 35"/>
          <p:cNvSpPr/>
          <p:nvPr/>
        </p:nvSpPr>
        <p:spPr>
          <a:xfrm>
            <a:off x="6601968" y="4581144"/>
            <a:ext cx="73152" cy="1481328"/>
          </a:xfrm>
          <a:prstGeom prst="rect">
            <a:avLst/>
          </a:prstGeom>
          <a:solidFill>
            <a:srgbClr val="16A34A"/>
          </a:solidFill>
          <a:ln/>
        </p:spPr>
      </p:sp>
      <p:sp>
        <p:nvSpPr>
          <p:cNvPr id="38" name="Shape 36"/>
          <p:cNvSpPr/>
          <p:nvPr/>
        </p:nvSpPr>
        <p:spPr>
          <a:xfrm>
            <a:off x="6784848" y="4727448"/>
            <a:ext cx="2011680" cy="219456"/>
          </a:xfrm>
          <a:prstGeom prst="rect">
            <a:avLst/>
          </a:prstGeom>
          <a:solidFill>
            <a:srgbClr val="F5F2EB"/>
          </a:solidFill>
          <a:ln w="12700">
            <a:solidFill>
              <a:srgbClr val="16A34A"/>
            </a:solidFill>
            <a:prstDash val="solid"/>
          </a:ln>
        </p:spPr>
      </p:sp>
      <p:sp>
        <p:nvSpPr>
          <p:cNvPr id="39" name="Text 37"/>
          <p:cNvSpPr/>
          <p:nvPr/>
        </p:nvSpPr>
        <p:spPr>
          <a:xfrm>
            <a:off x="6784848" y="4727448"/>
            <a:ext cx="2011680" cy="219456"/>
          </a:xfrm>
          <a:prstGeom prst="rect">
            <a:avLst/>
          </a:prstGeom>
          <a:noFill/>
          <a:ln/>
        </p:spPr>
        <p:txBody>
          <a:bodyPr wrap="square" rtlCol="0" anchor="ctr"/>
          <a:lstStyle/>
          <a:p>
            <a:pPr algn="ctr" indent="0" marL="0">
              <a:buNone/>
            </a:pPr>
            <a:r>
              <a:rPr lang="en-US" sz="800" b="1" dirty="0">
                <a:solidFill>
                  <a:srgbClr val="16A34A"/>
                </a:solidFill>
                <a:latin typeface="Arial" pitchFamily="34" charset="0"/>
                <a:ea typeface="Arial" pitchFamily="34" charset="-122"/>
                <a:cs typeface="Arial" pitchFamily="34" charset="-120"/>
              </a:rPr>
              <a:t>LEVERAGE · 20倍人效杠杆</a:t>
            </a:r>
            <a:endParaRPr lang="en-US" sz="800" dirty="0"/>
          </a:p>
        </p:txBody>
      </p:sp>
      <p:sp>
        <p:nvSpPr>
          <p:cNvPr id="40" name="Text 38"/>
          <p:cNvSpPr/>
          <p:nvPr/>
        </p:nvSpPr>
        <p:spPr>
          <a:xfrm>
            <a:off x="6784848" y="4992624"/>
            <a:ext cx="4389120" cy="292608"/>
          </a:xfrm>
          <a:prstGeom prst="rect">
            <a:avLst/>
          </a:prstGeom>
          <a:noFill/>
          <a:ln/>
        </p:spPr>
        <p:txBody>
          <a:bodyPr wrap="square" rtlCol="0" anchor="ctr"/>
          <a:lstStyle/>
          <a:p>
            <a:pPr indent="0" marL="0">
              <a:buNone/>
            </a:pPr>
            <a:r>
              <a:rPr lang="en-US" sz="1100" b="1" dirty="0">
                <a:solidFill>
                  <a:srgbClr val="1C1917"/>
                </a:solidFill>
                <a:latin typeface="Arial" pitchFamily="34" charset="0"/>
                <a:ea typeface="Arial" pitchFamily="34" charset="-122"/>
                <a:cs typeface="Arial" pitchFamily="34" charset="-120"/>
              </a:rPr>
              <a:t>1:20 的恐怖人效比与资本飞轮</a:t>
            </a:r>
            <a:endParaRPr lang="en-US" sz="1100" dirty="0"/>
          </a:p>
        </p:txBody>
      </p:sp>
      <p:sp>
        <p:nvSpPr>
          <p:cNvPr id="41" name="Text 39"/>
          <p:cNvSpPr/>
          <p:nvPr/>
        </p:nvSpPr>
        <p:spPr>
          <a:xfrm>
            <a:off x="6784848" y="5294376"/>
            <a:ext cx="4434840" cy="685800"/>
          </a:xfrm>
          <a:prstGeom prst="rect">
            <a:avLst/>
          </a:prstGeom>
          <a:noFill/>
          <a:ln/>
        </p:spPr>
        <p:txBody>
          <a:bodyPr wrap="square" rtlCol="0" anchor="ctr"/>
          <a:lstStyle/>
          <a:p>
            <a:pPr indent="0" marL="0">
              <a:lnSpc>
                <a:spcPts val="1300"/>
              </a:lnSpc>
              <a:buNone/>
            </a:pPr>
            <a:r>
              <a:rPr lang="en-US" sz="900" dirty="0">
                <a:solidFill>
                  <a:srgbClr val="57534E"/>
                </a:solidFill>
                <a:latin typeface="Arial" pitchFamily="34" charset="0"/>
                <a:ea typeface="Arial" pitchFamily="34" charset="-122"/>
                <a:cs typeface="Arial" pitchFamily="34" charset="-120"/>
              </a:rPr>
              <a:t>凭借极高程度的自举闭环，Anthropic 仅凭数百名核心研发人员，便在技术产出与模型迭代速度上全面抗衡数万人的科技巨头。</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BF9F5"/>
        </a:solidFill>
      </p:bgPr>
    </p:bg>
    <p:spTree>
      <p:nvGrpSpPr>
        <p:cNvPr id="1" name=""/>
        <p:cNvGrpSpPr/>
        <p:nvPr/>
      </p:nvGrpSpPr>
      <p:grpSpPr>
        <a:xfrm>
          <a:off x="0" y="0"/>
          <a:ext cx="0" cy="0"/>
          <a:chOff x="0" y="0"/>
          <a:chExt cx="0" cy="0"/>
        </a:xfrm>
      </p:grpSpPr>
      <p:sp>
        <p:nvSpPr>
          <p:cNvPr id="2" name="Shape 0"/>
          <p:cNvSpPr/>
          <p:nvPr/>
        </p:nvSpPr>
        <p:spPr>
          <a:xfrm>
            <a:off x="731520" y="384048"/>
            <a:ext cx="2560320" cy="256032"/>
          </a:xfrm>
          <a:prstGeom prst="rect">
            <a:avLst/>
          </a:prstGeom>
          <a:solidFill>
            <a:srgbClr val="FBF0EB"/>
          </a:solidFill>
          <a:ln w="12700">
            <a:solidFill>
              <a:srgbClr val="F0C2B2"/>
            </a:solidFill>
            <a:prstDash val="solid"/>
          </a:ln>
        </p:spPr>
      </p:sp>
      <p:sp>
        <p:nvSpPr>
          <p:cNvPr id="3" name="Text 1"/>
          <p:cNvSpPr/>
          <p:nvPr/>
        </p:nvSpPr>
        <p:spPr>
          <a:xfrm>
            <a:off x="731520" y="384048"/>
            <a:ext cx="2560320" cy="256032"/>
          </a:xfrm>
          <a:prstGeom prst="rect">
            <a:avLst/>
          </a:prstGeom>
          <a:noFill/>
          <a:ln/>
        </p:spPr>
        <p:txBody>
          <a:bodyPr wrap="square" rtlCol="0" anchor="ctr"/>
          <a:lstStyle/>
          <a:p>
            <a:pPr algn="ctr" indent="0" marL="0">
              <a:buNone/>
            </a:pPr>
            <a:r>
              <a:rPr lang="en-US" sz="900" b="1" spc="120" kern="0" dirty="0">
                <a:solidFill>
                  <a:srgbClr val="D97757"/>
                </a:solidFill>
                <a:latin typeface="Arial" pitchFamily="34" charset="0"/>
                <a:ea typeface="Arial" pitchFamily="34" charset="-122"/>
                <a:cs typeface="Arial" pitchFamily="34" charset="-120"/>
              </a:rPr>
              <a:t>SAFETY GOVERNANCE</a:t>
            </a:r>
            <a:endParaRPr lang="en-US" sz="900" dirty="0"/>
          </a:p>
        </p:txBody>
      </p:sp>
      <p:sp>
        <p:nvSpPr>
          <p:cNvPr id="4" name="Text 2"/>
          <p:cNvSpPr/>
          <p:nvPr/>
        </p:nvSpPr>
        <p:spPr>
          <a:xfrm>
            <a:off x="731520" y="676656"/>
            <a:ext cx="9875520" cy="475488"/>
          </a:xfrm>
          <a:prstGeom prst="rect">
            <a:avLst/>
          </a:prstGeom>
          <a:noFill/>
          <a:ln/>
        </p:spPr>
        <p:txBody>
          <a:bodyPr wrap="square" lIns="0" tIns="0" rIns="0" bIns="0" rtlCol="0" anchor="ctr"/>
          <a:lstStyle/>
          <a:p>
            <a:pPr indent="0" marL="0">
              <a:buNone/>
            </a:pPr>
            <a:r>
              <a:rPr lang="en-US" sz="2100" b="1" dirty="0">
                <a:solidFill>
                  <a:srgbClr val="1C1917"/>
                </a:solidFill>
                <a:latin typeface="Arial" pitchFamily="34" charset="0"/>
                <a:ea typeface="Arial" pitchFamily="34" charset="-122"/>
                <a:cs typeface="Arial" pitchFamily="34" charset="-120"/>
              </a:rPr>
              <a:t>Responsible Scaling Policy (RSP) 与 ASL-3 自动化熔断</a:t>
            </a:r>
            <a:endParaRPr lang="en-US" sz="2100" dirty="0"/>
          </a:p>
        </p:txBody>
      </p:sp>
      <p:sp>
        <p:nvSpPr>
          <p:cNvPr id="5" name="Text 3"/>
          <p:cNvSpPr/>
          <p:nvPr/>
        </p:nvSpPr>
        <p:spPr>
          <a:xfrm>
            <a:off x="10972800" y="384048"/>
            <a:ext cx="731520" cy="320040"/>
          </a:xfrm>
          <a:prstGeom prst="rect">
            <a:avLst/>
          </a:prstGeom>
          <a:noFill/>
          <a:ln/>
        </p:spPr>
        <p:txBody>
          <a:bodyPr wrap="square" rtlCol="0" anchor="ctr"/>
          <a:lstStyle/>
          <a:p>
            <a:pPr algn="r" indent="0" marL="0">
              <a:buNone/>
            </a:pPr>
            <a:r>
              <a:rPr lang="en-US" sz="1300" b="1" dirty="0">
                <a:solidFill>
                  <a:srgbClr val="8C857B"/>
                </a:solidFill>
                <a:latin typeface="Arial" pitchFamily="34" charset="0"/>
                <a:ea typeface="Arial" pitchFamily="34" charset="-122"/>
                <a:cs typeface="Arial" pitchFamily="34" charset="-120"/>
              </a:rPr>
              <a:t>27</a:t>
            </a:r>
            <a:endParaRPr lang="en-US" sz="1300" dirty="0"/>
          </a:p>
        </p:txBody>
      </p:sp>
      <p:sp>
        <p:nvSpPr>
          <p:cNvPr id="6" name="Shape 4"/>
          <p:cNvSpPr/>
          <p:nvPr/>
        </p:nvSpPr>
        <p:spPr>
          <a:xfrm>
            <a:off x="731520" y="1325880"/>
            <a:ext cx="5257800" cy="4892040"/>
          </a:xfrm>
          <a:prstGeom prst="rect">
            <a:avLst/>
          </a:prstGeom>
          <a:solidFill>
            <a:srgbClr val="FFFFFF"/>
          </a:solidFill>
          <a:ln w="12700">
            <a:solidFill>
              <a:srgbClr val="E2DCD2"/>
            </a:solidFill>
            <a:prstDash val="solid"/>
          </a:ln>
        </p:spPr>
      </p:sp>
      <p:sp>
        <p:nvSpPr>
          <p:cNvPr id="7" name="Shape 5"/>
          <p:cNvSpPr/>
          <p:nvPr/>
        </p:nvSpPr>
        <p:spPr>
          <a:xfrm>
            <a:off x="731520" y="1325880"/>
            <a:ext cx="5257800" cy="594360"/>
          </a:xfrm>
          <a:prstGeom prst="rect">
            <a:avLst/>
          </a:prstGeom>
          <a:solidFill>
            <a:srgbClr val="D97757"/>
          </a:solidFill>
          <a:ln/>
        </p:spPr>
      </p:sp>
      <p:sp>
        <p:nvSpPr>
          <p:cNvPr id="8" name="Text 6"/>
          <p:cNvSpPr/>
          <p:nvPr/>
        </p:nvSpPr>
        <p:spPr>
          <a:xfrm>
            <a:off x="1005840" y="1481328"/>
            <a:ext cx="4709160" cy="292608"/>
          </a:xfrm>
          <a:prstGeom prst="rect">
            <a:avLst/>
          </a:prstGeom>
          <a:noFill/>
          <a:ln/>
        </p:spPr>
        <p:txBody>
          <a:bodyPr wrap="square" rtlCol="0" anchor="ctr"/>
          <a:lstStyle/>
          <a:p>
            <a:pPr indent="0" marL="0">
              <a:buNone/>
            </a:pPr>
            <a:r>
              <a:rPr lang="en-US" sz="1150" b="1" dirty="0">
                <a:solidFill>
                  <a:srgbClr val="FFFFFF"/>
                </a:solidFill>
                <a:latin typeface="Arial" pitchFamily="34" charset="0"/>
                <a:ea typeface="Arial" pitchFamily="34" charset="-122"/>
                <a:cs typeface="Arial" pitchFamily="34" charset="-120"/>
              </a:rPr>
              <a:t>RSP 安全梯级：ASL 分级防御金字塔</a:t>
            </a:r>
            <a:endParaRPr lang="en-US" sz="1150" dirty="0"/>
          </a:p>
        </p:txBody>
      </p:sp>
      <p:sp>
        <p:nvSpPr>
          <p:cNvPr id="9" name="Shape 7"/>
          <p:cNvSpPr/>
          <p:nvPr/>
        </p:nvSpPr>
        <p:spPr>
          <a:xfrm>
            <a:off x="1005840" y="2029968"/>
            <a:ext cx="73152" cy="896112"/>
          </a:xfrm>
          <a:prstGeom prst="rect">
            <a:avLst/>
          </a:prstGeom>
          <a:solidFill>
            <a:srgbClr val="D1C9BC"/>
          </a:solidFill>
          <a:ln/>
        </p:spPr>
      </p:sp>
      <p:sp>
        <p:nvSpPr>
          <p:cNvPr id="10" name="Shape 8"/>
          <p:cNvSpPr/>
          <p:nvPr/>
        </p:nvSpPr>
        <p:spPr>
          <a:xfrm>
            <a:off x="1078992" y="2029968"/>
            <a:ext cx="4636008" cy="896112"/>
          </a:xfrm>
          <a:prstGeom prst="rect">
            <a:avLst/>
          </a:prstGeom>
          <a:solidFill>
            <a:srgbClr val="F5F2EB"/>
          </a:solidFill>
          <a:ln w="12700">
            <a:solidFill>
              <a:srgbClr val="E2DCD2"/>
            </a:solidFill>
            <a:prstDash val="solid"/>
          </a:ln>
        </p:spPr>
      </p:sp>
      <p:sp>
        <p:nvSpPr>
          <p:cNvPr id="11" name="Text 9"/>
          <p:cNvSpPr/>
          <p:nvPr/>
        </p:nvSpPr>
        <p:spPr>
          <a:xfrm>
            <a:off x="1207008" y="2121408"/>
            <a:ext cx="4389120" cy="228600"/>
          </a:xfrm>
          <a:prstGeom prst="rect">
            <a:avLst/>
          </a:prstGeom>
          <a:noFill/>
          <a:ln/>
        </p:spPr>
        <p:txBody>
          <a:bodyPr wrap="square" rtlCol="0" anchor="ctr"/>
          <a:lstStyle/>
          <a:p>
            <a:pPr indent="0" marL="0">
              <a:buNone/>
            </a:pPr>
            <a:r>
              <a:rPr lang="en-US" sz="980" b="1" dirty="0">
                <a:solidFill>
                  <a:srgbClr val="D1C9BC"/>
                </a:solidFill>
                <a:latin typeface="Arial" pitchFamily="34" charset="0"/>
                <a:ea typeface="Arial" pitchFamily="34" charset="-122"/>
                <a:cs typeface="Arial" pitchFamily="34" charset="-120"/>
              </a:rPr>
              <a:t>ASL-1 · 基础统计防线 (早期模型)</a:t>
            </a:r>
            <a:endParaRPr lang="en-US" sz="980" dirty="0"/>
          </a:p>
        </p:txBody>
      </p:sp>
      <p:sp>
        <p:nvSpPr>
          <p:cNvPr id="12" name="Text 10"/>
          <p:cNvSpPr/>
          <p:nvPr/>
        </p:nvSpPr>
        <p:spPr>
          <a:xfrm>
            <a:off x="1207008" y="2359152"/>
            <a:ext cx="4389120" cy="502920"/>
          </a:xfrm>
          <a:prstGeom prst="rect">
            <a:avLst/>
          </a:prstGeom>
          <a:noFill/>
          <a:ln/>
        </p:spPr>
        <p:txBody>
          <a:bodyPr wrap="square" rtlCol="0" anchor="ctr"/>
          <a:lstStyle/>
          <a:p>
            <a:pPr indent="0" marL="0">
              <a:lnSpc>
                <a:spcPts val="1250"/>
              </a:lnSpc>
              <a:buNone/>
            </a:pPr>
            <a:r>
              <a:rPr lang="en-US" sz="880" dirty="0">
                <a:solidFill>
                  <a:srgbClr val="57534E"/>
                </a:solidFill>
                <a:latin typeface="Arial" pitchFamily="34" charset="0"/>
                <a:ea typeface="Arial" pitchFamily="34" charset="-122"/>
                <a:cs typeface="Arial" pitchFamily="34" charset="-120"/>
              </a:rPr>
              <a:t>无自主危害性，仅实施常规敏感词过滤与浅层合规对齐。</a:t>
            </a:r>
            <a:endParaRPr lang="en-US" sz="880" dirty="0"/>
          </a:p>
        </p:txBody>
      </p:sp>
      <p:sp>
        <p:nvSpPr>
          <p:cNvPr id="13" name="Shape 11"/>
          <p:cNvSpPr/>
          <p:nvPr/>
        </p:nvSpPr>
        <p:spPr>
          <a:xfrm>
            <a:off x="1005840" y="3054096"/>
            <a:ext cx="73152" cy="896112"/>
          </a:xfrm>
          <a:prstGeom prst="rect">
            <a:avLst/>
          </a:prstGeom>
          <a:solidFill>
            <a:srgbClr val="475569"/>
          </a:solidFill>
          <a:ln/>
        </p:spPr>
      </p:sp>
      <p:sp>
        <p:nvSpPr>
          <p:cNvPr id="14" name="Shape 12"/>
          <p:cNvSpPr/>
          <p:nvPr/>
        </p:nvSpPr>
        <p:spPr>
          <a:xfrm>
            <a:off x="1078992" y="3054096"/>
            <a:ext cx="4636008" cy="896112"/>
          </a:xfrm>
          <a:prstGeom prst="rect">
            <a:avLst/>
          </a:prstGeom>
          <a:solidFill>
            <a:srgbClr val="F5F2EB"/>
          </a:solidFill>
          <a:ln w="12700">
            <a:solidFill>
              <a:srgbClr val="E2DCD2"/>
            </a:solidFill>
            <a:prstDash val="solid"/>
          </a:ln>
        </p:spPr>
      </p:sp>
      <p:sp>
        <p:nvSpPr>
          <p:cNvPr id="15" name="Text 13"/>
          <p:cNvSpPr/>
          <p:nvPr/>
        </p:nvSpPr>
        <p:spPr>
          <a:xfrm>
            <a:off x="1207008" y="3145536"/>
            <a:ext cx="4389120" cy="228600"/>
          </a:xfrm>
          <a:prstGeom prst="rect">
            <a:avLst/>
          </a:prstGeom>
          <a:noFill/>
          <a:ln/>
        </p:spPr>
        <p:txBody>
          <a:bodyPr wrap="square" rtlCol="0" anchor="ctr"/>
          <a:lstStyle/>
          <a:p>
            <a:pPr indent="0" marL="0">
              <a:buNone/>
            </a:pPr>
            <a:r>
              <a:rPr lang="en-US" sz="980" b="1" dirty="0">
                <a:solidFill>
                  <a:srgbClr val="475569"/>
                </a:solidFill>
                <a:latin typeface="Arial" pitchFamily="34" charset="0"/>
                <a:ea typeface="Arial" pitchFamily="34" charset="-122"/>
                <a:cs typeface="Arial" pitchFamily="34" charset="-120"/>
              </a:rPr>
              <a:t>ASL-2 · 当前普遍基线 (Claude 3 / GPT-4o)</a:t>
            </a:r>
            <a:endParaRPr lang="en-US" sz="980" dirty="0"/>
          </a:p>
        </p:txBody>
      </p:sp>
      <p:sp>
        <p:nvSpPr>
          <p:cNvPr id="16" name="Text 14"/>
          <p:cNvSpPr/>
          <p:nvPr/>
        </p:nvSpPr>
        <p:spPr>
          <a:xfrm>
            <a:off x="1207008" y="3383280"/>
            <a:ext cx="4389120" cy="502920"/>
          </a:xfrm>
          <a:prstGeom prst="rect">
            <a:avLst/>
          </a:prstGeom>
          <a:noFill/>
          <a:ln/>
        </p:spPr>
        <p:txBody>
          <a:bodyPr wrap="square" rtlCol="0" anchor="ctr"/>
          <a:lstStyle/>
          <a:p>
            <a:pPr indent="0" marL="0">
              <a:lnSpc>
                <a:spcPts val="1250"/>
              </a:lnSpc>
              <a:buNone/>
            </a:pPr>
            <a:r>
              <a:rPr lang="en-US" sz="880" dirty="0">
                <a:solidFill>
                  <a:srgbClr val="57534E"/>
                </a:solidFill>
                <a:latin typeface="Arial" pitchFamily="34" charset="0"/>
                <a:ea typeface="Arial" pitchFamily="34" charset="-122"/>
                <a:cs typeface="Arial" pitchFamily="34" charset="-120"/>
              </a:rPr>
              <a:t>具备高级编程与常识推理，实施基础红队对抗与动态越狱防范。</a:t>
            </a:r>
            <a:endParaRPr lang="en-US" sz="880" dirty="0"/>
          </a:p>
        </p:txBody>
      </p:sp>
      <p:sp>
        <p:nvSpPr>
          <p:cNvPr id="17" name="Shape 15"/>
          <p:cNvSpPr/>
          <p:nvPr/>
        </p:nvSpPr>
        <p:spPr>
          <a:xfrm>
            <a:off x="1005840" y="4078224"/>
            <a:ext cx="73152" cy="896112"/>
          </a:xfrm>
          <a:prstGeom prst="rect">
            <a:avLst/>
          </a:prstGeom>
          <a:solidFill>
            <a:srgbClr val="D97706"/>
          </a:solidFill>
          <a:ln/>
        </p:spPr>
      </p:sp>
      <p:sp>
        <p:nvSpPr>
          <p:cNvPr id="18" name="Shape 16"/>
          <p:cNvSpPr/>
          <p:nvPr/>
        </p:nvSpPr>
        <p:spPr>
          <a:xfrm>
            <a:off x="1078992" y="4078224"/>
            <a:ext cx="4636008" cy="896112"/>
          </a:xfrm>
          <a:prstGeom prst="rect">
            <a:avLst/>
          </a:prstGeom>
          <a:solidFill>
            <a:srgbClr val="F5F2EB"/>
          </a:solidFill>
          <a:ln w="12700">
            <a:solidFill>
              <a:srgbClr val="E2DCD2"/>
            </a:solidFill>
            <a:prstDash val="solid"/>
          </a:ln>
        </p:spPr>
      </p:sp>
      <p:sp>
        <p:nvSpPr>
          <p:cNvPr id="19" name="Text 17"/>
          <p:cNvSpPr/>
          <p:nvPr/>
        </p:nvSpPr>
        <p:spPr>
          <a:xfrm>
            <a:off x="1207008" y="4169664"/>
            <a:ext cx="4389120" cy="228600"/>
          </a:xfrm>
          <a:prstGeom prst="rect">
            <a:avLst/>
          </a:prstGeom>
          <a:noFill/>
          <a:ln/>
        </p:spPr>
        <p:txBody>
          <a:bodyPr wrap="square" rtlCol="0" anchor="ctr"/>
          <a:lstStyle/>
          <a:p>
            <a:pPr indent="0" marL="0">
              <a:buNone/>
            </a:pPr>
            <a:r>
              <a:rPr lang="en-US" sz="980" b="1" dirty="0">
                <a:solidFill>
                  <a:srgbClr val="D97706"/>
                </a:solidFill>
                <a:latin typeface="Arial" pitchFamily="34" charset="0"/>
                <a:ea typeface="Arial" pitchFamily="34" charset="-122"/>
                <a:cs typeface="Arial" pitchFamily="34" charset="-120"/>
              </a:rPr>
              <a:t>ASL-3 · 自动化警报触发点 (当前前沿临界点)</a:t>
            </a:r>
            <a:endParaRPr lang="en-US" sz="980" dirty="0"/>
          </a:p>
        </p:txBody>
      </p:sp>
      <p:sp>
        <p:nvSpPr>
          <p:cNvPr id="20" name="Text 18"/>
          <p:cNvSpPr/>
          <p:nvPr/>
        </p:nvSpPr>
        <p:spPr>
          <a:xfrm>
            <a:off x="1207008" y="4407408"/>
            <a:ext cx="4389120" cy="502920"/>
          </a:xfrm>
          <a:prstGeom prst="rect">
            <a:avLst/>
          </a:prstGeom>
          <a:noFill/>
          <a:ln/>
        </p:spPr>
        <p:txBody>
          <a:bodyPr wrap="square" rtlCol="0" anchor="ctr"/>
          <a:lstStyle/>
          <a:p>
            <a:pPr indent="0" marL="0">
              <a:lnSpc>
                <a:spcPts val="1250"/>
              </a:lnSpc>
              <a:buNone/>
            </a:pPr>
            <a:r>
              <a:rPr lang="en-US" sz="880" dirty="0">
                <a:solidFill>
                  <a:srgbClr val="57534E"/>
                </a:solidFill>
                <a:latin typeface="Arial" pitchFamily="34" charset="0"/>
                <a:ea typeface="Arial" pitchFamily="34" charset="-122"/>
                <a:cs typeface="Arial" pitchFamily="34" charset="-120"/>
              </a:rPr>
              <a:t>具备自主编写复杂黑客渗透脚本、自我复制或生物化学风险，强制冷绝缘物理沙箱与自动化熔断。</a:t>
            </a:r>
            <a:endParaRPr lang="en-US" sz="880" dirty="0"/>
          </a:p>
        </p:txBody>
      </p:sp>
      <p:sp>
        <p:nvSpPr>
          <p:cNvPr id="21" name="Shape 19"/>
          <p:cNvSpPr/>
          <p:nvPr/>
        </p:nvSpPr>
        <p:spPr>
          <a:xfrm>
            <a:off x="1005840" y="5102352"/>
            <a:ext cx="73152" cy="896112"/>
          </a:xfrm>
          <a:prstGeom prst="rect">
            <a:avLst/>
          </a:prstGeom>
          <a:solidFill>
            <a:srgbClr val="DC2626"/>
          </a:solidFill>
          <a:ln/>
        </p:spPr>
      </p:sp>
      <p:sp>
        <p:nvSpPr>
          <p:cNvPr id="22" name="Shape 20"/>
          <p:cNvSpPr/>
          <p:nvPr/>
        </p:nvSpPr>
        <p:spPr>
          <a:xfrm>
            <a:off x="1078992" y="5102352"/>
            <a:ext cx="4636008" cy="896112"/>
          </a:xfrm>
          <a:prstGeom prst="rect">
            <a:avLst/>
          </a:prstGeom>
          <a:solidFill>
            <a:srgbClr val="F5F2EB"/>
          </a:solidFill>
          <a:ln w="12700">
            <a:solidFill>
              <a:srgbClr val="E2DCD2"/>
            </a:solidFill>
            <a:prstDash val="solid"/>
          </a:ln>
        </p:spPr>
      </p:sp>
      <p:sp>
        <p:nvSpPr>
          <p:cNvPr id="23" name="Text 21"/>
          <p:cNvSpPr/>
          <p:nvPr/>
        </p:nvSpPr>
        <p:spPr>
          <a:xfrm>
            <a:off x="1207008" y="5193792"/>
            <a:ext cx="4389120" cy="228600"/>
          </a:xfrm>
          <a:prstGeom prst="rect">
            <a:avLst/>
          </a:prstGeom>
          <a:noFill/>
          <a:ln/>
        </p:spPr>
        <p:txBody>
          <a:bodyPr wrap="square" rtlCol="0" anchor="ctr"/>
          <a:lstStyle/>
          <a:p>
            <a:pPr indent="0" marL="0">
              <a:buNone/>
            </a:pPr>
            <a:r>
              <a:rPr lang="en-US" sz="980" b="1" dirty="0">
                <a:solidFill>
                  <a:srgbClr val="DC2626"/>
                </a:solidFill>
                <a:latin typeface="Arial" pitchFamily="34" charset="0"/>
                <a:ea typeface="Arial" pitchFamily="34" charset="-122"/>
                <a:cs typeface="Arial" pitchFamily="34" charset="-120"/>
              </a:rPr>
              <a:t>ASL-4 · 超智能禁闭防线 (未来演进假说)</a:t>
            </a:r>
            <a:endParaRPr lang="en-US" sz="980" dirty="0"/>
          </a:p>
        </p:txBody>
      </p:sp>
      <p:sp>
        <p:nvSpPr>
          <p:cNvPr id="24" name="Text 22"/>
          <p:cNvSpPr/>
          <p:nvPr/>
        </p:nvSpPr>
        <p:spPr>
          <a:xfrm>
            <a:off x="1207008" y="5431536"/>
            <a:ext cx="4389120" cy="502920"/>
          </a:xfrm>
          <a:prstGeom prst="rect">
            <a:avLst/>
          </a:prstGeom>
          <a:noFill/>
          <a:ln/>
        </p:spPr>
        <p:txBody>
          <a:bodyPr wrap="square" rtlCol="0" anchor="ctr"/>
          <a:lstStyle/>
          <a:p>
            <a:pPr indent="0" marL="0">
              <a:lnSpc>
                <a:spcPts val="1250"/>
              </a:lnSpc>
              <a:buNone/>
            </a:pPr>
            <a:r>
              <a:rPr lang="en-US" sz="880" dirty="0">
                <a:solidFill>
                  <a:srgbClr val="57534E"/>
                </a:solidFill>
                <a:latin typeface="Arial" pitchFamily="34" charset="0"/>
                <a:ea typeface="Arial" pitchFamily="34" charset="-122"/>
                <a:cs typeface="Arial" pitchFamily="34" charset="-120"/>
              </a:rPr>
              <a:t>具备战略级自主科研与软硬件逃逸能力，实施全冷绝缘物理锁死与形式化数学证明校验。</a:t>
            </a:r>
            <a:endParaRPr lang="en-US" sz="880" dirty="0"/>
          </a:p>
        </p:txBody>
      </p:sp>
      <p:sp>
        <p:nvSpPr>
          <p:cNvPr id="25" name="Shape 23"/>
          <p:cNvSpPr/>
          <p:nvPr/>
        </p:nvSpPr>
        <p:spPr>
          <a:xfrm>
            <a:off x="6199632" y="1325880"/>
            <a:ext cx="5257800" cy="4892040"/>
          </a:xfrm>
          <a:prstGeom prst="rect">
            <a:avLst/>
          </a:prstGeom>
          <a:solidFill>
            <a:srgbClr val="FFFFFF"/>
          </a:solidFill>
          <a:ln w="12700">
            <a:solidFill>
              <a:srgbClr val="E2DCD2"/>
            </a:solidFill>
            <a:prstDash val="solid"/>
          </a:ln>
        </p:spPr>
      </p:sp>
      <p:sp>
        <p:nvSpPr>
          <p:cNvPr id="26" name="Shape 24"/>
          <p:cNvSpPr/>
          <p:nvPr/>
        </p:nvSpPr>
        <p:spPr>
          <a:xfrm>
            <a:off x="6199632" y="1325880"/>
            <a:ext cx="5257800" cy="594360"/>
          </a:xfrm>
          <a:prstGeom prst="rect">
            <a:avLst/>
          </a:prstGeom>
          <a:solidFill>
            <a:srgbClr val="16A34A"/>
          </a:solidFill>
          <a:ln/>
        </p:spPr>
      </p:sp>
      <p:sp>
        <p:nvSpPr>
          <p:cNvPr id="27" name="Text 25"/>
          <p:cNvSpPr/>
          <p:nvPr/>
        </p:nvSpPr>
        <p:spPr>
          <a:xfrm>
            <a:off x="6473952" y="1481328"/>
            <a:ext cx="4709160" cy="292608"/>
          </a:xfrm>
          <a:prstGeom prst="rect">
            <a:avLst/>
          </a:prstGeom>
          <a:noFill/>
          <a:ln/>
        </p:spPr>
        <p:txBody>
          <a:bodyPr wrap="square" rtlCol="0" anchor="ctr"/>
          <a:lstStyle/>
          <a:p>
            <a:pPr indent="0" marL="0">
              <a:buNone/>
            </a:pPr>
            <a:r>
              <a:rPr lang="en-US" sz="1150" b="1" dirty="0">
                <a:solidFill>
                  <a:srgbClr val="FFFFFF"/>
                </a:solidFill>
                <a:latin typeface="Arial" pitchFamily="34" charset="0"/>
                <a:ea typeface="Arial" pitchFamily="34" charset="-122"/>
                <a:cs typeface="Arial" pitchFamily="34" charset="-120"/>
              </a:rPr>
              <a:t>机制可解释性：SAE 稀疏自编码器白盒透视</a:t>
            </a:r>
            <a:endParaRPr lang="en-US" sz="1150" dirty="0"/>
          </a:p>
        </p:txBody>
      </p:sp>
      <p:sp>
        <p:nvSpPr>
          <p:cNvPr id="28" name="Shape 26"/>
          <p:cNvSpPr/>
          <p:nvPr/>
        </p:nvSpPr>
        <p:spPr>
          <a:xfrm>
            <a:off x="6473952" y="2029968"/>
            <a:ext cx="73152" cy="1207008"/>
          </a:xfrm>
          <a:prstGeom prst="rect">
            <a:avLst/>
          </a:prstGeom>
          <a:solidFill>
            <a:srgbClr val="16A34A"/>
          </a:solidFill>
          <a:ln/>
        </p:spPr>
      </p:sp>
      <p:sp>
        <p:nvSpPr>
          <p:cNvPr id="29" name="Shape 27"/>
          <p:cNvSpPr/>
          <p:nvPr/>
        </p:nvSpPr>
        <p:spPr>
          <a:xfrm>
            <a:off x="6547104" y="2029968"/>
            <a:ext cx="4636008" cy="1207008"/>
          </a:xfrm>
          <a:prstGeom prst="rect">
            <a:avLst/>
          </a:prstGeom>
          <a:solidFill>
            <a:srgbClr val="F5F2EB"/>
          </a:solidFill>
          <a:ln w="12700">
            <a:solidFill>
              <a:srgbClr val="E2DCD2"/>
            </a:solidFill>
            <a:prstDash val="solid"/>
          </a:ln>
        </p:spPr>
      </p:sp>
      <p:sp>
        <p:nvSpPr>
          <p:cNvPr id="30" name="Text 28"/>
          <p:cNvSpPr/>
          <p:nvPr/>
        </p:nvSpPr>
        <p:spPr>
          <a:xfrm>
            <a:off x="6675120" y="2121408"/>
            <a:ext cx="4389120" cy="201168"/>
          </a:xfrm>
          <a:prstGeom prst="rect">
            <a:avLst/>
          </a:prstGeom>
          <a:noFill/>
          <a:ln/>
        </p:spPr>
        <p:txBody>
          <a:bodyPr wrap="square" rtlCol="0" anchor="ctr"/>
          <a:lstStyle/>
          <a:p>
            <a:pPr indent="0" marL="0">
              <a:buNone/>
            </a:pPr>
            <a:r>
              <a:rPr lang="en-US" sz="850" b="1" dirty="0">
                <a:solidFill>
                  <a:srgbClr val="16A34A"/>
                </a:solidFill>
                <a:latin typeface="Arial" pitchFamily="34" charset="0"/>
                <a:ea typeface="Arial" pitchFamily="34" charset="-122"/>
                <a:cs typeface="Arial" pitchFamily="34" charset="-120"/>
              </a:rPr>
              <a:t>01 · 黑盒解构</a:t>
            </a:r>
            <a:endParaRPr lang="en-US" sz="850" dirty="0"/>
          </a:p>
        </p:txBody>
      </p:sp>
      <p:sp>
        <p:nvSpPr>
          <p:cNvPr id="31" name="Text 29"/>
          <p:cNvSpPr/>
          <p:nvPr/>
        </p:nvSpPr>
        <p:spPr>
          <a:xfrm>
            <a:off x="6675120" y="2340864"/>
            <a:ext cx="4389120" cy="256032"/>
          </a:xfrm>
          <a:prstGeom prst="rect">
            <a:avLst/>
          </a:prstGeom>
          <a:noFill/>
          <a:ln/>
        </p:spPr>
        <p:txBody>
          <a:bodyPr wrap="square" rtlCol="0" anchor="ctr"/>
          <a:lstStyle/>
          <a:p>
            <a:pPr indent="0" marL="0">
              <a:buNone/>
            </a:pPr>
            <a:r>
              <a:rPr lang="en-US" sz="1050" b="1" dirty="0">
                <a:solidFill>
                  <a:srgbClr val="1C1917"/>
                </a:solidFill>
                <a:latin typeface="Arial" pitchFamily="34" charset="0"/>
                <a:ea typeface="Arial" pitchFamily="34" charset="-122"/>
                <a:cs typeface="Arial" pitchFamily="34" charset="-120"/>
              </a:rPr>
              <a:t>解开神经网络内部的黑盒特征</a:t>
            </a:r>
            <a:endParaRPr lang="en-US" sz="1050" dirty="0"/>
          </a:p>
        </p:txBody>
      </p:sp>
      <p:sp>
        <p:nvSpPr>
          <p:cNvPr id="32" name="Text 30"/>
          <p:cNvSpPr/>
          <p:nvPr/>
        </p:nvSpPr>
        <p:spPr>
          <a:xfrm>
            <a:off x="6675120" y="2596896"/>
            <a:ext cx="4389120" cy="594360"/>
          </a:xfrm>
          <a:prstGeom prst="rect">
            <a:avLst/>
          </a:prstGeom>
          <a:noFill/>
          <a:ln/>
        </p:spPr>
        <p:txBody>
          <a:bodyPr wrap="square" rtlCol="0" anchor="ctr"/>
          <a:lstStyle/>
          <a:p>
            <a:pPr indent="0" marL="0">
              <a:lnSpc>
                <a:spcPts val="1250"/>
              </a:lnSpc>
              <a:buNone/>
            </a:pPr>
            <a:r>
              <a:rPr lang="en-US" sz="880" dirty="0">
                <a:solidFill>
                  <a:srgbClr val="57534E"/>
                </a:solidFill>
                <a:latin typeface="Arial" pitchFamily="34" charset="0"/>
                <a:ea typeface="Arial" pitchFamily="34" charset="-122"/>
                <a:cs typeface="Arial" pitchFamily="34" charset="-120"/>
              </a:rPr>
              <a:t>利用稀疏自编码器（SAE）将数百万隐藏神经元分解为人类完全可读的数百万个单一语义特征（如“越狱企图”、“漏洞利用”、“欺骗诱导”）。</a:t>
            </a:r>
            <a:endParaRPr lang="en-US" sz="880" dirty="0"/>
          </a:p>
        </p:txBody>
      </p:sp>
      <p:sp>
        <p:nvSpPr>
          <p:cNvPr id="33" name="Shape 31"/>
          <p:cNvSpPr/>
          <p:nvPr/>
        </p:nvSpPr>
        <p:spPr>
          <a:xfrm>
            <a:off x="6473952" y="3383280"/>
            <a:ext cx="73152" cy="1207008"/>
          </a:xfrm>
          <a:prstGeom prst="rect">
            <a:avLst/>
          </a:prstGeom>
          <a:solidFill>
            <a:srgbClr val="16A34A"/>
          </a:solidFill>
          <a:ln/>
        </p:spPr>
      </p:sp>
      <p:sp>
        <p:nvSpPr>
          <p:cNvPr id="34" name="Shape 32"/>
          <p:cNvSpPr/>
          <p:nvPr/>
        </p:nvSpPr>
        <p:spPr>
          <a:xfrm>
            <a:off x="6547104" y="3383280"/>
            <a:ext cx="4636008" cy="1207008"/>
          </a:xfrm>
          <a:prstGeom prst="rect">
            <a:avLst/>
          </a:prstGeom>
          <a:solidFill>
            <a:srgbClr val="F5F2EB"/>
          </a:solidFill>
          <a:ln w="12700">
            <a:solidFill>
              <a:srgbClr val="E2DCD2"/>
            </a:solidFill>
            <a:prstDash val="solid"/>
          </a:ln>
        </p:spPr>
      </p:sp>
      <p:sp>
        <p:nvSpPr>
          <p:cNvPr id="35" name="Text 33"/>
          <p:cNvSpPr/>
          <p:nvPr/>
        </p:nvSpPr>
        <p:spPr>
          <a:xfrm>
            <a:off x="6675120" y="3474720"/>
            <a:ext cx="4389120" cy="201168"/>
          </a:xfrm>
          <a:prstGeom prst="rect">
            <a:avLst/>
          </a:prstGeom>
          <a:noFill/>
          <a:ln/>
        </p:spPr>
        <p:txBody>
          <a:bodyPr wrap="square" rtlCol="0" anchor="ctr"/>
          <a:lstStyle/>
          <a:p>
            <a:pPr indent="0" marL="0">
              <a:buNone/>
            </a:pPr>
            <a:r>
              <a:rPr lang="en-US" sz="850" b="1" dirty="0">
                <a:solidFill>
                  <a:srgbClr val="16A34A"/>
                </a:solidFill>
                <a:latin typeface="Arial" pitchFamily="34" charset="0"/>
                <a:ea typeface="Arial" pitchFamily="34" charset="-122"/>
                <a:cs typeface="Arial" pitchFamily="34" charset="-120"/>
              </a:rPr>
              <a:t>02 · 神经钳夹</a:t>
            </a:r>
            <a:endParaRPr lang="en-US" sz="850" dirty="0"/>
          </a:p>
        </p:txBody>
      </p:sp>
      <p:sp>
        <p:nvSpPr>
          <p:cNvPr id="36" name="Text 34"/>
          <p:cNvSpPr/>
          <p:nvPr/>
        </p:nvSpPr>
        <p:spPr>
          <a:xfrm>
            <a:off x="6675120" y="3694176"/>
            <a:ext cx="4389120" cy="256032"/>
          </a:xfrm>
          <a:prstGeom prst="rect">
            <a:avLst/>
          </a:prstGeom>
          <a:noFill/>
          <a:ln/>
        </p:spPr>
        <p:txBody>
          <a:bodyPr wrap="square" rtlCol="0" anchor="ctr"/>
          <a:lstStyle/>
          <a:p>
            <a:pPr indent="0" marL="0">
              <a:buNone/>
            </a:pPr>
            <a:r>
              <a:rPr lang="en-US" sz="1050" b="1" dirty="0">
                <a:solidFill>
                  <a:srgbClr val="1C1917"/>
                </a:solidFill>
                <a:latin typeface="Arial" pitchFamily="34" charset="0"/>
                <a:ea typeface="Arial" pitchFamily="34" charset="-122"/>
                <a:cs typeface="Arial" pitchFamily="34" charset="-120"/>
              </a:rPr>
              <a:t>神经元级精准钳夹与抑制 (Feature Clamping)</a:t>
            </a:r>
            <a:endParaRPr lang="en-US" sz="1050" dirty="0"/>
          </a:p>
        </p:txBody>
      </p:sp>
      <p:sp>
        <p:nvSpPr>
          <p:cNvPr id="37" name="Text 35"/>
          <p:cNvSpPr/>
          <p:nvPr/>
        </p:nvSpPr>
        <p:spPr>
          <a:xfrm>
            <a:off x="6675120" y="3950208"/>
            <a:ext cx="4389120" cy="594360"/>
          </a:xfrm>
          <a:prstGeom prst="rect">
            <a:avLst/>
          </a:prstGeom>
          <a:noFill/>
          <a:ln/>
        </p:spPr>
        <p:txBody>
          <a:bodyPr wrap="square" rtlCol="0" anchor="ctr"/>
          <a:lstStyle/>
          <a:p>
            <a:pPr indent="0" marL="0">
              <a:lnSpc>
                <a:spcPts val="1250"/>
              </a:lnSpc>
              <a:buNone/>
            </a:pPr>
            <a:r>
              <a:rPr lang="en-US" sz="880" dirty="0">
                <a:solidFill>
                  <a:srgbClr val="57534E"/>
                </a:solidFill>
                <a:latin typeface="Arial" pitchFamily="34" charset="0"/>
                <a:ea typeface="Arial" pitchFamily="34" charset="-122"/>
                <a:cs typeface="Arial" pitchFamily="34" charset="-120"/>
              </a:rPr>
              <a:t>当模型在编写危险系统命令或潜在渗透代码时，系统通过激活钳夹毫秒级强行关闭该特征通路，实现比传统词表过滤更底层的物理免疫。</a:t>
            </a:r>
            <a:endParaRPr lang="en-US" sz="880" dirty="0"/>
          </a:p>
        </p:txBody>
      </p:sp>
      <p:sp>
        <p:nvSpPr>
          <p:cNvPr id="38" name="Shape 36"/>
          <p:cNvSpPr/>
          <p:nvPr/>
        </p:nvSpPr>
        <p:spPr>
          <a:xfrm>
            <a:off x="6473952" y="4736592"/>
            <a:ext cx="73152" cy="1207008"/>
          </a:xfrm>
          <a:prstGeom prst="rect">
            <a:avLst/>
          </a:prstGeom>
          <a:solidFill>
            <a:srgbClr val="16A34A"/>
          </a:solidFill>
          <a:ln/>
        </p:spPr>
      </p:sp>
      <p:sp>
        <p:nvSpPr>
          <p:cNvPr id="39" name="Shape 37"/>
          <p:cNvSpPr/>
          <p:nvPr/>
        </p:nvSpPr>
        <p:spPr>
          <a:xfrm>
            <a:off x="6547104" y="4736592"/>
            <a:ext cx="4636008" cy="1207008"/>
          </a:xfrm>
          <a:prstGeom prst="rect">
            <a:avLst/>
          </a:prstGeom>
          <a:solidFill>
            <a:srgbClr val="F5F2EB"/>
          </a:solidFill>
          <a:ln w="12700">
            <a:solidFill>
              <a:srgbClr val="E2DCD2"/>
            </a:solidFill>
            <a:prstDash val="solid"/>
          </a:ln>
        </p:spPr>
      </p:sp>
      <p:sp>
        <p:nvSpPr>
          <p:cNvPr id="40" name="Text 38"/>
          <p:cNvSpPr/>
          <p:nvPr/>
        </p:nvSpPr>
        <p:spPr>
          <a:xfrm>
            <a:off x="6675120" y="4828032"/>
            <a:ext cx="4389120" cy="201168"/>
          </a:xfrm>
          <a:prstGeom prst="rect">
            <a:avLst/>
          </a:prstGeom>
          <a:noFill/>
          <a:ln/>
        </p:spPr>
        <p:txBody>
          <a:bodyPr wrap="square" rtlCol="0" anchor="ctr"/>
          <a:lstStyle/>
          <a:p>
            <a:pPr indent="0" marL="0">
              <a:buNone/>
            </a:pPr>
            <a:r>
              <a:rPr lang="en-US" sz="850" b="1" dirty="0">
                <a:solidFill>
                  <a:srgbClr val="16A34A"/>
                </a:solidFill>
                <a:latin typeface="Arial" pitchFamily="34" charset="0"/>
                <a:ea typeface="Arial" pitchFamily="34" charset="-122"/>
                <a:cs typeface="Arial" pitchFamily="34" charset="-120"/>
              </a:rPr>
              <a:t>03 · 算力释放</a:t>
            </a:r>
            <a:endParaRPr lang="en-US" sz="850" dirty="0"/>
          </a:p>
        </p:txBody>
      </p:sp>
      <p:sp>
        <p:nvSpPr>
          <p:cNvPr id="41" name="Text 39"/>
          <p:cNvSpPr/>
          <p:nvPr/>
        </p:nvSpPr>
        <p:spPr>
          <a:xfrm>
            <a:off x="6675120" y="5047488"/>
            <a:ext cx="4389120" cy="256032"/>
          </a:xfrm>
          <a:prstGeom prst="rect">
            <a:avLst/>
          </a:prstGeom>
          <a:noFill/>
          <a:ln/>
        </p:spPr>
        <p:txBody>
          <a:bodyPr wrap="square" rtlCol="0" anchor="ctr"/>
          <a:lstStyle/>
          <a:p>
            <a:pPr indent="0" marL="0">
              <a:buNone/>
            </a:pPr>
            <a:r>
              <a:rPr lang="en-US" sz="1050" b="1" dirty="0">
                <a:solidFill>
                  <a:srgbClr val="1C1917"/>
                </a:solidFill>
                <a:latin typeface="Arial" pitchFamily="34" charset="0"/>
                <a:ea typeface="Arial" pitchFamily="34" charset="-122"/>
                <a:cs typeface="Arial" pitchFamily="34" charset="-120"/>
              </a:rPr>
              <a:t>安全不是紧箍咒，而是释放算力的前提</a:t>
            </a:r>
            <a:endParaRPr lang="en-US" sz="1050" dirty="0"/>
          </a:p>
        </p:txBody>
      </p:sp>
      <p:sp>
        <p:nvSpPr>
          <p:cNvPr id="42" name="Text 40"/>
          <p:cNvSpPr/>
          <p:nvPr/>
        </p:nvSpPr>
        <p:spPr>
          <a:xfrm>
            <a:off x="6675120" y="5303520"/>
            <a:ext cx="4389120" cy="594360"/>
          </a:xfrm>
          <a:prstGeom prst="rect">
            <a:avLst/>
          </a:prstGeom>
          <a:noFill/>
          <a:ln/>
        </p:spPr>
        <p:txBody>
          <a:bodyPr wrap="square" rtlCol="0" anchor="ctr"/>
          <a:lstStyle/>
          <a:p>
            <a:pPr indent="0" marL="0">
              <a:lnSpc>
                <a:spcPts val="1250"/>
              </a:lnSpc>
              <a:buNone/>
            </a:pPr>
            <a:r>
              <a:rPr lang="en-US" sz="880" dirty="0">
                <a:solidFill>
                  <a:srgbClr val="57534E"/>
                </a:solidFill>
                <a:latin typeface="Arial" pitchFamily="34" charset="0"/>
                <a:ea typeface="Arial" pitchFamily="34" charset="-122"/>
                <a:cs typeface="Arial" pitchFamily="34" charset="-120"/>
              </a:rPr>
              <a:t>只有掌握了完全白盒化的神经透视与熔断底牌，Anthropic 才敢于将最具杀伤力的终端代码执行权限全权赋予智能体，实现极致工程生产力。</a:t>
            </a:r>
            <a:endParaRPr lang="en-US" sz="88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BF9F5"/>
        </a:solidFill>
      </p:bgPr>
    </p:bg>
    <p:spTree>
      <p:nvGrpSpPr>
        <p:cNvPr id="1" name=""/>
        <p:cNvGrpSpPr/>
        <p:nvPr/>
      </p:nvGrpSpPr>
      <p:grpSpPr>
        <a:xfrm>
          <a:off x="0" y="0"/>
          <a:ext cx="0" cy="0"/>
          <a:chOff x="0" y="0"/>
          <a:chExt cx="0" cy="0"/>
        </a:xfrm>
      </p:grpSpPr>
      <p:sp>
        <p:nvSpPr>
          <p:cNvPr id="2" name="Shape 0"/>
          <p:cNvSpPr/>
          <p:nvPr/>
        </p:nvSpPr>
        <p:spPr>
          <a:xfrm>
            <a:off x="1097280" y="1005840"/>
            <a:ext cx="9994392" cy="4937760"/>
          </a:xfrm>
          <a:prstGeom prst="rect">
            <a:avLst/>
          </a:prstGeom>
          <a:solidFill>
            <a:srgbClr val="FFFFFF"/>
          </a:solidFill>
          <a:ln w="12700">
            <a:solidFill>
              <a:srgbClr val="E2DCD2"/>
            </a:solidFill>
            <a:prstDash val="solid"/>
          </a:ln>
        </p:spPr>
      </p:sp>
      <p:sp>
        <p:nvSpPr>
          <p:cNvPr id="3" name="Shape 1"/>
          <p:cNvSpPr/>
          <p:nvPr/>
        </p:nvSpPr>
        <p:spPr>
          <a:xfrm>
            <a:off x="4261104" y="1325880"/>
            <a:ext cx="3657600" cy="320040"/>
          </a:xfrm>
          <a:prstGeom prst="rect">
            <a:avLst/>
          </a:prstGeom>
          <a:solidFill>
            <a:srgbClr val="FBF0EB"/>
          </a:solidFill>
          <a:ln w="12700">
            <a:solidFill>
              <a:srgbClr val="F0C2B2"/>
            </a:solidFill>
            <a:prstDash val="solid"/>
          </a:ln>
        </p:spPr>
      </p:sp>
      <p:sp>
        <p:nvSpPr>
          <p:cNvPr id="4" name="Text 2"/>
          <p:cNvSpPr/>
          <p:nvPr/>
        </p:nvSpPr>
        <p:spPr>
          <a:xfrm>
            <a:off x="4261104" y="1325880"/>
            <a:ext cx="3657600" cy="320040"/>
          </a:xfrm>
          <a:prstGeom prst="rect">
            <a:avLst/>
          </a:prstGeom>
          <a:noFill/>
          <a:ln/>
        </p:spPr>
        <p:txBody>
          <a:bodyPr wrap="square" rtlCol="0" anchor="ctr"/>
          <a:lstStyle/>
          <a:p>
            <a:pPr algn="ctr" indent="0" marL="0">
              <a:buNone/>
            </a:pPr>
            <a:r>
              <a:rPr lang="en-US" sz="950" b="1" spc="150" kern="0" dirty="0">
                <a:solidFill>
                  <a:srgbClr val="D97757"/>
                </a:solidFill>
                <a:latin typeface="Arial" pitchFamily="34" charset="0"/>
                <a:ea typeface="Arial" pitchFamily="34" charset="-122"/>
                <a:cs typeface="Arial" pitchFamily="34" charset="-120"/>
              </a:rPr>
              <a:t>研报终局定论 · CIVILIZATIONAL VERDICT</a:t>
            </a:r>
            <a:endParaRPr lang="en-US" sz="950" dirty="0"/>
          </a:p>
        </p:txBody>
      </p:sp>
      <p:sp>
        <p:nvSpPr>
          <p:cNvPr id="5" name="Text 3"/>
          <p:cNvSpPr/>
          <p:nvPr/>
        </p:nvSpPr>
        <p:spPr>
          <a:xfrm>
            <a:off x="1371600" y="1874520"/>
            <a:ext cx="9445752" cy="594360"/>
          </a:xfrm>
          <a:prstGeom prst="rect">
            <a:avLst/>
          </a:prstGeom>
          <a:noFill/>
          <a:ln/>
        </p:spPr>
        <p:txBody>
          <a:bodyPr wrap="square" rtlCol="0" anchor="ctr"/>
          <a:lstStyle/>
          <a:p>
            <a:pPr algn="ctr" indent="0" marL="0">
              <a:buNone/>
            </a:pPr>
            <a:r>
              <a:rPr lang="en-US" sz="2800" b="1" dirty="0">
                <a:solidFill>
                  <a:srgbClr val="1C1917"/>
                </a:solidFill>
                <a:latin typeface="Arial" pitchFamily="34" charset="0"/>
                <a:ea typeface="Arial" pitchFamily="34" charset="-122"/>
                <a:cs typeface="Arial" pitchFamily="34" charset="-120"/>
              </a:rPr>
              <a:t>代码：人类与超智能的终极契约</a:t>
            </a:r>
            <a:endParaRPr lang="en-US" sz="2800" dirty="0"/>
          </a:p>
        </p:txBody>
      </p:sp>
      <p:sp>
        <p:nvSpPr>
          <p:cNvPr id="6" name="Text 4"/>
          <p:cNvSpPr/>
          <p:nvPr/>
        </p:nvSpPr>
        <p:spPr>
          <a:xfrm>
            <a:off x="1371600" y="2514600"/>
            <a:ext cx="9445752" cy="320040"/>
          </a:xfrm>
          <a:prstGeom prst="rect">
            <a:avLst/>
          </a:prstGeom>
          <a:noFill/>
          <a:ln/>
        </p:spPr>
        <p:txBody>
          <a:bodyPr wrap="square" rtlCol="0" anchor="ctr"/>
          <a:lstStyle/>
          <a:p>
            <a:pPr algn="ctr" indent="0" marL="0">
              <a:buNone/>
            </a:pPr>
            <a:r>
              <a:rPr lang="en-US" sz="1300" dirty="0">
                <a:solidFill>
                  <a:srgbClr val="57534E"/>
                </a:solidFill>
                <a:latin typeface="Arial" pitchFamily="34" charset="0"/>
                <a:ea typeface="Arial" pitchFamily="34" charset="-122"/>
                <a:cs typeface="Arial" pitchFamily="34" charset="-120"/>
              </a:rPr>
              <a:t>从千亿市值到通用智能：我们正在见证一场超越商业成败的物种级跃迁</a:t>
            </a:r>
            <a:endParaRPr lang="en-US" sz="1300" dirty="0"/>
          </a:p>
        </p:txBody>
      </p:sp>
      <p:sp>
        <p:nvSpPr>
          <p:cNvPr id="7" name="Shape 5"/>
          <p:cNvSpPr/>
          <p:nvPr/>
        </p:nvSpPr>
        <p:spPr>
          <a:xfrm>
            <a:off x="1463040" y="3063240"/>
            <a:ext cx="2926080" cy="2514600"/>
          </a:xfrm>
          <a:prstGeom prst="rect">
            <a:avLst/>
          </a:prstGeom>
          <a:solidFill>
            <a:srgbClr val="F5F2EB"/>
          </a:solidFill>
          <a:ln w="12700">
            <a:solidFill>
              <a:srgbClr val="E2DCD2"/>
            </a:solidFill>
            <a:prstDash val="solid"/>
          </a:ln>
        </p:spPr>
      </p:sp>
      <p:sp>
        <p:nvSpPr>
          <p:cNvPr id="8" name="Shape 6"/>
          <p:cNvSpPr/>
          <p:nvPr/>
        </p:nvSpPr>
        <p:spPr>
          <a:xfrm>
            <a:off x="1463040" y="3063240"/>
            <a:ext cx="2926080" cy="594360"/>
          </a:xfrm>
          <a:prstGeom prst="rect">
            <a:avLst/>
          </a:prstGeom>
          <a:solidFill>
            <a:srgbClr val="D97757"/>
          </a:solidFill>
          <a:ln/>
        </p:spPr>
      </p:sp>
      <p:sp>
        <p:nvSpPr>
          <p:cNvPr id="9" name="Text 7"/>
          <p:cNvSpPr/>
          <p:nvPr/>
        </p:nvSpPr>
        <p:spPr>
          <a:xfrm>
            <a:off x="1600200" y="3145536"/>
            <a:ext cx="2651760" cy="182880"/>
          </a:xfrm>
          <a:prstGeom prst="rect">
            <a:avLst/>
          </a:prstGeom>
          <a:noFill/>
          <a:ln/>
        </p:spPr>
        <p:txBody>
          <a:bodyPr wrap="square" rtlCol="0" anchor="ctr"/>
          <a:lstStyle/>
          <a:p>
            <a:pPr indent="0" marL="0">
              <a:buNone/>
            </a:pPr>
            <a:r>
              <a:rPr lang="en-US" sz="800" b="1" dirty="0">
                <a:solidFill>
                  <a:srgbClr val="FFFFFF"/>
                </a:solidFill>
                <a:latin typeface="Arial" pitchFamily="34" charset="0"/>
                <a:ea typeface="Arial" pitchFamily="34" charset="-122"/>
                <a:cs typeface="Arial" pitchFamily="34" charset="-120"/>
              </a:rPr>
              <a:t>01 · LEVERAGE · 主权者</a:t>
            </a:r>
            <a:endParaRPr lang="en-US" sz="800" dirty="0"/>
          </a:p>
        </p:txBody>
      </p:sp>
      <p:sp>
        <p:nvSpPr>
          <p:cNvPr id="10" name="Text 8"/>
          <p:cNvSpPr/>
          <p:nvPr/>
        </p:nvSpPr>
        <p:spPr>
          <a:xfrm>
            <a:off x="1600200" y="3328416"/>
            <a:ext cx="2651760" cy="274320"/>
          </a:xfrm>
          <a:prstGeom prst="rect">
            <a:avLst/>
          </a:prstGeom>
          <a:noFill/>
          <a:ln/>
        </p:spPr>
        <p:txBody>
          <a:bodyPr wrap="square" rtlCol="0" anchor="ctr"/>
          <a:lstStyle/>
          <a:p>
            <a:pPr indent="0" marL="0">
              <a:buNone/>
            </a:pPr>
            <a:r>
              <a:rPr lang="en-US" sz="1250" b="1" dirty="0">
                <a:solidFill>
                  <a:srgbClr val="FFFFFF"/>
                </a:solidFill>
                <a:latin typeface="Arial" pitchFamily="34" charset="0"/>
                <a:ea typeface="Arial" pitchFamily="34" charset="-122"/>
                <a:cs typeface="Arial" pitchFamily="34" charset="-120"/>
              </a:rPr>
              <a:t>重构智力杠杆</a:t>
            </a:r>
            <a:endParaRPr lang="en-US" sz="1250" dirty="0"/>
          </a:p>
        </p:txBody>
      </p:sp>
      <p:sp>
        <p:nvSpPr>
          <p:cNvPr id="11" name="Text 9"/>
          <p:cNvSpPr/>
          <p:nvPr/>
        </p:nvSpPr>
        <p:spPr>
          <a:xfrm>
            <a:off x="1645920" y="3822192"/>
            <a:ext cx="2560320" cy="1600200"/>
          </a:xfrm>
          <a:prstGeom prst="rect">
            <a:avLst/>
          </a:prstGeom>
          <a:noFill/>
          <a:ln/>
        </p:spPr>
        <p:txBody>
          <a:bodyPr wrap="square" rtlCol="0" anchor="ctr"/>
          <a:lstStyle/>
          <a:p>
            <a:pPr indent="0" marL="0">
              <a:lnSpc>
                <a:spcPts val="1400"/>
              </a:lnSpc>
              <a:buNone/>
            </a:pPr>
            <a:r>
              <a:rPr lang="en-US" sz="920" dirty="0">
                <a:solidFill>
                  <a:srgbClr val="57534E"/>
                </a:solidFill>
                <a:latin typeface="Arial" pitchFamily="34" charset="0"/>
                <a:ea typeface="Arial" pitchFamily="34" charset="-122"/>
                <a:cs typeface="Arial" pitchFamily="34" charset="-120"/>
              </a:rPr>
              <a:t>人类不再是低效代码的搬运工，而是复杂系统架构的主权者。每一个掌握高层意图表达的个体，都拥有了调动整座硅基软件工厂的指挥棒。</a:t>
            </a:r>
            <a:endParaRPr lang="en-US" sz="920" dirty="0"/>
          </a:p>
        </p:txBody>
      </p:sp>
      <p:sp>
        <p:nvSpPr>
          <p:cNvPr id="12" name="Shape 10"/>
          <p:cNvSpPr/>
          <p:nvPr/>
        </p:nvSpPr>
        <p:spPr>
          <a:xfrm>
            <a:off x="4617720" y="3063240"/>
            <a:ext cx="2926080" cy="2514600"/>
          </a:xfrm>
          <a:prstGeom prst="rect">
            <a:avLst/>
          </a:prstGeom>
          <a:solidFill>
            <a:srgbClr val="F5F2EB"/>
          </a:solidFill>
          <a:ln w="12700">
            <a:solidFill>
              <a:srgbClr val="E2DCD2"/>
            </a:solidFill>
            <a:prstDash val="solid"/>
          </a:ln>
        </p:spPr>
      </p:sp>
      <p:sp>
        <p:nvSpPr>
          <p:cNvPr id="13" name="Shape 11"/>
          <p:cNvSpPr/>
          <p:nvPr/>
        </p:nvSpPr>
        <p:spPr>
          <a:xfrm>
            <a:off x="4617720" y="3063240"/>
            <a:ext cx="2926080" cy="594360"/>
          </a:xfrm>
          <a:prstGeom prst="rect">
            <a:avLst/>
          </a:prstGeom>
          <a:solidFill>
            <a:srgbClr val="D97757"/>
          </a:solidFill>
          <a:ln/>
        </p:spPr>
      </p:sp>
      <p:sp>
        <p:nvSpPr>
          <p:cNvPr id="14" name="Text 12"/>
          <p:cNvSpPr/>
          <p:nvPr/>
        </p:nvSpPr>
        <p:spPr>
          <a:xfrm>
            <a:off x="4754880" y="3145536"/>
            <a:ext cx="2651760" cy="182880"/>
          </a:xfrm>
          <a:prstGeom prst="rect">
            <a:avLst/>
          </a:prstGeom>
          <a:noFill/>
          <a:ln/>
        </p:spPr>
        <p:txBody>
          <a:bodyPr wrap="square" rtlCol="0" anchor="ctr"/>
          <a:lstStyle/>
          <a:p>
            <a:pPr indent="0" marL="0">
              <a:buNone/>
            </a:pPr>
            <a:r>
              <a:rPr lang="en-US" sz="800" b="1" dirty="0">
                <a:solidFill>
                  <a:srgbClr val="FFFFFF"/>
                </a:solidFill>
                <a:latin typeface="Arial" pitchFamily="34" charset="0"/>
                <a:ea typeface="Arial" pitchFamily="34" charset="-122"/>
                <a:cs typeface="Arial" pitchFamily="34" charset="-120"/>
              </a:rPr>
              <a:t>02 · GROUND TRUTH · 真理裁判</a:t>
            </a:r>
            <a:endParaRPr lang="en-US" sz="800" dirty="0"/>
          </a:p>
        </p:txBody>
      </p:sp>
      <p:sp>
        <p:nvSpPr>
          <p:cNvPr id="15" name="Text 13"/>
          <p:cNvSpPr/>
          <p:nvPr/>
        </p:nvSpPr>
        <p:spPr>
          <a:xfrm>
            <a:off x="4754880" y="3328416"/>
            <a:ext cx="2651760" cy="274320"/>
          </a:xfrm>
          <a:prstGeom prst="rect">
            <a:avLst/>
          </a:prstGeom>
          <a:noFill/>
          <a:ln/>
        </p:spPr>
        <p:txBody>
          <a:bodyPr wrap="square" rtlCol="0" anchor="ctr"/>
          <a:lstStyle/>
          <a:p>
            <a:pPr indent="0" marL="0">
              <a:buNone/>
            </a:pPr>
            <a:r>
              <a:rPr lang="en-US" sz="1250" b="1" dirty="0">
                <a:solidFill>
                  <a:srgbClr val="FFFFFF"/>
                </a:solidFill>
                <a:latin typeface="Arial" pitchFamily="34" charset="0"/>
                <a:ea typeface="Arial" pitchFamily="34" charset="-122"/>
                <a:cs typeface="Arial" pitchFamily="34" charset="-120"/>
              </a:rPr>
              <a:t>物理现实定盘星</a:t>
            </a:r>
            <a:endParaRPr lang="en-US" sz="1250" dirty="0"/>
          </a:p>
        </p:txBody>
      </p:sp>
      <p:sp>
        <p:nvSpPr>
          <p:cNvPr id="16" name="Text 14"/>
          <p:cNvSpPr/>
          <p:nvPr/>
        </p:nvSpPr>
        <p:spPr>
          <a:xfrm>
            <a:off x="4800600" y="3822192"/>
            <a:ext cx="2560320" cy="1600200"/>
          </a:xfrm>
          <a:prstGeom prst="rect">
            <a:avLst/>
          </a:prstGeom>
          <a:noFill/>
          <a:ln/>
        </p:spPr>
        <p:txBody>
          <a:bodyPr wrap="square" rtlCol="0" anchor="ctr"/>
          <a:lstStyle/>
          <a:p>
            <a:pPr indent="0" marL="0">
              <a:lnSpc>
                <a:spcPts val="1400"/>
              </a:lnSpc>
              <a:buNone/>
            </a:pPr>
            <a:r>
              <a:rPr lang="en-US" sz="920" dirty="0">
                <a:solidFill>
                  <a:srgbClr val="57534E"/>
                </a:solidFill>
                <a:latin typeface="Arial" pitchFamily="34" charset="0"/>
                <a:ea typeface="Arial" pitchFamily="34" charset="-122"/>
                <a:cs typeface="Arial" pitchFamily="34" charset="-120"/>
              </a:rPr>
              <a:t>脱离了代码的严密性与物理检验，大模型只能在自然语言的迷魂阵中徘徊；有了代码与编译器，机器才真正长出辨别真伪的眼睛与改变现实的手臂。</a:t>
            </a:r>
            <a:endParaRPr lang="en-US" sz="920" dirty="0"/>
          </a:p>
        </p:txBody>
      </p:sp>
      <p:sp>
        <p:nvSpPr>
          <p:cNvPr id="17" name="Shape 15"/>
          <p:cNvSpPr/>
          <p:nvPr/>
        </p:nvSpPr>
        <p:spPr>
          <a:xfrm>
            <a:off x="7772400" y="3063240"/>
            <a:ext cx="2926080" cy="2514600"/>
          </a:xfrm>
          <a:prstGeom prst="rect">
            <a:avLst/>
          </a:prstGeom>
          <a:solidFill>
            <a:srgbClr val="F5F2EB"/>
          </a:solidFill>
          <a:ln w="12700">
            <a:solidFill>
              <a:srgbClr val="E2DCD2"/>
            </a:solidFill>
            <a:prstDash val="solid"/>
          </a:ln>
        </p:spPr>
      </p:sp>
      <p:sp>
        <p:nvSpPr>
          <p:cNvPr id="18" name="Shape 16"/>
          <p:cNvSpPr/>
          <p:nvPr/>
        </p:nvSpPr>
        <p:spPr>
          <a:xfrm>
            <a:off x="7772400" y="3063240"/>
            <a:ext cx="2926080" cy="594360"/>
          </a:xfrm>
          <a:prstGeom prst="rect">
            <a:avLst/>
          </a:prstGeom>
          <a:solidFill>
            <a:srgbClr val="D97757"/>
          </a:solidFill>
          <a:ln/>
        </p:spPr>
      </p:sp>
      <p:sp>
        <p:nvSpPr>
          <p:cNvPr id="19" name="Text 17"/>
          <p:cNvSpPr/>
          <p:nvPr/>
        </p:nvSpPr>
        <p:spPr>
          <a:xfrm>
            <a:off x="7909560" y="3145536"/>
            <a:ext cx="2651760" cy="182880"/>
          </a:xfrm>
          <a:prstGeom prst="rect">
            <a:avLst/>
          </a:prstGeom>
          <a:noFill/>
          <a:ln/>
        </p:spPr>
        <p:txBody>
          <a:bodyPr wrap="square" rtlCol="0" anchor="ctr"/>
          <a:lstStyle/>
          <a:p>
            <a:pPr indent="0" marL="0">
              <a:buNone/>
            </a:pPr>
            <a:r>
              <a:rPr lang="en-US" sz="800" b="1" dirty="0">
                <a:solidFill>
                  <a:srgbClr val="FFFFFF"/>
                </a:solidFill>
                <a:latin typeface="Arial" pitchFamily="34" charset="0"/>
                <a:ea typeface="Arial" pitchFamily="34" charset="-122"/>
                <a:cs typeface="Arial" pitchFamily="34" charset="-120"/>
              </a:rPr>
              <a:t>03 · SINGULARITY · 奇点齿轮</a:t>
            </a:r>
            <a:endParaRPr lang="en-US" sz="800" dirty="0"/>
          </a:p>
        </p:txBody>
      </p:sp>
      <p:sp>
        <p:nvSpPr>
          <p:cNvPr id="20" name="Text 18"/>
          <p:cNvSpPr/>
          <p:nvPr/>
        </p:nvSpPr>
        <p:spPr>
          <a:xfrm>
            <a:off x="7909560" y="3328416"/>
            <a:ext cx="2651760" cy="274320"/>
          </a:xfrm>
          <a:prstGeom prst="rect">
            <a:avLst/>
          </a:prstGeom>
          <a:noFill/>
          <a:ln/>
        </p:spPr>
        <p:txBody>
          <a:bodyPr wrap="square" rtlCol="0" anchor="ctr"/>
          <a:lstStyle/>
          <a:p>
            <a:pPr indent="0" marL="0">
              <a:buNone/>
            </a:pPr>
            <a:r>
              <a:rPr lang="en-US" sz="1250" b="1" dirty="0">
                <a:solidFill>
                  <a:srgbClr val="FFFFFF"/>
                </a:solidFill>
                <a:latin typeface="Arial" pitchFamily="34" charset="0"/>
                <a:ea typeface="Arial" pitchFamily="34" charset="-122"/>
                <a:cs typeface="Arial" pitchFamily="34" charset="-120"/>
              </a:rPr>
              <a:t>自举驱动文明跃迁</a:t>
            </a:r>
            <a:endParaRPr lang="en-US" sz="1250" dirty="0"/>
          </a:p>
        </p:txBody>
      </p:sp>
      <p:sp>
        <p:nvSpPr>
          <p:cNvPr id="21" name="Text 19"/>
          <p:cNvSpPr/>
          <p:nvPr/>
        </p:nvSpPr>
        <p:spPr>
          <a:xfrm>
            <a:off x="7955280" y="3822192"/>
            <a:ext cx="2560320" cy="1600200"/>
          </a:xfrm>
          <a:prstGeom prst="rect">
            <a:avLst/>
          </a:prstGeom>
          <a:noFill/>
          <a:ln/>
        </p:spPr>
        <p:txBody>
          <a:bodyPr wrap="square" rtlCol="0" anchor="ctr"/>
          <a:lstStyle/>
          <a:p>
            <a:pPr indent="0" marL="0">
              <a:lnSpc>
                <a:spcPts val="1400"/>
              </a:lnSpc>
              <a:buNone/>
            </a:pPr>
            <a:r>
              <a:rPr lang="en-US" sz="920" dirty="0">
                <a:solidFill>
                  <a:srgbClr val="57534E"/>
                </a:solidFill>
                <a:latin typeface="Arial" pitchFamily="34" charset="0"/>
                <a:ea typeface="Arial" pitchFamily="34" charset="-122"/>
                <a:cs typeface="Arial" pitchFamily="34" charset="-120"/>
              </a:rPr>
              <a:t>当代码开始训练下一代代码，递归自我改进的齿轮已悄然咬合。Anthropic 登顶的不仅是商业价值的珠峰，更是人类文明迈入全新计算纪元的启明星。</a:t>
            </a:r>
            <a:endParaRPr lang="en-US" sz="9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Global Tech Strategy Institute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编码模型与 AGI：Claude 登顶背后的人机演化史</dc:title>
  <dc:subject>PptxGenJS Presentation</dc:subject>
  <dc:creator>Anthropic Frontier Strategy Research</dc:creator>
  <cp:lastModifiedBy>Anthropic Frontier Strategy Research</cp:lastModifiedBy>
  <cp:revision>1</cp:revision>
  <dcterms:created xsi:type="dcterms:W3CDTF">2026-10-03T12:47:55Z</dcterms:created>
  <dcterms:modified xsi:type="dcterms:W3CDTF">2026-10-03T12:47:55Z</dcterms:modified>
</cp:coreProperties>
</file>