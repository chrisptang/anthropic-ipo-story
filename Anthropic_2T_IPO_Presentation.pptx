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2801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57"/>
                </a:solidFill>
              </a:rPr>
              <a:t>ROADSHOW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</a:rPr>
              <a:t>Anthropic 2 万亿 IPO 的背后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97757"/>
                </a:solidFill>
              </a:rPr>
              <a:t>编码模型、Agentic 范式与 AGI 的真正破局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</a:rPr>
              <a:t>2026 产业深度推演报告 · 编码模型、Agentic 范式与 AGI 终局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5F0"/>
                </a:solidFill>
              </a:rPr>
              <a:t>PART 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史上最大 IPO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5F0"/>
                </a:solidFill>
              </a:rPr>
              <a:t>资本奇观背后的真正定价逻辑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1.1 资本史上的分水岭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历数曾经的“史上最大 IPO”：募资规模对比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全球资本市场历史上最大 IPO 募资金额 (亿美元)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645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中国工商银行 (2006)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673352"/>
            <a:ext cx="1095137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2814209" y="16459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219 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148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中国农业银行 (2010)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176272"/>
            <a:ext cx="1105138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2824210" y="214884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221 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26517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软银通信 (2018)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679192"/>
            <a:ext cx="1175147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2894219" y="26517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235 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阿里巴巴 (2014)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3182112"/>
            <a:ext cx="1250156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2969228" y="3154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250 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3657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沙特阿美 (2019)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3685032"/>
            <a:ext cx="1470184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3189256" y="36576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294 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" y="4160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Anthropic (目标)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4187952"/>
            <a:ext cx="1000125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2719197" y="41605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200 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1325880"/>
            <a:ext cx="420624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481328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人类历史上的前五大 IPO，全部属于两类资产：资源垄断（沙特阿美石油）或传统金融与电商巨头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沙特阿美以 $294 亿募资保持记录，挂牌估值达 $1.7 万亿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Anthropic 计划募资约 $180-$200 亿，目标估值直指 $2.0 万亿美元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这是人类历史上首个以‘2 万亿美元’作为挂牌起点的新股发行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市场正在把对实体资源的溢价，全额转移给纯粹的智能底座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1.1 资本史上的分水岭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两万亿资产的本质变迁：从自然资源到算力智能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沙特阿美 (2019)：实体资源垄断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商业基石：控制全球最大石油储量与开采权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增长动力：绑定传统工业时代的实体能源消费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边际成本：油田开发与物理运输成本居高不下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本质：旧工业文明的皇冠，垄断物理世界的能量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Anthropic (2026)：数字世界智能底座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商业基石：控制最前沿的自主代码执行与 Agentic 能力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增长动力：全球数以亿计软件工作与脑力劳动的直接替代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边际成本：Prompt Caching 与推理芯片压低单次调用成本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本质：认知文明的新底座，承接一切可计算的劳动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1.2 最快的 2 万亿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火箭跃迁：Anthropic 成立至今估值飙升历程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Anthropic 各轮次投后估值增长 (亿美元，指数化展示)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645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A轮 (2021.05)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673352"/>
            <a:ext cx="345791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2064863" y="16459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8.5 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148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B轮 (2022.04)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176272"/>
            <a:ext cx="426417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2145489" y="214884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14 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26517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战略轮 (2023.09)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679192"/>
            <a:ext cx="744101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2463173" y="26517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100 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Amazon追加 (2024.03)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3182112"/>
            <a:ext cx="842626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2561698" y="3154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184 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3657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G轮/Claude Code (2025.06)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3685032"/>
            <a:ext cx="1211125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2930197" y="36576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1800 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" y="4160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IPO 目标 (2026.11)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4187952"/>
            <a:ext cx="1600200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3319272" y="41605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20000 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1325880"/>
            <a:ext cx="420624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481328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成立仅 5 年，估值完成从 8.5 亿美元到 2 万亿美元的奇迹飞跃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前三年处于学术研究与算力积累期，估值稳步提升至 $184 亿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2025 年 6 月 Claude Code 与混合推理模型发布，单轮估值飙升至 $1,800 亿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2026 年进入全行业规模化采购，直奔 2 万亿美元 IPO 估值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估值飞跃的拐点，与模型‘自主写代码与跑终端’的能力完全重合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1.2 最快的 2 万亿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时间压缩法则：跨越 2 万亿美元市值的年限对比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达成 2 万亿美元市值所耗费的时间 (年)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645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Microsoft (微软)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673352"/>
            <a:ext cx="1472184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3191256" y="16459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46 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148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Apple (苹果)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176272"/>
            <a:ext cx="1408176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3127248" y="214884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44 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26517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NVIDIA (英伟达)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679192"/>
            <a:ext cx="992124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2711196" y="26517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31 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Alphabet (谷歌)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3182112"/>
            <a:ext cx="832104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2551176" y="3154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26 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3657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Anthropic (目标)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3685032"/>
            <a:ext cx="160020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1879092" y="36576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5 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1325880"/>
            <a:ext cx="420624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481328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微软花费 46 年建立 Windows 与 Azure 生态帝国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苹果花费 44 年构建起 iPhone 硬件与应用商店护城河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英伟达经历 31 年图形与 AI 算力长跑，才登顶两万亿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Anthropic 仅用 5 年时间，走完了传统科技巨头半个世纪的道路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这不是常规的线性增长，而是‘智能代工’对传统人力的降维压缩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1.3 何以 2 万亿？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收入核爆：Claude Code 发布以来的 ARR 狂飙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74904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638"/>
                </a:solidFill>
              </a:rPr>
              <a:t>$1,000 亿+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2026 年 Q3 年化营收运行率 (ARR)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638"/>
                </a:solidFill>
              </a:rPr>
              <a:t>50x 增长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Claude Code 发布 18 个月内 ARR 增幅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411480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81328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2024 年底（Claude 3.5 时代），公司 ARR 仅约 10 亿美元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2025 年 3 月发布 Claude Code 终端代理，成为全网‘Token 焚化炉’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从一问一答的短文本，变为一次任务触发数百轮自主调用的长执行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2026 年中正式超越 OpenAI 商业化收入，Q3 突破千亿美元年化大关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事实证明：市场愿意为‘能够把事情彻底做完的执行者’买单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1.3 何以 2 万亿？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估值逻辑锚点：18-20 倍倍数与杰文斯悖论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资本乘数：合理的 18-20x 估值中枢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以 $1000 亿-$1200 亿美元 ARR 计算，两万亿对应 16.7x - 20x 运行率倍数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相比传统 SaaS 巅峰期 30-50x PS，该倍数已充分吸收增长预期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企业级合同留存率 (NDR) 高达 180%，开发者续约率近乎 100%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市场给出的不是泡沫估值，而是高确定性基础设施的公允定价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杰文斯悖论：单价暴跌反而催生天量需求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Prompt Caching 带来 90% 折扣，Token 单价大幅下调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单次推理便宜了，但总消费量却爆炸了 100 倍以上：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过去做不起的自动化脚本，现在可以随叫随到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过去每月抽查一次的数据，现在每天跑全量巡检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单位成本的暴跌，彻底击穿了所有非自动化工作的防线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5F0"/>
                </a:solidFill>
              </a:rPr>
              <a:t>PART 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不仅仅是程序员的梦中情模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5F0"/>
                </a:solidFill>
              </a:rPr>
              <a:t>从代码补全助手，到全自主数字员工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2.1 统治力进化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历代 Claude 模型在 SWE-bench Verified 上的跃迁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真实开源工程 Bug 独立修复成功率 (%)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645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Claude 3 Opus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673352"/>
            <a:ext cx="534467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2253539" y="16459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33.4%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148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Claude 3.5 Sonnet v1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176272"/>
            <a:ext cx="784098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2503170" y="214884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49%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26517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Claude 3.5 Sonnet v2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679192"/>
            <a:ext cx="859307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2578379" y="26517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53.7%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Claude 3.7 Sonnet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3182112"/>
            <a:ext cx="1124941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2844013" y="3154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70.3%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3657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Claude 4.5 Sonnet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3685032"/>
            <a:ext cx="1318565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3037637" y="36576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82.4%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" y="4160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Claude Sonnet 5.5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4187952"/>
            <a:ext cx="1569796" cy="2377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3288868" y="41605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98.1%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1325880"/>
            <a:ext cx="420624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481328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SWE-bench Verified 选取真实 GitHub 开源仓库的复杂 Bug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两年前 Claude 3 Opus 仅能达到 33.4% 的基础水平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Claude 3.7 引入思考模式突破 70% 工业级可用门槛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最新发布的 Claude Sonnet 5.5 取得 98.1% 的压倒性成绩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这意味着绝大多数常见工程缺陷，模型无需人类参与即可自行闭环修复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2.1 统治力进化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决胜终端：Terminal-Bench 为什么是最高标准？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74904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638"/>
                </a:solidFill>
              </a:rPr>
              <a:t>70.6%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Claude Sonnet 5.5 真实终端成功率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638"/>
                </a:solidFill>
              </a:rPr>
              <a:t>No. 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全球唯一突破 70% 的前沿模型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411480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81328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SWE-bench 考查的是‘会不会改代码’，而 Terminal-bench 考查的是‘能不能把任务做完’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包含在 Linux 终端中配置依赖、解析报错、管理进程与交互式调试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竞品现状：GPT-6 Astra 仅 58.2%，Gemini 3.1 Pro 仅 46.2%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Terminal-bench 70%+ 代表 AI 第一次真正具备了人类初中级运维与研发的执行能力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不再是纸上谈兵的代码补全，而是全天候自治的环境操作员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2.1 统治力进化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经济账本：解决同一个 Bug 的成本与效率对比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资深工程师 (人类)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平均耗时：半个工作日 (3-4 小时)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综合用人成本：约 $150 - $200 美元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工作模式：需要上下文切换、看文档、反复打断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并发上限：单人同时只能集中精力处理 1 个缺陷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Claude Code (智能体)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平均耗时：3 - 5 分钟 (TPS &gt; 120 极速推演)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Token 推理成本：约 $0.50 美元 (Prompt Caching 后)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工作模式：自动看栈、自动修改、自动跑测试套件验证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并发上限：数千个 Agent 舰队全天候并行推进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2.2 AGENTIC 新范式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范式转移：从‘聊天生成代码’到‘全自动闭环代理’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368"/>
                </a:solidFill>
              </a:rPr>
              <a:t>Generation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Chatbot (一问一答)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局限在网页聊天框内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人问一句，AI 答一段代码片段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需要人类手动复制、粘贴到项目并测试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一旦报错，需要人再次截图问 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368"/>
                </a:solidFill>
              </a:rPr>
              <a:t>Generation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Copilot (补全助手)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嵌入 IDE 编辑器中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根据光标上下文单行或函数预测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人依然是整套工作流的主驾驶员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无法跨越文件或理解多服务架构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</a:rPr>
              <a:t>Generation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Agentic (闭环代理)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直接驻留在黑底白字的命令行 (CLI)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自主读取代码库、修改文件、运行编译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根据 Exit Code 自主纠错重试，直至通过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人类只需审查最终产出的 Git Diff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2.2 AGENTIC 新范式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办公室的真相：每个人都在充当系统的“人肉胶水”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旧世界：被困在 UI 里的数据搬运工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从业务系统导出 Excel，手动进行多表 VLOOKUP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把数据复制进分析软件制作图表，再截图贴进汇报文档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打开审批流后台，逐个核对纸质发票扫描件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本质：人不是在使用一套完整软件，而是用自己把不相通的软件粘起来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新范式：用 Code 处理一切可计算的部分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任何业务流程本质上都是一段‘未被写出的程序’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人类只需用自然语言交代终极业务目标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Agent 在后台实时生成 Python 脚本并自动执行：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脚本查库、脚本洗数、脚本调接口、脚本发送通知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无形的代码在后台秒级缝合一切，不再需要任何人肉中转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2.2 AGENTIC 新范式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商业实战：非程序员如何用 Code 完成降维打击？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HR / 行政：告别传统招聘系统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过去：在招聘后台挨个点击 PDF 简历，肉眼比对技能点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CLI 实战：在终端敲入‘扫描本地 300 份简历，按岗位 JD 评分并导出排序 Excel’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结果：Agent 2 分钟写完 PDF 提取脚本并执行，完美交付报表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财务 / 运营：终结手工对账折磨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过去：双开表格手动校对流水，遇到异常账目反复扯皮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CLI 实战：输入‘交叉对比销售账单与银行流水，差额超 $100 自动发飞书群报警’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结果：完全绕过任何笨重 SaaS 界面，一行命令搞定企业级审计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2.3 从 MCP 到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打破软件孤岛：Model Context Protocol (MCP) 的诞生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MCP 诞生前：被困在孤岛上的大脑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每个大模型都是封闭在沙箱里的‘缸中之脑’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无法访问私有数据：Git、本地文件、内部数据库、SaaS 接口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每个厂商重复开发专有插件系统，生态四分五裂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企业难以安全、合规地将核心系统授权给 AI 调用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MCP 架构：为 AI 打造标准化的“数据吸管”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Anthropic 开源的通用上下文协议 (Model Context Protocol)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一头连接 AI 大模型，一头连接企业无数现有服务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即插即用：本地文件系统、GitHub、Postgres、Slack、飞书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AI 可以根据任务需要，像插拔 USB 设备一样自主调取数据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2.3 从 MCP 到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从 MCP 到 Skills：从“连接工具”升维到“封装经验”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MCP 协议：提供基础连通能力 (API / IO)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定义了数据如何传输、接口如何暴露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相当于给智能体配上了手、脚和眼睛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解决了‘能连上系统’的硬件通信问题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每次执行依然依赖模型当场的发散式推理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Skills 架构：封装可传承的专家经验 (SOP)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把一整套业务标准操作流程 (SOP)、业务规则与脚本固化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支持跨任务复用、团队共享与自主进化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AI 不仅会调 API，更学会了资深员工的‘办事套路’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从单纯的‘工具调用者’进化为拥有特定岗位资质的‘熟练工’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2.3 从 MCP 到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潮流引领者：Anthropic 如何重塑智能体基础设施？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368"/>
                </a:solidFill>
              </a:rPr>
              <a:t>标准制定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定义协议标准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拒绝闭门造车，主动开源 MCP 协议规范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成为 Linux 基金会及开源社区事实上的工业标杆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打破单一云厂商的专有接口壁垒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</a:rPr>
              <a:t>生态汇聚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开发者生态引力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全球顶级开发者与企业主动为 MCP 编写 Connectors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从数据库厂商到生产力工具全线兼容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构建了 OpenAI 无法通过闭源策略复制的生态护城河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368"/>
                </a:solidFill>
              </a:rPr>
              <a:t>架构进化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Agent 原生演进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率先验证：Agentic 系统的核心不是模型多大，而是环境交互有多顺畅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为整个 AI 行业指明了从 LLM 到 Agent 的落地路径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2.4 赛道验证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反例：Google Gemini 3.0/3.1 Pro 的滑铁卢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74904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638"/>
                </a:solidFill>
              </a:rPr>
              <a:t>38.0%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Terminal-Bench 4.0 挣扎在及格线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638"/>
                </a:solidFill>
              </a:rPr>
              <a:t>大逃亡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Cursor 与独立开发者抛弃 Gemini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411480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81328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战略失误：过分迷恋原生多模态视频/音频，轻视终端底层执行场景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技术硬伤：高并发下频繁爆发 Malformed Function Call，代码惰性严重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生态倒退：强行下线轻量独立的 CLI 工具，迫使开发者绑定臃肿云控制台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现实惩罚：在顶级开发工具（Cursor、Windsurf）中，默认主模地位被全盘蚕食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教训深刻：一个无法稳定跑通终端命令的模型，再聪明也成不了生产力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2.4 赛道验证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正例：OpenAI 的战略断腕与知耻后勇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80467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【战略清醒】意识到纯思维链（o3/o4 系列）在复杂多轮工程落地中难以闭环，果断放缓纯推理演进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【全面押注】重整研发资源，全面押注具备深度代码执行能力与极速吞吐的 GPT-6 (Sol) 核心模型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【争夺终端】紧急上线面向开发者的 Codex CLI 交互系统，并推出全天候自治体“Dots”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【行业结论】OpenAI 的紧急调头证明了同一个事实：闲聊与解题是虚妄的，得‘代码执行者’得天下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2.4 赛道验证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行业分水岭：为什么“代码执行力”成了唯一生死线？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会说漂亮话的自然语言模型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文字对话充满了模糊性，缺乏客观标准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极易产生‘言之凿凿’的概率性幻觉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无法感知外部计算环境的真实状态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最终只能停留在咨询、陪聊与文本摘要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具备代码闭环的 Agentic 编码模型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每一行代码都要接受编译器与单元测试的无情拷打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Exit Code 0 是真实世界最坚固的客观反馈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能在计算机环境中自行建立沙箱、尝试、试错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成为能够真正代人类行使生产责任的数字员工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5F0"/>
                </a:solidFill>
              </a:rPr>
              <a:t>PART III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编码模型与 AGI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5F0"/>
                </a:solidFill>
              </a:rPr>
              <a:t>智能的终极跃迁：制造工具与自我进化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3.1 什么是 AGI？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剥离玄学迷雾：重新定义 AGI 的三大硬核支柱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368"/>
                </a:solidFill>
              </a:rPr>
              <a:t>支柱一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持续学习能力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摆脱训练周期的停滞约束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在与真实环境的持续交互中动态吸收新知识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在错误堆栈中提炼规律，不断沉淀长效记忆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</a:rPr>
              <a:t>支柱二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自主制造与使用工具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面对未知任务无需人类预先编写接口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自主阅读说明书、现场编写调用代码、现场造工具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这是人类区别于动物的核心分水岭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368"/>
                </a:solidFill>
              </a:rPr>
              <a:t>支柱三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跨任务自我迭代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无需人类裁判在场提供单步反馈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在沙箱环境中进行成千上万次自我对抗与代码重构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实现逻辑与执行能力的自主指数演进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3.1 什么是 AGI？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自治滑杆的右移：人类与智能协作关系的重构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过去（人类主驾驶）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Level 1: 提示建议（Prompting）—— AI 仅作为参考词典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Level 2: 人机协同（Copilot）—— 人类决定每一步，AI 辅助输入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局限：人类的大脑依然是整个交付流程的绝对瓶颈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只要人类没有空，整个生产流水线就会彻底停滞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未来（数字员工自治）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Level 3: 任务内闭环（Agentic）—— 接受模糊目标，自主规划并执行完毕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Level 4: 无人值守自治（Autonomous Fleet）—— 智能体舰队 24 小时自我运转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变革：人类从‘一线操作工人’升维为‘目标定义者与最终验收官’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3.2 AGI 的敲门砖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智力的杠杆：会写代码 = 能够自主制造任何智能工具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人类文明的进化跃迁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南方古猿与黑猩猩的分野，始于人类学会打造第一把石斧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制造工具的能力，让人类突破了肉体力量的生理极限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工具制造工具，推动了蒸汽机、内燃机与计算机的爆发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人工智能的奇点跃迁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如果 AI 只会说话，它永远只是一个‘被困在屏幕里的聊天客’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但当 AI 掌握了编码，它便掌握了在数字世界制造一切工具的元能力：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缺数据？现场写爬虫；缺分析？现场写脚本；接口不通？现场写适配器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代码就是 AI 延伸向整个外部世界的数字义肢与石斧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3.2 AGI 的敲门砖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连接物理世界：Exit Code 0 与确定性的现实反馈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自然语言的泥潭：缺乏绝对真理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文学、哲学或闲聊没有绝对的对错标准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AI 容易在人类虚伪的迎合中陷入自欺欺人的幻觉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依赖极其昂贵且带有偏见的人类反馈强化学习 (RLHF)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无法在完全脱离人类介入的情况下实现大规模自我进化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代码执行的冷酷法则：无情却客观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一段代码要么通过编译，要么崩溃报错，毫无妥协余地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Exit Code 0 是数字世界里最无情、也最可靠的客观反馈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让模型可以在沙箱中以每秒万次的速度自主试错与自我惩罚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通过 API 和传感器，将这种严密的确定性直接延伸到外部物理世界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3.2 AGI 的敲门砖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Software 3.0：传统软件开发的终结与液态能力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Software 1.0 &amp; 2.0 (固态的盒装软件)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1.0 时代由程序员手工逐行编写 C++/Java 逻辑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2.0 时代由数据驱动训练出深度神经网络权重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共性：软件依然是一个固化的‘产品’，必须经历漫长立项、排期与交付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业务的想法永远被研发排期的产能瓶颈死死卡住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Software 3.0 (液态的即时软件能力)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软件不再是你购买的一款软件产品，而是随叫随到的液态能力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为了一个特定临时活动或跨系统对账，现场用自然语言生成专属工具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使用完毕后随时丢弃或就地重构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代码不再是固化在磁盘里的资产，而是即用即抛的业务执行流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3.3 AGI 还有多远？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终极护城河：递归自我演化 (RSI) 已经真实运转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74904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638"/>
                </a:solidFill>
              </a:rPr>
              <a:t>26%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Anthropic 内部研发管线由 Claude 全权领导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638"/>
                </a:solidFill>
              </a:rPr>
              <a:t>8x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</a:rPr>
              <a:t>模型架构迭代与交付速度提升倍数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411480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81328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最震撼的不是 Claude 能替外部客户写业务代码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而是 Claude 正在全力编写代码，训练并打磨下一代更强大的 Claude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自动排查 TPU/GPU 集群通信故障、自动生成数以亿计的高难度合成训练集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自动构建极度复杂的红蓝军攻防对抗测试沙箱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当智能开始作为生产要素制造更高阶的智能，人类已被甩入指数加速通道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3.3 AGI 还有多远？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双螺旋加速：商业正循环与智力自演进的碰撞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商业飞轮 (资金与算力基石)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千亿美元 ARR 提供充沛现金流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不再依赖外部风险投资的无底洞输血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数十万台顶级计算集群 24 小时满载运转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构建起资本市场上坚不可摧的商业城墙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研发飞轮 (智能制造智能)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现有高阶模型作为研发员接管工程脏活累活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人类顶级科学家专注于提出假设与架构突破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有效实验吞吐量爆发式提升 10 倍以上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下一代模型迭代周期从 12 个月急剧压缩至 3 个月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3.3 AGI 还有多远？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临界点与时间表：未来 3-5 年的智能演化路线图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368"/>
                </a:solidFill>
              </a:rPr>
              <a:t>2025 - 2026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全自主数字员工落地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编码模型在终端环境全面成熟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白领办公室工作的大规模‘代码化接管’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传统席位制 SaaS 遭遇剧烈价值重估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</a:rPr>
              <a:t>2027 - 2028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RSI 跨越临界视界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AI 承担 80% 以上算法与算子优化工作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在数学、芯片设计、生物制药领域跨界自制工具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软件工程全面迈入无人值守自治时代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560320" cy="3429000"/>
          </a:xfrm>
          <a:prstGeom prst="roundRect">
            <a:avLst>
              <a:gd name="adj" fmla="val 178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368"/>
                </a:solidFill>
              </a:rPr>
              <a:t>2029 及以后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全自主 AGI 降临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AI 能够全流程自主推进前沿科学探索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与物理世界机器人与工业制造完全打通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人类社会整体生产力范式发生不可逆重构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尾声与抉择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终极追问：当执行能力无限廉价，稀缺的究竟是什么？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368"/>
                </a:solidFill>
              </a:rPr>
              <a:t>正在被无情抛弃的旧技能树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熟练点击各类复杂企业软件后台的操作技巧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在各孤立系统之间充当“人肉数据搬运工”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只会机械“执行”由别人规定好的既定工作流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靠信息不对称与流程繁琐维持的伪工作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1333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638"/>
                </a:solidFill>
              </a:rPr>
              <a:t>新时代最稀缺的超级个人资产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对真实业务痛点与商业价值的深刻洞察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极其清晰的计算思维与系统架构拆解力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明确定义：目标是什么、约束是什么、怎样才算做对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从单纯的“软件操作员”晋升为“数字舰队的统帅”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57"/>
                </a:solidFill>
              </a:rPr>
              <a:t>尾声与抉择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历史的答卷：新时代的组织变革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8046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8046720" cy="3429000"/>
          </a:xfrm>
          <a:prstGeom prst="roundRect">
            <a:avLst>
              <a:gd name="adj" fmla="val 1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这 2 万亿美元的 IPO 目标，绝不是一场虚妄的资本狂欢，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而是人类文明对‘全自动脑力劳动时代’做出的第一次庄严定价。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代码，仅仅是 AGI 降临物理世界的第一块垫脚石；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而由编码模型驱动的无人值守自治，才是不可阻挡的滚滚洪流。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当你的工位旁已经站着一支懂代码、会造工具、24小时待命的数字团队——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你还会按照过去的方式，组织你的工作、组织你的公司吗？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2801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5F0"/>
          </a:solidFill>
          <a:ln w="12700">
            <a:solidFill>
              <a:srgbClr val="FBD5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57"/>
                </a:solidFill>
              </a:rPr>
              <a:t>THE 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</a:rPr>
              <a:t>Q &amp; 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97757"/>
                </a:solidFill>
              </a:rPr>
              <a:t>感谢聆听 · 共同见证 AGI 时代大幕拉开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</a:rPr>
              <a:t>2026 产业深度推演报告 · 编码模型、Agentic 范式与 AGI 终局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2026-10-05T03:07:14Z</dcterms:created>
  <dcterms:modified xsi:type="dcterms:W3CDTF">2026-10-05T03:07:14Z</dcterms:modified>
</cp:coreProperties>
</file>